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7"/>
  </p:notesMasterIdLst>
  <p:sldIdLst>
    <p:sldId id="256" r:id="rId2"/>
    <p:sldId id="315" r:id="rId3"/>
    <p:sldId id="314" r:id="rId4"/>
    <p:sldId id="257" r:id="rId5"/>
    <p:sldId id="316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96B"/>
    <a:srgbClr val="099D59"/>
    <a:srgbClr val="E0F2F1"/>
    <a:srgbClr val="27AE60"/>
    <a:srgbClr val="E8F5E9"/>
    <a:srgbClr val="0EC358"/>
    <a:srgbClr val="CBD5E1"/>
    <a:srgbClr val="64748B"/>
    <a:srgbClr val="38EF7D"/>
    <a:srgbClr val="1199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37" autoAdjust="0"/>
    <p:restoredTop sz="95033" autoAdjust="0"/>
  </p:normalViewPr>
  <p:slideViewPr>
    <p:cSldViewPr snapToGrid="0" snapToObjects="1" showGuides="1">
      <p:cViewPr>
        <p:scale>
          <a:sx n="90" d="100"/>
          <a:sy n="90" d="100"/>
        </p:scale>
        <p:origin x="-754" y="2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DB9C57-9DE0-864D-8892-8E383CD10053}" type="datetimeFigureOut">
              <a:rPr lang="x-none" smtClean="0"/>
              <a:t>T5-24-09-2026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2230F-6A15-1C40-B7C8-A7F6E63A524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66220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2230F-6A15-1C40-B7C8-A7F6E63A524E}" type="slidenum">
              <a:rPr lang="x-none" smtClean="0"/>
              <a:t>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98486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80719B2E-DC3C-7989-BF9C-E418B1F120BA}"/>
              </a:ext>
            </a:extLst>
          </p:cNvPr>
          <p:cNvSpPr/>
          <p:nvPr userDrawn="1"/>
        </p:nvSpPr>
        <p:spPr>
          <a:xfrm>
            <a:off x="-24140" y="0"/>
            <a:ext cx="633743" cy="6858000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1F8ED77-1B03-1740-9FA5-C31B68B30520}"/>
              </a:ext>
            </a:extLst>
          </p:cNvPr>
          <p:cNvSpPr/>
          <p:nvPr userDrawn="1"/>
        </p:nvSpPr>
        <p:spPr>
          <a:xfrm flipV="1">
            <a:off x="-31244" y="0"/>
            <a:ext cx="633743" cy="685800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C6A63ACE-37E2-79AD-3312-2CAEC1D54166}"/>
              </a:ext>
            </a:extLst>
          </p:cNvPr>
          <p:cNvSpPr txBox="1"/>
          <p:nvPr userDrawn="1"/>
        </p:nvSpPr>
        <p:spPr>
          <a:xfrm rot="16200000">
            <a:off x="-1816070" y="4465669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23591"/>
            <a:ext cx="9144000" cy="2387600"/>
          </a:xfrm>
          <a:prstGeom prst="roundRect">
            <a:avLst>
              <a:gd name="adj" fmla="val 3901"/>
            </a:avLst>
          </a:prstGeom>
          <a:noFill/>
          <a:ln w="25400"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</a:ln>
        </p:spPr>
        <p:txBody>
          <a:bodyPr anchor="ctr"/>
          <a:lstStyle>
            <a:lvl1pPr algn="ctr">
              <a:defRPr sz="6000" b="1">
                <a:gradFill flip="none" rotWithShape="1">
                  <a:gsLst>
                    <a:gs pos="0">
                      <a:srgbClr val="11998E"/>
                    </a:gs>
                    <a:gs pos="100000">
                      <a:srgbClr val="38EF7D"/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03D80-2A77-FF40-B2F3-C1B60766027B}" type="datetime3">
              <a:rPr lang="en-US" smtClean="0"/>
              <a:t>24 September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BEC394D7-1EFF-FAA3-89F8-A3FE670BE2B5}"/>
              </a:ext>
            </a:extLst>
          </p:cNvPr>
          <p:cNvGrpSpPr/>
          <p:nvPr userDrawn="1"/>
        </p:nvGrpSpPr>
        <p:grpSpPr>
          <a:xfrm>
            <a:off x="11508227" y="243069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xmlns="" id="{3358F1D4-800B-8791-DFC5-8A5607735CCD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xmlns="" id="{B20D358D-A251-F06A-7DC9-D456AA169459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2568A42A-7730-4E7F-BB19-5F94929B0802}"/>
              </a:ext>
            </a:extLst>
          </p:cNvPr>
          <p:cNvGrpSpPr/>
          <p:nvPr userDrawn="1"/>
        </p:nvGrpSpPr>
        <p:grpSpPr>
          <a:xfrm>
            <a:off x="4479990" y="131938"/>
            <a:ext cx="3232031" cy="768394"/>
            <a:chOff x="4280055" y="84406"/>
            <a:chExt cx="3631889" cy="863458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xmlns="" id="{2DB618A9-33C1-376A-428B-F9CC7F7D80AF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xmlns="" id="{CB65CCD6-D2F8-CF1A-F92C-147178B9AE40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8" name="Picture 17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0E79988A-FC21-2FFF-EC33-6DB4853FB1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20" name="Picture 19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1E57E620-C26D-491A-ECBF-0FCA22233E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sp>
        <p:nvSpPr>
          <p:cNvPr id="49" name="Text Placeholder 48">
            <a:extLst>
              <a:ext uri="{FF2B5EF4-FFF2-40B4-BE49-F238E27FC236}">
                <a16:creationId xmlns:a16="http://schemas.microsoft.com/office/drawing/2014/main" xmlns="" id="{269B9A8A-4866-4619-F199-78B5353609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5542063"/>
            <a:ext cx="9144000" cy="5191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i="1"/>
            </a:lvl1pPr>
          </a:lstStyle>
          <a:p>
            <a:pPr lvl="0"/>
            <a:r>
              <a:rPr lang="x-none" dirty="0"/>
              <a:t>Địa điểm, Ngày Tháng Năm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xmlns="" id="{2A9389A2-74BD-31C8-FDCD-6A93E9D759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284" y="1550070"/>
            <a:ext cx="2365717" cy="381000"/>
          </a:xfrm>
          <a:prstGeom prst="roundRect">
            <a:avLst>
              <a:gd name="adj" fmla="val 8146"/>
            </a:avLst>
          </a:prstGeom>
          <a:gradFill flip="none" rotWithShape="1">
            <a:gsLst>
              <a:gs pos="100000">
                <a:schemeClr val="accent3">
                  <a:lumMod val="75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  <a:tileRect/>
          </a:gradFill>
          <a:effectLst>
            <a:innerShdw blurRad="127000">
              <a:schemeClr val="bg1">
                <a:alpha val="80000"/>
              </a:schemeClr>
            </a:inn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x-none" sz="1600" b="1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x-none" dirty="0"/>
              <a:t>Loại trình bày</a:t>
            </a:r>
          </a:p>
        </p:txBody>
      </p:sp>
      <p:sp>
        <p:nvSpPr>
          <p:cNvPr id="52" name="Text Placeholder 50">
            <a:extLst>
              <a:ext uri="{FF2B5EF4-FFF2-40B4-BE49-F238E27FC236}">
                <a16:creationId xmlns:a16="http://schemas.microsoft.com/office/drawing/2014/main" xmlns="" id="{11F19A4B-2FBF-1F37-52BA-2EEAE4CA8E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1" y="4309683"/>
            <a:ext cx="3388243" cy="381000"/>
          </a:xfrm>
          <a:prstGeom prst="roundRect">
            <a:avLst>
              <a:gd name="adj" fmla="val 8146"/>
            </a:avLst>
          </a:prstGeom>
          <a:gradFill flip="none" rotWithShape="1">
            <a:gsLst>
              <a:gs pos="100000">
                <a:schemeClr val="accent3">
                  <a:lumMod val="75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  <a:tileRect/>
          </a:gradFill>
          <a:effectLst>
            <a:innerShdw blurRad="127000">
              <a:schemeClr val="bg1">
                <a:alpha val="80000"/>
              </a:schemeClr>
            </a:inn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x-none" sz="1600" b="1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x-none" dirty="0"/>
              <a:t>Trình bày: 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333573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xmlns="" id="{19DDC379-1E06-2848-14F1-C16A9CCE4619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36403" y="6356358"/>
            <a:ext cx="2743200" cy="365125"/>
          </a:xfrm>
        </p:spPr>
        <p:txBody>
          <a:bodyPr/>
          <a:lstStyle/>
          <a:p>
            <a:fld id="{ACF17CAC-8297-FC4A-82FA-F61255D7A70E}" type="datetime3">
              <a:rPr lang="en-US" smtClean="0"/>
              <a:t>24 September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32651" y="6356358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E742C0F1-5644-4389-360B-5397956CD38A}"/>
              </a:ext>
            </a:extLst>
          </p:cNvPr>
          <p:cNvSpPr/>
          <p:nvPr userDrawn="1"/>
        </p:nvSpPr>
        <p:spPr>
          <a:xfrm>
            <a:off x="-24141" y="0"/>
            <a:ext cx="4056393" cy="6858000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71B0644-6BE5-3A17-CB9E-03CC0ADBCAC3}"/>
              </a:ext>
            </a:extLst>
          </p:cNvPr>
          <p:cNvSpPr/>
          <p:nvPr userDrawn="1"/>
        </p:nvSpPr>
        <p:spPr>
          <a:xfrm flipV="1">
            <a:off x="-31244" y="0"/>
            <a:ext cx="1804783" cy="685800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61CABA6-14B3-43D2-ED89-BD749E5AF92A}"/>
              </a:ext>
            </a:extLst>
          </p:cNvPr>
          <p:cNvSpPr txBox="1"/>
          <p:nvPr userDrawn="1"/>
        </p:nvSpPr>
        <p:spPr>
          <a:xfrm rot="16200000">
            <a:off x="-1816070" y="4465669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F6CA6459-D804-2D1E-9BE6-04D9777C2161}"/>
              </a:ext>
            </a:extLst>
          </p:cNvPr>
          <p:cNvGrpSpPr/>
          <p:nvPr userDrawn="1"/>
        </p:nvGrpSpPr>
        <p:grpSpPr>
          <a:xfrm>
            <a:off x="4479990" y="131938"/>
            <a:ext cx="3232031" cy="768394"/>
            <a:chOff x="4280055" y="84406"/>
            <a:chExt cx="3631889" cy="863458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xmlns="" id="{55D6C41E-6B27-7E5A-648B-DD401B12DFC5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xmlns="" id="{B567EB7E-D89E-FE6D-1F1D-A9C48547288A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5" name="Picture 14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49BDC9CC-F359-3B37-10BB-43B8820735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6" name="Picture 15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D9063C0E-6124-70AB-5990-6A8D28B5DA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7B48FC94-0045-6DC4-777D-4F5E40C1D399}"/>
              </a:ext>
            </a:extLst>
          </p:cNvPr>
          <p:cNvGrpSpPr/>
          <p:nvPr userDrawn="1"/>
        </p:nvGrpSpPr>
        <p:grpSpPr>
          <a:xfrm>
            <a:off x="11508227" y="243069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19120F02-27FC-FEC5-707D-FDA64409C1B6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73BF5235-1626-C61A-115C-C67CC9015074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332289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xmlns="" id="{AA5FA796-6DE2-7146-15EE-C9B175F7F587}"/>
              </a:ext>
            </a:extLst>
          </p:cNvPr>
          <p:cNvSpPr/>
          <p:nvPr userDrawn="1"/>
        </p:nvSpPr>
        <p:spPr>
          <a:xfrm>
            <a:off x="1136823" y="1450428"/>
            <a:ext cx="10210628" cy="4289654"/>
          </a:xfrm>
          <a:prstGeom prst="roundRect">
            <a:avLst>
              <a:gd name="adj" fmla="val 2701"/>
            </a:avLst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xmlns="" id="{2388E92E-709B-64D5-4BEC-56AE8C45F3A5}"/>
              </a:ext>
            </a:extLst>
          </p:cNvPr>
          <p:cNvSpPr/>
          <p:nvPr userDrawn="1"/>
        </p:nvSpPr>
        <p:spPr>
          <a:xfrm>
            <a:off x="1136823" y="1450428"/>
            <a:ext cx="10210628" cy="4289654"/>
          </a:xfrm>
          <a:prstGeom prst="roundRect">
            <a:avLst>
              <a:gd name="adj" fmla="val 2701"/>
            </a:avLst>
          </a:prstGeom>
          <a:gradFill>
            <a:gsLst>
              <a:gs pos="0">
                <a:srgbClr val="38EF7D">
                  <a:alpha val="40000"/>
                </a:srgbClr>
              </a:gs>
              <a:gs pos="100000">
                <a:srgbClr val="11998E">
                  <a:alpha val="40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3363" y="2425390"/>
            <a:ext cx="9177548" cy="1505953"/>
          </a:xfrm>
          <a:prstGeom prst="rect">
            <a:avLst/>
          </a:prstGeom>
          <a:noFill/>
          <a:ln w="12700">
            <a:noFill/>
          </a:ln>
          <a:effectLst/>
        </p:spPr>
        <p:txBody>
          <a:bodyPr anchor="ctr">
            <a:norm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3365" y="4108239"/>
            <a:ext cx="5564835" cy="7419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xmlns="" id="{4340540A-BFD6-C001-24D2-E0A446DCF91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3364" y="561284"/>
            <a:ext cx="2052637" cy="1785937"/>
          </a:xfrm>
        </p:spPr>
        <p:txBody>
          <a:bodyPr>
            <a:noAutofit/>
          </a:bodyPr>
          <a:lstStyle>
            <a:lvl1pPr marL="0" indent="0">
              <a:buNone/>
              <a:defRPr sz="11500" b="1">
                <a:solidFill>
                  <a:schemeClr val="bg1">
                    <a:alpha val="65236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x-none" dirty="0"/>
              <a:t>01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xmlns="" id="{3801A917-2F30-C5E0-9749-96D2AA3258C3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75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8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24 September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8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634CFDC-8819-F613-CB53-B010209F03B3}"/>
              </a:ext>
            </a:extLst>
          </p:cNvPr>
          <p:cNvSpPr txBox="1"/>
          <p:nvPr userDrawn="1"/>
        </p:nvSpPr>
        <p:spPr>
          <a:xfrm>
            <a:off x="240286" y="141426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A847D5C7-4917-CA09-77DC-A3EC771CB75C}"/>
              </a:ext>
            </a:extLst>
          </p:cNvPr>
          <p:cNvGrpSpPr/>
          <p:nvPr userDrawn="1"/>
        </p:nvGrpSpPr>
        <p:grpSpPr>
          <a:xfrm>
            <a:off x="4479990" y="241694"/>
            <a:ext cx="3232031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xmlns="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xmlns="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215A5037-1013-FEAC-916D-D7685B8E78E3}"/>
              </a:ext>
            </a:extLst>
          </p:cNvPr>
          <p:cNvGrpSpPr/>
          <p:nvPr userDrawn="1"/>
        </p:nvGrpSpPr>
        <p:grpSpPr>
          <a:xfrm>
            <a:off x="11508227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8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xmlns="" id="{DCEAF726-95E1-8A34-13F1-109FB98C6990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</p:spTree>
    <p:extLst>
      <p:ext uri="{BB962C8B-B14F-4D97-AF65-F5344CB8AC3E}">
        <p14:creationId xmlns:p14="http://schemas.microsoft.com/office/powerpoint/2010/main" val="555042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75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8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24 September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8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634CFDC-8819-F613-CB53-B010209F03B3}"/>
              </a:ext>
            </a:extLst>
          </p:cNvPr>
          <p:cNvSpPr txBox="1"/>
          <p:nvPr userDrawn="1"/>
        </p:nvSpPr>
        <p:spPr>
          <a:xfrm>
            <a:off x="240285" y="141426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A847D5C7-4917-CA09-77DC-A3EC771CB75C}"/>
              </a:ext>
            </a:extLst>
          </p:cNvPr>
          <p:cNvGrpSpPr/>
          <p:nvPr userDrawn="1"/>
        </p:nvGrpSpPr>
        <p:grpSpPr>
          <a:xfrm>
            <a:off x="4479990" y="241694"/>
            <a:ext cx="3232031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xmlns="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xmlns="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215A5037-1013-FEAC-916D-D7685B8E78E3}"/>
              </a:ext>
            </a:extLst>
          </p:cNvPr>
          <p:cNvGrpSpPr/>
          <p:nvPr userDrawn="1"/>
        </p:nvGrpSpPr>
        <p:grpSpPr>
          <a:xfrm>
            <a:off x="11508227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8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xmlns="" id="{DCEAF726-95E1-8A34-13F1-109FB98C6990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</p:spTree>
    <p:extLst>
      <p:ext uri="{BB962C8B-B14F-4D97-AF65-F5344CB8AC3E}">
        <p14:creationId xmlns:p14="http://schemas.microsoft.com/office/powerpoint/2010/main" val="2942804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75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8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24 September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8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634CFDC-8819-F613-CB53-B010209F03B3}"/>
              </a:ext>
            </a:extLst>
          </p:cNvPr>
          <p:cNvSpPr txBox="1"/>
          <p:nvPr userDrawn="1"/>
        </p:nvSpPr>
        <p:spPr>
          <a:xfrm>
            <a:off x="240285" y="141426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A847D5C7-4917-CA09-77DC-A3EC771CB75C}"/>
              </a:ext>
            </a:extLst>
          </p:cNvPr>
          <p:cNvGrpSpPr/>
          <p:nvPr userDrawn="1"/>
        </p:nvGrpSpPr>
        <p:grpSpPr>
          <a:xfrm>
            <a:off x="4479990" y="241694"/>
            <a:ext cx="3232031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xmlns="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xmlns="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215A5037-1013-FEAC-916D-D7685B8E78E3}"/>
              </a:ext>
            </a:extLst>
          </p:cNvPr>
          <p:cNvGrpSpPr/>
          <p:nvPr userDrawn="1"/>
        </p:nvGrpSpPr>
        <p:grpSpPr>
          <a:xfrm>
            <a:off x="11508227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8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xmlns="" id="{DCEAF726-95E1-8A34-13F1-109FB98C6990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</p:spTree>
    <p:extLst>
      <p:ext uri="{BB962C8B-B14F-4D97-AF65-F5344CB8AC3E}">
        <p14:creationId xmlns:p14="http://schemas.microsoft.com/office/powerpoint/2010/main" val="314434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75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8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24 September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8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634CFDC-8819-F613-CB53-B010209F03B3}"/>
              </a:ext>
            </a:extLst>
          </p:cNvPr>
          <p:cNvSpPr txBox="1"/>
          <p:nvPr userDrawn="1"/>
        </p:nvSpPr>
        <p:spPr>
          <a:xfrm>
            <a:off x="240286" y="141426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A847D5C7-4917-CA09-77DC-A3EC771CB75C}"/>
              </a:ext>
            </a:extLst>
          </p:cNvPr>
          <p:cNvGrpSpPr/>
          <p:nvPr userDrawn="1"/>
        </p:nvGrpSpPr>
        <p:grpSpPr>
          <a:xfrm>
            <a:off x="4479990" y="241694"/>
            <a:ext cx="3232031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xmlns="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xmlns="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215A5037-1013-FEAC-916D-D7685B8E78E3}"/>
              </a:ext>
            </a:extLst>
          </p:cNvPr>
          <p:cNvGrpSpPr/>
          <p:nvPr userDrawn="1"/>
        </p:nvGrpSpPr>
        <p:grpSpPr>
          <a:xfrm>
            <a:off x="11508227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8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xmlns="" id="{DCEAF726-95E1-8A34-13F1-109FB98C6990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</p:spTree>
    <p:extLst>
      <p:ext uri="{BB962C8B-B14F-4D97-AF65-F5344CB8AC3E}">
        <p14:creationId xmlns:p14="http://schemas.microsoft.com/office/powerpoint/2010/main" val="4110370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75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8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24 September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8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634CFDC-8819-F613-CB53-B010209F03B3}"/>
              </a:ext>
            </a:extLst>
          </p:cNvPr>
          <p:cNvSpPr txBox="1"/>
          <p:nvPr userDrawn="1"/>
        </p:nvSpPr>
        <p:spPr>
          <a:xfrm>
            <a:off x="240286" y="141426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A847D5C7-4917-CA09-77DC-A3EC771CB75C}"/>
              </a:ext>
            </a:extLst>
          </p:cNvPr>
          <p:cNvGrpSpPr/>
          <p:nvPr userDrawn="1"/>
        </p:nvGrpSpPr>
        <p:grpSpPr>
          <a:xfrm>
            <a:off x="4479990" y="241694"/>
            <a:ext cx="3232031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xmlns="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xmlns="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215A5037-1013-FEAC-916D-D7685B8E78E3}"/>
              </a:ext>
            </a:extLst>
          </p:cNvPr>
          <p:cNvGrpSpPr/>
          <p:nvPr userDrawn="1"/>
        </p:nvGrpSpPr>
        <p:grpSpPr>
          <a:xfrm>
            <a:off x="11508227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8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xmlns="" id="{DCEAF726-95E1-8A34-13F1-109FB98C6990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</p:spTree>
    <p:extLst>
      <p:ext uri="{BB962C8B-B14F-4D97-AF65-F5344CB8AC3E}">
        <p14:creationId xmlns:p14="http://schemas.microsoft.com/office/powerpoint/2010/main" val="1221615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898983"/>
            <a:ext cx="10980000" cy="841231"/>
          </a:xfrm>
        </p:spPr>
        <p:txBody>
          <a:bodyPr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6856" y="2006213"/>
            <a:ext cx="5310000" cy="417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6000" y="2006213"/>
            <a:ext cx="5310000" cy="417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E05FC-80DB-0148-874D-D86DE9D2ADC5}" type="datetime3">
              <a:rPr lang="en-US" smtClean="0"/>
              <a:t>24 September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55501B7-06E2-F246-2BAD-EAF23122D87C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22FA2C82-F7CF-516D-BCFE-BD30ECC9EA5A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1B8F8FF-3914-88F4-7096-A2992F1DABC0}"/>
              </a:ext>
            </a:extLst>
          </p:cNvPr>
          <p:cNvSpPr txBox="1"/>
          <p:nvPr userDrawn="1"/>
        </p:nvSpPr>
        <p:spPr>
          <a:xfrm>
            <a:off x="240286" y="141426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279A1157-FF7F-7C1B-C247-077067BBC028}"/>
              </a:ext>
            </a:extLst>
          </p:cNvPr>
          <p:cNvGrpSpPr/>
          <p:nvPr userDrawn="1"/>
        </p:nvGrpSpPr>
        <p:grpSpPr>
          <a:xfrm>
            <a:off x="4479990" y="241694"/>
            <a:ext cx="3232031" cy="768394"/>
            <a:chOff x="4280055" y="84406"/>
            <a:chExt cx="3631889" cy="86345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xmlns="" id="{87F4C074-B87D-1D6E-559E-9B5F5A6D59D5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xmlns="" id="{051A38B1-9970-6D8A-99F0-1519F63F8C21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4" name="Picture 13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CDAB1087-5677-0CD0-2E97-0AC0475A5D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75F57DD9-9F2F-64B5-ABD6-42254D27D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D4EDAAF6-0642-D0AC-8393-BCA7C5A21D37}"/>
              </a:ext>
            </a:extLst>
          </p:cNvPr>
          <p:cNvGrpSpPr/>
          <p:nvPr userDrawn="1"/>
        </p:nvGrpSpPr>
        <p:grpSpPr>
          <a:xfrm>
            <a:off x="11508227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xmlns="" id="{1D9D6F2C-9702-AFF6-0F7A-DB2E2C1FF67A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xmlns="" id="{FFED086E-27AD-496B-CF1A-0F2B00E50490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sp>
        <p:nvSpPr>
          <p:cNvPr id="19" name="Freeform 18">
            <a:extLst>
              <a:ext uri="{FF2B5EF4-FFF2-40B4-BE49-F238E27FC236}">
                <a16:creationId xmlns:a16="http://schemas.microsoft.com/office/drawing/2014/main" xmlns="" id="{C849CBBA-8A36-61D9-7C3A-A5B8C98344BA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09692" y="6356358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891903"/>
            <a:ext cx="10980000" cy="989289"/>
          </a:xfrm>
        </p:spPr>
        <p:txBody>
          <a:bodyPr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6001" y="1992588"/>
            <a:ext cx="5310000" cy="643036"/>
          </a:xfrm>
        </p:spPr>
        <p:txBody>
          <a:bodyPr anchor="ctr"/>
          <a:lstStyle>
            <a:lvl1pPr marL="0" indent="0">
              <a:buNone/>
              <a:defRPr sz="2400" b="1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</a:defRPr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6001" y="2747036"/>
            <a:ext cx="5310000" cy="34426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6000" y="1992588"/>
            <a:ext cx="5310000" cy="643036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2400" b="1" kern="1200" dirty="0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+mn-lt"/>
                <a:ea typeface="+mn-ea"/>
                <a:cs typeface="+mn-cs"/>
              </a:defRPr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marL="0" lvl="0" indent="0" algn="l" defTabSz="91433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6000" y="2747036"/>
            <a:ext cx="5310000" cy="34426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5D97B-A544-724E-B7AA-E954CECFEC59}" type="datetime3">
              <a:rPr lang="en-US" smtClean="0"/>
              <a:t>24 September 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9F7C7FE-91AA-777B-FCF1-8DFE0AC663E2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8A62D67D-95A8-A852-CF14-572C6CE00ED0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971CB91-0E23-8BF0-4ADC-5082D6650DF4}"/>
              </a:ext>
            </a:extLst>
          </p:cNvPr>
          <p:cNvSpPr txBox="1"/>
          <p:nvPr userDrawn="1"/>
        </p:nvSpPr>
        <p:spPr>
          <a:xfrm>
            <a:off x="240286" y="141426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5AAD86C4-FCFD-9291-27AD-78AEB135B122}"/>
              </a:ext>
            </a:extLst>
          </p:cNvPr>
          <p:cNvGrpSpPr/>
          <p:nvPr userDrawn="1"/>
        </p:nvGrpSpPr>
        <p:grpSpPr>
          <a:xfrm>
            <a:off x="4479990" y="241694"/>
            <a:ext cx="3232031" cy="768394"/>
            <a:chOff x="4280055" y="84406"/>
            <a:chExt cx="3631889" cy="863458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xmlns="" id="{1CF0A3C9-A5C5-7885-0000-B445E4181054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xmlns="" id="{2A842F66-7AA0-4602-5FF9-D5131812A65A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6" name="Picture 15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B096FE08-51CC-1D46-80F1-45BD3824B1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7" name="Picture 16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49B7CFC8-73D7-D65B-98B9-1026DEA312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3A207177-F45D-1E4B-327B-7ADB21C03E0D}"/>
              </a:ext>
            </a:extLst>
          </p:cNvPr>
          <p:cNvGrpSpPr/>
          <p:nvPr userDrawn="1"/>
        </p:nvGrpSpPr>
        <p:grpSpPr>
          <a:xfrm>
            <a:off x="11508227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B944A9A0-279D-4287-22A6-B50BEFA9D41A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759E2F26-1088-5258-841C-AB0BAAE822E4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sp>
        <p:nvSpPr>
          <p:cNvPr id="21" name="Freeform 20">
            <a:extLst>
              <a:ext uri="{FF2B5EF4-FFF2-40B4-BE49-F238E27FC236}">
                <a16:creationId xmlns:a16="http://schemas.microsoft.com/office/drawing/2014/main" xmlns="" id="{E418F7BB-B3EC-2462-55FF-B70CB9656121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09692" y="6356358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977990"/>
            <a:ext cx="10980000" cy="986400"/>
          </a:xfrm>
        </p:spPr>
        <p:txBody>
          <a:bodyPr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0595-1D13-FB4B-A345-0906822BCC7D}" type="datetime3">
              <a:rPr lang="en-US" smtClean="0"/>
              <a:t>24 September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23636FC2-729D-C9CA-CC90-21D4CBEC73A2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CAA385C0-495A-0190-FBE8-231CFC660C3A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D6AA5F0-C810-9BFE-4A24-47254E96DDA4}"/>
              </a:ext>
            </a:extLst>
          </p:cNvPr>
          <p:cNvSpPr txBox="1"/>
          <p:nvPr userDrawn="1"/>
        </p:nvSpPr>
        <p:spPr>
          <a:xfrm>
            <a:off x="240286" y="141426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47F5DC64-C53E-D570-F572-A07974B9F1B5}"/>
              </a:ext>
            </a:extLst>
          </p:cNvPr>
          <p:cNvGrpSpPr/>
          <p:nvPr userDrawn="1"/>
        </p:nvGrpSpPr>
        <p:grpSpPr>
          <a:xfrm>
            <a:off x="4479990" y="241694"/>
            <a:ext cx="3232031" cy="768394"/>
            <a:chOff x="4280055" y="84406"/>
            <a:chExt cx="3631889" cy="863458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xmlns="" id="{FA9113C1-A485-B1D0-18A2-2B4ACB6C023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xmlns="" id="{581A74BC-FADD-5AAC-4592-F1F01A7FEE2B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2" name="Picture 11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03279EC9-0774-3A5C-2866-2FEBE99211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3" name="Picture 12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40729B2C-F0E2-C8ED-820D-2150BC392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9AD48359-0185-411D-3829-537B58B51408}"/>
              </a:ext>
            </a:extLst>
          </p:cNvPr>
          <p:cNvGrpSpPr/>
          <p:nvPr userDrawn="1"/>
        </p:nvGrpSpPr>
        <p:grpSpPr>
          <a:xfrm>
            <a:off x="11508227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xmlns="" id="{E6F2E26B-6E6E-A080-698A-20804C4088BF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xmlns="" id="{6E87EB44-478E-3F0B-3713-00B3ED19FFD9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xmlns="" id="{725A6CA3-8A6F-8240-FE9F-93A63D7F2742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409692" y="6356358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24 September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24 September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958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24 September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971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31" y="1248202"/>
            <a:ext cx="4114799" cy="1399587"/>
          </a:xfrm>
        </p:spPr>
        <p:txBody>
          <a:bodyPr anchor="ctr">
            <a:no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0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92" y="1247492"/>
            <a:ext cx="6325039" cy="47885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7231" y="2777076"/>
            <a:ext cx="4114799" cy="3266917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C5163-90AE-AD4E-90CC-EF8132230884}" type="datetime3">
              <a:rPr lang="en-US" smtClean="0"/>
              <a:t>24 September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9F4E612-1058-8C98-5698-29AC0F96CCFC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7A6C02E4-C8F1-CFE1-7D10-8623040C9C70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D41C53F-A49B-53F0-C3F1-679406363096}"/>
              </a:ext>
            </a:extLst>
          </p:cNvPr>
          <p:cNvSpPr txBox="1"/>
          <p:nvPr userDrawn="1"/>
        </p:nvSpPr>
        <p:spPr>
          <a:xfrm>
            <a:off x="240286" y="141426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B4D11EC5-BDDA-E9D0-4DEA-3DF925376418}"/>
              </a:ext>
            </a:extLst>
          </p:cNvPr>
          <p:cNvGrpSpPr/>
          <p:nvPr userDrawn="1"/>
        </p:nvGrpSpPr>
        <p:grpSpPr>
          <a:xfrm>
            <a:off x="4479990" y="241694"/>
            <a:ext cx="3232031" cy="768394"/>
            <a:chOff x="4280055" y="84406"/>
            <a:chExt cx="3631889" cy="86345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xmlns="" id="{1D52B6A8-0087-00B0-3232-F07D0531A071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xmlns="" id="{4A6EF4E7-68D7-4757-F5BC-40A00600395C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4" name="Picture 13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FF366716-D0A3-BA9D-EAEF-1DD9CCC2F25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B3C5B766-CE3D-A784-0576-67400911DF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ECC0EBB2-4B0D-F995-4530-D9916005BC53}"/>
              </a:ext>
            </a:extLst>
          </p:cNvPr>
          <p:cNvGrpSpPr/>
          <p:nvPr userDrawn="1"/>
        </p:nvGrpSpPr>
        <p:grpSpPr>
          <a:xfrm>
            <a:off x="11508227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xmlns="" id="{3F1E5B57-26E0-13A1-B4C3-FBB674F761F8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xmlns="" id="{601CDAB9-F5F1-D42C-1271-4A7D18D9DC06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sp>
        <p:nvSpPr>
          <p:cNvPr id="19" name="Freeform 18">
            <a:extLst>
              <a:ext uri="{FF2B5EF4-FFF2-40B4-BE49-F238E27FC236}">
                <a16:creationId xmlns:a16="http://schemas.microsoft.com/office/drawing/2014/main" xmlns="" id="{2AB873A6-A6DD-3337-0E8F-2FC03C939D1C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09692" y="6356358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31" y="1270699"/>
            <a:ext cx="4114799" cy="1162180"/>
          </a:xfrm>
        </p:spPr>
        <p:txBody>
          <a:bodyPr anchor="ctr">
            <a:no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0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92" y="1270700"/>
            <a:ext cx="6325039" cy="479649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67" indent="0">
              <a:buNone/>
              <a:defRPr sz="2800"/>
            </a:lvl2pPr>
            <a:lvl3pPr marL="914332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30" indent="0">
              <a:buNone/>
              <a:defRPr sz="2000"/>
            </a:lvl6pPr>
            <a:lvl7pPr marL="2742994" indent="0">
              <a:buNone/>
              <a:defRPr sz="2000"/>
            </a:lvl7pPr>
            <a:lvl8pPr marL="3200160" indent="0">
              <a:buNone/>
              <a:defRPr sz="2000"/>
            </a:lvl8pPr>
            <a:lvl9pPr marL="3657327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7231" y="2561454"/>
            <a:ext cx="4114799" cy="3505740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818E-E997-CB43-BA3A-7A12F66A1845}" type="datetime3">
              <a:rPr lang="en-US" smtClean="0"/>
              <a:t>24 September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E772E24-BD94-18AA-FD01-31FA7CF5560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BBE4A83D-52D2-F989-EF30-67F8142259A4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C0737FF-EF11-8E07-04CA-FAD856E16DB6}"/>
              </a:ext>
            </a:extLst>
          </p:cNvPr>
          <p:cNvSpPr txBox="1"/>
          <p:nvPr userDrawn="1"/>
        </p:nvSpPr>
        <p:spPr>
          <a:xfrm>
            <a:off x="240285" y="141426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0AD20DF5-E25A-3691-7DBA-3D6427D54E16}"/>
              </a:ext>
            </a:extLst>
          </p:cNvPr>
          <p:cNvGrpSpPr/>
          <p:nvPr userDrawn="1"/>
        </p:nvGrpSpPr>
        <p:grpSpPr>
          <a:xfrm>
            <a:off x="4479990" y="241694"/>
            <a:ext cx="3232031" cy="768394"/>
            <a:chOff x="4280055" y="84406"/>
            <a:chExt cx="3631889" cy="86345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xmlns="" id="{667AD773-D1F6-2C2E-459A-06DB6685C3F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xmlns="" id="{638EDDB1-984D-1061-4FC7-D2B6F17C5211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4" name="Picture 13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E076CEEA-0F0E-CB1E-716A-FD615E82AB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AE0E7314-9B82-0D4E-10FD-26E7AC94AE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A87DE05D-821F-6133-B08D-FBA35FA266C4}"/>
              </a:ext>
            </a:extLst>
          </p:cNvPr>
          <p:cNvGrpSpPr/>
          <p:nvPr userDrawn="1"/>
        </p:nvGrpSpPr>
        <p:grpSpPr>
          <a:xfrm>
            <a:off x="11508227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xmlns="" id="{C20B1677-C94F-846B-77EE-9A193D11F54B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xmlns="" id="{65A92C3F-4715-4909-6588-378EC050C246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sp>
        <p:nvSpPr>
          <p:cNvPr id="19" name="Freeform 18">
            <a:extLst>
              <a:ext uri="{FF2B5EF4-FFF2-40B4-BE49-F238E27FC236}">
                <a16:creationId xmlns:a16="http://schemas.microsoft.com/office/drawing/2014/main" xmlns="" id="{AC99D0E8-C446-4E6E-2E7F-3C5E6A007D9D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09692" y="6356358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29761"/>
            <a:ext cx="10515600" cy="776548"/>
          </a:xfrm>
        </p:spPr>
        <p:txBody>
          <a:bodyPr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792405"/>
            <a:ext cx="10515600" cy="438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C75B1-5554-9E4B-9A38-5905F72F5940}" type="datetime3">
              <a:rPr lang="en-US" smtClean="0"/>
              <a:t>24 September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5BDC0A23-1328-52C6-A081-D12BD93902E5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A5CE3DD9-51D1-E19D-3E06-90C65EDEDC8F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2BB84F3-1D66-E2E8-E826-723A4E767341}"/>
              </a:ext>
            </a:extLst>
          </p:cNvPr>
          <p:cNvSpPr txBox="1"/>
          <p:nvPr userDrawn="1"/>
        </p:nvSpPr>
        <p:spPr>
          <a:xfrm>
            <a:off x="240285" y="141426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BCEAF201-E1DC-4486-4B93-4B7F751A4654}"/>
              </a:ext>
            </a:extLst>
          </p:cNvPr>
          <p:cNvGrpSpPr/>
          <p:nvPr userDrawn="1"/>
        </p:nvGrpSpPr>
        <p:grpSpPr>
          <a:xfrm>
            <a:off x="4479990" y="241694"/>
            <a:ext cx="3232031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xmlns="" id="{E5497DE0-0B16-BC6B-6FF5-9B929CD769D5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xmlns="" id="{329FDB57-B8ED-7771-901B-1E7618CEFA1A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70695794-09CF-65D2-FE84-CDEAC81942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07E79F0D-50D3-99AC-B977-26D27AD098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F6E71496-B352-9AE6-2AFB-7F84245DBA7F}"/>
              </a:ext>
            </a:extLst>
          </p:cNvPr>
          <p:cNvGrpSpPr/>
          <p:nvPr userDrawn="1"/>
        </p:nvGrpSpPr>
        <p:grpSpPr>
          <a:xfrm>
            <a:off x="11508227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xmlns="" id="{741E81DB-4E8D-E98B-BF91-1CFFC0BAEBDF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xmlns="" id="{33025DD8-AFB9-10B6-DDE8-D2282F9E5CE3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xmlns="" id="{4F0D81A6-FA21-21F6-FF6F-EFBBD913E859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6356358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1038421"/>
            <a:ext cx="2628900" cy="5138542"/>
          </a:xfrm>
        </p:spPr>
        <p:txBody>
          <a:bodyPr vert="eaVert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3" y="1038421"/>
            <a:ext cx="7734300" cy="51385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64986-AD58-F748-BD5B-19DAFB14C4B2}" type="datetime3">
              <a:rPr lang="en-US" smtClean="0"/>
              <a:t>24 September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C7F3936-136F-C194-2C47-66CE68C8B563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0EAECB53-429D-BB1E-41F9-39259E111926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302EFEB-91F7-F4A9-6DC7-57C29D79F9F9}"/>
              </a:ext>
            </a:extLst>
          </p:cNvPr>
          <p:cNvSpPr txBox="1"/>
          <p:nvPr userDrawn="1"/>
        </p:nvSpPr>
        <p:spPr>
          <a:xfrm>
            <a:off x="240286" y="141426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48202369-F8E5-A40E-96BF-5D9E8B5F1F16}"/>
              </a:ext>
            </a:extLst>
          </p:cNvPr>
          <p:cNvGrpSpPr/>
          <p:nvPr userDrawn="1"/>
        </p:nvGrpSpPr>
        <p:grpSpPr>
          <a:xfrm>
            <a:off x="4479990" y="241694"/>
            <a:ext cx="3232031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xmlns="" id="{548153D4-0D7E-5E40-CC29-BA0D3438A6E0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xmlns="" id="{25D12D13-7CA6-581B-369D-0786B7CDA747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C7D78A2B-7E0F-7276-F0FD-6896232239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774A90A5-5FD0-9383-6265-C82BA61F99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44949A0B-E506-5DE7-2A23-C2CA5436DE0A}"/>
              </a:ext>
            </a:extLst>
          </p:cNvPr>
          <p:cNvGrpSpPr/>
          <p:nvPr userDrawn="1"/>
        </p:nvGrpSpPr>
        <p:grpSpPr>
          <a:xfrm>
            <a:off x="11508227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xmlns="" id="{FD395D56-A0D5-B2F3-8B05-9F07E63BF0C4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xmlns="" id="{7BF5558D-A677-95F7-5700-2D1E71FBD838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xmlns="" id="{A797F9EA-0DAE-4EA8-F91E-D25EC18E94F5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6356358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9Slide.vn - 2019">
            <a:extLst>
              <a:ext uri="{FF2B5EF4-FFF2-40B4-BE49-F238E27FC236}">
                <a16:creationId xmlns:a16="http://schemas.microsoft.com/office/drawing/2014/main" xmlns="" id="{2E2EF8C9-F38D-9516-1D87-18E6996ECB8C}"/>
              </a:ext>
            </a:extLst>
          </p:cNvPr>
          <p:cNvSpPr txBox="1"/>
          <p:nvPr userDrawn="1"/>
        </p:nvSpPr>
        <p:spPr>
          <a:xfrm>
            <a:off x="0" y="-1543110"/>
            <a:ext cx="12192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000">
                <a:solidFill>
                  <a:srgbClr val="C3C3C3"/>
                </a:solidFill>
              </a:rPr>
              <a:t>www.9slide.vn</a:t>
            </a:r>
            <a:endParaRPr lang="x-none" sz="2000">
              <a:solidFill>
                <a:srgbClr val="C3C3C3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EE0CA-0453-9B47-838C-B39080F57770}" type="datetime3">
              <a:rPr lang="en-US" smtClean="0"/>
              <a:t>24 September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xmlns="" id="{F631ED36-F92A-CE11-0084-292D548DE0CF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4" r:id="rId4"/>
    <p:sldLayoutId id="2147483663" r:id="rId5"/>
    <p:sldLayoutId id="2147483662" r:id="rId6"/>
    <p:sldLayoutId id="2147483661" r:id="rId7"/>
    <p:sldLayoutId id="2147483652" r:id="rId8"/>
    <p:sldLayoutId id="2147483653" r:id="rId9"/>
    <p:sldLayoutId id="2147483654" r:id="rId10"/>
    <p:sldLayoutId id="2147483655" r:id="rId11"/>
    <p:sldLayoutId id="2147483666" r:id="rId12"/>
    <p:sldLayoutId id="2147483665" r:id="rId13"/>
    <p:sldLayoutId id="2147483656" r:id="rId14"/>
    <p:sldLayoutId id="2147483657" r:id="rId15"/>
    <p:sldLayoutId id="2147483658" r:id="rId16"/>
    <p:sldLayoutId id="2147483659" r:id="rId17"/>
  </p:sldLayoutIdLst>
  <p:hf hd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6329C4-99A1-6E4F-4374-1D5CEAAC4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1086"/>
            <a:ext cx="9144000" cy="1837919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accent3"/>
                </a:solidFill>
              </a:rPr>
              <a:t>TEMPERATURE </a:t>
            </a:r>
            <a:r>
              <a:rPr lang="en-US" sz="4800" dirty="0" smtClean="0">
                <a:solidFill>
                  <a:schemeClr val="accent3"/>
                </a:solidFill>
              </a:rPr>
              <a:t>FORECAST</a:t>
            </a:r>
            <a:br>
              <a:rPr lang="en-US" sz="4800" dirty="0" smtClean="0">
                <a:solidFill>
                  <a:schemeClr val="accent3"/>
                </a:solidFill>
              </a:rPr>
            </a:br>
            <a:r>
              <a:rPr lang="en-US" sz="4800" dirty="0">
                <a:solidFill>
                  <a:schemeClr val="accent3"/>
                </a:solidFill>
              </a:rPr>
              <a:t>3 HOURS AHEAD ON </a:t>
            </a:r>
            <a:r>
              <a:rPr lang="en-US" sz="4800" dirty="0" err="1" smtClean="0">
                <a:solidFill>
                  <a:schemeClr val="accent3"/>
                </a:solidFill>
              </a:rPr>
              <a:t>FPGA</a:t>
            </a:r>
            <a:endParaRPr lang="x-none" sz="4800" dirty="0">
              <a:solidFill>
                <a:schemeClr val="accent3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4CE0914-A039-5855-B5C6-C4237FEC9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24000" y="6209666"/>
            <a:ext cx="9144000" cy="519113"/>
          </a:xfrm>
        </p:spPr>
        <p:txBody>
          <a:bodyPr/>
          <a:lstStyle/>
          <a:p>
            <a:r>
              <a:rPr lang="en-US" dirty="0" err="1">
                <a:latin typeface="+mj-lt"/>
              </a:rPr>
              <a:t>Ngày</a:t>
            </a:r>
            <a:r>
              <a:rPr lang="en-US" dirty="0">
                <a:latin typeface="+mj-lt"/>
              </a:rPr>
              <a:t> </a:t>
            </a:r>
            <a:r>
              <a:rPr lang="en-US" dirty="0" smtClean="0">
                <a:latin typeface="+mj-lt"/>
              </a:rPr>
              <a:t>25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>
                <a:latin typeface="+mj-lt"/>
              </a:rPr>
              <a:t>tháng</a:t>
            </a:r>
            <a:r>
              <a:rPr lang="en-US" dirty="0">
                <a:latin typeface="+mj-lt"/>
              </a:rPr>
              <a:t> </a:t>
            </a:r>
            <a:r>
              <a:rPr lang="en-US" dirty="0" smtClean="0">
                <a:latin typeface="+mj-lt"/>
              </a:rPr>
              <a:t>09 </a:t>
            </a:r>
            <a:r>
              <a:rPr lang="en-US" dirty="0" err="1">
                <a:latin typeface="+mj-lt"/>
              </a:rPr>
              <a:t>năm</a:t>
            </a:r>
            <a:r>
              <a:rPr lang="en-US" dirty="0">
                <a:latin typeface="+mj-lt"/>
              </a:rPr>
              <a:t> 2026</a:t>
            </a:r>
            <a:endParaRPr lang="x-none" dirty="0">
              <a:latin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A21DE20-70D6-DD65-B1D0-08C5B47A043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47704" y="1113543"/>
            <a:ext cx="3055816" cy="47754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err="1" smtClean="0">
                <a:latin typeface="+mj-lt"/>
              </a:rPr>
              <a:t>ĐỒ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>
                <a:latin typeface="+mj-lt"/>
              </a:rPr>
              <a:t>ÁN</a:t>
            </a:r>
            <a:r>
              <a:rPr lang="en-US" dirty="0">
                <a:latin typeface="+mj-lt"/>
              </a:rPr>
              <a:t> </a:t>
            </a:r>
            <a:r>
              <a:rPr lang="en-US" dirty="0" smtClean="0">
                <a:latin typeface="+mj-lt"/>
              </a:rPr>
              <a:t>CE436.R11.VMTN</a:t>
            </a:r>
            <a:endParaRPr lang="x-none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01E99C6-9F71-2563-42D3-79554AE1E10D}"/>
              </a:ext>
            </a:extLst>
          </p:cNvPr>
          <p:cNvSpPr txBox="1"/>
          <p:nvPr/>
        </p:nvSpPr>
        <p:spPr>
          <a:xfrm>
            <a:off x="1524000" y="3593565"/>
            <a:ext cx="91440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x-none" sz="2400" b="1" dirty="0">
                <a:solidFill>
                  <a:schemeClr val="accent4"/>
                </a:solidFill>
                <a:latin typeface="+mj-lt"/>
              </a:rPr>
              <a:t>GVHD:</a:t>
            </a:r>
            <a:r>
              <a:rPr lang="en-US" sz="2400" b="1" dirty="0">
                <a:solidFill>
                  <a:schemeClr val="accent4"/>
                </a:solidFill>
                <a:latin typeface="+mj-lt"/>
              </a:rPr>
              <a:t> Ts. </a:t>
            </a:r>
            <a:r>
              <a:rPr lang="en-US" sz="2400" b="1" dirty="0" err="1">
                <a:solidFill>
                  <a:schemeClr val="accent4"/>
                </a:solidFill>
                <a:latin typeface="+mj-lt"/>
              </a:rPr>
              <a:t>Trần</a:t>
            </a:r>
            <a:r>
              <a:rPr lang="en-US" sz="2400" b="1" dirty="0">
                <a:solidFill>
                  <a:schemeClr val="accent4"/>
                </a:solidFill>
                <a:latin typeface="+mj-lt"/>
              </a:rPr>
              <a:t> </a:t>
            </a:r>
            <a:r>
              <a:rPr lang="en-US" sz="2400" b="1" dirty="0" err="1" smtClean="0">
                <a:solidFill>
                  <a:schemeClr val="accent4"/>
                </a:solidFill>
                <a:latin typeface="+mj-lt"/>
              </a:rPr>
              <a:t>Xuân</a:t>
            </a:r>
            <a:r>
              <a:rPr lang="en-US" sz="2400" b="1" dirty="0" smtClean="0">
                <a:solidFill>
                  <a:schemeClr val="accent4"/>
                </a:solidFill>
                <a:latin typeface="+mj-lt"/>
              </a:rPr>
              <a:t> </a:t>
            </a:r>
            <a:r>
              <a:rPr lang="en-US" sz="2400" b="1" dirty="0" err="1" smtClean="0">
                <a:solidFill>
                  <a:schemeClr val="accent4"/>
                </a:solidFill>
                <a:latin typeface="+mj-lt"/>
              </a:rPr>
              <a:t>Phước</a:t>
            </a:r>
            <a:endParaRPr lang="en-US" sz="2400" b="1" dirty="0">
              <a:solidFill>
                <a:schemeClr val="accent4"/>
              </a:solidFill>
              <a:latin typeface="+mj-lt"/>
            </a:endParaRPr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400" b="1" dirty="0">
                <a:solidFill>
                  <a:schemeClr val="accent4"/>
                </a:solidFill>
                <a:latin typeface="+mj-lt"/>
              </a:rPr>
              <a:t>Thành </a:t>
            </a:r>
            <a:r>
              <a:rPr lang="en-US" sz="2400" b="1" dirty="0" err="1">
                <a:solidFill>
                  <a:schemeClr val="accent4"/>
                </a:solidFill>
                <a:latin typeface="+mj-lt"/>
              </a:rPr>
              <a:t>viên</a:t>
            </a:r>
            <a:r>
              <a:rPr lang="en-US" sz="2400" b="1" dirty="0">
                <a:solidFill>
                  <a:schemeClr val="accent4"/>
                </a:solidFill>
                <a:latin typeface="+mj-lt"/>
              </a:rPr>
              <a:t>:</a:t>
            </a:r>
            <a:endParaRPr lang="x-none" sz="2400" b="1" dirty="0">
              <a:solidFill>
                <a:schemeClr val="accent4"/>
              </a:solidFill>
              <a:latin typeface="+mj-lt"/>
            </a:endParaRP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5019299" algn="l"/>
              </a:tabLst>
            </a:pPr>
            <a:r>
              <a:rPr lang="en-US" sz="2400" b="1" dirty="0" err="1">
                <a:latin typeface="+mj-lt"/>
              </a:rPr>
              <a:t>Nguyễn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 smtClean="0">
                <a:latin typeface="+mj-lt"/>
              </a:rPr>
              <a:t>Nghĩa</a:t>
            </a:r>
            <a:r>
              <a:rPr lang="en-US" sz="2400" b="1" dirty="0" smtClean="0">
                <a:latin typeface="+mj-lt"/>
              </a:rPr>
              <a:t> </a:t>
            </a:r>
            <a:r>
              <a:rPr lang="en-US" sz="2400" b="1" dirty="0" err="1" smtClean="0">
                <a:latin typeface="+mj-lt"/>
              </a:rPr>
              <a:t>Khoa</a:t>
            </a:r>
            <a:r>
              <a:rPr lang="x-none" sz="2400" b="1">
                <a:latin typeface="+mj-lt"/>
              </a:rPr>
              <a:t>	</a:t>
            </a:r>
            <a:r>
              <a:rPr lang="en-US" sz="2400" b="1" dirty="0" smtClean="0">
                <a:latin typeface="+mj-lt"/>
              </a:rPr>
              <a:t>24520832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5019299" algn="l"/>
              </a:tabLst>
            </a:pPr>
            <a:r>
              <a:rPr lang="en-US" sz="2400" b="1" dirty="0" err="1" smtClean="0">
                <a:latin typeface="+mj-lt"/>
              </a:rPr>
              <a:t>Nguyễn</a:t>
            </a:r>
            <a:r>
              <a:rPr lang="en-US" sz="2400" b="1" dirty="0" smtClean="0">
                <a:latin typeface="+mj-lt"/>
              </a:rPr>
              <a:t> Minh </a:t>
            </a:r>
            <a:r>
              <a:rPr lang="en-US" sz="2400" b="1" dirty="0" err="1" smtClean="0">
                <a:latin typeface="+mj-lt"/>
              </a:rPr>
              <a:t>Khoa</a:t>
            </a:r>
            <a:r>
              <a:rPr lang="en-US" sz="2400" b="1" dirty="0">
                <a:latin typeface="+mj-lt"/>
              </a:rPr>
              <a:t>	</a:t>
            </a:r>
            <a:r>
              <a:rPr lang="en-US" sz="2400" b="1" dirty="0" smtClean="0">
                <a:latin typeface="+mj-lt"/>
              </a:rPr>
              <a:t>24520831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5019299" algn="l"/>
              </a:tabLst>
            </a:pPr>
            <a:r>
              <a:rPr lang="en-US" sz="2400" b="1" dirty="0" err="1" smtClean="0">
                <a:latin typeface="+mj-lt"/>
              </a:rPr>
              <a:t>Lê</a:t>
            </a:r>
            <a:r>
              <a:rPr lang="en-US" sz="2400" b="1" dirty="0" smtClean="0">
                <a:latin typeface="+mj-lt"/>
              </a:rPr>
              <a:t> </a:t>
            </a:r>
            <a:r>
              <a:rPr lang="en-US" sz="2400" b="1" dirty="0" err="1" smtClean="0">
                <a:latin typeface="+mj-lt"/>
              </a:rPr>
              <a:t>Đăng</a:t>
            </a:r>
            <a:r>
              <a:rPr lang="en-US" sz="2400" b="1" dirty="0" smtClean="0">
                <a:latin typeface="+mj-lt"/>
              </a:rPr>
              <a:t> </a:t>
            </a:r>
            <a:r>
              <a:rPr lang="en-US" sz="2400" b="1" dirty="0" err="1" smtClean="0">
                <a:latin typeface="+mj-lt"/>
              </a:rPr>
              <a:t>Khoa</a:t>
            </a:r>
            <a:r>
              <a:rPr lang="en-US" sz="2400" b="1" dirty="0" smtClean="0">
                <a:latin typeface="+mj-lt"/>
              </a:rPr>
              <a:t> 	24520816</a:t>
            </a:r>
            <a:endParaRPr lang="x-none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52702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09E84C-3683-652F-CF31-A1F9AD732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Project Scope: 3-Hour Forecast Core</a:t>
            </a:r>
            <a:endParaRPr lang="x-none" dirty="0">
              <a:solidFill>
                <a:schemeClr val="accent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2</a:t>
            </a:fld>
            <a:endParaRPr lang="en-US" dirty="0">
              <a:latin typeface="+mj-lt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06000" y="1779601"/>
            <a:ext cx="843641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ASSIGNED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TOPIC: 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Weather Pattern Forecasting on </a:t>
            </a:r>
            <a:r>
              <a:rPr lang="en-US" dirty="0" err="1">
                <a:solidFill>
                  <a:schemeClr val="tx2">
                    <a:lumMod val="50000"/>
                  </a:schemeClr>
                </a:solidFill>
                <a:latin typeface="+mj-lt"/>
              </a:rPr>
              <a:t>FPGA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 using Time Series Analysis</a:t>
            </a:r>
          </a:p>
          <a:p>
            <a:endParaRPr lang="en-US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grpSp>
        <p:nvGrpSpPr>
          <p:cNvPr id="48" name="objective-card"/>
          <p:cNvGrpSpPr/>
          <p:nvPr/>
        </p:nvGrpSpPr>
        <p:grpSpPr>
          <a:xfrm>
            <a:off x="5980970" y="2152845"/>
            <a:ext cx="5296627" cy="4293045"/>
            <a:chOff x="6286500" y="1374418"/>
            <a:chExt cx="5257800" cy="4381500"/>
          </a:xfrm>
        </p:grpSpPr>
        <p:sp>
          <p:nvSpPr>
            <p:cNvPr id="49" name="Rectangle 16"/>
            <p:cNvSpPr/>
            <p:nvPr/>
          </p:nvSpPr>
          <p:spPr>
            <a:xfrm>
              <a:off x="6286500" y="1374418"/>
              <a:ext cx="5257800" cy="4381500"/>
            </a:xfrm>
            <a:prstGeom prst="roundRect">
              <a:avLst>
                <a:gd name="adj" fmla="val 87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0" name="TextBox 17"/>
            <p:cNvSpPr txBox="1"/>
            <p:nvPr/>
          </p:nvSpPr>
          <p:spPr>
            <a:xfrm>
              <a:off x="6542532" y="1678305"/>
              <a:ext cx="3686931" cy="329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j-lt"/>
                  <a:ea typeface="+mn-ea"/>
                  <a:cs typeface="+mn-cs"/>
                </a:rPr>
                <a:t>ENGINEERING OBJECTIVES</a:t>
              </a:r>
            </a:p>
          </p:txBody>
        </p:sp>
        <p:sp>
          <p:nvSpPr>
            <p:cNvPr id="51" name="TextBox 18"/>
            <p:cNvSpPr txBox="1"/>
            <p:nvPr/>
          </p:nvSpPr>
          <p:spPr>
            <a:xfrm>
              <a:off x="6543294" y="2218372"/>
              <a:ext cx="4044962" cy="306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j-lt"/>
                  <a:ea typeface="+mn-ea"/>
                  <a:cs typeface="+mn-cs"/>
                </a:rPr>
                <a:t>Complete model-to-silicon design flow</a:t>
              </a:r>
            </a:p>
          </p:txBody>
        </p:sp>
        <p:sp>
          <p:nvSpPr>
            <p:cNvPr id="52" name="TextBox 19"/>
            <p:cNvSpPr txBox="1"/>
            <p:nvPr/>
          </p:nvSpPr>
          <p:spPr>
            <a:xfrm>
              <a:off x="6543294" y="2694622"/>
              <a:ext cx="3443469" cy="306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j-lt"/>
                  <a:ea typeface="+mn-ea"/>
                  <a:cs typeface="+mn-cs"/>
                </a:rPr>
                <a:t>C++ floating-point golden model</a:t>
              </a:r>
            </a:p>
          </p:txBody>
        </p:sp>
        <p:sp>
          <p:nvSpPr>
            <p:cNvPr id="53" name="TextBox 20"/>
            <p:cNvSpPr txBox="1"/>
            <p:nvPr/>
          </p:nvSpPr>
          <p:spPr>
            <a:xfrm>
              <a:off x="6543294" y="3170872"/>
              <a:ext cx="3528698" cy="306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j-lt"/>
                  <a:ea typeface="+mn-ea"/>
                  <a:cs typeface="+mn-cs"/>
                </a:rPr>
                <a:t>Bit-exact fixed-point Verilog RTL</a:t>
              </a:r>
            </a:p>
          </p:txBody>
        </p:sp>
        <p:sp>
          <p:nvSpPr>
            <p:cNvPr id="54" name="TextBox 21"/>
            <p:cNvSpPr txBox="1"/>
            <p:nvPr/>
          </p:nvSpPr>
          <p:spPr>
            <a:xfrm>
              <a:off x="6543294" y="3647122"/>
              <a:ext cx="3890930" cy="306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j-lt"/>
                  <a:ea typeface="+mn-ea"/>
                  <a:cs typeface="+mn-cs"/>
                </a:rPr>
                <a:t>Realistic edge DSP hardware practice</a:t>
              </a:r>
            </a:p>
          </p:txBody>
        </p:sp>
        <p:sp>
          <p:nvSpPr>
            <p:cNvPr id="55" name="Line 22"/>
            <p:cNvSpPr/>
            <p:nvPr/>
          </p:nvSpPr>
          <p:spPr>
            <a:xfrm>
              <a:off x="6553200" y="4238625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6" name="TextBox 23"/>
            <p:cNvSpPr txBox="1"/>
            <p:nvPr/>
          </p:nvSpPr>
          <p:spPr>
            <a:xfrm>
              <a:off x="6544056" y="4520565"/>
              <a:ext cx="3186959" cy="2827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Focus: Hardware &amp; DV mastery</a:t>
              </a:r>
            </a:p>
          </p:txBody>
        </p:sp>
        <p:sp>
          <p:nvSpPr>
            <p:cNvPr id="57" name="TextBox 24"/>
            <p:cNvSpPr txBox="1"/>
            <p:nvPr/>
          </p:nvSpPr>
          <p:spPr>
            <a:xfrm>
              <a:off x="6544056" y="4949190"/>
              <a:ext cx="4080034" cy="2827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+mj-lt"/>
                  <a:ea typeface="+mn-ea"/>
                  <a:cs typeface="+mn-cs"/>
                </a:rPr>
                <a:t>Not claiming FPGA speedup on hourly data.</a:t>
              </a:r>
            </a:p>
          </p:txBody>
        </p:sp>
      </p:grpSp>
      <p:grpSp>
        <p:nvGrpSpPr>
          <p:cNvPr id="58" name="problem-card"/>
          <p:cNvGrpSpPr/>
          <p:nvPr/>
        </p:nvGrpSpPr>
        <p:grpSpPr>
          <a:xfrm>
            <a:off x="525526" y="2170610"/>
            <a:ext cx="5257800" cy="4329987"/>
            <a:chOff x="609600" y="1428750"/>
            <a:chExt cx="5257800" cy="4381500"/>
          </a:xfrm>
        </p:grpSpPr>
        <p:sp>
          <p:nvSpPr>
            <p:cNvPr id="59" name="Rectangle 6"/>
            <p:cNvSpPr/>
            <p:nvPr/>
          </p:nvSpPr>
          <p:spPr>
            <a:xfrm>
              <a:off x="609600" y="1428750"/>
              <a:ext cx="5257800" cy="4381500"/>
            </a:xfrm>
            <a:prstGeom prst="roundRect">
              <a:avLst>
                <a:gd name="adj" fmla="val 87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0" name="TextBox 7"/>
            <p:cNvSpPr txBox="1"/>
            <p:nvPr/>
          </p:nvSpPr>
          <p:spPr>
            <a:xfrm>
              <a:off x="827532" y="1678305"/>
              <a:ext cx="3488968" cy="3270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j-lt"/>
                  <a:ea typeface="+mn-ea"/>
                  <a:cs typeface="+mn-cs"/>
                </a:rPr>
                <a:t>PROBLEM FORMULATION</a:t>
              </a:r>
            </a:p>
          </p:txBody>
        </p:sp>
        <p:sp>
          <p:nvSpPr>
            <p:cNvPr id="61" name="TextBox 8"/>
            <p:cNvSpPr txBox="1"/>
            <p:nvPr/>
          </p:nvSpPr>
          <p:spPr>
            <a:xfrm>
              <a:off x="828294" y="2218372"/>
              <a:ext cx="3719288" cy="3036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j-lt"/>
                  <a:ea typeface="+mn-ea"/>
                  <a:cs typeface="+mn-cs"/>
                </a:rPr>
                <a:t>Input: Hourly temperature T(t) (°C)</a:t>
              </a:r>
            </a:p>
          </p:txBody>
        </p:sp>
        <p:sp>
          <p:nvSpPr>
            <p:cNvPr id="62" name="TextBox 9"/>
            <p:cNvSpPr txBox="1"/>
            <p:nvPr/>
          </p:nvSpPr>
          <p:spPr>
            <a:xfrm>
              <a:off x="828294" y="2694622"/>
              <a:ext cx="4095993" cy="3036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j-lt"/>
                  <a:ea typeface="+mn-ea"/>
                  <a:cs typeface="+mn-cs"/>
                </a:rPr>
                <a:t>Output: Future temperature T̂(t+3) (°C)</a:t>
              </a:r>
            </a:p>
          </p:txBody>
        </p:sp>
        <p:sp>
          <p:nvSpPr>
            <p:cNvPr id="63" name="TextBox 10"/>
            <p:cNvSpPr txBox="1"/>
            <p:nvPr/>
          </p:nvSpPr>
          <p:spPr>
            <a:xfrm>
              <a:off x="828294" y="3170872"/>
              <a:ext cx="4045979" cy="3036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j-lt"/>
                  <a:ea typeface="+mn-ea"/>
                  <a:cs typeface="+mn-cs"/>
                </a:rPr>
                <a:t>Location: Single-station weather series</a:t>
              </a:r>
            </a:p>
          </p:txBody>
        </p:sp>
        <p:sp>
          <p:nvSpPr>
            <p:cNvPr id="64" name="TextBox 11"/>
            <p:cNvSpPr txBox="1"/>
            <p:nvPr/>
          </p:nvSpPr>
          <p:spPr>
            <a:xfrm>
              <a:off x="828294" y="3647122"/>
              <a:ext cx="4059445" cy="3036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j-lt"/>
                  <a:ea typeface="+mn-ea"/>
                  <a:cs typeface="+mn-cs"/>
                </a:rPr>
                <a:t>Source: NASA POWER hourly dataset</a:t>
              </a:r>
            </a:p>
          </p:txBody>
        </p:sp>
        <p:sp>
          <p:nvSpPr>
            <p:cNvPr id="65" name="Line 12"/>
            <p:cNvSpPr/>
            <p:nvPr/>
          </p:nvSpPr>
          <p:spPr>
            <a:xfrm>
              <a:off x="838200" y="4238625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6" name="TextBox 13"/>
            <p:cNvSpPr txBox="1"/>
            <p:nvPr/>
          </p:nvSpPr>
          <p:spPr>
            <a:xfrm>
              <a:off x="828294" y="4504372"/>
              <a:ext cx="3980385" cy="3036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Target: 3-hour ahead local prediction</a:t>
              </a:r>
            </a:p>
          </p:txBody>
        </p:sp>
        <p:sp>
          <p:nvSpPr>
            <p:cNvPr id="67" name="TextBox 14"/>
            <p:cNvSpPr txBox="1"/>
            <p:nvPr/>
          </p:nvSpPr>
          <p:spPr>
            <a:xfrm>
              <a:off x="829056" y="4949190"/>
              <a:ext cx="4204549" cy="2802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+mj-lt"/>
                  <a:ea typeface="+mn-ea"/>
                  <a:cs typeface="+mn-cs"/>
                </a:rPr>
                <a:t>Tractable scope for a rigorous 3-month cycle.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9260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09E84C-3683-652F-CF31-A1F9AD732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529" y="1036775"/>
            <a:ext cx="10980000" cy="890663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End-to-End System Workflow</a:t>
            </a:r>
            <a:endParaRPr lang="x-none" dirty="0">
              <a:solidFill>
                <a:schemeClr val="accent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3</a:t>
            </a:fld>
            <a:endParaRPr lang="en-US" dirty="0">
              <a:latin typeface="+mj-lt"/>
            </a:endParaRPr>
          </a:p>
        </p:txBody>
      </p:sp>
      <p:grpSp>
        <p:nvGrpSpPr>
          <p:cNvPr id="49" name="offline-flow"/>
          <p:cNvGrpSpPr/>
          <p:nvPr/>
        </p:nvGrpSpPr>
        <p:grpSpPr>
          <a:xfrm>
            <a:off x="569317" y="1975593"/>
            <a:ext cx="10972800" cy="1905000"/>
            <a:chOff x="609600" y="1428750"/>
            <a:chExt cx="10972800" cy="1905000"/>
          </a:xfrm>
        </p:grpSpPr>
        <p:sp>
          <p:nvSpPr>
            <p:cNvPr id="50" name="Rectangle 6"/>
            <p:cNvSpPr/>
            <p:nvPr/>
          </p:nvSpPr>
          <p:spPr>
            <a:xfrm>
              <a:off x="609600" y="1428750"/>
              <a:ext cx="10972800" cy="1905000"/>
            </a:xfrm>
            <a:prstGeom prst="roundRect">
              <a:avLst>
                <a:gd name="adj" fmla="val 2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1" name="TextBox 7"/>
            <p:cNvSpPr txBox="1"/>
            <p:nvPr/>
          </p:nvSpPr>
          <p:spPr>
            <a:xfrm>
              <a:off x="828294" y="1646872"/>
              <a:ext cx="6557564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j-lt"/>
                  <a:ea typeface="+mn-ea"/>
                  <a:cs typeface="+mn-cs"/>
                </a:rPr>
                <a:t>1. OFFLINE TRAINING &amp; GOLDEN MODEL (HOST C++)</a:t>
              </a:r>
            </a:p>
          </p:txBody>
        </p:sp>
        <p:sp>
          <p:nvSpPr>
            <p:cNvPr id="52" name="TextBox 8"/>
            <p:cNvSpPr txBox="1"/>
            <p:nvPr/>
          </p:nvSpPr>
          <p:spPr>
            <a:xfrm>
              <a:off x="827532" y="2202180"/>
              <a:ext cx="8953477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j-lt"/>
                  <a:ea typeface="+mn-ea"/>
                  <a:cs typeface="+mn-cs"/>
                </a:rPr>
                <a:t>Clean CSV Data → Least Squares Fit → Export Fixed-Point Model &amp; Vectors</a:t>
              </a:r>
            </a:p>
          </p:txBody>
        </p:sp>
        <p:sp>
          <p:nvSpPr>
            <p:cNvPr id="53" name="TextBox 9"/>
            <p:cNvSpPr txBox="1"/>
            <p:nvPr/>
          </p:nvSpPr>
          <p:spPr>
            <a:xfrm>
              <a:off x="829056" y="2758440"/>
              <a:ext cx="744396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Solves weights a, b, c via Eigen C++ · Generates bit-exact test vectors for RTL</a:t>
              </a:r>
            </a:p>
          </p:txBody>
        </p:sp>
      </p:grpSp>
      <p:grpSp>
        <p:nvGrpSpPr>
          <p:cNvPr id="54" name="online-flow"/>
          <p:cNvGrpSpPr/>
          <p:nvPr/>
        </p:nvGrpSpPr>
        <p:grpSpPr>
          <a:xfrm>
            <a:off x="569317" y="4125087"/>
            <a:ext cx="10972800" cy="1905000"/>
            <a:chOff x="609600" y="3571875"/>
            <a:chExt cx="10972800" cy="1905000"/>
          </a:xfrm>
        </p:grpSpPr>
        <p:sp>
          <p:nvSpPr>
            <p:cNvPr id="55" name="Rectangle 11"/>
            <p:cNvSpPr/>
            <p:nvPr/>
          </p:nvSpPr>
          <p:spPr>
            <a:xfrm>
              <a:off x="609600" y="3571875"/>
              <a:ext cx="10972800" cy="1905000"/>
            </a:xfrm>
            <a:prstGeom prst="roundRect">
              <a:avLst>
                <a:gd name="adj" fmla="val 2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TextBox 12"/>
            <p:cNvSpPr txBox="1"/>
            <p:nvPr/>
          </p:nvSpPr>
          <p:spPr>
            <a:xfrm>
              <a:off x="828294" y="3789998"/>
              <a:ext cx="577408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j-lt"/>
                  <a:ea typeface="+mn-ea"/>
                  <a:cs typeface="+mn-cs"/>
                </a:rPr>
                <a:t>2. RUNTIME INFERENCE (TARGET FPGA CORE)</a:t>
              </a:r>
            </a:p>
          </p:txBody>
        </p:sp>
        <p:sp>
          <p:nvSpPr>
            <p:cNvPr id="57" name="TextBox 13"/>
            <p:cNvSpPr txBox="1"/>
            <p:nvPr/>
          </p:nvSpPr>
          <p:spPr>
            <a:xfrm>
              <a:off x="827532" y="4345305"/>
              <a:ext cx="8692764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j-lt"/>
                  <a:ea typeface="+mn-ea"/>
                  <a:cs typeface="+mn-cs"/>
                </a:rPr>
                <a:t>Sample T(t) In → [ 25-Sample Buffer + MAC Core ] → Forecast T̂(t+3) Out</a:t>
              </a:r>
            </a:p>
          </p:txBody>
        </p:sp>
        <p:sp>
          <p:nvSpPr>
            <p:cNvPr id="58" name="TextBox 14"/>
            <p:cNvSpPr txBox="1"/>
            <p:nvPr/>
          </p:nvSpPr>
          <p:spPr>
            <a:xfrm>
              <a:off x="829056" y="4901565"/>
              <a:ext cx="717061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Fixed coefficients on-chip · Valid handshake · Pipelined arithmetic datapath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547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09E84C-3683-652F-CF31-A1F9AD732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Linear Model with Diurnal Anchor &amp; Taps</a:t>
            </a:r>
            <a:endParaRPr lang="x-none" dirty="0">
              <a:solidFill>
                <a:schemeClr val="accent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4</a:t>
            </a:fld>
            <a:endParaRPr lang="en-US" dirty="0">
              <a:latin typeface="+mj-lt"/>
            </a:endParaRPr>
          </a:p>
        </p:txBody>
      </p:sp>
      <p:grpSp>
        <p:nvGrpSpPr>
          <p:cNvPr id="58" name="formula-box"/>
          <p:cNvGrpSpPr/>
          <p:nvPr/>
        </p:nvGrpSpPr>
        <p:grpSpPr>
          <a:xfrm>
            <a:off x="457200" y="2054543"/>
            <a:ext cx="10972800" cy="809625"/>
            <a:chOff x="609600" y="1333500"/>
            <a:chExt cx="10972800" cy="809625"/>
          </a:xfrm>
        </p:grpSpPr>
        <p:sp>
          <p:nvSpPr>
            <p:cNvPr id="59" name="Rectangle 6"/>
            <p:cNvSpPr/>
            <p:nvPr/>
          </p:nvSpPr>
          <p:spPr>
            <a:xfrm>
              <a:off x="609600" y="1333500"/>
              <a:ext cx="10972800" cy="809625"/>
            </a:xfrm>
            <a:prstGeom prst="roundRect">
              <a:avLst>
                <a:gd name="adj" fmla="val 47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0" name="TextBox 7"/>
            <p:cNvSpPr txBox="1"/>
            <p:nvPr/>
          </p:nvSpPr>
          <p:spPr>
            <a:xfrm>
              <a:off x="826770" y="1614488"/>
              <a:ext cx="7069692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dk1"/>
                  </a:solidFill>
                  <a:latin typeface="+mj-lt"/>
                  <a:ea typeface="+mn-ea"/>
                  <a:cs typeface="+mn-cs"/>
                </a:rPr>
                <a:t>T̂(t+3) = </a:t>
              </a:r>
              <a:r>
                <a:rPr lang="en-US" sz="2250" b="1" dirty="0">
                  <a:solidFill>
                    <a:schemeClr val="accent2"/>
                  </a:solidFill>
                  <a:latin typeface="+mj-lt"/>
                  <a:ea typeface="+mn-ea"/>
                  <a:cs typeface="+mn-cs"/>
                </a:rPr>
                <a:t>T(t−21)</a:t>
              </a:r>
              <a:r>
                <a:rPr lang="en-US" sz="2250" b="1" dirty="0">
                  <a:solidFill>
                    <a:schemeClr val="dk1"/>
                  </a:solidFill>
                  <a:latin typeface="+mj-lt"/>
                  <a:ea typeface="+mn-ea"/>
                  <a:cs typeface="+mn-cs"/>
                </a:rPr>
                <a:t> + a[T(t) − T(t−24)] + b[T(t) − T(t−3)] + c</a:t>
              </a:r>
            </a:p>
          </p:txBody>
        </p:sp>
      </p:grpSp>
      <p:grpSp>
        <p:nvGrpSpPr>
          <p:cNvPr id="61" name="taps-panel"/>
          <p:cNvGrpSpPr/>
          <p:nvPr/>
        </p:nvGrpSpPr>
        <p:grpSpPr>
          <a:xfrm>
            <a:off x="457200" y="3054668"/>
            <a:ext cx="5334000" cy="3619500"/>
            <a:chOff x="609600" y="2333625"/>
            <a:chExt cx="5334000" cy="3619500"/>
          </a:xfrm>
        </p:grpSpPr>
        <p:sp>
          <p:nvSpPr>
            <p:cNvPr id="62" name="Rectangle 9"/>
            <p:cNvSpPr/>
            <p:nvPr/>
          </p:nvSpPr>
          <p:spPr>
            <a:xfrm>
              <a:off x="609600" y="2333625"/>
              <a:ext cx="5334000" cy="3619500"/>
            </a:xfrm>
            <a:prstGeom prst="roundRect">
              <a:avLst>
                <a:gd name="adj" fmla="val 10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3" name="TextBox 10"/>
            <p:cNvSpPr txBox="1"/>
            <p:nvPr/>
          </p:nvSpPr>
          <p:spPr>
            <a:xfrm>
              <a:off x="828294" y="2551748"/>
              <a:ext cx="3658437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j-lt"/>
                  <a:ea typeface="+mn-ea"/>
                  <a:cs typeface="+mn-cs"/>
                </a:rPr>
                <a:t>PHYSICAL MEANING OF TAPS</a:t>
              </a:r>
            </a:p>
          </p:txBody>
        </p:sp>
        <p:sp>
          <p:nvSpPr>
            <p:cNvPr id="64" name="TextBox 11"/>
            <p:cNvSpPr txBox="1"/>
            <p:nvPr/>
          </p:nvSpPr>
          <p:spPr>
            <a:xfrm>
              <a:off x="829056" y="3091815"/>
              <a:ext cx="258474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accent1"/>
                </a:buClr>
                <a:buSzTx/>
                <a:buFontTx/>
                <a:buChar char="•"/>
              </a:pPr>
              <a:r>
                <a:rPr lang="en-US" sz="1800" b="1" dirty="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T(t−21): Diurnal Anchor</a:t>
              </a:r>
            </a:p>
          </p:txBody>
        </p:sp>
        <p:sp>
          <p:nvSpPr>
            <p:cNvPr id="65" name="TextBox 12"/>
            <p:cNvSpPr txBox="1"/>
            <p:nvPr/>
          </p:nvSpPr>
          <p:spPr>
            <a:xfrm>
              <a:off x="1038606" y="3425190"/>
              <a:ext cx="378308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Same hour yesterday: (t+3) − 24 = t − 21</a:t>
              </a:r>
            </a:p>
          </p:txBody>
        </p:sp>
        <p:sp>
          <p:nvSpPr>
            <p:cNvPr id="66" name="TextBox 13"/>
            <p:cNvSpPr txBox="1"/>
            <p:nvPr/>
          </p:nvSpPr>
          <p:spPr>
            <a:xfrm>
              <a:off x="829056" y="3949065"/>
              <a:ext cx="326781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accent1"/>
                </a:buClr>
                <a:buSzTx/>
                <a:buFontTx/>
                <a:buChar char="•"/>
              </a:pPr>
              <a:r>
                <a:rPr lang="en-US" sz="1800" b="1" dirty="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T(t) − T(t−24): Inter-Day Trend</a:t>
              </a:r>
            </a:p>
          </p:txBody>
        </p:sp>
        <p:sp>
          <p:nvSpPr>
            <p:cNvPr id="67" name="TextBox 14"/>
            <p:cNvSpPr txBox="1"/>
            <p:nvPr/>
          </p:nvSpPr>
          <p:spPr>
            <a:xfrm>
              <a:off x="1038606" y="4282440"/>
              <a:ext cx="325403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Today vs. yesterday at current hour</a:t>
              </a:r>
            </a:p>
          </p:txBody>
        </p:sp>
        <p:sp>
          <p:nvSpPr>
            <p:cNvPr id="68" name="TextBox 15"/>
            <p:cNvSpPr txBox="1"/>
            <p:nvPr/>
          </p:nvSpPr>
          <p:spPr>
            <a:xfrm>
              <a:off x="829056" y="4806315"/>
              <a:ext cx="317362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accent1"/>
                </a:buClr>
                <a:buSzTx/>
                <a:buFontTx/>
                <a:buChar char="•"/>
              </a:pPr>
              <a:r>
                <a:rPr lang="en-US" sz="1800" b="1" dirty="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T(t) − T(t−3): Recent Gradient</a:t>
              </a:r>
            </a:p>
          </p:txBody>
        </p:sp>
        <p:sp>
          <p:nvSpPr>
            <p:cNvPr id="69" name="TextBox 16"/>
            <p:cNvSpPr txBox="1"/>
            <p:nvPr/>
          </p:nvSpPr>
          <p:spPr>
            <a:xfrm>
              <a:off x="1038606" y="5139690"/>
              <a:ext cx="37638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Latest 3-hour temperature rate of change</a:t>
              </a:r>
            </a:p>
          </p:txBody>
        </p:sp>
      </p:grpSp>
      <p:grpSp>
        <p:nvGrpSpPr>
          <p:cNvPr id="70" name="math-walkthrough"/>
          <p:cNvGrpSpPr/>
          <p:nvPr/>
        </p:nvGrpSpPr>
        <p:grpSpPr>
          <a:xfrm>
            <a:off x="6096000" y="3054668"/>
            <a:ext cx="5334000" cy="3619500"/>
            <a:chOff x="6248400" y="2333625"/>
            <a:chExt cx="5334000" cy="3619500"/>
          </a:xfrm>
        </p:grpSpPr>
        <p:sp>
          <p:nvSpPr>
            <p:cNvPr id="71" name="Rectangle 18"/>
            <p:cNvSpPr/>
            <p:nvPr/>
          </p:nvSpPr>
          <p:spPr>
            <a:xfrm>
              <a:off x="6248400" y="2333625"/>
              <a:ext cx="5334000" cy="3619500"/>
            </a:xfrm>
            <a:prstGeom prst="roundRect">
              <a:avLst>
                <a:gd name="adj" fmla="val 10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2" name="TextBox 19"/>
            <p:cNvSpPr txBox="1"/>
            <p:nvPr/>
          </p:nvSpPr>
          <p:spPr>
            <a:xfrm>
              <a:off x="6467094" y="2551748"/>
              <a:ext cx="3685817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j-lt"/>
                  <a:ea typeface="+mn-ea"/>
                  <a:cs typeface="+mn-cs"/>
                </a:rPr>
                <a:t>NUMERICAL WALKTHROUGH</a:t>
              </a:r>
            </a:p>
          </p:txBody>
        </p:sp>
        <p:sp>
          <p:nvSpPr>
            <p:cNvPr id="73" name="TextBox 20"/>
            <p:cNvSpPr txBox="1"/>
            <p:nvPr/>
          </p:nvSpPr>
          <p:spPr>
            <a:xfrm>
              <a:off x="6467856" y="3091815"/>
              <a:ext cx="3220112" cy="7437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-US" sz="1800" dirty="0">
                  <a:solidFill>
                    <a:schemeClr val="dk1"/>
                  </a:solidFill>
                  <a:latin typeface="+mj-lt"/>
                  <a:ea typeface="Consolas"/>
                  <a:cs typeface="Consolas"/>
                </a:rPr>
                <a:t>Inputs: T(t−24)=19°, T(t−21)=21°</a:t>
              </a:r>
              <a:r>
                <a:rPr dirty="0">
                  <a:latin typeface="+mj-lt"/>
                </a:rPr>
                <a:t/>
              </a:r>
              <a:br>
                <a:rPr dirty="0">
                  <a:latin typeface="+mj-lt"/>
                </a:rPr>
              </a:br>
              <a:r>
                <a:rPr lang="en-US" sz="1800" dirty="0">
                  <a:solidFill>
                    <a:schemeClr val="dk1"/>
                  </a:solidFill>
                  <a:latin typeface="+mj-lt"/>
                  <a:ea typeface="Consolas"/>
                  <a:cs typeface="Consolas"/>
                </a:rPr>
                <a:t>T(t−3)=18°, T(t)=20°C</a:t>
              </a:r>
            </a:p>
          </p:txBody>
        </p:sp>
        <p:sp>
          <p:nvSpPr>
            <p:cNvPr id="74" name="TextBox 21"/>
            <p:cNvSpPr txBox="1"/>
            <p:nvPr/>
          </p:nvSpPr>
          <p:spPr>
            <a:xfrm>
              <a:off x="6467856" y="3949065"/>
              <a:ext cx="302563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+mj-lt"/>
                  <a:ea typeface="Consolas"/>
                  <a:cs typeface="Consolas"/>
                </a:rPr>
                <a:t>Weights: a = 0.5, b = 0.2, c = 0.0</a:t>
              </a:r>
            </a:p>
          </p:txBody>
        </p:sp>
        <p:sp>
          <p:nvSpPr>
            <p:cNvPr id="75" name="Line 22"/>
            <p:cNvSpPr/>
            <p:nvPr/>
          </p:nvSpPr>
          <p:spPr>
            <a:xfrm>
              <a:off x="6477000" y="4429125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6" name="TextBox 23"/>
            <p:cNvSpPr txBox="1"/>
            <p:nvPr/>
          </p:nvSpPr>
          <p:spPr>
            <a:xfrm>
              <a:off x="6466332" y="4678680"/>
              <a:ext cx="3209212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j-lt"/>
                  <a:ea typeface="+mn-ea"/>
                  <a:cs typeface="+mn-cs"/>
                </a:rPr>
                <a:t>21 + 0.5(1) + 0.2(2) = 21.9°C</a:t>
              </a:r>
            </a:p>
          </p:txBody>
        </p:sp>
        <p:sp>
          <p:nvSpPr>
            <p:cNvPr id="77" name="TextBox 24"/>
            <p:cNvSpPr txBox="1"/>
            <p:nvPr/>
          </p:nvSpPr>
          <p:spPr>
            <a:xfrm>
              <a:off x="6468618" y="5203508"/>
              <a:ext cx="419300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Datapath: Subtract → Multiply → Adder Tree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495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09E84C-3683-652F-CF31-A1F9AD732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Chronological Training &amp; Data Split</a:t>
            </a:r>
            <a:endParaRPr lang="x-none" dirty="0">
              <a:solidFill>
                <a:schemeClr val="accent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5</a:t>
            </a:fld>
            <a:endParaRPr lang="en-US" dirty="0">
              <a:latin typeface="+mj-lt"/>
            </a:endParaRPr>
          </a:p>
        </p:txBody>
      </p:sp>
      <p:grpSp>
        <p:nvGrpSpPr>
          <p:cNvPr id="35" name="regression-inputs"/>
          <p:cNvGrpSpPr/>
          <p:nvPr/>
        </p:nvGrpSpPr>
        <p:grpSpPr>
          <a:xfrm>
            <a:off x="605363" y="1804151"/>
            <a:ext cx="10972800" cy="1047750"/>
            <a:chOff x="609600" y="1333500"/>
            <a:chExt cx="10972800" cy="1047750"/>
          </a:xfrm>
        </p:grpSpPr>
        <p:sp>
          <p:nvSpPr>
            <p:cNvPr id="36" name="Rectangle 6"/>
            <p:cNvSpPr/>
            <p:nvPr/>
          </p:nvSpPr>
          <p:spPr>
            <a:xfrm>
              <a:off x="609600" y="1333500"/>
              <a:ext cx="10972800" cy="1047750"/>
            </a:xfrm>
            <a:prstGeom prst="roundRect">
              <a:avLst>
                <a:gd name="adj" fmla="val 363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7"/>
            <p:cNvSpPr txBox="1"/>
            <p:nvPr/>
          </p:nvSpPr>
          <p:spPr>
            <a:xfrm>
              <a:off x="827532" y="1535430"/>
              <a:ext cx="4239109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j-lt"/>
                  <a:ea typeface="Consolas"/>
                  <a:cs typeface="Consolas"/>
                </a:rPr>
                <a:t>Regression Target: y = a·x₁ + b·x₂ + c</a:t>
              </a:r>
            </a:p>
          </p:txBody>
        </p:sp>
        <p:sp>
          <p:nvSpPr>
            <p:cNvPr id="38" name="TextBox 8"/>
            <p:cNvSpPr txBox="1"/>
            <p:nvPr/>
          </p:nvSpPr>
          <p:spPr>
            <a:xfrm>
              <a:off x="829056" y="1977390"/>
              <a:ext cx="740940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j-lt"/>
                  <a:ea typeface="+mn-ea"/>
                  <a:cs typeface="+mn-cs"/>
                </a:rPr>
                <a:t>x₁ = T(t)−T(t−24) · x₂ = T(t)−T(t−3) · y = T(t+3)−T(t−21) </a:t>
              </a:r>
              <a:r>
                <a:rPr lang="en-US" sz="1800" dirty="0" smtClean="0">
                  <a:solidFill>
                    <a:schemeClr val="dk1"/>
                  </a:solidFill>
                  <a:latin typeface="+mj-lt"/>
                  <a:ea typeface="+mn-ea"/>
                  <a:cs typeface="+mn-cs"/>
                </a:rPr>
                <a:t> </a:t>
              </a:r>
              <a:r>
                <a:rPr lang="en-US" sz="1800" dirty="0">
                  <a:solidFill>
                    <a:schemeClr val="dk1"/>
                  </a:solidFill>
                  <a:latin typeface="+mj-lt"/>
                  <a:ea typeface="+mn-ea"/>
                  <a:cs typeface="+mn-cs"/>
                </a:rPr>
                <a:t>Solved via C++ OLS</a:t>
              </a:r>
            </a:p>
          </p:txBody>
        </p:sp>
      </p:grpSp>
      <p:grpSp>
        <p:nvGrpSpPr>
          <p:cNvPr id="39" name="train-stage"/>
          <p:cNvGrpSpPr/>
          <p:nvPr/>
        </p:nvGrpSpPr>
        <p:grpSpPr>
          <a:xfrm>
            <a:off x="605363" y="3090026"/>
            <a:ext cx="3333750" cy="2286000"/>
            <a:chOff x="609600" y="2619375"/>
            <a:chExt cx="3333750" cy="2286000"/>
          </a:xfrm>
        </p:grpSpPr>
        <p:sp>
          <p:nvSpPr>
            <p:cNvPr id="40" name="Rectangle 10"/>
            <p:cNvSpPr/>
            <p:nvPr/>
          </p:nvSpPr>
          <p:spPr>
            <a:xfrm>
              <a:off x="609600" y="2619375"/>
              <a:ext cx="3333750" cy="2286000"/>
            </a:xfrm>
            <a:prstGeom prst="roundRect">
              <a:avLst>
                <a:gd name="adj" fmla="val 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11"/>
            <p:cNvSpPr txBox="1"/>
            <p:nvPr/>
          </p:nvSpPr>
          <p:spPr>
            <a:xfrm>
              <a:off x="827532" y="2868930"/>
              <a:ext cx="1197379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j-lt"/>
                  <a:ea typeface="+mn-ea"/>
                  <a:cs typeface="+mn-cs"/>
                </a:rPr>
                <a:t>01 TRAIN</a:t>
              </a:r>
            </a:p>
          </p:txBody>
        </p:sp>
        <p:sp>
          <p:nvSpPr>
            <p:cNvPr id="58" name="TextBox 12"/>
            <p:cNvSpPr txBox="1"/>
            <p:nvPr/>
          </p:nvSpPr>
          <p:spPr>
            <a:xfrm>
              <a:off x="828294" y="3408998"/>
              <a:ext cx="2362826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j-lt"/>
                  <a:ea typeface="+mn-ea"/>
                  <a:cs typeface="+mn-cs"/>
                </a:rPr>
                <a:t>Past historical records</a:t>
              </a:r>
            </a:p>
          </p:txBody>
        </p:sp>
        <p:sp>
          <p:nvSpPr>
            <p:cNvPr id="59" name="TextBox 13"/>
            <p:cNvSpPr txBox="1"/>
            <p:nvPr/>
          </p:nvSpPr>
          <p:spPr>
            <a:xfrm>
              <a:off x="828294" y="3837622"/>
              <a:ext cx="1933222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j-lt"/>
                  <a:ea typeface="+mn-ea"/>
                  <a:cs typeface="+mn-cs"/>
                </a:rPr>
                <a:t>Fit weights a, b, c</a:t>
              </a:r>
            </a:p>
          </p:txBody>
        </p:sp>
        <p:sp>
          <p:nvSpPr>
            <p:cNvPr id="60" name="TextBox 14"/>
            <p:cNvSpPr txBox="1"/>
            <p:nvPr/>
          </p:nvSpPr>
          <p:spPr>
            <a:xfrm>
              <a:off x="828294" y="4266248"/>
              <a:ext cx="2071080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Eigen least squares</a:t>
              </a:r>
            </a:p>
          </p:txBody>
        </p:sp>
      </p:grpSp>
      <p:grpSp>
        <p:nvGrpSpPr>
          <p:cNvPr id="61" name="validation-stage"/>
          <p:cNvGrpSpPr/>
          <p:nvPr/>
        </p:nvGrpSpPr>
        <p:grpSpPr>
          <a:xfrm>
            <a:off x="4415363" y="3090026"/>
            <a:ext cx="3333750" cy="2286000"/>
            <a:chOff x="4419600" y="2619375"/>
            <a:chExt cx="3333750" cy="2286000"/>
          </a:xfrm>
        </p:grpSpPr>
        <p:sp>
          <p:nvSpPr>
            <p:cNvPr id="62" name="Rectangle 16"/>
            <p:cNvSpPr/>
            <p:nvPr/>
          </p:nvSpPr>
          <p:spPr>
            <a:xfrm>
              <a:off x="4419600" y="2619375"/>
              <a:ext cx="3333750" cy="2286000"/>
            </a:xfrm>
            <a:prstGeom prst="roundRect">
              <a:avLst>
                <a:gd name="adj" fmla="val 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3" name="TextBox 17"/>
            <p:cNvSpPr txBox="1"/>
            <p:nvPr/>
          </p:nvSpPr>
          <p:spPr>
            <a:xfrm>
              <a:off x="4637532" y="2868930"/>
              <a:ext cx="1695721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j-lt"/>
                  <a:ea typeface="+mn-ea"/>
                  <a:cs typeface="+mn-cs"/>
                </a:rPr>
                <a:t>02 VALIDATE</a:t>
              </a:r>
            </a:p>
          </p:txBody>
        </p:sp>
        <p:sp>
          <p:nvSpPr>
            <p:cNvPr id="64" name="TextBox 18"/>
            <p:cNvSpPr txBox="1"/>
            <p:nvPr/>
          </p:nvSpPr>
          <p:spPr>
            <a:xfrm>
              <a:off x="4638294" y="3408998"/>
              <a:ext cx="1910779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j-lt"/>
                  <a:ea typeface="+mn-ea"/>
                  <a:cs typeface="+mn-cs"/>
                </a:rPr>
                <a:t>Model evaluation</a:t>
              </a:r>
            </a:p>
          </p:txBody>
        </p:sp>
        <p:sp>
          <p:nvSpPr>
            <p:cNvPr id="65" name="TextBox 19"/>
            <p:cNvSpPr txBox="1"/>
            <p:nvPr/>
          </p:nvSpPr>
          <p:spPr>
            <a:xfrm>
              <a:off x="4638294" y="3837622"/>
              <a:ext cx="2382896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j-lt"/>
                  <a:ea typeface="+mn-ea"/>
                  <a:cs typeface="+mn-cs"/>
                </a:rPr>
                <a:t>Tune Q-format widths</a:t>
              </a:r>
            </a:p>
          </p:txBody>
        </p:sp>
        <p:sp>
          <p:nvSpPr>
            <p:cNvPr id="66" name="TextBox 20"/>
            <p:cNvSpPr txBox="1"/>
            <p:nvPr/>
          </p:nvSpPr>
          <p:spPr>
            <a:xfrm>
              <a:off x="4638294" y="4266248"/>
              <a:ext cx="2375650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Profile dynamic range</a:t>
              </a:r>
            </a:p>
          </p:txBody>
        </p:sp>
      </p:grpSp>
      <p:grpSp>
        <p:nvGrpSpPr>
          <p:cNvPr id="67" name="test-stage"/>
          <p:cNvGrpSpPr/>
          <p:nvPr/>
        </p:nvGrpSpPr>
        <p:grpSpPr>
          <a:xfrm>
            <a:off x="8225363" y="3090026"/>
            <a:ext cx="3352800" cy="2286000"/>
            <a:chOff x="8229600" y="2619375"/>
            <a:chExt cx="3352800" cy="2286000"/>
          </a:xfrm>
        </p:grpSpPr>
        <p:sp>
          <p:nvSpPr>
            <p:cNvPr id="68" name="Rectangle 22"/>
            <p:cNvSpPr/>
            <p:nvPr/>
          </p:nvSpPr>
          <p:spPr>
            <a:xfrm>
              <a:off x="8229600" y="2619375"/>
              <a:ext cx="3352800" cy="2286000"/>
            </a:xfrm>
            <a:prstGeom prst="roundRect">
              <a:avLst>
                <a:gd name="adj" fmla="val 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9" name="TextBox 23"/>
            <p:cNvSpPr txBox="1"/>
            <p:nvPr/>
          </p:nvSpPr>
          <p:spPr>
            <a:xfrm>
              <a:off x="8447532" y="2868930"/>
              <a:ext cx="1019446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j-lt"/>
                  <a:ea typeface="+mn-ea"/>
                  <a:cs typeface="+mn-cs"/>
                </a:rPr>
                <a:t>03 TEST</a:t>
              </a:r>
            </a:p>
          </p:txBody>
        </p:sp>
        <p:sp>
          <p:nvSpPr>
            <p:cNvPr id="70" name="TextBox 24"/>
            <p:cNvSpPr txBox="1"/>
            <p:nvPr/>
          </p:nvSpPr>
          <p:spPr>
            <a:xfrm>
              <a:off x="8448294" y="3408998"/>
              <a:ext cx="2266646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j-lt"/>
                  <a:ea typeface="+mn-ea"/>
                  <a:cs typeface="+mn-cs"/>
                </a:rPr>
                <a:t>Unseen future period</a:t>
              </a:r>
            </a:p>
          </p:txBody>
        </p:sp>
        <p:sp>
          <p:nvSpPr>
            <p:cNvPr id="71" name="TextBox 25"/>
            <p:cNvSpPr txBox="1"/>
            <p:nvPr/>
          </p:nvSpPr>
          <p:spPr>
            <a:xfrm>
              <a:off x="8448294" y="3837622"/>
              <a:ext cx="2208938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j-lt"/>
                  <a:ea typeface="+mn-ea"/>
                  <a:cs typeface="+mn-cs"/>
                </a:rPr>
                <a:t>Final accuracy score</a:t>
              </a:r>
            </a:p>
          </p:txBody>
        </p:sp>
        <p:sp>
          <p:nvSpPr>
            <p:cNvPr id="72" name="TextBox 26"/>
            <p:cNvSpPr txBox="1"/>
            <p:nvPr/>
          </p:nvSpPr>
          <p:spPr>
            <a:xfrm>
              <a:off x="8448294" y="4266248"/>
              <a:ext cx="2624116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Zero look-ahead leakage</a:t>
              </a:r>
            </a:p>
          </p:txBody>
        </p:sp>
      </p:grpSp>
      <p:grpSp>
        <p:nvGrpSpPr>
          <p:cNvPr id="73" name="split-contract"/>
          <p:cNvGrpSpPr/>
          <p:nvPr/>
        </p:nvGrpSpPr>
        <p:grpSpPr>
          <a:xfrm>
            <a:off x="605363" y="5614151"/>
            <a:ext cx="10972800" cy="762000"/>
            <a:chOff x="609600" y="5143500"/>
            <a:chExt cx="10972800" cy="762000"/>
          </a:xfrm>
        </p:grpSpPr>
        <p:sp>
          <p:nvSpPr>
            <p:cNvPr id="74" name="Rectangle 28"/>
            <p:cNvSpPr/>
            <p:nvPr/>
          </p:nvSpPr>
          <p:spPr>
            <a:xfrm>
              <a:off x="609600" y="5143500"/>
              <a:ext cx="10972800" cy="762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5" name="TextBox 29"/>
            <p:cNvSpPr txBox="1"/>
            <p:nvPr/>
          </p:nvSpPr>
          <p:spPr>
            <a:xfrm>
              <a:off x="828294" y="5409248"/>
              <a:ext cx="9101209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dk1"/>
                  </a:solidFill>
                  <a:latin typeface="+mj-lt"/>
                  <a:ea typeface="+mn-ea"/>
                  <a:cs typeface="+mn-cs"/>
                </a:rPr>
                <a:t>Strict chronological order: Past history provides buffer context without label leakage.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833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6</a:t>
            </a:fld>
            <a:endParaRPr lang="en-US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727348" y="900085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solidFill>
                  <a:schemeClr val="accent1"/>
                </a:solidFill>
              </a:rPr>
              <a:t>Algorithmic Baseline Benchmarking</a:t>
            </a:r>
            <a:endParaRPr lang="en-US" dirty="0">
              <a:solidFill>
                <a:schemeClr val="accent1"/>
              </a:solidFill>
            </a:endParaRPr>
          </a:p>
        </p:txBody>
      </p:sp>
      <p:grpSp>
        <p:nvGrpSpPr>
          <p:cNvPr id="32" name="left-card"/>
          <p:cNvGrpSpPr/>
          <p:nvPr/>
        </p:nvGrpSpPr>
        <p:grpSpPr>
          <a:xfrm>
            <a:off x="509416" y="1883664"/>
            <a:ext cx="5257800" cy="4476750"/>
            <a:chOff x="609600" y="1428750"/>
            <a:chExt cx="5257800" cy="4476750"/>
          </a:xfrm>
        </p:grpSpPr>
        <p:sp>
          <p:nvSpPr>
            <p:cNvPr id="33" name="Rectangle 6"/>
            <p:cNvSpPr/>
            <p:nvPr/>
          </p:nvSpPr>
          <p:spPr>
            <a:xfrm>
              <a:off x="609600" y="1428750"/>
              <a:ext cx="5257800" cy="4476750"/>
            </a:xfrm>
            <a:prstGeom prst="roundRect">
              <a:avLst>
                <a:gd name="adj" fmla="val 85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7"/>
            <p:cNvSpPr txBox="1"/>
            <p:nvPr/>
          </p:nvSpPr>
          <p:spPr>
            <a:xfrm>
              <a:off x="827532" y="1678305"/>
              <a:ext cx="3726789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j-lt"/>
                  <a:ea typeface="+mn-ea"/>
                  <a:cs typeface="+mn-cs"/>
                </a:rPr>
                <a:t>EVALUATION METRIC: MAE</a:t>
              </a:r>
            </a:p>
          </p:txBody>
        </p:sp>
        <p:sp>
          <p:nvSpPr>
            <p:cNvPr id="41" name="TextBox 8"/>
            <p:cNvSpPr txBox="1"/>
            <p:nvPr/>
          </p:nvSpPr>
          <p:spPr>
            <a:xfrm>
              <a:off x="829056" y="2234565"/>
              <a:ext cx="394986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Mean Absolute Error on held-out test data:</a:t>
              </a:r>
            </a:p>
          </p:txBody>
        </p:sp>
        <p:sp>
          <p:nvSpPr>
            <p:cNvPr id="42" name="TextBox 9"/>
            <p:cNvSpPr txBox="1"/>
            <p:nvPr/>
          </p:nvSpPr>
          <p:spPr>
            <a:xfrm>
              <a:off x="828294" y="2789872"/>
              <a:ext cx="3441968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j-lt"/>
                  <a:ea typeface="Consolas"/>
                  <a:cs typeface="Consolas"/>
                </a:rPr>
                <a:t>MAE = (1/N) ∑ |T̂(i) − T_true(i)|</a:t>
              </a:r>
            </a:p>
          </p:txBody>
        </p:sp>
        <p:sp>
          <p:nvSpPr>
            <p:cNvPr id="44" name="Line 10"/>
            <p:cNvSpPr/>
            <p:nvPr/>
          </p:nvSpPr>
          <p:spPr>
            <a:xfrm>
              <a:off x="838200" y="3476625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5" name="TextBox 11"/>
            <p:cNvSpPr txBox="1"/>
            <p:nvPr/>
          </p:nvSpPr>
          <p:spPr>
            <a:xfrm>
              <a:off x="828294" y="3789998"/>
              <a:ext cx="2856872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dk1"/>
                  </a:solidFill>
                  <a:latin typeface="+mj-lt"/>
                  <a:ea typeface="+mn-ea"/>
                  <a:cs typeface="+mn-cs"/>
                </a:rPr>
                <a:t>Core Evaluation Question:</a:t>
              </a:r>
            </a:p>
          </p:txBody>
        </p:sp>
        <p:sp>
          <p:nvSpPr>
            <p:cNvPr id="46" name="TextBox 12"/>
            <p:cNvSpPr txBox="1"/>
            <p:nvPr/>
          </p:nvSpPr>
          <p:spPr>
            <a:xfrm>
              <a:off x="829056" y="4282440"/>
              <a:ext cx="3584315" cy="6668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1800" dirty="0">
                  <a:solidFill>
                    <a:schemeClr val="dk1"/>
                  </a:solidFill>
                  <a:latin typeface="+mj-lt"/>
                </a:rPr>
                <a:t>Does our hardware model actually</a:t>
              </a:r>
              <a:r>
                <a:rPr>
                  <a:latin typeface="+mj-lt"/>
                </a:rPr>
                <a:t/>
              </a:r>
              <a:br>
                <a:rPr>
                  <a:latin typeface="+mj-lt"/>
                </a:rPr>
              </a:br>
              <a:r>
                <a:rPr lang="en-US" sz="1800" dirty="0">
                  <a:solidFill>
                    <a:schemeClr val="dk1"/>
                  </a:solidFill>
                  <a:latin typeface="+mj-lt"/>
                </a:rPr>
                <a:t>outperform simple no-math heuristics?</a:t>
              </a:r>
            </a:p>
          </p:txBody>
        </p:sp>
      </p:grpSp>
      <p:grpSp>
        <p:nvGrpSpPr>
          <p:cNvPr id="47" name="right-card"/>
          <p:cNvGrpSpPr/>
          <p:nvPr/>
        </p:nvGrpSpPr>
        <p:grpSpPr>
          <a:xfrm>
            <a:off x="6224416" y="1883664"/>
            <a:ext cx="5257800" cy="4476750"/>
            <a:chOff x="6324600" y="1428750"/>
            <a:chExt cx="5257800" cy="4476750"/>
          </a:xfrm>
        </p:grpSpPr>
        <p:sp>
          <p:nvSpPr>
            <p:cNvPr id="48" name="Rectangle 14"/>
            <p:cNvSpPr/>
            <p:nvPr/>
          </p:nvSpPr>
          <p:spPr>
            <a:xfrm>
              <a:off x="6324600" y="1428750"/>
              <a:ext cx="5257800" cy="4476750"/>
            </a:xfrm>
            <a:prstGeom prst="roundRect">
              <a:avLst>
                <a:gd name="adj" fmla="val 85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15"/>
            <p:cNvSpPr txBox="1"/>
            <p:nvPr/>
          </p:nvSpPr>
          <p:spPr>
            <a:xfrm>
              <a:off x="6542532" y="1678305"/>
              <a:ext cx="3167534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j-lt"/>
                  <a:ea typeface="+mn-ea"/>
                  <a:cs typeface="+mn-cs"/>
                </a:rPr>
                <a:t>TWO NAIVE BASELINES</a:t>
              </a:r>
            </a:p>
          </p:txBody>
        </p:sp>
        <p:sp>
          <p:nvSpPr>
            <p:cNvPr id="50" name="TextBox 16"/>
            <p:cNvSpPr txBox="1"/>
            <p:nvPr/>
          </p:nvSpPr>
          <p:spPr>
            <a:xfrm>
              <a:off x="6544056" y="2234565"/>
              <a:ext cx="36016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j-lt"/>
                  <a:ea typeface="+mn-ea"/>
                  <a:cs typeface="+mn-cs"/>
                </a:rPr>
                <a:t>1. Persistence Baseline: T̂(t+3) = T(t)</a:t>
              </a:r>
            </a:p>
          </p:txBody>
        </p:sp>
        <p:sp>
          <p:nvSpPr>
            <p:cNvPr id="51" name="TextBox 17"/>
            <p:cNvSpPr txBox="1"/>
            <p:nvPr/>
          </p:nvSpPr>
          <p:spPr>
            <a:xfrm>
              <a:off x="6754368" y="2631758"/>
              <a:ext cx="327814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Assumes temperature stays unchanged</a:t>
              </a:r>
            </a:p>
          </p:txBody>
        </p:sp>
        <p:sp>
          <p:nvSpPr>
            <p:cNvPr id="52" name="TextBox 18"/>
            <p:cNvSpPr txBox="1"/>
            <p:nvPr/>
          </p:nvSpPr>
          <p:spPr>
            <a:xfrm>
              <a:off x="6544056" y="3282315"/>
              <a:ext cx="363048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j-lt"/>
                  <a:ea typeface="+mn-ea"/>
                  <a:cs typeface="+mn-cs"/>
                </a:rPr>
                <a:t>2. Diurnal Baseline: T̂(t+3) = T(t−21)</a:t>
              </a:r>
            </a:p>
          </p:txBody>
        </p:sp>
        <p:sp>
          <p:nvSpPr>
            <p:cNvPr id="53" name="TextBox 19"/>
            <p:cNvSpPr txBox="1"/>
            <p:nvPr/>
          </p:nvSpPr>
          <p:spPr>
            <a:xfrm>
              <a:off x="6754368" y="3679508"/>
              <a:ext cx="394338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Assumes today repeats yesterday at same hour</a:t>
              </a:r>
            </a:p>
          </p:txBody>
        </p:sp>
        <p:sp>
          <p:nvSpPr>
            <p:cNvPr id="54" name="Line 20"/>
            <p:cNvSpPr/>
            <p:nvPr/>
          </p:nvSpPr>
          <p:spPr>
            <a:xfrm>
              <a:off x="6553200" y="4333875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5" name="TextBox 21"/>
            <p:cNvSpPr txBox="1"/>
            <p:nvPr/>
          </p:nvSpPr>
          <p:spPr>
            <a:xfrm>
              <a:off x="6544056" y="4615815"/>
              <a:ext cx="296234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Academic Integrity Standard:</a:t>
              </a:r>
            </a:p>
          </p:txBody>
        </p:sp>
        <p:sp>
          <p:nvSpPr>
            <p:cNvPr id="56" name="TextBox 22"/>
            <p:cNvSpPr txBox="1"/>
            <p:nvPr/>
          </p:nvSpPr>
          <p:spPr>
            <a:xfrm>
              <a:off x="6544818" y="5013008"/>
              <a:ext cx="3588226" cy="5386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dirty="0">
                  <a:solidFill>
                    <a:schemeClr val="dk1"/>
                  </a:solidFill>
                  <a:latin typeface="+mj-lt"/>
                </a:rPr>
                <a:t>Residuals and MAE are reported honestly.</a:t>
              </a:r>
              <a:r>
                <a:rPr>
                  <a:latin typeface="+mj-lt"/>
                </a:rPr>
                <a:t/>
              </a:r>
              <a:br>
                <a:rPr>
                  <a:latin typeface="+mj-lt"/>
                </a:rPr>
              </a:br>
              <a:r>
                <a:rPr lang="en-US" sz="1650" dirty="0">
                  <a:solidFill>
                    <a:schemeClr val="dk1"/>
                  </a:solidFill>
                  <a:latin typeface="+mj-lt"/>
                </a:rPr>
                <a:t>Evaluated on identical test period.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6781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7</a:t>
            </a:fld>
            <a:endParaRPr lang="en-US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727348" y="900085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606000" y="1036775"/>
            <a:ext cx="10980000" cy="890663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Fixed-Point Design &amp; Q-Format</a:t>
            </a:r>
          </a:p>
        </p:txBody>
      </p:sp>
      <p:grpSp>
        <p:nvGrpSpPr>
          <p:cNvPr id="24" name="step1"/>
          <p:cNvGrpSpPr/>
          <p:nvPr/>
        </p:nvGrpSpPr>
        <p:grpSpPr>
          <a:xfrm>
            <a:off x="462672" y="1824609"/>
            <a:ext cx="3333750" cy="2381250"/>
            <a:chOff x="609600" y="1428750"/>
            <a:chExt cx="3333750" cy="2381250"/>
          </a:xfrm>
        </p:grpSpPr>
        <p:sp>
          <p:nvSpPr>
            <p:cNvPr id="25" name="Rectangle 6"/>
            <p:cNvSpPr/>
            <p:nvPr/>
          </p:nvSpPr>
          <p:spPr>
            <a:xfrm>
              <a:off x="609600" y="1428750"/>
              <a:ext cx="333375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7"/>
            <p:cNvSpPr txBox="1"/>
            <p:nvPr/>
          </p:nvSpPr>
          <p:spPr>
            <a:xfrm>
              <a:off x="828294" y="1694498"/>
              <a:ext cx="260887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1. PROFILE RANGE</a:t>
              </a:r>
            </a:p>
          </p:txBody>
        </p:sp>
        <p:sp>
          <p:nvSpPr>
            <p:cNvPr id="27" name="TextBox 8"/>
            <p:cNvSpPr txBox="1"/>
            <p:nvPr/>
          </p:nvSpPr>
          <p:spPr>
            <a:xfrm>
              <a:off x="829056" y="2234565"/>
              <a:ext cx="25803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Sub-zero winter peaks</a:t>
              </a:r>
            </a:p>
          </p:txBody>
        </p:sp>
        <p:sp>
          <p:nvSpPr>
            <p:cNvPr id="28" name="TextBox 9"/>
            <p:cNvSpPr txBox="1"/>
            <p:nvPr/>
          </p:nvSpPr>
          <p:spPr>
            <a:xfrm>
              <a:off x="829056" y="2663190"/>
              <a:ext cx="26743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High summer extremes</a:t>
              </a:r>
            </a:p>
          </p:txBody>
        </p:sp>
        <p:sp>
          <p:nvSpPr>
            <p:cNvPr id="29" name="TextBox 10"/>
            <p:cNvSpPr txBox="1"/>
            <p:nvPr/>
          </p:nvSpPr>
          <p:spPr>
            <a:xfrm>
              <a:off x="829056" y="3091815"/>
              <a:ext cx="243624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Weight dynamic range</a:t>
              </a:r>
            </a:p>
          </p:txBody>
        </p:sp>
      </p:grpSp>
      <p:grpSp>
        <p:nvGrpSpPr>
          <p:cNvPr id="30" name="step2"/>
          <p:cNvGrpSpPr/>
          <p:nvPr/>
        </p:nvGrpSpPr>
        <p:grpSpPr>
          <a:xfrm>
            <a:off x="4272672" y="1824609"/>
            <a:ext cx="3333750" cy="2381250"/>
            <a:chOff x="4419600" y="1428750"/>
            <a:chExt cx="3333750" cy="2381250"/>
          </a:xfrm>
        </p:grpSpPr>
        <p:sp>
          <p:nvSpPr>
            <p:cNvPr id="35" name="Rectangle 12"/>
            <p:cNvSpPr/>
            <p:nvPr/>
          </p:nvSpPr>
          <p:spPr>
            <a:xfrm>
              <a:off x="4419600" y="1428750"/>
              <a:ext cx="333375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13"/>
            <p:cNvSpPr txBox="1"/>
            <p:nvPr/>
          </p:nvSpPr>
          <p:spPr>
            <a:xfrm>
              <a:off x="4638294" y="1694498"/>
              <a:ext cx="26856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2. SELECT FORMAT</a:t>
              </a:r>
            </a:p>
          </p:txBody>
        </p:sp>
        <p:sp>
          <p:nvSpPr>
            <p:cNvPr id="37" name="TextBox 14"/>
            <p:cNvSpPr txBox="1"/>
            <p:nvPr/>
          </p:nvSpPr>
          <p:spPr>
            <a:xfrm>
              <a:off x="4639056" y="2234565"/>
              <a:ext cx="2108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Signed fixed-point</a:t>
              </a:r>
            </a:p>
          </p:txBody>
        </p:sp>
        <p:sp>
          <p:nvSpPr>
            <p:cNvPr id="38" name="TextBox 15"/>
            <p:cNvSpPr txBox="1"/>
            <p:nvPr/>
          </p:nvSpPr>
          <p:spPr>
            <a:xfrm>
              <a:off x="4639056" y="2663190"/>
              <a:ext cx="20544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Integer guard bits</a:t>
              </a:r>
            </a:p>
          </p:txBody>
        </p:sp>
        <p:sp>
          <p:nvSpPr>
            <p:cNvPr id="39" name="TextBox 16"/>
            <p:cNvSpPr txBox="1"/>
            <p:nvPr/>
          </p:nvSpPr>
          <p:spPr>
            <a:xfrm>
              <a:off x="4639056" y="3091815"/>
              <a:ext cx="214545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E.g., Q8.8 or Q10.6</a:t>
              </a:r>
            </a:p>
          </p:txBody>
        </p:sp>
      </p:grpSp>
      <p:grpSp>
        <p:nvGrpSpPr>
          <p:cNvPr id="40" name="step3"/>
          <p:cNvGrpSpPr/>
          <p:nvPr/>
        </p:nvGrpSpPr>
        <p:grpSpPr>
          <a:xfrm>
            <a:off x="8082672" y="1824609"/>
            <a:ext cx="3352800" cy="2381250"/>
            <a:chOff x="8229600" y="1428750"/>
            <a:chExt cx="3352800" cy="2381250"/>
          </a:xfrm>
        </p:grpSpPr>
        <p:sp>
          <p:nvSpPr>
            <p:cNvPr id="43" name="Rectangle 18"/>
            <p:cNvSpPr/>
            <p:nvPr/>
          </p:nvSpPr>
          <p:spPr>
            <a:xfrm>
              <a:off x="8229600" y="1428750"/>
              <a:ext cx="33528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7" name="TextBox 19"/>
            <p:cNvSpPr txBox="1"/>
            <p:nvPr/>
          </p:nvSpPr>
          <p:spPr>
            <a:xfrm>
              <a:off x="8448294" y="1694498"/>
              <a:ext cx="21774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3. UNIFY RULES</a:t>
              </a:r>
            </a:p>
          </p:txBody>
        </p:sp>
        <p:sp>
          <p:nvSpPr>
            <p:cNvPr id="58" name="TextBox 20"/>
            <p:cNvSpPr txBox="1"/>
            <p:nvPr/>
          </p:nvSpPr>
          <p:spPr>
            <a:xfrm>
              <a:off x="8449056" y="2234565"/>
              <a:ext cx="22689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Multiplier bit-growth</a:t>
              </a:r>
            </a:p>
          </p:txBody>
        </p:sp>
        <p:sp>
          <p:nvSpPr>
            <p:cNvPr id="59" name="TextBox 21"/>
            <p:cNvSpPr txBox="1"/>
            <p:nvPr/>
          </p:nvSpPr>
          <p:spPr>
            <a:xfrm>
              <a:off x="8449056" y="2663190"/>
              <a:ext cx="26200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Truncation &amp; shift logic</a:t>
              </a:r>
            </a:p>
          </p:txBody>
        </p:sp>
        <p:sp>
          <p:nvSpPr>
            <p:cNvPr id="60" name="TextBox 22"/>
            <p:cNvSpPr txBox="1"/>
            <p:nvPr/>
          </p:nvSpPr>
          <p:spPr>
            <a:xfrm>
              <a:off x="8449056" y="3091815"/>
              <a:ext cx="24404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Saturation on overflow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462672" y="4491609"/>
            <a:ext cx="10972800" cy="1905000"/>
            <a:chOff x="609600" y="4095750"/>
            <a:chExt cx="10972800" cy="1905000"/>
          </a:xfrm>
        </p:grpSpPr>
        <p:sp>
          <p:nvSpPr>
            <p:cNvPr id="62" name="Rectangle 24"/>
            <p:cNvSpPr/>
            <p:nvPr/>
          </p:nvSpPr>
          <p:spPr>
            <a:xfrm>
              <a:off x="609600" y="4095750"/>
              <a:ext cx="10972800" cy="1905000"/>
            </a:xfrm>
            <a:prstGeom prst="roundRect">
              <a:avLst>
                <a:gd name="adj" fmla="val 2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3" name="TextBox 25"/>
            <p:cNvSpPr txBox="1"/>
            <p:nvPr/>
          </p:nvSpPr>
          <p:spPr>
            <a:xfrm>
              <a:off x="827532" y="4345305"/>
              <a:ext cx="51659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GOLDEN VERIFICATION PRINCIPLE</a:t>
              </a:r>
            </a:p>
          </p:txBody>
        </p:sp>
        <p:sp>
          <p:nvSpPr>
            <p:cNvPr id="64" name="TextBox 26"/>
            <p:cNvSpPr txBox="1"/>
            <p:nvPr/>
          </p:nvSpPr>
          <p:spPr>
            <a:xfrm>
              <a:off x="828294" y="4885372"/>
              <a:ext cx="972617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C++ fixed-point golden model mirrors every RTL truncation &amp; saturation step.</a:t>
              </a:r>
            </a:p>
          </p:txBody>
        </p:sp>
        <p:sp>
          <p:nvSpPr>
            <p:cNvPr id="65" name="TextBox 27"/>
            <p:cNvSpPr txBox="1"/>
            <p:nvPr/>
          </p:nvSpPr>
          <p:spPr>
            <a:xfrm>
              <a:off x="829056" y="5377815"/>
              <a:ext cx="899829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Separates forecast accuracy from quantization noise, guaranteeing 100% bit-exact RTL.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2729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8</a:t>
            </a:fld>
            <a:endParaRPr lang="en-US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727348" y="900085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606000" y="1036775"/>
            <a:ext cx="10980000" cy="890663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Two-Phase Development Strategy</a:t>
            </a:r>
          </a:p>
        </p:txBody>
      </p:sp>
      <p:sp>
        <p:nvSpPr>
          <p:cNvPr id="2" name="Rectangle 1"/>
          <p:cNvSpPr/>
          <p:nvPr/>
        </p:nvSpPr>
        <p:spPr>
          <a:xfrm>
            <a:off x="606000" y="1790748"/>
            <a:ext cx="5252933" cy="429964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68" name="comparison-left-title-slot Placeholder Carrier"/>
          <p:cNvSpPr txBox="1">
            <a:spLocks/>
          </p:cNvSpPr>
          <p:nvPr/>
        </p:nvSpPr>
        <p:spPr>
          <a:xfrm>
            <a:off x="829056" y="1844040"/>
            <a:ext cx="3868688" cy="360099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t" anchorCtr="0">
            <a:spAutoFit/>
          </a:bodyPr>
          <a:lstStyle>
            <a:lvl1pPr marL="228584" indent="-228584" algn="l" defTabSz="914332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50" indent="-228584" algn="l" defTabSz="914332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14" indent="-228584" algn="l" defTabSz="914332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80" indent="-228584" algn="l" defTabSz="914332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47" indent="-228584" algn="l" defTabSz="914332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12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8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1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 smtClean="0">
                <a:solidFill>
                  <a:schemeClr val="accent2"/>
                </a:solidFill>
              </a:rPr>
              <a:t>PHASE 1: CORE MVP (WEEKS 1–4)</a:t>
            </a:r>
            <a:endParaRPr lang="en-US" sz="1800" b="1" dirty="0">
              <a:solidFill>
                <a:schemeClr val="accent2"/>
              </a:solidFill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6048852" y="1790748"/>
            <a:ext cx="5252933" cy="429964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69" name="comparison-right-title-slot Placeholder Carrier"/>
          <p:cNvSpPr txBox="1">
            <a:spLocks/>
          </p:cNvSpPr>
          <p:nvPr/>
        </p:nvSpPr>
        <p:spPr>
          <a:xfrm>
            <a:off x="6544056" y="1844040"/>
            <a:ext cx="3924088" cy="2492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228584" indent="-228584" algn="l" defTabSz="91433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5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1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8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47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12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8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1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 smtClean="0">
                <a:solidFill>
                  <a:schemeClr val="accent2"/>
                </a:solidFill>
              </a:rPr>
              <a:t>PHASE 2: ADVANCED (WEEKS 5–8)</a:t>
            </a:r>
            <a:endParaRPr lang="en-US" sz="1800" b="1" dirty="0">
              <a:solidFill>
                <a:schemeClr val="accent2"/>
              </a:solidFill>
            </a:endParaRPr>
          </a:p>
        </p:txBody>
      </p:sp>
      <p:grpSp>
        <p:nvGrpSpPr>
          <p:cNvPr id="70" name="comparison-left-content-slot Proxy Content"/>
          <p:cNvGrpSpPr/>
          <p:nvPr/>
        </p:nvGrpSpPr>
        <p:grpSpPr>
          <a:xfrm>
            <a:off x="829056" y="2520315"/>
            <a:ext cx="4733544" cy="3244024"/>
            <a:chOff x="829056" y="2520315"/>
            <a:chExt cx="4733544" cy="3244024"/>
          </a:xfrm>
        </p:grpSpPr>
        <p:sp>
          <p:nvSpPr>
            <p:cNvPr id="71" name="TextBox 9"/>
            <p:cNvSpPr txBox="1"/>
            <p:nvPr/>
          </p:nvSpPr>
          <p:spPr>
            <a:xfrm>
              <a:off x="829056" y="2520315"/>
              <a:ext cx="39655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Goal: De-risk baseline silicon flow</a:t>
              </a:r>
            </a:p>
          </p:txBody>
        </p:sp>
        <p:sp>
          <p:nvSpPr>
            <p:cNvPr id="72" name="TextBox 10"/>
            <p:cNvSpPr txBox="1"/>
            <p:nvPr/>
          </p:nvSpPr>
          <p:spPr>
            <a:xfrm>
              <a:off x="829056" y="2996565"/>
              <a:ext cx="36842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Single-variable temperature core</a:t>
              </a:r>
            </a:p>
          </p:txBody>
        </p:sp>
        <p:sp>
          <p:nvSpPr>
            <p:cNvPr id="73" name="TextBox 11"/>
            <p:cNvSpPr txBox="1"/>
            <p:nvPr/>
          </p:nvSpPr>
          <p:spPr>
            <a:xfrm>
              <a:off x="829056" y="3425190"/>
              <a:ext cx="31789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25-stage shift register buffer</a:t>
              </a:r>
            </a:p>
          </p:txBody>
        </p:sp>
        <p:sp>
          <p:nvSpPr>
            <p:cNvPr id="74" name="TextBox 12"/>
            <p:cNvSpPr txBox="1"/>
            <p:nvPr/>
          </p:nvSpPr>
          <p:spPr>
            <a:xfrm>
              <a:off x="829056" y="3853815"/>
              <a:ext cx="35584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Bit-exact C++ fixed-point model</a:t>
              </a:r>
            </a:p>
          </p:txBody>
        </p:sp>
        <p:sp>
          <p:nvSpPr>
            <p:cNvPr id="75" name="TextBox 13"/>
            <p:cNvSpPr txBox="1"/>
            <p:nvPr/>
          </p:nvSpPr>
          <p:spPr>
            <a:xfrm>
              <a:off x="829056" y="4282440"/>
              <a:ext cx="36780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Synthesizable Verilog RTL &amp; TB</a:t>
              </a:r>
            </a:p>
          </p:txBody>
        </p:sp>
        <p:sp>
          <p:nvSpPr>
            <p:cNvPr id="76" name="Line 14"/>
            <p:cNvSpPr/>
            <p:nvPr/>
          </p:nvSpPr>
          <p:spPr>
            <a:xfrm>
              <a:off x="838200" y="4810125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7" name="TextBox 15"/>
            <p:cNvSpPr txBox="1"/>
            <p:nvPr/>
          </p:nvSpPr>
          <p:spPr>
            <a:xfrm>
              <a:off x="829056" y="4996815"/>
              <a:ext cx="29569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Deliverable (Milestone 2):</a:t>
              </a:r>
            </a:p>
          </p:txBody>
        </p:sp>
        <p:sp>
          <p:nvSpPr>
            <p:cNvPr id="78" name="TextBox 16"/>
            <p:cNvSpPr txBox="1"/>
            <p:nvPr/>
          </p:nvSpPr>
          <p:spPr>
            <a:xfrm>
              <a:off x="829818" y="5441632"/>
              <a:ext cx="36534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Guaranteed working silicon baseline.</a:t>
              </a:r>
            </a:p>
          </p:txBody>
        </p:sp>
      </p:grpSp>
      <p:grpSp>
        <p:nvGrpSpPr>
          <p:cNvPr id="79" name="comparison-right-content-slot Proxy Content"/>
          <p:cNvGrpSpPr/>
          <p:nvPr/>
        </p:nvGrpSpPr>
        <p:grpSpPr>
          <a:xfrm>
            <a:off x="6544056" y="2520315"/>
            <a:ext cx="4733544" cy="3244024"/>
            <a:chOff x="6544056" y="2520315"/>
            <a:chExt cx="4733544" cy="3244024"/>
          </a:xfrm>
        </p:grpSpPr>
        <p:sp>
          <p:nvSpPr>
            <p:cNvPr id="80" name="TextBox 18"/>
            <p:cNvSpPr txBox="1"/>
            <p:nvPr/>
          </p:nvSpPr>
          <p:spPr>
            <a:xfrm>
              <a:off x="6544056" y="2520315"/>
              <a:ext cx="30780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Goal: Depth for 3 students</a:t>
              </a:r>
            </a:p>
          </p:txBody>
        </p:sp>
        <p:sp>
          <p:nvSpPr>
            <p:cNvPr id="81" name="TextBox 19"/>
            <p:cNvSpPr txBox="1"/>
            <p:nvPr/>
          </p:nvSpPr>
          <p:spPr>
            <a:xfrm>
              <a:off x="6544056" y="2996565"/>
              <a:ext cx="36814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Multi-variable (RH, P) expansion</a:t>
              </a:r>
            </a:p>
          </p:txBody>
        </p:sp>
        <p:sp>
          <p:nvSpPr>
            <p:cNvPr id="82" name="TextBox 20"/>
            <p:cNvSpPr txBox="1"/>
            <p:nvPr/>
          </p:nvSpPr>
          <p:spPr>
            <a:xfrm>
              <a:off x="6544056" y="3425190"/>
              <a:ext cx="38225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Parallel vs. Shared-MAC trade-off</a:t>
              </a:r>
            </a:p>
          </p:txBody>
        </p:sp>
        <p:sp>
          <p:nvSpPr>
            <p:cNvPr id="83" name="TextBox 21"/>
            <p:cNvSpPr txBox="1"/>
            <p:nvPr/>
          </p:nvSpPr>
          <p:spPr>
            <a:xfrm>
              <a:off x="6544056" y="3853815"/>
              <a:ext cx="42625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Advanced DV: Coverage &amp; assertions</a:t>
              </a:r>
            </a:p>
          </p:txBody>
        </p:sp>
        <p:sp>
          <p:nvSpPr>
            <p:cNvPr id="84" name="TextBox 22"/>
            <p:cNvSpPr txBox="1"/>
            <p:nvPr/>
          </p:nvSpPr>
          <p:spPr>
            <a:xfrm>
              <a:off x="6544056" y="4282440"/>
              <a:ext cx="31921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Physical FPGA board demo</a:t>
              </a:r>
            </a:p>
          </p:txBody>
        </p:sp>
        <p:sp>
          <p:nvSpPr>
            <p:cNvPr id="85" name="Line 23"/>
            <p:cNvSpPr/>
            <p:nvPr/>
          </p:nvSpPr>
          <p:spPr>
            <a:xfrm>
              <a:off x="6553200" y="4810125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6" name="TextBox 24"/>
            <p:cNvSpPr txBox="1"/>
            <p:nvPr/>
          </p:nvSpPr>
          <p:spPr>
            <a:xfrm>
              <a:off x="6544056" y="4996815"/>
              <a:ext cx="29569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Deliverable (Milestone 4):</a:t>
              </a:r>
            </a:p>
          </p:txBody>
        </p:sp>
        <p:sp>
          <p:nvSpPr>
            <p:cNvPr id="87" name="TextBox 25"/>
            <p:cNvSpPr txBox="1"/>
            <p:nvPr/>
          </p:nvSpPr>
          <p:spPr>
            <a:xfrm>
              <a:off x="6544818" y="5441632"/>
              <a:ext cx="33761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Complete demo + trade-off report.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541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9</a:t>
            </a:fld>
            <a:endParaRPr lang="en-US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727348" y="900085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606000" y="1036775"/>
            <a:ext cx="10980000" cy="890663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Hardware Architecture &amp; </a:t>
            </a:r>
            <a:r>
              <a:rPr lang="en-US" dirty="0" err="1">
                <a:solidFill>
                  <a:schemeClr val="accent1"/>
                </a:solidFill>
              </a:rPr>
              <a:t>Datapath</a:t>
            </a:r>
            <a:endParaRPr lang="en-US" dirty="0">
              <a:solidFill>
                <a:schemeClr val="accent1"/>
              </a:solidFill>
            </a:endParaRPr>
          </a:p>
        </p:txBody>
      </p:sp>
      <p:grpSp>
        <p:nvGrpSpPr>
          <p:cNvPr id="28" name="sample-buffer"/>
          <p:cNvGrpSpPr/>
          <p:nvPr/>
        </p:nvGrpSpPr>
        <p:grpSpPr>
          <a:xfrm>
            <a:off x="524937" y="1927438"/>
            <a:ext cx="3429000" cy="3619500"/>
            <a:chOff x="609600" y="1428750"/>
            <a:chExt cx="3429000" cy="3619500"/>
          </a:xfrm>
        </p:grpSpPr>
        <p:sp>
          <p:nvSpPr>
            <p:cNvPr id="29" name="Rectangle 6"/>
            <p:cNvSpPr/>
            <p:nvPr/>
          </p:nvSpPr>
          <p:spPr>
            <a:xfrm>
              <a:off x="609600" y="1428750"/>
              <a:ext cx="3429000" cy="3619500"/>
            </a:xfrm>
            <a:prstGeom prst="roundRect">
              <a:avLst>
                <a:gd name="adj" fmla="val 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7"/>
            <p:cNvSpPr txBox="1"/>
            <p:nvPr/>
          </p:nvSpPr>
          <p:spPr>
            <a:xfrm>
              <a:off x="827532" y="1678305"/>
              <a:ext cx="29920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25-SAMPLE BUFFER</a:t>
              </a:r>
            </a:p>
          </p:txBody>
        </p:sp>
        <p:sp>
          <p:nvSpPr>
            <p:cNvPr id="32" name="TextBox 8"/>
            <p:cNvSpPr txBox="1"/>
            <p:nvPr/>
          </p:nvSpPr>
          <p:spPr>
            <a:xfrm>
              <a:off x="829056" y="2234565"/>
              <a:ext cx="26043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Shift Reg: T(t−24)…T(t)</a:t>
              </a:r>
            </a:p>
          </p:txBody>
        </p:sp>
        <p:sp>
          <p:nvSpPr>
            <p:cNvPr id="33" name="Line 9"/>
            <p:cNvSpPr/>
            <p:nvPr/>
          </p:nvSpPr>
          <p:spPr>
            <a:xfrm>
              <a:off x="838200" y="2714625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TextBox 10"/>
            <p:cNvSpPr txBox="1"/>
            <p:nvPr/>
          </p:nvSpPr>
          <p:spPr>
            <a:xfrm>
              <a:off x="829056" y="2948940"/>
              <a:ext cx="29787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Required Hardware Taps:</a:t>
              </a:r>
            </a:p>
          </p:txBody>
        </p:sp>
        <p:sp>
          <p:nvSpPr>
            <p:cNvPr id="35" name="TextBox 11"/>
            <p:cNvSpPr txBox="1"/>
            <p:nvPr/>
          </p:nvSpPr>
          <p:spPr>
            <a:xfrm>
              <a:off x="829056" y="3377565"/>
              <a:ext cx="30737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 − 24 (Yesterday baseline)</a:t>
              </a:r>
            </a:p>
          </p:txBody>
        </p:sp>
        <p:sp>
          <p:nvSpPr>
            <p:cNvPr id="36" name="TextBox 12"/>
            <p:cNvSpPr txBox="1"/>
            <p:nvPr/>
          </p:nvSpPr>
          <p:spPr>
            <a:xfrm>
              <a:off x="829056" y="3806190"/>
              <a:ext cx="25892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 − 21 (Diurnal anchor)</a:t>
              </a:r>
            </a:p>
          </p:txBody>
        </p:sp>
        <p:sp>
          <p:nvSpPr>
            <p:cNvPr id="37" name="TextBox 13"/>
            <p:cNvSpPr txBox="1"/>
            <p:nvPr/>
          </p:nvSpPr>
          <p:spPr>
            <a:xfrm>
              <a:off x="829056" y="4234815"/>
              <a:ext cx="28465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 − 3 (Recent 3h change)</a:t>
              </a:r>
            </a:p>
          </p:txBody>
        </p:sp>
        <p:sp>
          <p:nvSpPr>
            <p:cNvPr id="38" name="TextBox 14"/>
            <p:cNvSpPr txBox="1"/>
            <p:nvPr/>
          </p:nvSpPr>
          <p:spPr>
            <a:xfrm>
              <a:off x="829056" y="4615815"/>
              <a:ext cx="21222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 (Current sample)</a:t>
              </a:r>
            </a:p>
          </p:txBody>
        </p:sp>
      </p:grpSp>
      <p:grpSp>
        <p:nvGrpSpPr>
          <p:cNvPr id="39" name="arithmetic-path"/>
          <p:cNvGrpSpPr/>
          <p:nvPr/>
        </p:nvGrpSpPr>
        <p:grpSpPr>
          <a:xfrm>
            <a:off x="4201587" y="1927438"/>
            <a:ext cx="7296150" cy="3619500"/>
            <a:chOff x="4286250" y="1428750"/>
            <a:chExt cx="7296150" cy="3619500"/>
          </a:xfrm>
        </p:grpSpPr>
        <p:sp>
          <p:nvSpPr>
            <p:cNvPr id="40" name="Rectangle 16"/>
            <p:cNvSpPr/>
            <p:nvPr/>
          </p:nvSpPr>
          <p:spPr>
            <a:xfrm>
              <a:off x="4286250" y="1428750"/>
              <a:ext cx="7296150" cy="3619500"/>
            </a:xfrm>
            <a:prstGeom prst="roundRect">
              <a:avLst>
                <a:gd name="adj" fmla="val 10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17"/>
            <p:cNvSpPr txBox="1"/>
            <p:nvPr/>
          </p:nvSpPr>
          <p:spPr>
            <a:xfrm>
              <a:off x="4504182" y="1678305"/>
              <a:ext cx="52486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PIPELINED ARITHMETIC DATAPATH</a:t>
              </a:r>
            </a:p>
          </p:txBody>
        </p:sp>
        <p:sp>
          <p:nvSpPr>
            <p:cNvPr id="42" name="TextBox 18"/>
            <p:cNvSpPr txBox="1"/>
            <p:nvPr/>
          </p:nvSpPr>
          <p:spPr>
            <a:xfrm>
              <a:off x="4504944" y="2265998"/>
              <a:ext cx="59390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Branch 1: [ T(t) − T(t−24) ] × a (Inter-day change)</a:t>
              </a:r>
            </a:p>
          </p:txBody>
        </p:sp>
        <p:sp>
          <p:nvSpPr>
            <p:cNvPr id="43" name="TextBox 19"/>
            <p:cNvSpPr txBox="1"/>
            <p:nvPr/>
          </p:nvSpPr>
          <p:spPr>
            <a:xfrm>
              <a:off x="4504944" y="2789872"/>
              <a:ext cx="631977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Branch 2: [ T(t) − T(t−3) ] × b (3-hour rate of change)</a:t>
              </a:r>
            </a:p>
          </p:txBody>
        </p:sp>
        <p:sp>
          <p:nvSpPr>
            <p:cNvPr id="44" name="Line 20"/>
            <p:cNvSpPr/>
            <p:nvPr/>
          </p:nvSpPr>
          <p:spPr>
            <a:xfrm>
              <a:off x="4514850" y="3381375"/>
              <a:ext cx="6762750" cy="9525"/>
            </a:xfrm>
            <a:custGeom>
              <a:avLst/>
              <a:gdLst/>
              <a:ahLst/>
              <a:cxnLst/>
              <a:rect l="l" t="t" r="r" b="b"/>
              <a:pathLst>
                <a:path w="6762750" h="9525">
                  <a:moveTo>
                    <a:pt x="0" y="0"/>
                  </a:moveTo>
                  <a:lnTo>
                    <a:pt x="6762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5" name="TextBox 21"/>
            <p:cNvSpPr txBox="1"/>
            <p:nvPr/>
          </p:nvSpPr>
          <p:spPr>
            <a:xfrm>
              <a:off x="4504182" y="3678555"/>
              <a:ext cx="602826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Adder Tree: T(t−21) + Br₁ + Br₂ + c → T̂(t+3)</a:t>
              </a:r>
            </a:p>
          </p:txBody>
        </p:sp>
        <p:sp>
          <p:nvSpPr>
            <p:cNvPr id="46" name="TextBox 22"/>
            <p:cNvSpPr txBox="1"/>
            <p:nvPr/>
          </p:nvSpPr>
          <p:spPr>
            <a:xfrm>
              <a:off x="4505706" y="4234815"/>
              <a:ext cx="6687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Saturation logic prevents arithmetic wrap-around on overflow</a:t>
              </a:r>
            </a:p>
          </p:txBody>
        </p:sp>
        <p:sp>
          <p:nvSpPr>
            <p:cNvPr id="47" name="TextBox 23"/>
            <p:cNvSpPr txBox="1"/>
            <p:nvPr/>
          </p:nvSpPr>
          <p:spPr>
            <a:xfrm>
              <a:off x="4505706" y="4615815"/>
              <a:ext cx="64189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Forecast valid asserted only after 25 samples are buffered</a:t>
              </a:r>
            </a:p>
          </p:txBody>
        </p:sp>
      </p:grpSp>
      <p:grpSp>
        <p:nvGrpSpPr>
          <p:cNvPr id="48" name="control-contract"/>
          <p:cNvGrpSpPr/>
          <p:nvPr/>
        </p:nvGrpSpPr>
        <p:grpSpPr>
          <a:xfrm>
            <a:off x="524937" y="5785063"/>
            <a:ext cx="10972800" cy="714375"/>
            <a:chOff x="609600" y="5286375"/>
            <a:chExt cx="10972800" cy="714375"/>
          </a:xfrm>
        </p:grpSpPr>
        <p:sp>
          <p:nvSpPr>
            <p:cNvPr id="49" name="Rectangle 25"/>
            <p:cNvSpPr/>
            <p:nvPr/>
          </p:nvSpPr>
          <p:spPr>
            <a:xfrm>
              <a:off x="609600" y="5286375"/>
              <a:ext cx="10972800" cy="714375"/>
            </a:xfrm>
            <a:prstGeom prst="roundRect">
              <a:avLst>
                <a:gd name="adj" fmla="val 5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0" name="TextBox 26"/>
            <p:cNvSpPr txBox="1"/>
            <p:nvPr/>
          </p:nvSpPr>
          <p:spPr>
            <a:xfrm>
              <a:off x="828294" y="5523548"/>
              <a:ext cx="1017330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Hardware latency: 2–4 clock cycles (nanoseconds) · Data step: 1 sample = 1 hour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394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10</a:t>
            </a:fld>
            <a:endParaRPr lang="en-US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727348" y="900085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606000" y="1036775"/>
            <a:ext cx="10980000" cy="890663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Demonstration via Accelerated Replay</a:t>
            </a:r>
          </a:p>
        </p:txBody>
      </p:sp>
      <p:grpSp>
        <p:nvGrpSpPr>
          <p:cNvPr id="51" name="demo-diagram"/>
          <p:cNvGrpSpPr/>
          <p:nvPr/>
        </p:nvGrpSpPr>
        <p:grpSpPr>
          <a:xfrm>
            <a:off x="558843" y="1764564"/>
            <a:ext cx="10972800" cy="3619500"/>
            <a:chOff x="609600" y="1428750"/>
            <a:chExt cx="10972800" cy="3619500"/>
          </a:xfrm>
        </p:grpSpPr>
        <p:sp>
          <p:nvSpPr>
            <p:cNvPr id="52" name="Rectangle 6"/>
            <p:cNvSpPr/>
            <p:nvPr/>
          </p:nvSpPr>
          <p:spPr>
            <a:xfrm>
              <a:off x="609600" y="1428750"/>
              <a:ext cx="3238500" cy="3619500"/>
            </a:xfrm>
            <a:prstGeom prst="roundRect">
              <a:avLst>
                <a:gd name="adj" fmla="val 117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3" name="TextBox 7"/>
            <p:cNvSpPr txBox="1"/>
            <p:nvPr/>
          </p:nvSpPr>
          <p:spPr>
            <a:xfrm>
              <a:off x="827532" y="1678305"/>
              <a:ext cx="13490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HOST PC</a:t>
              </a:r>
            </a:p>
          </p:txBody>
        </p:sp>
        <p:sp>
          <p:nvSpPr>
            <p:cNvPr id="54" name="TextBox 8"/>
            <p:cNvSpPr txBox="1"/>
            <p:nvPr/>
          </p:nvSpPr>
          <p:spPr>
            <a:xfrm>
              <a:off x="828294" y="2265998"/>
              <a:ext cx="26868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Reads historical CSV</a:t>
              </a:r>
            </a:p>
          </p:txBody>
        </p:sp>
        <p:sp>
          <p:nvSpPr>
            <p:cNvPr id="55" name="TextBox 9"/>
            <p:cNvSpPr txBox="1"/>
            <p:nvPr/>
          </p:nvSpPr>
          <p:spPr>
            <a:xfrm>
              <a:off x="828294" y="2789872"/>
              <a:ext cx="270191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Streams T(t) samples</a:t>
              </a:r>
            </a:p>
          </p:txBody>
        </p:sp>
        <p:sp>
          <p:nvSpPr>
            <p:cNvPr id="56" name="TextBox 10"/>
            <p:cNvSpPr txBox="1"/>
            <p:nvPr/>
          </p:nvSpPr>
          <p:spPr>
            <a:xfrm>
              <a:off x="828294" y="3313748"/>
              <a:ext cx="24919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Retains T(t+3) label</a:t>
              </a:r>
            </a:p>
          </p:txBody>
        </p:sp>
        <p:sp>
          <p:nvSpPr>
            <p:cNvPr id="57" name="TextBox 11"/>
            <p:cNvSpPr txBox="1"/>
            <p:nvPr/>
          </p:nvSpPr>
          <p:spPr>
            <a:xfrm>
              <a:off x="828294" y="3980498"/>
              <a:ext cx="18773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Live Python UI</a:t>
              </a:r>
            </a:p>
          </p:txBody>
        </p:sp>
        <p:sp>
          <p:nvSpPr>
            <p:cNvPr id="58" name="Line 12"/>
            <p:cNvSpPr/>
            <p:nvPr/>
          </p:nvSpPr>
          <p:spPr>
            <a:xfrm>
              <a:off x="3848100" y="2667000"/>
              <a:ext cx="59055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59" name="Rectangle 13"/>
            <p:cNvSpPr/>
            <p:nvPr/>
          </p:nvSpPr>
          <p:spPr>
            <a:xfrm>
              <a:off x="4476750" y="1428750"/>
              <a:ext cx="3238500" cy="3619500"/>
            </a:xfrm>
            <a:prstGeom prst="roundRect">
              <a:avLst>
                <a:gd name="adj" fmla="val 117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0" name="TextBox 14"/>
            <p:cNvSpPr txBox="1"/>
            <p:nvPr/>
          </p:nvSpPr>
          <p:spPr>
            <a:xfrm>
              <a:off x="4694682" y="1678305"/>
              <a:ext cx="20292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FPGA BOARD</a:t>
              </a:r>
            </a:p>
          </p:txBody>
        </p:sp>
        <p:sp>
          <p:nvSpPr>
            <p:cNvPr id="61" name="TextBox 15"/>
            <p:cNvSpPr txBox="1"/>
            <p:nvPr/>
          </p:nvSpPr>
          <p:spPr>
            <a:xfrm>
              <a:off x="4695444" y="2265998"/>
              <a:ext cx="232051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UART RX module</a:t>
              </a:r>
            </a:p>
          </p:txBody>
        </p:sp>
        <p:sp>
          <p:nvSpPr>
            <p:cNvPr id="62" name="TextBox 16"/>
            <p:cNvSpPr txBox="1"/>
            <p:nvPr/>
          </p:nvSpPr>
          <p:spPr>
            <a:xfrm>
              <a:off x="4695444" y="2789872"/>
              <a:ext cx="26995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25-stage shift register</a:t>
              </a:r>
            </a:p>
          </p:txBody>
        </p:sp>
        <p:sp>
          <p:nvSpPr>
            <p:cNvPr id="63" name="TextBox 17"/>
            <p:cNvSpPr txBox="1"/>
            <p:nvPr/>
          </p:nvSpPr>
          <p:spPr>
            <a:xfrm>
              <a:off x="4695444" y="3313748"/>
              <a:ext cx="21744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Computes T̂(t+3)</a:t>
              </a:r>
            </a:p>
          </p:txBody>
        </p:sp>
        <p:sp>
          <p:nvSpPr>
            <p:cNvPr id="64" name="TextBox 18"/>
            <p:cNvSpPr txBox="1"/>
            <p:nvPr/>
          </p:nvSpPr>
          <p:spPr>
            <a:xfrm>
              <a:off x="4695444" y="3980498"/>
              <a:ext cx="21585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UART TX Output</a:t>
              </a:r>
            </a:p>
          </p:txBody>
        </p:sp>
        <p:sp>
          <p:nvSpPr>
            <p:cNvPr id="65" name="Line 19"/>
            <p:cNvSpPr/>
            <p:nvPr/>
          </p:nvSpPr>
          <p:spPr>
            <a:xfrm>
              <a:off x="7715250" y="3429000"/>
              <a:ext cx="59055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66" name="Rectangle 20"/>
            <p:cNvSpPr/>
            <p:nvPr/>
          </p:nvSpPr>
          <p:spPr>
            <a:xfrm>
              <a:off x="8343900" y="1428750"/>
              <a:ext cx="3238500" cy="3619500"/>
            </a:xfrm>
            <a:prstGeom prst="roundRect">
              <a:avLst>
                <a:gd name="adj" fmla="val 117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7" name="TextBox 21"/>
            <p:cNvSpPr txBox="1"/>
            <p:nvPr/>
          </p:nvSpPr>
          <p:spPr>
            <a:xfrm>
              <a:off x="8561832" y="1678305"/>
              <a:ext cx="21788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SCOREBOARD</a:t>
              </a:r>
            </a:p>
          </p:txBody>
        </p:sp>
        <p:sp>
          <p:nvSpPr>
            <p:cNvPr id="68" name="TextBox 22"/>
            <p:cNvSpPr txBox="1"/>
            <p:nvPr/>
          </p:nvSpPr>
          <p:spPr>
            <a:xfrm>
              <a:off x="8562594" y="2265998"/>
              <a:ext cx="250767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Matches with T(t+3)</a:t>
              </a:r>
            </a:p>
          </p:txBody>
        </p:sp>
        <p:sp>
          <p:nvSpPr>
            <p:cNvPr id="69" name="TextBox 23"/>
            <p:cNvSpPr txBox="1"/>
            <p:nvPr/>
          </p:nvSpPr>
          <p:spPr>
            <a:xfrm>
              <a:off x="8562594" y="2789872"/>
              <a:ext cx="254073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Calculates live MAE</a:t>
              </a:r>
            </a:p>
          </p:txBody>
        </p:sp>
        <p:sp>
          <p:nvSpPr>
            <p:cNvPr id="70" name="TextBox 24"/>
            <p:cNvSpPr txBox="1"/>
            <p:nvPr/>
          </p:nvSpPr>
          <p:spPr>
            <a:xfrm>
              <a:off x="8562594" y="3313748"/>
              <a:ext cx="27798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Plots predicted vs true</a:t>
              </a:r>
            </a:p>
          </p:txBody>
        </p:sp>
        <p:sp>
          <p:nvSpPr>
            <p:cNvPr id="71" name="TextBox 25"/>
            <p:cNvSpPr txBox="1"/>
            <p:nvPr/>
          </p:nvSpPr>
          <p:spPr>
            <a:xfrm>
              <a:off x="8562594" y="3980498"/>
              <a:ext cx="172973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Zero Leakage</a:t>
              </a:r>
            </a:p>
          </p:txBody>
        </p:sp>
      </p:grpSp>
      <p:grpSp>
        <p:nvGrpSpPr>
          <p:cNvPr id="72" name="demo-principle"/>
          <p:cNvGrpSpPr/>
          <p:nvPr/>
        </p:nvGrpSpPr>
        <p:grpSpPr>
          <a:xfrm>
            <a:off x="558843" y="5577523"/>
            <a:ext cx="10972800" cy="714375"/>
            <a:chOff x="609600" y="5286375"/>
            <a:chExt cx="10972800" cy="714375"/>
          </a:xfrm>
        </p:grpSpPr>
        <p:sp>
          <p:nvSpPr>
            <p:cNvPr id="73" name="Rectangle 27"/>
            <p:cNvSpPr/>
            <p:nvPr/>
          </p:nvSpPr>
          <p:spPr>
            <a:xfrm>
              <a:off x="609600" y="5286375"/>
              <a:ext cx="10972800" cy="714375"/>
            </a:xfrm>
            <a:prstGeom prst="roundRect">
              <a:avLst>
                <a:gd name="adj" fmla="val 5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4" name="TextBox 28"/>
            <p:cNvSpPr txBox="1"/>
            <p:nvPr/>
          </p:nvSpPr>
          <p:spPr>
            <a:xfrm>
              <a:off x="828294" y="5523548"/>
              <a:ext cx="1067624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Accelerated Replay: 1,000+ predictions demonstrated in under 2 minutes over UART.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1813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11</a:t>
            </a:fld>
            <a:endParaRPr lang="en-US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727348" y="900085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606000" y="1036775"/>
            <a:ext cx="10980000" cy="890663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Three Verification Layers</a:t>
            </a:r>
          </a:p>
        </p:txBody>
      </p:sp>
      <p:grpSp>
        <p:nvGrpSpPr>
          <p:cNvPr id="30" name="three-card-one-slot Proxy Content"/>
          <p:cNvGrpSpPr/>
          <p:nvPr/>
        </p:nvGrpSpPr>
        <p:grpSpPr>
          <a:xfrm>
            <a:off x="824484" y="1994535"/>
            <a:ext cx="3061716" cy="3401949"/>
            <a:chOff x="824484" y="1994535"/>
            <a:chExt cx="3061716" cy="3401949"/>
          </a:xfrm>
        </p:grpSpPr>
        <p:sp>
          <p:nvSpPr>
            <p:cNvPr id="32" name="TextBox 7"/>
            <p:cNvSpPr txBox="1"/>
            <p:nvPr/>
          </p:nvSpPr>
          <p:spPr>
            <a:xfrm>
              <a:off x="824484" y="1994535"/>
              <a:ext cx="150064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C++</a:t>
              </a:r>
            </a:p>
          </p:txBody>
        </p:sp>
        <p:sp>
          <p:nvSpPr>
            <p:cNvPr id="33" name="TextBox 8"/>
            <p:cNvSpPr txBox="1"/>
            <p:nvPr/>
          </p:nvSpPr>
          <p:spPr>
            <a:xfrm>
              <a:off x="827532" y="2583180"/>
              <a:ext cx="23610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FLOAT ↔ FIXED</a:t>
              </a:r>
            </a:p>
          </p:txBody>
        </p:sp>
        <p:sp>
          <p:nvSpPr>
            <p:cNvPr id="34" name="Line 9"/>
            <p:cNvSpPr/>
            <p:nvPr/>
          </p:nvSpPr>
          <p:spPr>
            <a:xfrm>
              <a:off x="838200" y="309562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5" name="TextBox 10"/>
            <p:cNvSpPr txBox="1"/>
            <p:nvPr/>
          </p:nvSpPr>
          <p:spPr>
            <a:xfrm>
              <a:off x="829056" y="3377565"/>
              <a:ext cx="26834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Quantization SNR drop</a:t>
              </a:r>
            </a:p>
          </p:txBody>
        </p:sp>
        <p:sp>
          <p:nvSpPr>
            <p:cNvPr id="36" name="TextBox 11"/>
            <p:cNvSpPr txBox="1"/>
            <p:nvPr/>
          </p:nvSpPr>
          <p:spPr>
            <a:xfrm>
              <a:off x="829056" y="3806190"/>
              <a:ext cx="26474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Sub-zero temperatures</a:t>
              </a:r>
            </a:p>
          </p:txBody>
        </p:sp>
        <p:sp>
          <p:nvSpPr>
            <p:cNvPr id="37" name="TextBox 12"/>
            <p:cNvSpPr txBox="1"/>
            <p:nvPr/>
          </p:nvSpPr>
          <p:spPr>
            <a:xfrm>
              <a:off x="829056" y="4234815"/>
              <a:ext cx="28629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Dynamic range extremes</a:t>
              </a:r>
            </a:p>
          </p:txBody>
        </p:sp>
        <p:sp>
          <p:nvSpPr>
            <p:cNvPr id="38" name="TextBox 13"/>
            <p:cNvSpPr txBox="1"/>
            <p:nvPr/>
          </p:nvSpPr>
          <p:spPr>
            <a:xfrm>
              <a:off x="829056" y="5044440"/>
              <a:ext cx="29388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Validate Math &amp; Q-format</a:t>
              </a:r>
            </a:p>
          </p:txBody>
        </p:sp>
      </p:grpSp>
      <p:grpSp>
        <p:nvGrpSpPr>
          <p:cNvPr id="39" name="three-card-two-slot Proxy Content"/>
          <p:cNvGrpSpPr/>
          <p:nvPr/>
        </p:nvGrpSpPr>
        <p:grpSpPr>
          <a:xfrm>
            <a:off x="4558284" y="1994535"/>
            <a:ext cx="3061716" cy="3401949"/>
            <a:chOff x="4558284" y="1994535"/>
            <a:chExt cx="3061716" cy="3401949"/>
          </a:xfrm>
        </p:grpSpPr>
        <p:sp>
          <p:nvSpPr>
            <p:cNvPr id="40" name="TextBox 15"/>
            <p:cNvSpPr txBox="1"/>
            <p:nvPr/>
          </p:nvSpPr>
          <p:spPr>
            <a:xfrm>
              <a:off x="4558284" y="1994535"/>
              <a:ext cx="145747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SIM</a:t>
              </a:r>
            </a:p>
          </p:txBody>
        </p:sp>
        <p:sp>
          <p:nvSpPr>
            <p:cNvPr id="41" name="TextBox 16"/>
            <p:cNvSpPr txBox="1"/>
            <p:nvPr/>
          </p:nvSpPr>
          <p:spPr>
            <a:xfrm>
              <a:off x="4561332" y="2583180"/>
              <a:ext cx="24107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TB ↔ RTL CORE</a:t>
              </a:r>
            </a:p>
          </p:txBody>
        </p:sp>
        <p:sp>
          <p:nvSpPr>
            <p:cNvPr id="42" name="Line 17"/>
            <p:cNvSpPr/>
            <p:nvPr/>
          </p:nvSpPr>
          <p:spPr>
            <a:xfrm>
              <a:off x="4572000" y="309562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3" name="TextBox 18"/>
            <p:cNvSpPr txBox="1"/>
            <p:nvPr/>
          </p:nvSpPr>
          <p:spPr>
            <a:xfrm>
              <a:off x="4562856" y="3377565"/>
              <a:ext cx="24919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100% bit-exact match</a:t>
              </a:r>
            </a:p>
          </p:txBody>
        </p:sp>
        <p:sp>
          <p:nvSpPr>
            <p:cNvPr id="44" name="TextBox 19"/>
            <p:cNvSpPr txBox="1"/>
            <p:nvPr/>
          </p:nvSpPr>
          <p:spPr>
            <a:xfrm>
              <a:off x="4562856" y="3806190"/>
              <a:ext cx="27291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Reset &amp; buffer warm-up</a:t>
              </a:r>
            </a:p>
          </p:txBody>
        </p:sp>
        <p:sp>
          <p:nvSpPr>
            <p:cNvPr id="45" name="TextBox 20"/>
            <p:cNvSpPr txBox="1"/>
            <p:nvPr/>
          </p:nvSpPr>
          <p:spPr>
            <a:xfrm>
              <a:off x="4562856" y="4234815"/>
              <a:ext cx="25137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Pause &amp; gap injection</a:t>
              </a:r>
            </a:p>
          </p:txBody>
        </p:sp>
        <p:sp>
          <p:nvSpPr>
            <p:cNvPr id="46" name="TextBox 21"/>
            <p:cNvSpPr txBox="1"/>
            <p:nvPr/>
          </p:nvSpPr>
          <p:spPr>
            <a:xfrm>
              <a:off x="4562856" y="5044440"/>
              <a:ext cx="22379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Validate RTL Logic</a:t>
              </a:r>
            </a:p>
          </p:txBody>
        </p:sp>
      </p:grpSp>
      <p:grpSp>
        <p:nvGrpSpPr>
          <p:cNvPr id="47" name="three-card-three-slot Proxy Content"/>
          <p:cNvGrpSpPr/>
          <p:nvPr/>
        </p:nvGrpSpPr>
        <p:grpSpPr>
          <a:xfrm>
            <a:off x="8292084" y="1994535"/>
            <a:ext cx="3061716" cy="3401949"/>
            <a:chOff x="8292084" y="1994535"/>
            <a:chExt cx="3061716" cy="3401949"/>
          </a:xfrm>
        </p:grpSpPr>
        <p:sp>
          <p:nvSpPr>
            <p:cNvPr id="48" name="TextBox 23"/>
            <p:cNvSpPr txBox="1"/>
            <p:nvPr/>
          </p:nvSpPr>
          <p:spPr>
            <a:xfrm>
              <a:off x="8292084" y="1994535"/>
              <a:ext cx="218286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BOARD</a:t>
              </a:r>
            </a:p>
          </p:txBody>
        </p:sp>
        <p:sp>
          <p:nvSpPr>
            <p:cNvPr id="49" name="TextBox 24"/>
            <p:cNvSpPr txBox="1"/>
            <p:nvPr/>
          </p:nvSpPr>
          <p:spPr>
            <a:xfrm>
              <a:off x="8295132" y="2583180"/>
              <a:ext cx="19961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FPGA ↔ REF.</a:t>
              </a:r>
            </a:p>
          </p:txBody>
        </p:sp>
        <p:sp>
          <p:nvSpPr>
            <p:cNvPr id="50" name="Line 25"/>
            <p:cNvSpPr/>
            <p:nvPr/>
          </p:nvSpPr>
          <p:spPr>
            <a:xfrm>
              <a:off x="8305800" y="309562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5" name="TextBox 26"/>
            <p:cNvSpPr txBox="1"/>
            <p:nvPr/>
          </p:nvSpPr>
          <p:spPr>
            <a:xfrm>
              <a:off x="8296656" y="3377565"/>
              <a:ext cx="25416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Physical UART timing</a:t>
              </a:r>
            </a:p>
          </p:txBody>
        </p:sp>
        <p:sp>
          <p:nvSpPr>
            <p:cNvPr id="76" name="TextBox 27"/>
            <p:cNvSpPr txBox="1"/>
            <p:nvPr/>
          </p:nvSpPr>
          <p:spPr>
            <a:xfrm>
              <a:off x="8296656" y="3806190"/>
              <a:ext cx="22167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Packet endianness</a:t>
              </a:r>
            </a:p>
          </p:txBody>
        </p:sp>
        <p:sp>
          <p:nvSpPr>
            <p:cNvPr id="77" name="TextBox 28"/>
            <p:cNvSpPr txBox="1"/>
            <p:nvPr/>
          </p:nvSpPr>
          <p:spPr>
            <a:xfrm>
              <a:off x="8296656" y="4234815"/>
              <a:ext cx="22705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3538" indent="-143538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Scoreboard logging</a:t>
              </a:r>
            </a:p>
          </p:txBody>
        </p:sp>
        <p:sp>
          <p:nvSpPr>
            <p:cNvPr id="78" name="TextBox 29"/>
            <p:cNvSpPr txBox="1"/>
            <p:nvPr/>
          </p:nvSpPr>
          <p:spPr>
            <a:xfrm>
              <a:off x="8296656" y="5044440"/>
              <a:ext cx="25410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Validate Hardware I/O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8423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12</a:t>
            </a:fld>
            <a:endParaRPr lang="en-US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727348" y="900085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606000" y="1036775"/>
            <a:ext cx="10980000" cy="890663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Hardware Architecture Trade-Off Study</a:t>
            </a:r>
          </a:p>
        </p:txBody>
      </p:sp>
      <p:grpSp>
        <p:nvGrpSpPr>
          <p:cNvPr id="51" name="arch-a-panel"/>
          <p:cNvGrpSpPr/>
          <p:nvPr/>
        </p:nvGrpSpPr>
        <p:grpSpPr>
          <a:xfrm>
            <a:off x="507880" y="1790748"/>
            <a:ext cx="5257800" cy="4191000"/>
            <a:chOff x="609600" y="1428750"/>
            <a:chExt cx="5257800" cy="4191000"/>
          </a:xfrm>
        </p:grpSpPr>
        <p:sp>
          <p:nvSpPr>
            <p:cNvPr id="52" name="Rectangle 6"/>
            <p:cNvSpPr/>
            <p:nvPr/>
          </p:nvSpPr>
          <p:spPr>
            <a:xfrm>
              <a:off x="609600" y="1428750"/>
              <a:ext cx="5257800" cy="4191000"/>
            </a:xfrm>
            <a:prstGeom prst="roundRect">
              <a:avLst>
                <a:gd name="adj" fmla="val 9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3" name="TextBox 7"/>
            <p:cNvSpPr txBox="1"/>
            <p:nvPr/>
          </p:nvSpPr>
          <p:spPr>
            <a:xfrm>
              <a:off x="827532" y="1678305"/>
              <a:ext cx="3655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ARCH A: PARALLEL DSP</a:t>
              </a:r>
            </a:p>
          </p:txBody>
        </p:sp>
        <p:sp>
          <p:nvSpPr>
            <p:cNvPr id="54" name="TextBox 8"/>
            <p:cNvSpPr txBox="1"/>
            <p:nvPr/>
          </p:nvSpPr>
          <p:spPr>
            <a:xfrm>
              <a:off x="828294" y="2123122"/>
              <a:ext cx="414284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Dedicated Multipliers per Branch</a:t>
              </a:r>
            </a:p>
          </p:txBody>
        </p:sp>
        <p:sp>
          <p:nvSpPr>
            <p:cNvPr id="55" name="Line 9"/>
            <p:cNvSpPr/>
            <p:nvPr/>
          </p:nvSpPr>
          <p:spPr>
            <a:xfrm>
              <a:off x="838200" y="2619375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6" name="TextBox 10"/>
            <p:cNvSpPr txBox="1"/>
            <p:nvPr/>
          </p:nvSpPr>
          <p:spPr>
            <a:xfrm>
              <a:off x="828294" y="2885122"/>
              <a:ext cx="37424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l-GR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Parallel units for Δday and Δ3h</a:t>
              </a:r>
            </a:p>
          </p:txBody>
        </p:sp>
        <p:sp>
          <p:nvSpPr>
            <p:cNvPr id="57" name="TextBox 11"/>
            <p:cNvSpPr txBox="1"/>
            <p:nvPr/>
          </p:nvSpPr>
          <p:spPr>
            <a:xfrm>
              <a:off x="828294" y="3361372"/>
              <a:ext cx="28683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Latency: 2 clock cycles</a:t>
              </a:r>
            </a:p>
          </p:txBody>
        </p:sp>
        <p:sp>
          <p:nvSpPr>
            <p:cNvPr id="58" name="TextBox 12"/>
            <p:cNvSpPr txBox="1"/>
            <p:nvPr/>
          </p:nvSpPr>
          <p:spPr>
            <a:xfrm>
              <a:off x="828294" y="3837622"/>
              <a:ext cx="38462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Throughput: 1 prediction / cycle</a:t>
              </a:r>
            </a:p>
          </p:txBody>
        </p:sp>
        <p:sp>
          <p:nvSpPr>
            <p:cNvPr id="59" name="TextBox 13"/>
            <p:cNvSpPr txBox="1"/>
            <p:nvPr/>
          </p:nvSpPr>
          <p:spPr>
            <a:xfrm>
              <a:off x="828294" y="4313872"/>
              <a:ext cx="44032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Resource: Uses multiple DSP slices</a:t>
              </a:r>
            </a:p>
          </p:txBody>
        </p:sp>
        <p:sp>
          <p:nvSpPr>
            <p:cNvPr id="60" name="Line 14"/>
            <p:cNvSpPr/>
            <p:nvPr/>
          </p:nvSpPr>
          <p:spPr>
            <a:xfrm>
              <a:off x="838200" y="485775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1" name="TextBox 15"/>
            <p:cNvSpPr txBox="1"/>
            <p:nvPr/>
          </p:nvSpPr>
          <p:spPr>
            <a:xfrm>
              <a:off x="829056" y="5092065"/>
              <a:ext cx="48677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Target: High-speed multi-channel sensing</a:t>
              </a:r>
            </a:p>
          </p:txBody>
        </p:sp>
      </p:grpSp>
      <p:grpSp>
        <p:nvGrpSpPr>
          <p:cNvPr id="62" name="arch-b-panel"/>
          <p:cNvGrpSpPr/>
          <p:nvPr/>
        </p:nvGrpSpPr>
        <p:grpSpPr>
          <a:xfrm>
            <a:off x="6222880" y="1790748"/>
            <a:ext cx="5257800" cy="4191000"/>
            <a:chOff x="6324600" y="1428750"/>
            <a:chExt cx="5257800" cy="4191000"/>
          </a:xfrm>
        </p:grpSpPr>
        <p:sp>
          <p:nvSpPr>
            <p:cNvPr id="63" name="Rectangle 17"/>
            <p:cNvSpPr/>
            <p:nvPr/>
          </p:nvSpPr>
          <p:spPr>
            <a:xfrm>
              <a:off x="6324600" y="1428750"/>
              <a:ext cx="5257800" cy="4191000"/>
            </a:xfrm>
            <a:prstGeom prst="roundRect">
              <a:avLst>
                <a:gd name="adj" fmla="val 9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4" name="TextBox 18"/>
            <p:cNvSpPr txBox="1"/>
            <p:nvPr/>
          </p:nvSpPr>
          <p:spPr>
            <a:xfrm>
              <a:off x="6542532" y="1678305"/>
              <a:ext cx="41199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ARCH B: SHARED-MAC FSM</a:t>
              </a:r>
            </a:p>
          </p:txBody>
        </p:sp>
        <p:sp>
          <p:nvSpPr>
            <p:cNvPr id="65" name="TextBox 19"/>
            <p:cNvSpPr txBox="1"/>
            <p:nvPr/>
          </p:nvSpPr>
          <p:spPr>
            <a:xfrm>
              <a:off x="6543294" y="2123122"/>
              <a:ext cx="37471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Time-Multiplexed Single MAC</a:t>
              </a:r>
            </a:p>
          </p:txBody>
        </p:sp>
        <p:sp>
          <p:nvSpPr>
            <p:cNvPr id="66" name="Line 20"/>
            <p:cNvSpPr/>
            <p:nvPr/>
          </p:nvSpPr>
          <p:spPr>
            <a:xfrm>
              <a:off x="6553200" y="2619375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7" name="TextBox 21"/>
            <p:cNvSpPr txBox="1"/>
            <p:nvPr/>
          </p:nvSpPr>
          <p:spPr>
            <a:xfrm>
              <a:off x="6543294" y="2885122"/>
              <a:ext cx="44285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Single shared multiplier-accumulator</a:t>
              </a:r>
            </a:p>
          </p:txBody>
        </p:sp>
        <p:sp>
          <p:nvSpPr>
            <p:cNvPr id="68" name="TextBox 22"/>
            <p:cNvSpPr txBox="1"/>
            <p:nvPr/>
          </p:nvSpPr>
          <p:spPr>
            <a:xfrm>
              <a:off x="6543294" y="3361372"/>
              <a:ext cx="4239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FSM controller cycles through taps</a:t>
              </a:r>
            </a:p>
          </p:txBody>
        </p:sp>
        <p:sp>
          <p:nvSpPr>
            <p:cNvPr id="69" name="TextBox 23"/>
            <p:cNvSpPr txBox="1"/>
            <p:nvPr/>
          </p:nvSpPr>
          <p:spPr>
            <a:xfrm>
              <a:off x="6543294" y="3837622"/>
              <a:ext cx="316131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Latency: 5–6 clock cycles</a:t>
              </a:r>
            </a:p>
          </p:txBody>
        </p:sp>
        <p:sp>
          <p:nvSpPr>
            <p:cNvPr id="70" name="TextBox 24"/>
            <p:cNvSpPr txBox="1"/>
            <p:nvPr/>
          </p:nvSpPr>
          <p:spPr>
            <a:xfrm>
              <a:off x="6543294" y="4313872"/>
              <a:ext cx="47912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5499" indent="-155499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Resource: Ultra-compact (1 or 0 DSPs)</a:t>
              </a:r>
            </a:p>
          </p:txBody>
        </p:sp>
        <p:sp>
          <p:nvSpPr>
            <p:cNvPr id="71" name="Line 25"/>
            <p:cNvSpPr/>
            <p:nvPr/>
          </p:nvSpPr>
          <p:spPr>
            <a:xfrm>
              <a:off x="6553200" y="485775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2" name="TextBox 26"/>
            <p:cNvSpPr txBox="1"/>
            <p:nvPr/>
          </p:nvSpPr>
          <p:spPr>
            <a:xfrm>
              <a:off x="6544056" y="5092065"/>
              <a:ext cx="46154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Target: Ultra-low-power IoT edge nodes</a:t>
              </a:r>
            </a:p>
          </p:txBody>
        </p:sp>
      </p:grpSp>
      <p:sp>
        <p:nvSpPr>
          <p:cNvPr id="2" name="Rectangle 1"/>
          <p:cNvSpPr/>
          <p:nvPr/>
        </p:nvSpPr>
        <p:spPr>
          <a:xfrm>
            <a:off x="693513" y="6171692"/>
            <a:ext cx="101443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Evaluation: Synthesize both on target </a:t>
            </a:r>
            <a:r>
              <a:rPr lang="en-US" b="1" dirty="0" err="1">
                <a:solidFill>
                  <a:schemeClr val="accent1"/>
                </a:solidFill>
              </a:rPr>
              <a:t>FPGA</a:t>
            </a:r>
            <a:r>
              <a:rPr lang="en-US" b="1" dirty="0">
                <a:solidFill>
                  <a:schemeClr val="accent1"/>
                </a:solidFill>
              </a:rPr>
              <a:t> to compare </a:t>
            </a:r>
            <a:r>
              <a:rPr lang="en-US" b="1" dirty="0" err="1">
                <a:solidFill>
                  <a:schemeClr val="accent1"/>
                </a:solidFill>
              </a:rPr>
              <a:t>LUTs</a:t>
            </a:r>
            <a:r>
              <a:rPr lang="en-US" b="1" dirty="0">
                <a:solidFill>
                  <a:schemeClr val="accent1"/>
                </a:solidFill>
              </a:rPr>
              <a:t>, </a:t>
            </a:r>
            <a:r>
              <a:rPr lang="en-US" b="1" dirty="0" err="1">
                <a:solidFill>
                  <a:schemeClr val="accent1"/>
                </a:solidFill>
              </a:rPr>
              <a:t>DSPs</a:t>
            </a:r>
            <a:r>
              <a:rPr lang="en-US" b="1" dirty="0">
                <a:solidFill>
                  <a:schemeClr val="accent1"/>
                </a:solidFill>
              </a:rPr>
              <a:t>, and </a:t>
            </a:r>
            <a:r>
              <a:rPr lang="en-US" b="1" dirty="0" err="1">
                <a:solidFill>
                  <a:schemeClr val="accent1"/>
                </a:solidFill>
              </a:rPr>
              <a:t>Fmax</a:t>
            </a:r>
            <a:r>
              <a:rPr lang="en-US" b="1" dirty="0">
                <a:solidFill>
                  <a:schemeClr val="accent1"/>
                </a:solidFill>
              </a:rPr>
              <a:t>.</a:t>
            </a:r>
            <a:endParaRPr 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16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13</a:t>
            </a:fld>
            <a:endParaRPr lang="en-US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727348" y="900085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619333" y="1036775"/>
            <a:ext cx="10980000" cy="890663"/>
          </a:xfrm>
        </p:spPr>
        <p:txBody>
          <a:bodyPr/>
          <a:lstStyle/>
          <a:p>
            <a:r>
              <a:rPr lang="en-US" dirty="0"/>
              <a:t>8-Week Execution Roadmap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436162"/>
              </p:ext>
            </p:extLst>
          </p:nvPr>
        </p:nvGraphicFramePr>
        <p:xfrm>
          <a:off x="1845733" y="2078887"/>
          <a:ext cx="8127999" cy="402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/>
                <a:gridCol w="2709333"/>
                <a:gridCol w="2709333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Tasks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Week 1–2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Data &amp; 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• Clean NASA CSV</a:t>
                      </a:r>
                    </a:p>
                    <a:p>
                      <a:r>
                        <a:rPr lang="en-US" dirty="0"/>
                        <a:t>• Set baselines</a:t>
                      </a:r>
                    </a:p>
                    <a:p>
                      <a:r>
                        <a:rPr lang="en-US" dirty="0"/>
                        <a:t>• C++ float </a:t>
                      </a:r>
                      <a:r>
                        <a:rPr lang="en-US" dirty="0" err="1"/>
                        <a:t>OLS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Week 3–4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Phase 1 MVP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• Q-format profile</a:t>
                      </a:r>
                    </a:p>
                    <a:p>
                      <a:r>
                        <a:rPr lang="en-US"/>
                        <a:t>• 25-stage RTL</a:t>
                      </a:r>
                    </a:p>
                    <a:p>
                      <a:r>
                        <a:rPr lang="en-US"/>
                        <a:t>• Bit-exact TB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Week 5–6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Phase 2 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• Multi-var (RH, P)</a:t>
                      </a:r>
                    </a:p>
                    <a:p>
                      <a:r>
                        <a:rPr lang="en-US"/>
                        <a:t>• Shared-MAC FSM</a:t>
                      </a:r>
                    </a:p>
                    <a:p>
                      <a:r>
                        <a:rPr lang="en-US"/>
                        <a:t>• UART controller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Week 7–8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Demo &amp; 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• Live </a:t>
                      </a:r>
                      <a:r>
                        <a:rPr lang="en-US" dirty="0" err="1"/>
                        <a:t>UART</a:t>
                      </a:r>
                      <a:r>
                        <a:rPr lang="en-US" dirty="0"/>
                        <a:t> demo</a:t>
                      </a:r>
                    </a:p>
                    <a:p>
                      <a:r>
                        <a:rPr lang="en-US" dirty="0"/>
                        <a:t>• Coverage metrics</a:t>
                      </a:r>
                    </a:p>
                    <a:p>
                      <a:r>
                        <a:rPr lang="en-US" dirty="0"/>
                        <a:t>• Synthesis report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6516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14</a:t>
            </a:fld>
            <a:endParaRPr lang="en-US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727348" y="900085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606000" y="1062390"/>
            <a:ext cx="10980000" cy="890663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Three Students Workload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grpSp>
        <p:nvGrpSpPr>
          <p:cNvPr id="8" name="three-card-one-slot Proxy Content"/>
          <p:cNvGrpSpPr/>
          <p:nvPr/>
        </p:nvGrpSpPr>
        <p:grpSpPr>
          <a:xfrm>
            <a:off x="827532" y="2011680"/>
            <a:ext cx="3058668" cy="3657409"/>
            <a:chOff x="827532" y="2011680"/>
            <a:chExt cx="3058668" cy="3657409"/>
          </a:xfrm>
        </p:grpSpPr>
        <p:sp>
          <p:nvSpPr>
            <p:cNvPr id="9" name="TextBox 7"/>
            <p:cNvSpPr txBox="1"/>
            <p:nvPr/>
          </p:nvSpPr>
          <p:spPr>
            <a:xfrm>
              <a:off x="827532" y="2011680"/>
              <a:ext cx="168099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STUDENT 1</a:t>
              </a:r>
            </a:p>
          </p:txBody>
        </p:sp>
        <p:sp>
          <p:nvSpPr>
            <p:cNvPr id="10" name="TextBox 8"/>
            <p:cNvSpPr txBox="1"/>
            <p:nvPr/>
          </p:nvSpPr>
          <p:spPr>
            <a:xfrm>
              <a:off x="829056" y="2425065"/>
              <a:ext cx="21491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Algorithms &amp; Data</a:t>
              </a:r>
            </a:p>
          </p:txBody>
        </p:sp>
        <p:sp>
          <p:nvSpPr>
            <p:cNvPr id="11" name="Line 9"/>
            <p:cNvSpPr/>
            <p:nvPr/>
          </p:nvSpPr>
          <p:spPr>
            <a:xfrm>
              <a:off x="838200" y="2857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0"/>
            <p:cNvSpPr txBox="1"/>
            <p:nvPr/>
          </p:nvSpPr>
          <p:spPr>
            <a:xfrm>
              <a:off x="829818" y="3060382"/>
              <a:ext cx="24981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Phase 1: Baseline Core</a:t>
              </a:r>
            </a:p>
          </p:txBody>
        </p:sp>
        <p:sp>
          <p:nvSpPr>
            <p:cNvPr id="13" name="TextBox 11"/>
            <p:cNvSpPr txBox="1"/>
            <p:nvPr/>
          </p:nvSpPr>
          <p:spPr>
            <a:xfrm>
              <a:off x="829818" y="3393758"/>
              <a:ext cx="220861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1576" indent="-131576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CSV cleaning &amp; repair</a:t>
              </a:r>
            </a:p>
          </p:txBody>
        </p:sp>
        <p:sp>
          <p:nvSpPr>
            <p:cNvPr id="14" name="TextBox 12"/>
            <p:cNvSpPr txBox="1"/>
            <p:nvPr/>
          </p:nvSpPr>
          <p:spPr>
            <a:xfrm>
              <a:off x="829818" y="3727132"/>
              <a:ext cx="23512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1576" indent="-131576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Baselines &amp; OLS solver</a:t>
              </a:r>
            </a:p>
          </p:txBody>
        </p:sp>
        <p:sp>
          <p:nvSpPr>
            <p:cNvPr id="15" name="TextBox 13"/>
            <p:cNvSpPr txBox="1"/>
            <p:nvPr/>
          </p:nvSpPr>
          <p:spPr>
            <a:xfrm>
              <a:off x="829818" y="4060508"/>
              <a:ext cx="185595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1576" indent="-131576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C++ golden model</a:t>
              </a:r>
            </a:p>
          </p:txBody>
        </p:sp>
        <p:sp>
          <p:nvSpPr>
            <p:cNvPr id="16" name="Line 14"/>
            <p:cNvSpPr/>
            <p:nvPr/>
          </p:nvSpPr>
          <p:spPr>
            <a:xfrm>
              <a:off x="838200" y="45243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5"/>
            <p:cNvSpPr txBox="1"/>
            <p:nvPr/>
          </p:nvSpPr>
          <p:spPr>
            <a:xfrm>
              <a:off x="829818" y="4679632"/>
              <a:ext cx="20715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Phase 2: Advanced</a:t>
              </a:r>
            </a:p>
          </p:txBody>
        </p:sp>
        <p:sp>
          <p:nvSpPr>
            <p:cNvPr id="18" name="TextBox 16"/>
            <p:cNvSpPr txBox="1"/>
            <p:nvPr/>
          </p:nvSpPr>
          <p:spPr>
            <a:xfrm>
              <a:off x="829818" y="5013008"/>
              <a:ext cx="23283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1576" indent="-131576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Multi-var (RH, P) data</a:t>
              </a:r>
            </a:p>
          </p:txBody>
        </p:sp>
        <p:sp>
          <p:nvSpPr>
            <p:cNvPr id="19" name="TextBox 17"/>
            <p:cNvSpPr txBox="1"/>
            <p:nvPr/>
          </p:nvSpPr>
          <p:spPr>
            <a:xfrm>
              <a:off x="829818" y="5346382"/>
              <a:ext cx="28165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1576" indent="-131576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Quantization SNR analysis</a:t>
              </a:r>
            </a:p>
          </p:txBody>
        </p:sp>
      </p:grpSp>
      <p:grpSp>
        <p:nvGrpSpPr>
          <p:cNvPr id="20" name="three-card-two-slot Proxy Content"/>
          <p:cNvGrpSpPr/>
          <p:nvPr/>
        </p:nvGrpSpPr>
        <p:grpSpPr>
          <a:xfrm>
            <a:off x="4561332" y="2011680"/>
            <a:ext cx="3058668" cy="3657409"/>
            <a:chOff x="4561332" y="2011680"/>
            <a:chExt cx="3058668" cy="3657409"/>
          </a:xfrm>
        </p:grpSpPr>
        <p:sp>
          <p:nvSpPr>
            <p:cNvPr id="21" name="TextBox 19"/>
            <p:cNvSpPr txBox="1"/>
            <p:nvPr/>
          </p:nvSpPr>
          <p:spPr>
            <a:xfrm>
              <a:off x="4561332" y="2011680"/>
              <a:ext cx="168099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STUDENT 2</a:t>
              </a:r>
            </a:p>
          </p:txBody>
        </p:sp>
        <p:sp>
          <p:nvSpPr>
            <p:cNvPr id="22" name="TextBox 20"/>
            <p:cNvSpPr txBox="1"/>
            <p:nvPr/>
          </p:nvSpPr>
          <p:spPr>
            <a:xfrm>
              <a:off x="4562856" y="2425065"/>
              <a:ext cx="22596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RTL &amp; Architecture</a:t>
              </a:r>
            </a:p>
          </p:txBody>
        </p:sp>
        <p:sp>
          <p:nvSpPr>
            <p:cNvPr id="24" name="Line 21"/>
            <p:cNvSpPr/>
            <p:nvPr/>
          </p:nvSpPr>
          <p:spPr>
            <a:xfrm>
              <a:off x="4572000" y="2857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2"/>
            <p:cNvSpPr txBox="1"/>
            <p:nvPr/>
          </p:nvSpPr>
          <p:spPr>
            <a:xfrm>
              <a:off x="4563618" y="3060382"/>
              <a:ext cx="24981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Phase 1: Baseline Core</a:t>
              </a:r>
            </a:p>
          </p:txBody>
        </p:sp>
        <p:sp>
          <p:nvSpPr>
            <p:cNvPr id="26" name="TextBox 23"/>
            <p:cNvSpPr txBox="1"/>
            <p:nvPr/>
          </p:nvSpPr>
          <p:spPr>
            <a:xfrm>
              <a:off x="4563618" y="3393758"/>
              <a:ext cx="216373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1576" indent="-131576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25-stage shift register</a:t>
              </a:r>
            </a:p>
          </p:txBody>
        </p:sp>
        <p:sp>
          <p:nvSpPr>
            <p:cNvPr id="27" name="TextBox 24"/>
            <p:cNvSpPr txBox="1"/>
            <p:nvPr/>
          </p:nvSpPr>
          <p:spPr>
            <a:xfrm>
              <a:off x="4563618" y="3727132"/>
              <a:ext cx="187839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1576" indent="-131576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Pipelined datapath</a:t>
              </a:r>
            </a:p>
          </p:txBody>
        </p:sp>
        <p:sp>
          <p:nvSpPr>
            <p:cNvPr id="28" name="TextBox 25"/>
            <p:cNvSpPr txBox="1"/>
            <p:nvPr/>
          </p:nvSpPr>
          <p:spPr>
            <a:xfrm>
              <a:off x="4563618" y="4060508"/>
              <a:ext cx="158665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1576" indent="-131576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Saturation logic</a:t>
              </a:r>
            </a:p>
          </p:txBody>
        </p:sp>
        <p:sp>
          <p:nvSpPr>
            <p:cNvPr id="29" name="Line 26"/>
            <p:cNvSpPr/>
            <p:nvPr/>
          </p:nvSpPr>
          <p:spPr>
            <a:xfrm>
              <a:off x="4572000" y="45243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0" name="TextBox 27"/>
            <p:cNvSpPr txBox="1"/>
            <p:nvPr/>
          </p:nvSpPr>
          <p:spPr>
            <a:xfrm>
              <a:off x="4563618" y="4679632"/>
              <a:ext cx="20715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Phase 2: Advanced</a:t>
              </a:r>
            </a:p>
          </p:txBody>
        </p:sp>
        <p:sp>
          <p:nvSpPr>
            <p:cNvPr id="32" name="TextBox 28"/>
            <p:cNvSpPr txBox="1"/>
            <p:nvPr/>
          </p:nvSpPr>
          <p:spPr>
            <a:xfrm>
              <a:off x="4563618" y="5013008"/>
              <a:ext cx="27347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1576" indent="-131576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Shared-MAC FSM design</a:t>
              </a:r>
            </a:p>
          </p:txBody>
        </p:sp>
        <p:sp>
          <p:nvSpPr>
            <p:cNvPr id="33" name="TextBox 29"/>
            <p:cNvSpPr txBox="1"/>
            <p:nvPr/>
          </p:nvSpPr>
          <p:spPr>
            <a:xfrm>
              <a:off x="4563618" y="5346382"/>
              <a:ext cx="23608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1576" indent="-131576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FPGA synthesis study</a:t>
              </a:r>
            </a:p>
          </p:txBody>
        </p:sp>
      </p:grpSp>
      <p:grpSp>
        <p:nvGrpSpPr>
          <p:cNvPr id="34" name="three-card-three-slot Proxy Content"/>
          <p:cNvGrpSpPr/>
          <p:nvPr/>
        </p:nvGrpSpPr>
        <p:grpSpPr>
          <a:xfrm>
            <a:off x="8295132" y="2011680"/>
            <a:ext cx="3058668" cy="3657409"/>
            <a:chOff x="8295132" y="2011680"/>
            <a:chExt cx="3058668" cy="3657409"/>
          </a:xfrm>
        </p:grpSpPr>
        <p:sp>
          <p:nvSpPr>
            <p:cNvPr id="35" name="TextBox 31"/>
            <p:cNvSpPr txBox="1"/>
            <p:nvPr/>
          </p:nvSpPr>
          <p:spPr>
            <a:xfrm>
              <a:off x="8295132" y="2011680"/>
              <a:ext cx="168099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STUDENT 3</a:t>
              </a:r>
            </a:p>
          </p:txBody>
        </p:sp>
        <p:sp>
          <p:nvSpPr>
            <p:cNvPr id="36" name="TextBox 32"/>
            <p:cNvSpPr txBox="1"/>
            <p:nvPr/>
          </p:nvSpPr>
          <p:spPr>
            <a:xfrm>
              <a:off x="8296656" y="2425065"/>
              <a:ext cx="24010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DV &amp; Demonstration</a:t>
              </a:r>
            </a:p>
          </p:txBody>
        </p:sp>
        <p:sp>
          <p:nvSpPr>
            <p:cNvPr id="37" name="Line 33"/>
            <p:cNvSpPr/>
            <p:nvPr/>
          </p:nvSpPr>
          <p:spPr>
            <a:xfrm>
              <a:off x="8305800" y="2857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8" name="TextBox 34"/>
            <p:cNvSpPr txBox="1"/>
            <p:nvPr/>
          </p:nvSpPr>
          <p:spPr>
            <a:xfrm>
              <a:off x="8297418" y="3060382"/>
              <a:ext cx="24981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Phase 1: Baseline Core</a:t>
              </a:r>
            </a:p>
          </p:txBody>
        </p:sp>
        <p:sp>
          <p:nvSpPr>
            <p:cNvPr id="39" name="TextBox 35"/>
            <p:cNvSpPr txBox="1"/>
            <p:nvPr/>
          </p:nvSpPr>
          <p:spPr>
            <a:xfrm>
              <a:off x="8297418" y="3393758"/>
              <a:ext cx="229518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1576" indent="-131576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Automated test vectors</a:t>
              </a:r>
            </a:p>
          </p:txBody>
        </p:sp>
        <p:sp>
          <p:nvSpPr>
            <p:cNvPr id="40" name="TextBox 36"/>
            <p:cNvSpPr txBox="1"/>
            <p:nvPr/>
          </p:nvSpPr>
          <p:spPr>
            <a:xfrm>
              <a:off x="8297418" y="3727132"/>
              <a:ext cx="237648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1576" indent="-131576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Bit-exact RTL testbench</a:t>
              </a:r>
            </a:p>
          </p:txBody>
        </p:sp>
        <p:sp>
          <p:nvSpPr>
            <p:cNvPr id="41" name="TextBox 37"/>
            <p:cNvSpPr txBox="1"/>
            <p:nvPr/>
          </p:nvSpPr>
          <p:spPr>
            <a:xfrm>
              <a:off x="8297418" y="4060508"/>
              <a:ext cx="222964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1576" indent="-131576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Warm-up &amp; reset tests</a:t>
              </a:r>
            </a:p>
          </p:txBody>
        </p:sp>
        <p:sp>
          <p:nvSpPr>
            <p:cNvPr id="42" name="Line 38"/>
            <p:cNvSpPr/>
            <p:nvPr/>
          </p:nvSpPr>
          <p:spPr>
            <a:xfrm>
              <a:off x="8305800" y="45243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3" name="TextBox 39"/>
            <p:cNvSpPr txBox="1"/>
            <p:nvPr/>
          </p:nvSpPr>
          <p:spPr>
            <a:xfrm>
              <a:off x="8297418" y="4679632"/>
              <a:ext cx="20715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Phase 2: Advanced</a:t>
              </a:r>
            </a:p>
          </p:txBody>
        </p:sp>
        <p:sp>
          <p:nvSpPr>
            <p:cNvPr id="44" name="TextBox 40"/>
            <p:cNvSpPr txBox="1"/>
            <p:nvPr/>
          </p:nvSpPr>
          <p:spPr>
            <a:xfrm>
              <a:off x="8297418" y="5013008"/>
              <a:ext cx="25858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1576" indent="-131576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UART controller &amp; demo</a:t>
              </a:r>
            </a:p>
          </p:txBody>
        </p:sp>
        <p:sp>
          <p:nvSpPr>
            <p:cNvPr id="45" name="TextBox 41"/>
            <p:cNvSpPr txBox="1"/>
            <p:nvPr/>
          </p:nvSpPr>
          <p:spPr>
            <a:xfrm>
              <a:off x="8297418" y="5346382"/>
              <a:ext cx="2439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1576" indent="-131576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Code coverage metrics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2220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15</a:t>
            </a:fld>
            <a:endParaRPr lang="en-US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727348" y="900085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606000" y="1062390"/>
            <a:ext cx="10980000" cy="890663"/>
          </a:xfrm>
        </p:spPr>
        <p:txBody>
          <a:bodyPr/>
          <a:lstStyle/>
          <a:p>
            <a:r>
              <a:rPr lang="en-US" dirty="0">
                <a:solidFill>
                  <a:schemeClr val="dk1"/>
                </a:solidFill>
              </a:rPr>
              <a:t>One Forecast, Two Claims to Verify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Round Diagonal Corner Rectangle 1"/>
          <p:cNvSpPr/>
          <p:nvPr/>
        </p:nvSpPr>
        <p:spPr>
          <a:xfrm>
            <a:off x="1498600" y="2150533"/>
            <a:ext cx="8627533" cy="3403600"/>
          </a:xfrm>
          <a:prstGeom prst="round2Diag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grpSp>
        <p:nvGrpSpPr>
          <p:cNvPr id="46" name="closing-proofs Proxy Content"/>
          <p:cNvGrpSpPr/>
          <p:nvPr/>
        </p:nvGrpSpPr>
        <p:grpSpPr>
          <a:xfrm>
            <a:off x="1858180" y="2437385"/>
            <a:ext cx="8056991" cy="2703575"/>
            <a:chOff x="977646" y="1896428"/>
            <a:chExt cx="8056991" cy="2703575"/>
          </a:xfrm>
        </p:grpSpPr>
        <p:sp>
          <p:nvSpPr>
            <p:cNvPr id="47" name="TextBox 6"/>
            <p:cNvSpPr txBox="1"/>
            <p:nvPr/>
          </p:nvSpPr>
          <p:spPr>
            <a:xfrm>
              <a:off x="977646" y="1896428"/>
              <a:ext cx="77123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Phased Linear Model → Temperature +3 Hours</a:t>
              </a:r>
            </a:p>
          </p:txBody>
        </p:sp>
        <p:sp>
          <p:nvSpPr>
            <p:cNvPr id="48" name="TextBox 7"/>
            <p:cNvSpPr txBox="1"/>
            <p:nvPr/>
          </p:nvSpPr>
          <p:spPr>
            <a:xfrm>
              <a:off x="979932" y="2630805"/>
              <a:ext cx="26492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Forecast Quality</a:t>
              </a:r>
            </a:p>
          </p:txBody>
        </p:sp>
        <p:sp>
          <p:nvSpPr>
            <p:cNvPr id="49" name="TextBox 8"/>
            <p:cNvSpPr txBox="1"/>
            <p:nvPr/>
          </p:nvSpPr>
          <p:spPr>
            <a:xfrm>
              <a:off x="980694" y="3075622"/>
              <a:ext cx="805394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Prove model outperforms naive baselines on unseen future test data.</a:t>
              </a:r>
            </a:p>
          </p:txBody>
        </p:sp>
        <p:sp>
          <p:nvSpPr>
            <p:cNvPr id="50" name="TextBox 9"/>
            <p:cNvSpPr txBox="1"/>
            <p:nvPr/>
          </p:nvSpPr>
          <p:spPr>
            <a:xfrm>
              <a:off x="979932" y="3773805"/>
              <a:ext cx="34516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Hardware Correctness</a:t>
              </a:r>
            </a:p>
          </p:txBody>
        </p:sp>
        <p:sp>
          <p:nvSpPr>
            <p:cNvPr id="51" name="TextBox 10"/>
            <p:cNvSpPr txBox="1"/>
            <p:nvPr/>
          </p:nvSpPr>
          <p:spPr>
            <a:xfrm>
              <a:off x="980694" y="4218622"/>
              <a:ext cx="750439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Prove RTL matches the C++ fixed-point golden model bit-for-bit.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3583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FCE Green v2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0071FF"/>
      </a:accent2>
      <a:accent3>
        <a:srgbClr val="38EF7D"/>
      </a:accent3>
      <a:accent4>
        <a:srgbClr val="029676"/>
      </a:accent4>
      <a:accent5>
        <a:srgbClr val="F5AF19"/>
      </a:accent5>
      <a:accent6>
        <a:srgbClr val="F12711"/>
      </a:accent6>
      <a:hlink>
        <a:srgbClr val="6B9F25"/>
      </a:hlink>
      <a:folHlink>
        <a:srgbClr val="BA6906"/>
      </a:folHlink>
    </a:clrScheme>
    <a:fontScheme name="Times New Roman-Arial">
      <a:maj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>
            <a:lumMod val="50000"/>
          </a:schemeClr>
        </a:solidFill>
        <a:ln>
          <a:noFill/>
        </a:ln>
      </a:spPr>
      <a:bodyPr rtlCol="0" anchor="ctr"/>
      <a:lstStyle>
        <a:defPPr algn="ctr">
          <a:defRPr dirty="0">
            <a:solidFill>
              <a:schemeClr val="accent4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 cap="rnd">
          <a:solidFill>
            <a:schemeClr val="accent3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spcBef>
            <a:spcPts val="300"/>
          </a:spcBef>
          <a:spcAft>
            <a:spcPts val="300"/>
          </a:spcAft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4A2634C-94C6-41FE-8250-CD47CE5D54F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3a3bb1e1-4be2-4759-bb9e-09a3b89d76e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7088</TotalTime>
  <Words>1401</Words>
  <Application>Microsoft Office PowerPoint</Application>
  <PresentationFormat>Custom</PresentationFormat>
  <Paragraphs>261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TEMPERATURE FORECAST 3 HOURS AHEAD ON FPGA</vt:lpstr>
      <vt:lpstr>Project Scope: 3-Hour Forecast Core</vt:lpstr>
      <vt:lpstr>End-to-End System Workflow</vt:lpstr>
      <vt:lpstr>Linear Model with Diurnal Anchor &amp; Taps</vt:lpstr>
      <vt:lpstr>Chronological Training &amp; Data Split</vt:lpstr>
      <vt:lpstr>PowerPoint Presentation</vt:lpstr>
      <vt:lpstr>Fixed-Point Design &amp; Q-Format</vt:lpstr>
      <vt:lpstr>Two-Phase Development Strategy</vt:lpstr>
      <vt:lpstr>Hardware Architecture &amp; Datapath</vt:lpstr>
      <vt:lpstr>Demonstration via Accelerated Replay</vt:lpstr>
      <vt:lpstr>Three Verification Layers</vt:lpstr>
      <vt:lpstr>Hardware Architecture Trade-Off Study</vt:lpstr>
      <vt:lpstr>8-Week Execution Roadmap</vt:lpstr>
      <vt:lpstr>Three Students Workload Distribution</vt:lpstr>
      <vt:lpstr>One Forecast, Two Claims to Verify</vt:lpstr>
    </vt:vector>
  </TitlesOfParts>
  <Manager>9Slide.vn</Manager>
  <Company>9Slide.vn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9Slide.vn</dc:title>
  <dc:subject>9Slide.vn</dc:subject>
  <dc:creator>NDC</dc:creator>
  <dc:description>9Slide.vn</dc:description>
  <cp:lastModifiedBy>NDC</cp:lastModifiedBy>
  <cp:revision>785</cp:revision>
  <dcterms:created xsi:type="dcterms:W3CDTF">2022-06-26T12:27:32Z</dcterms:created>
  <dcterms:modified xsi:type="dcterms:W3CDTF">2026-09-24T14:11:57Z</dcterms:modified>
  <cp:category>9Slide.vn</cp:category>
</cp:coreProperties>
</file>