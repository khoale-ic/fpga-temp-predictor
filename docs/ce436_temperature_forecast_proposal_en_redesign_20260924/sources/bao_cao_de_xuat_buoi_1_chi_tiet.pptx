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68d1017502463a" /><Relationship Type="http://schemas.openxmlformats.org/officeDocument/2006/relationships/extended-properties" Target="/docProps/app.xml" Id="R911a60e845514f25" /><Relationship Type="http://schemas.openxmlformats.org/officeDocument/2006/relationships/officeDocument" Target="/ppt/presentation.xml" Id="R2d0e63a4e1d54db1" /></Relationships>
</file>

<file path=ppt/presentation.xml><?xml version="1.0" encoding="utf-8"?>
<p:presentation xmlns:p="http://schemas.openxmlformats.org/presentationml/2006/main">
  <p:sldMasterIdLst>
    <p:sldMasterId xmlns:r="http://schemas.openxmlformats.org/officeDocument/2006/relationships" id="2147483648" r:id="Rd356aed6d2064817"/>
  </p:sldMasterIdLst>
  <p:notesMasterIdLst>
    <p:notesMasterId xmlns:r="http://schemas.openxmlformats.org/officeDocument/2006/relationships" r:id="R7ba6f341dedf4164"/>
  </p:notesMasterIdLst>
  <p:sldIdLst>
    <p:sldId xmlns:r="http://schemas.openxmlformats.org/officeDocument/2006/relationships" id="256" r:id="R9f6cfa2324474f0c"/>
    <p:sldId xmlns:r="http://schemas.openxmlformats.org/officeDocument/2006/relationships" id="257" r:id="Rd55a8591e35a4c05"/>
    <p:sldId xmlns:r="http://schemas.openxmlformats.org/officeDocument/2006/relationships" id="258" r:id="R61d578400e5140b6"/>
    <p:sldId xmlns:r="http://schemas.openxmlformats.org/officeDocument/2006/relationships" id="259" r:id="Rd4c918d5a73f44d2"/>
    <p:sldId xmlns:r="http://schemas.openxmlformats.org/officeDocument/2006/relationships" id="260" r:id="R909ad893e405413a"/>
    <p:sldId xmlns:r="http://schemas.openxmlformats.org/officeDocument/2006/relationships" id="261" r:id="R36d955a6b6e84370"/>
    <p:sldId xmlns:r="http://schemas.openxmlformats.org/officeDocument/2006/relationships" id="262" r:id="Rd4997ecc841a43a6"/>
    <p:sldId xmlns:r="http://schemas.openxmlformats.org/officeDocument/2006/relationships" id="263" r:id="R5f760432545b48fd"/>
    <p:sldId xmlns:r="http://schemas.openxmlformats.org/officeDocument/2006/relationships" id="264" r:id="Rb8bf0165510e451d"/>
    <p:sldId xmlns:r="http://schemas.openxmlformats.org/officeDocument/2006/relationships" id="265" r:id="R35722d24eacc4d1c"/>
    <p:sldId xmlns:r="http://schemas.openxmlformats.org/officeDocument/2006/relationships" id="266" r:id="R4c07e1cccae1412d"/>
    <p:sldId xmlns:r="http://schemas.openxmlformats.org/officeDocument/2006/relationships" id="267" r:id="Rc9514e913899437e"/>
    <p:sldId xmlns:r="http://schemas.openxmlformats.org/officeDocument/2006/relationships" id="268" r:id="R9368f0cc9f304327"/>
    <p:sldId xmlns:r="http://schemas.openxmlformats.org/officeDocument/2006/relationships" id="269" r:id="R69f5ae8888cc44f5"/>
    <p:sldId xmlns:r="http://schemas.openxmlformats.org/officeDocument/2006/relationships" id="270" r:id="Ra7a389c34eea43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dbb0ec8d1024d14" /><Relationship Type="http://schemas.openxmlformats.org/officeDocument/2006/relationships/slideMaster" Target="/ppt/slideMasters/slideMaster1.xml" Id="Rd356aed6d2064817" /><Relationship Type="http://schemas.openxmlformats.org/officeDocument/2006/relationships/notesMaster" Target="/ppt/notesMasters/notesMaster1.xml" Id="R7ba6f341dedf4164" /><Relationship Type="http://schemas.openxmlformats.org/officeDocument/2006/relationships/presProps" Target="/ppt/presProps.xml" Id="R4120d61ecfcb4cf0" /><Relationship Type="http://schemas.openxmlformats.org/officeDocument/2006/relationships/tableStyles" Target="/ppt/tableStyles.xml" Id="R6e6ff1fbb2f34048" /><Relationship Type="http://schemas.openxmlformats.org/officeDocument/2006/relationships/slide" Target="/ppt/slides/slide1.xml" Id="R9f6cfa2324474f0c" /><Relationship Type="http://schemas.openxmlformats.org/officeDocument/2006/relationships/slide" Target="/ppt/slides/slide2.xml" Id="Rd55a8591e35a4c05" /><Relationship Type="http://schemas.openxmlformats.org/officeDocument/2006/relationships/slide" Target="/ppt/slides/slide3.xml" Id="R61d578400e5140b6" /><Relationship Type="http://schemas.openxmlformats.org/officeDocument/2006/relationships/slide" Target="/ppt/slides/slide4.xml" Id="Rd4c918d5a73f44d2" /><Relationship Type="http://schemas.openxmlformats.org/officeDocument/2006/relationships/slide" Target="/ppt/slides/slide5.xml" Id="R909ad893e405413a" /><Relationship Type="http://schemas.openxmlformats.org/officeDocument/2006/relationships/slide" Target="/ppt/slides/slide6.xml" Id="R36d955a6b6e84370" /><Relationship Type="http://schemas.openxmlformats.org/officeDocument/2006/relationships/slide" Target="/ppt/slides/slide7.xml" Id="Rd4997ecc841a43a6" /><Relationship Type="http://schemas.openxmlformats.org/officeDocument/2006/relationships/slide" Target="/ppt/slides/slide8.xml" Id="R5f760432545b48fd" /><Relationship Type="http://schemas.openxmlformats.org/officeDocument/2006/relationships/slide" Target="/ppt/slides/slide9.xml" Id="Rb8bf0165510e451d" /><Relationship Type="http://schemas.openxmlformats.org/officeDocument/2006/relationships/slide" Target="/ppt/slides/slide10.xml" Id="R35722d24eacc4d1c" /><Relationship Type="http://schemas.openxmlformats.org/officeDocument/2006/relationships/slide" Target="/ppt/slides/slide11.xml" Id="R4c07e1cccae1412d" /><Relationship Type="http://schemas.openxmlformats.org/officeDocument/2006/relationships/slide" Target="/ppt/slides/slide12.xml" Id="Rc9514e913899437e" /><Relationship Type="http://schemas.openxmlformats.org/officeDocument/2006/relationships/slide" Target="/ppt/slides/slide13.xml" Id="R9368f0cc9f304327" /><Relationship Type="http://schemas.openxmlformats.org/officeDocument/2006/relationships/slide" Target="/ppt/slides/slide14.xml" Id="R69f5ae8888cc44f5" /><Relationship Type="http://schemas.openxmlformats.org/officeDocument/2006/relationships/slide" Target="/ppt/slides/slide15.xml" Id="Ra7a389c34eea43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ff8e9a9f1945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20afccaee9499c" /><Relationship Type="http://schemas.openxmlformats.org/officeDocument/2006/relationships/notesMaster" Target="/ppt/notesMasters/notesMaster1.xml" Id="Ra29343b67bac45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d9d03c18224fa6" /><Relationship Type="http://schemas.openxmlformats.org/officeDocument/2006/relationships/notesMaster" Target="/ppt/notesMasters/notesMaster1.xml" Id="R77b4854218f54b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dc7c12d13248a3" /><Relationship Type="http://schemas.openxmlformats.org/officeDocument/2006/relationships/notesMaster" Target="/ppt/notesMasters/notesMaster1.xml" Id="Rcc7c0a1a97794a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edad0090ec460b" /><Relationship Type="http://schemas.openxmlformats.org/officeDocument/2006/relationships/notesMaster" Target="/ppt/notesMasters/notesMaster1.xml" Id="Rca9ea5de1a324b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7c538d2d21421f" /><Relationship Type="http://schemas.openxmlformats.org/officeDocument/2006/relationships/notesMaster" Target="/ppt/notesMasters/notesMaster1.xml" Id="R2ff7c44d26004d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3827cb61a3472a" /><Relationship Type="http://schemas.openxmlformats.org/officeDocument/2006/relationships/notesMaster" Target="/ppt/notesMasters/notesMaster1.xml" Id="R93b7d313cddd43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7f685698fa4cdd" /><Relationship Type="http://schemas.openxmlformats.org/officeDocument/2006/relationships/notesMaster" Target="/ppt/notesMasters/notesMaster1.xml" Id="R39f5f165f35b441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0b7ccd94224011" /><Relationship Type="http://schemas.openxmlformats.org/officeDocument/2006/relationships/notesMaster" Target="/ppt/notesMasters/notesMaster1.xml" Id="R06a3593f251440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717ef158d4479c" /><Relationship Type="http://schemas.openxmlformats.org/officeDocument/2006/relationships/notesMaster" Target="/ppt/notesMasters/notesMaster1.xml" Id="R400fc45fe8f744d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96e657264b4f2e" /><Relationship Type="http://schemas.openxmlformats.org/officeDocument/2006/relationships/notesMaster" Target="/ppt/notesMasters/notesMaster1.xml" Id="R74eea3e5a234479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324e303e7bc4041" /><Relationship Type="http://schemas.openxmlformats.org/officeDocument/2006/relationships/notesMaster" Target="/ppt/notesMasters/notesMaster1.xml" Id="Ra4c27d7ea51240f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192e865392f455e" /><Relationship Type="http://schemas.openxmlformats.org/officeDocument/2006/relationships/notesMaster" Target="/ppt/notesMasters/notesMaster1.xml" Id="Raba82ac8a8c249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aaa33e4dc0e474b" /><Relationship Type="http://schemas.openxmlformats.org/officeDocument/2006/relationships/notesMaster" Target="/ppt/notesMasters/notesMaster1.xml" Id="Rbea06616217b40d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852cc1dac1944da" /><Relationship Type="http://schemas.openxmlformats.org/officeDocument/2006/relationships/notesMaster" Target="/ppt/notesMasters/notesMaster1.xml" Id="Rfcf01f61267949c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35dbc8d8458444a" /><Relationship Type="http://schemas.openxmlformats.org/officeDocument/2006/relationships/notesMaster" Target="/ppt/notesMasters/notesMaster1.xml" Id="Re5a9795a9b704f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khoảng 25 giây. Nhóm đề xuất một nhánh cụ thể của chủ đề Weather Pattern Forecasting on FPGA using Time Series Analysis. Bài toán là dự báo nhiệt độ sau 3 giờ tại một địa điểm. Đây là buổi đề xuất kế hoạch; chưa báo cáo kết quả thực nghiệm. Trước khi trình bày, thêm tên ba thành viên vào trang này hoặc nói khi giới thiệu.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khoảng 45 giây. Đề tài gốc rộng, nên nhóm chọn một mục tiêu có thể đo sai số và trình diễn trên FPGA. Đầu vào ở thời điểm t chỉ gồm các mẫu đã ghi nhận đến t; đầu ra là nhiệt độ tại t+3 giờ. Nhóm cần xác nhận với thầy rằng phạm vi dự báo nhiệt độ ngắn hạn phù hợp với tên chủ đề. Không gọi đây là dự báo toàn bộ tình trạng thời tiết.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khoảng 45 giây. Nhóm sẽ xem kết quả theo hai khía cạnh: chất lượng dự báo và chất lượng hiện thực phần cứng. Chất lượng dự báo phải được so với baseline; kết quả RTL phải trùng mô hình tham chiếu số cố định khi xét đúng độ trễ clock. Tài nguyên và tốc độ sẽ lấy từ báo cáo tổng hợp, không dự đoán trước. Các file mã nguồn hiện trong repo mới là khung thư mục, chưa có kết quả để công bố.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khoảng 50 giây. NASA POWER có API dữ liệu theo giờ, trong đó T2M là nhiệt độ gần mặt đất; đây là nguồn dự kiến. Nguồn: https://power.larc.nasa.gov/docs/services/api/temporal/hourly/. Dữ liệu theo tọa độ là dữ liệu trên lưới, không phải nhiệt độ đo tại đúng một điểm đặt cảm biến. Chốt một tọa độ và cùng một chuẩn thời gian, kiểm tra giờ bị thiếu hoặc lặp. Mỗi mẫu dự báo dùng dữ liệu đã có tới t; nhãn cần dự đoán là T(t+3). Chia theo thứ tự thời gian để tập kiểm tra không xuất hiện trong quá trình tìm hệ số.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khoảng 45 giây. Đặt hai baseline trước khi huấn luyện mô hình. Cách thứ nhất cho dự báo bằng giá trị hiện tại. Cách thứ hai dùng nhiệt độ cùng giờ của ngày trước: vì cần dự báo t+3, thời điểm ngày trước là t+3−24=t−21. Cả baseline và mô hình nhóm đề xuất sẽ được tính MAE trên đúng cùng tập kiểm tra. Nguồn khái niệm baseline: https://otexts.com/fpp3/simple-methods.html. Mô hình mới không được hứa chắc chắn thắng baseline khi chưa chạy thử.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khoảng 60 giây. Đây là mô hình tuyến tính theo các mẫu quá khứ, có xét chu kỳ 24 giờ. T(t−21) là nhiệt độ của ngày trước đúng tại giờ t+3 cần dự báo. Chênh lệch t và t−24 phản ánh cả ngày hôm nay nóng hơn hay lạnh hơn cùng giờ hôm qua. Chênh lệch t và t−3 phản ánh xu hướng gần đây. C++ tìm a,b,c từ dữ liệu lịch sử; phần cứng dùng hệ số cố định. Công thức là giả thuyết thiết kế, có thể đổi đặc trưng nếu đánh giá ban đầu cho thấy nó không hợp lý.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khoảng 65 giây. Đây chỉ là ví dụ để người nghe thấy FPGA thực hiện phép tính gì; bốn nhiệt độ và các hệ số đều giả định. Tại t, ta đã biết nhiệt độ t−24, t−21, t−3 và t. Hiệu liên ngày là 20−19=1 độ C; hiệu ba giờ gần nhất là 20−18=2 độ C. Cộng các hiệu đã nhân hệ số vào nhiệt độ cùng giờ ngày trước, ta được 21,9 độ C. Khi làm thật, a,b,c sẽ do C++ tìm trên dữ liệu huấn luyện, còn giá trị thực tại t+3 chỉ được dùng để kiểm tra sau đó.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khoảng 50 giây. C++ không chạy thuật toán huấn luyện trên FPGA. C++ tạo những hàng dữ liệu mà tất cả đầu vào ở hoặc trước t, đầu ra đúng là T(t+3). Tìm a,b,c bằng bình phương tối thiểu trên dữ liệu cũ. Giữ một đoạn thời gian mới hơn để kiểm tra; không trộn ngẫu nhiên các thời điểm. Sau đó xuất hệ số và bộ test vector. Có thể dùng thư viện Eigen cho bài toán bình phương tối thiểu, nguồn: https://eigen.tuxfamily.org/dox/group__LeastSquares.html. Chưa có hệ số cụ thể.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khoảng 55 giây. Mạch số không thể dùng số thực một cách tuỳ tiện vì sẽ tăng chi phí phần cứng. Nhóm sẽ xem khoảng giá trị của dữ liệu và các hệ số để chọn số bit và tỉ lệ phù hợp. Phần mềm tham chiếu số cố định phải có cùng quy tắc làm tròn và tràn số với RTL. Chưa chốt Q format vì chưa phân tích dữ liệu. Trong báo cáo cuối, so sai số do mô hình với sai số thêm do lượng tử hoá. Đây là lựa chọn hiện thực, không thay đổi định nghĩa bài toán dự báo.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khoảng 60 giây. Đây là kiến trúc đề xuất, chưa tổng hợp. PC hoặc một nguồn phát dữ liệu sẽ đưa lần lượt các mẫu nhiệt độ vào FPGA. Bộ đệm cần 25 mẫu để truy cập từ t−24 đến t. Chọn bốn mốc t, t−3, t−21, t−24; khối số học tạo hai hiệu số, hai tích rồi cộng cùng mốc ngày trước và hệ số c. Hệ số được nạp cố định sau khi huấn luyện. Tín hiệu clock/handshake và cách kết nối board sẽ được thiết kế khi biết phần cứng cụ thể.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khoảng 55 giây. Ba tầng kiểm chứng được tách rõ. Tầng 1 xem chênh lệch giữa tính toán số thực và số cố định. Tầng 2 dùng testbench đưa test vector vào RTL, so với C++ số cố định và tính đến latency. Tầng 3 đưa cùng dữ liệu qua đường giao tiếp của board để kiểm tra tích hợp. Cần test cả nhiệt độ âm, tràn số, reset, dữ liệu chưa đủ bộ đệm và đoạn dữ liệu biến đổi nhanh. Kết quả mong muốn là RTL khớp bit với reference cố định; sai số dự báo với thời tiết thật là chỉ tiêu riêng.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khoảng 55 giây. Dữ liệu thời tiết thay đổi theo giờ, nên buổi demo không thể chờ ba giờ thực. Nhóm sẽ phát lại dữ liệu lịch sử nhanh hơn thời gian thật. FPGA nhận chuỗi từng mẫu, tính dự báo sau 3 giờ tại mỗi bước khi đã đủ 25 mẫu. Máy tính biết dữ liệu thực trong file nên có thể vẽ đồ thị dự báo và thực tế sau đó; dữ liệu thực tương lai tuyệt đối không được đưa vào FPGA tại bước dự báo. Giao tiếp dùng UART nếu board hỗ trợ thuận tiện, hoặc phương án nạp dữ liệu khác phù hợp với 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khoảng 50 giây. Đây là lịch dự kiến tính từ khi nhóm bắt đầu; ngày của buổi báo cáo 2 cần đối chiếu với lịch thầy công bố. Ba tuần đầu lấy và kiểm dữ liệu, xây baseline. Ba tuần kế tìm hệ số và kiểm tra trên giai đoạn mới. Tuần 7 đến 9 chuyển số cố định, viết RTL và testbench. Ba tuần cuối tích hợp board, đo kết quả và viết báo cáo. Đầu ra mỗi giai đoạn là một thứ có thể chạy hoặc kiểm tra, không chỉ là phần đọc tài liệu.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khoảng 65 giây. Rủi ro thứ nhất là dữ liệu có giờ thiếu hoặc không cùng múi giờ; nếu bỏ qua sẽ lấy nhầm t−24 hoặc nhãn t+3. Nhóm sẽ xác thực chuỗi thời gian ngay trước khi học mô hình. Rủi ro thứ hai là mô hình tuyến tính chưa chắc đánh bại dự báo giữ nguyên nhiệt độ; nhóm sẽ so baseline, thử điều chỉnh đặc trưng dựa trên tập validation và công bố trung thực kết quả tập test. Rủi ro thứ ba là board và cổng giao tiếp chưa rõ; lõi tính dự báo và testbench có thể làm độc lập trước khi tích hợp. Độ ẩm/áp suất là mở rộng có điều kiện, không làm ảnh hưởng mốc lõi.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khoảng 45 giây. Chia việc theo mảng để cả ba có đầu ra rõ; mỗi người vẫn phải hiểu bài toán chung. Thành viên 1 xử lý dữ liệu và C++; thành viên 2 thiết kế lõi FPGA; thành viên 3 xây testbench và kịch bản demo, cùng người 2 tích hợp board. Thay nhãn Người 1/2/3 bằng tên. Cần hỏi thầy: phạm vi chỉ dự báo nhiệt độ có được chấp nhận không, board nào được cấp, và mức demo phần cứng tối thiểu. Nếu có thời gian sau khi hoàn thành lõi, nhóm mới thử thêm độ ẩm hoặc áp suất để so sai số.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e37be7437149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f697ec01034ecd" /><Relationship Type="http://schemas.openxmlformats.org/officeDocument/2006/relationships/slideLayout" Target="/ppt/slideLayouts/slideLayout1.xml" Id="R1511d94f22e14c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11d94f22e14c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ff2e466bfd43b0" /><Relationship Type="http://schemas.openxmlformats.org/officeDocument/2006/relationships/notesSlide" Target="/ppt/notesSlides/notesSlide1.xml" Id="R8371cf3b5bc14b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1cde41f0bf648c4" /><Relationship Type="http://schemas.openxmlformats.org/officeDocument/2006/relationships/notesSlide" Target="/ppt/notesSlides/notesSlide2.xml" Id="Rb2203e6e5bda4d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3f06e096b794c8b" /><Relationship Type="http://schemas.openxmlformats.org/officeDocument/2006/relationships/notesSlide" Target="/ppt/notesSlides/notesSlide3.xml" Id="R3bbd5e51615c48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8ce7aacb9f74400" /><Relationship Type="http://schemas.openxmlformats.org/officeDocument/2006/relationships/notesSlide" Target="/ppt/notesSlides/notesSlide4.xml" Id="R4b5dda78347847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608ff26f783412d" /><Relationship Type="http://schemas.openxmlformats.org/officeDocument/2006/relationships/notesSlide" Target="/ppt/notesSlides/notesSlide5.xml" Id="Rfdc9706626024f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ad070c0afdf44bb" /><Relationship Type="http://schemas.openxmlformats.org/officeDocument/2006/relationships/notesSlide" Target="/ppt/notesSlides/notesSlide6.xml" Id="R4a44f830cf9e44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ca446361f7c45ca" /><Relationship Type="http://schemas.openxmlformats.org/officeDocument/2006/relationships/notesSlide" Target="/ppt/notesSlides/notesSlide7.xml" Id="R9bd73948f8144e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2bbd654355e4790" /><Relationship Type="http://schemas.openxmlformats.org/officeDocument/2006/relationships/notesSlide" Target="/ppt/notesSlides/notesSlide8.xml" Id="R19db60430bf64eb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9598905284c4b06" /><Relationship Type="http://schemas.openxmlformats.org/officeDocument/2006/relationships/notesSlide" Target="/ppt/notesSlides/notesSlide9.xml" Id="R4e5c90b11faa459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583d94fded24dc3" /><Relationship Type="http://schemas.openxmlformats.org/officeDocument/2006/relationships/notesSlide" Target="/ppt/notesSlides/notesSlide10.xml" Id="R8de2eb60319841b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c2f6670c7a3460c" /><Relationship Type="http://schemas.openxmlformats.org/officeDocument/2006/relationships/notesSlide" Target="/ppt/notesSlides/notesSlide11.xml" Id="R19caf7355b4245a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84113eee9944935" /><Relationship Type="http://schemas.openxmlformats.org/officeDocument/2006/relationships/notesSlide" Target="/ppt/notesSlides/notesSlide12.xml" Id="R36fce97e2ee54a0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aa9d49f77d04d9c" /><Relationship Type="http://schemas.openxmlformats.org/officeDocument/2006/relationships/notesSlide" Target="/ppt/notesSlides/notesSlide13.xml" Id="R534d78dd41c4413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37ca3aae4d74c6f" /><Relationship Type="http://schemas.openxmlformats.org/officeDocument/2006/relationships/notesSlide" Target="/ppt/notesSlides/notesSlide14.xml" Id="R9b7a5d0b10b6483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2498198dcaf45f9" /><Relationship Type="http://schemas.openxmlformats.org/officeDocument/2006/relationships/notesSlide" Target="/ppt/notesSlides/notesSlide15.xml" Id="Rf8049d5872bd4f86" /></Relationships>
</file>

<file path=ppt/slides/slide1.xml><?xml version="1.0" encoding="utf-8"?>
<p:sld xmlns:p="http://schemas.openxmlformats.org/presentationml/2006/main">
  <p:cSld>
    <p:bg>
      <p:bgPr>
        <a:solidFill xmlns:a="http://schemas.openxmlformats.org/drawingml/2006/main">
          <a:srgbClr val="17324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BE9DE5D-56C1-428C-A93F-ED436E5C707A}"/>
              </a:ext>
            </a:extLst>
          </p:cNvPr>
          <p:cNvSpPr>
            <a:spLocks xmlns:a="http://schemas.openxmlformats.org/drawingml/2006/main" noGrp="1"/>
          </p:cNvSpPr>
          <p:nvPr/>
        </p:nvSpPr>
        <p:spPr>
          <a:xfrm xmlns:a="http://schemas.openxmlformats.org/drawingml/2006/main">
            <a:off x="762000" y="1762125"/>
            <a:ext cx="100012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825" b="1">
                <a:solidFill>
                  <a:srgbClr val="FFFFFF"/>
                </a:solidFill>
                <a:latin typeface="Noto Sans"/>
                <a:ea typeface="Noto Sans"/>
                <a:cs typeface="Noto Sans"/>
              </a:defRPr>
            </a:pPr>
            <a:r>
              <a:rPr sz="3825" b="1">
                <a:solidFill>
                  <a:srgbClr val="FFFFFF"/>
                </a:solidFill>
                <a:latin typeface="Noto Sans"/>
                <a:ea typeface="Noto Sans"/>
                <a:cs typeface="Noto Sans"/>
              </a:rPr>
              <a:t>DỰ BÁO NHIỆT ĐỘ</a:t>
            </a:r>
          </a:p>
          <a:p xmlns:a="http://schemas.openxmlformats.org/drawingml/2006/main">
            <a:pPr>
              <a:defRPr sz="3825" b="1">
                <a:solidFill>
                  <a:srgbClr val="FFFFFF"/>
                </a:solidFill>
                <a:latin typeface="Noto Sans"/>
                <a:ea typeface="Noto Sans"/>
                <a:cs typeface="Noto Sans"/>
              </a:defRPr>
            </a:pPr>
            <a:r>
              <a:rPr sz="3825" b="1">
                <a:solidFill>
                  <a:srgbClr val="FFFFFF"/>
                </a:solidFill>
                <a:latin typeface="Noto Sans"/>
                <a:ea typeface="Noto Sans"/>
                <a:cs typeface="Noto Sans"/>
              </a:rPr>
              <a:t>SAU 3 GIỜ TRÊN FPGA</a:t>
            </a:r>
          </a:p>
        </p:txBody>
      </p:sp>
      <p:sp>
        <p:nvSpPr>
          <p:cNvPr id="2" name="">
            <a:extLst xmlns:a="http://schemas.openxmlformats.org/drawingml/2006/main">
              <a:ext uri="{FF2B5EF4-FFF2-40B4-BE49-F238E27FC236}">
                <a16:creationId xmlns:a16="http://schemas.microsoft.com/office/drawing/2014/main" id="{0F153444-8729-4DA0-BFDA-94682AC64E7B}"/>
              </a:ext>
            </a:extLst>
          </p:cNvPr>
          <p:cNvSpPr>
            <a:spLocks xmlns:a="http://schemas.openxmlformats.org/drawingml/2006/main" noGrp="1"/>
          </p:cNvSpPr>
          <p:nvPr/>
        </p:nvSpPr>
        <p:spPr>
          <a:xfrm xmlns:a="http://schemas.openxmlformats.org/drawingml/2006/main">
            <a:off x="762000" y="4000500"/>
            <a:ext cx="2476500" cy="66675"/>
          </a:xfrm>
          <a:prstGeom xmlns:a="http://schemas.openxmlformats.org/drawingml/2006/main" prst="rect">
            <a:avLst/>
          </a:prstGeom>
          <a:solidFill xmlns:a="http://schemas.openxmlformats.org/drawingml/2006/main">
            <a:srgbClr val="C46B4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5BA9ACE-1556-46A5-8B2D-7E28114063C7}"/>
              </a:ext>
            </a:extLst>
          </p:cNvPr>
          <p:cNvSpPr>
            <a:spLocks xmlns:a="http://schemas.openxmlformats.org/drawingml/2006/main" noGrp="1"/>
          </p:cNvSpPr>
          <p:nvPr/>
        </p:nvSpPr>
        <p:spPr>
          <a:xfrm xmlns:a="http://schemas.openxmlformats.org/drawingml/2006/main">
            <a:off x="762000" y="4286250"/>
            <a:ext cx="1000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E1ECEB"/>
                </a:solidFill>
                <a:latin typeface="Noto Sans"/>
                <a:ea typeface="Noto Sans"/>
                <a:cs typeface="Noto Sans"/>
              </a:defRPr>
            </a:pPr>
            <a:r>
              <a:rPr sz="2100" b="0">
                <a:solidFill>
                  <a:srgbClr val="E1ECEB"/>
                </a:solidFill>
                <a:latin typeface="Noto Sans"/>
                <a:ea typeface="Noto Sans"/>
                <a:cs typeface="Noto Sans"/>
              </a:rPr>
              <a:t>Mô hình tuyến tính từ dữ liệu nhiệt độ quá khứ</a:t>
            </a:r>
          </a:p>
        </p:txBody>
      </p:sp>
      <p:sp>
        <p:nvSpPr>
          <p:cNvPr id="4" name="">
            <a:extLst xmlns:a="http://schemas.openxmlformats.org/drawingml/2006/main">
              <a:ext uri="{FF2B5EF4-FFF2-40B4-BE49-F238E27FC236}">
                <a16:creationId xmlns:a16="http://schemas.microsoft.com/office/drawing/2014/main" id="{63C4B9B0-7851-436C-823C-46702BC7952D}"/>
              </a:ext>
            </a:extLst>
          </p:cNvPr>
          <p:cNvSpPr>
            <a:spLocks xmlns:a="http://schemas.openxmlformats.org/drawingml/2006/main" noGrp="1"/>
          </p:cNvSpPr>
          <p:nvPr/>
        </p:nvSpPr>
        <p:spPr>
          <a:xfrm xmlns:a="http://schemas.openxmlformats.org/drawingml/2006/main">
            <a:off x="762000" y="5772150"/>
            <a:ext cx="885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B9CDCC"/>
                </a:solidFill>
                <a:latin typeface="Noto Sans"/>
                <a:ea typeface="Noto Sans"/>
                <a:cs typeface="Noto Sans"/>
              </a:defRPr>
            </a:pPr>
            <a:r>
              <a:rPr sz="1350" b="0">
                <a:solidFill>
                  <a:srgbClr val="B9CDCC"/>
                </a:solidFill>
                <a:latin typeface="Noto Sans"/>
                <a:ea typeface="Noto Sans"/>
                <a:cs typeface="Noto Sans"/>
              </a:rPr>
              <a:t>CE436  |  Báo cáo đề xuất đề tài  |  Buổi 1</a:t>
            </a:r>
          </a:p>
        </p:txBody>
      </p:sp>
    </p:spTree>
    <p:extLst>
      <p:ext uri="{BB962C8B-B14F-4D97-AF65-F5344CB8AC3E}">
        <p14:creationId xmlns:p14="http://schemas.microsoft.com/office/powerpoint/2010/main" val="2116090676"/>
      </p:ext>
    </p:extLst>
  </p:cSld>
</p:sld>
</file>

<file path=ppt/slides/slide2.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9C14468-5A75-416B-92DF-8234B3FCD33C}"/>
              </a:ext>
            </a:extLst>
          </p:cNvPr>
          <p:cNvSpPr>
            <a:spLocks xmlns:a="http://schemas.openxmlformats.org/drawingml/2006/main" noGrp="1"/>
          </p:cNvSpPr>
          <p:nvPr/>
        </p:nvSpPr>
        <p:spPr>
          <a:xfrm xmlns:a="http://schemas.openxmlformats.org/drawingml/2006/main">
            <a:off x="666750" y="4095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7324D"/>
                </a:solidFill>
                <a:latin typeface="Noto Sans"/>
                <a:ea typeface="Noto Sans"/>
                <a:cs typeface="Noto Sans"/>
              </a:defRPr>
            </a:pPr>
            <a:r>
              <a:rPr sz="2850" b="1">
                <a:solidFill>
                  <a:srgbClr val="17324D"/>
                </a:solidFill>
                <a:latin typeface="Noto Sans"/>
                <a:ea typeface="Noto Sans"/>
                <a:cs typeface="Noto Sans"/>
              </a:rPr>
              <a:t>Phạm vi đề tài</a:t>
            </a:r>
          </a:p>
        </p:txBody>
      </p:sp>
      <p:sp>
        <p:nvSpPr>
          <p:cNvPr id="2" name="">
            <a:extLst xmlns:a="http://schemas.openxmlformats.org/drawingml/2006/main">
              <a:ext uri="{FF2B5EF4-FFF2-40B4-BE49-F238E27FC236}">
                <a16:creationId xmlns:a16="http://schemas.microsoft.com/office/drawing/2014/main" id="{3A56DEE5-AFDF-4C65-B2AE-965857BAC0A1}"/>
              </a:ext>
            </a:extLst>
          </p:cNvPr>
          <p:cNvSpPr>
            <a:spLocks xmlns:a="http://schemas.openxmlformats.org/drawingml/2006/main" noGrp="1"/>
          </p:cNvSpPr>
          <p:nvPr/>
        </p:nvSpPr>
        <p:spPr>
          <a:xfrm xmlns:a="http://schemas.openxmlformats.org/drawingml/2006/main">
            <a:off x="666750" y="1238250"/>
            <a:ext cx="10839450" cy="28575"/>
          </a:xfrm>
          <a:prstGeom xmlns:a="http://schemas.openxmlformats.org/drawingml/2006/main" prst="rect">
            <a:avLst/>
          </a:prstGeom>
          <a:solidFill xmlns:a="http://schemas.openxmlformats.org/drawingml/2006/main">
            <a:srgbClr val="2471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2A385B2-1C34-4208-9E34-606C4348C66C}"/>
              </a:ext>
            </a:extLst>
          </p:cNvPr>
          <p:cNvSpPr>
            <a:spLocks xmlns:a="http://schemas.openxmlformats.org/drawingml/2006/main" noGrp="1"/>
          </p:cNvSpPr>
          <p:nvPr/>
        </p:nvSpPr>
        <p:spPr>
          <a:xfrm xmlns:a="http://schemas.openxmlformats.org/drawingml/2006/main">
            <a:off x="10953750" y="62484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1737A"/>
                </a:solidFill>
                <a:latin typeface="Noto Sans"/>
                <a:ea typeface="Noto Sans"/>
                <a:cs typeface="Noto Sans"/>
              </a:defRPr>
            </a:pPr>
            <a:r>
              <a:rPr sz="1200" b="0">
                <a:solidFill>
                  <a:srgbClr val="61737A"/>
                </a:solidFill>
                <a:latin typeface="Noto Sans"/>
                <a:ea typeface="Noto Sans"/>
                <a:cs typeface="Noto Sans"/>
              </a:rPr>
              <a:t>02</a:t>
            </a:r>
          </a:p>
        </p:txBody>
      </p:sp>
      <p:sp>
        <p:nvSpPr>
          <p:cNvPr id="4" name="">
            <a:extLst xmlns:a="http://schemas.openxmlformats.org/drawingml/2006/main">
              <a:ext uri="{FF2B5EF4-FFF2-40B4-BE49-F238E27FC236}">
                <a16:creationId xmlns:a16="http://schemas.microsoft.com/office/drawing/2014/main" id="{7D2D609C-0070-4F6F-95DE-068B517238FB}"/>
              </a:ext>
            </a:extLst>
          </p:cNvPr>
          <p:cNvSpPr>
            <a:spLocks xmlns:a="http://schemas.openxmlformats.org/drawingml/2006/main" noGrp="1"/>
          </p:cNvSpPr>
          <p:nvPr/>
        </p:nvSpPr>
        <p:spPr>
          <a:xfrm xmlns:a="http://schemas.openxmlformats.org/drawingml/2006/main">
            <a:off x="742950" y="167640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24717A"/>
                </a:solidFill>
                <a:latin typeface="Noto Sans"/>
                <a:ea typeface="Noto Sans"/>
                <a:cs typeface="Noto Sans"/>
              </a:defRPr>
            </a:pPr>
            <a:r>
              <a:rPr sz="1725" b="1">
                <a:solidFill>
                  <a:srgbClr val="24717A"/>
                </a:solidFill>
                <a:latin typeface="Noto Sans"/>
                <a:ea typeface="Noto Sans"/>
                <a:cs typeface="Noto Sans"/>
              </a:rPr>
              <a:t>Chủ đề thầy giao</a:t>
            </a:r>
          </a:p>
        </p:txBody>
      </p:sp>
      <p:sp>
        <p:nvSpPr>
          <p:cNvPr id="5" name="">
            <a:extLst xmlns:a="http://schemas.openxmlformats.org/drawingml/2006/main">
              <a:ext uri="{FF2B5EF4-FFF2-40B4-BE49-F238E27FC236}">
                <a16:creationId xmlns:a16="http://schemas.microsoft.com/office/drawing/2014/main" id="{6D9BBB91-9C8A-4AC3-AB97-F3F65AEFC194}"/>
              </a:ext>
            </a:extLst>
          </p:cNvPr>
          <p:cNvSpPr>
            <a:spLocks xmlns:a="http://schemas.openxmlformats.org/drawingml/2006/main" noGrp="1"/>
          </p:cNvSpPr>
          <p:nvPr/>
        </p:nvSpPr>
        <p:spPr>
          <a:xfrm xmlns:a="http://schemas.openxmlformats.org/drawingml/2006/main">
            <a:off x="742950" y="2190750"/>
            <a:ext cx="4572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243B49"/>
                </a:solidFill>
                <a:latin typeface="Noto Sans"/>
                <a:ea typeface="Noto Sans"/>
                <a:cs typeface="Noto Sans"/>
              </a:defRPr>
            </a:pPr>
            <a:r>
              <a:rPr sz="1875" b="0">
                <a:solidFill>
                  <a:srgbClr val="243B49"/>
                </a:solidFill>
                <a:latin typeface="Noto Sans"/>
                <a:ea typeface="Noto Sans"/>
                <a:cs typeface="Noto Sans"/>
              </a:rPr>
              <a:t>Weather Pattern Forecasting</a:t>
            </a:r>
          </a:p>
          <a:p xmlns:a="http://schemas.openxmlformats.org/drawingml/2006/main">
            <a:pPr>
              <a:defRPr sz="1875" b="0">
                <a:solidFill>
                  <a:srgbClr val="243B49"/>
                </a:solidFill>
                <a:latin typeface="Noto Sans"/>
                <a:ea typeface="Noto Sans"/>
                <a:cs typeface="Noto Sans"/>
              </a:defRPr>
            </a:pPr>
            <a:r>
              <a:rPr sz="1875" b="0">
                <a:solidFill>
                  <a:srgbClr val="243B49"/>
                </a:solidFill>
                <a:latin typeface="Noto Sans"/>
                <a:ea typeface="Noto Sans"/>
                <a:cs typeface="Noto Sans"/>
              </a:rPr>
              <a:t>on FPGA using Time Series Analysis</a:t>
            </a:r>
          </a:p>
        </p:txBody>
      </p:sp>
      <p:sp>
        <p:nvSpPr>
          <p:cNvPr id="6" name="">
            <a:extLst xmlns:a="http://schemas.openxmlformats.org/drawingml/2006/main">
              <a:ext uri="{FF2B5EF4-FFF2-40B4-BE49-F238E27FC236}">
                <a16:creationId xmlns:a16="http://schemas.microsoft.com/office/drawing/2014/main" id="{58B79900-B04D-4194-B335-BD6B07972340}"/>
              </a:ext>
            </a:extLst>
          </p:cNvPr>
          <p:cNvSpPr>
            <a:spLocks xmlns:a="http://schemas.openxmlformats.org/drawingml/2006/main" noGrp="1"/>
          </p:cNvSpPr>
          <p:nvPr/>
        </p:nvSpPr>
        <p:spPr>
          <a:xfrm xmlns:a="http://schemas.openxmlformats.org/drawingml/2006/main">
            <a:off x="6419850" y="16764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24717A"/>
                </a:solidFill>
                <a:latin typeface="Noto Sans"/>
                <a:ea typeface="Noto Sans"/>
                <a:cs typeface="Noto Sans"/>
              </a:defRPr>
            </a:pPr>
            <a:r>
              <a:rPr sz="1725" b="1">
                <a:solidFill>
                  <a:srgbClr val="24717A"/>
                </a:solidFill>
                <a:latin typeface="Noto Sans"/>
                <a:ea typeface="Noto Sans"/>
                <a:cs typeface="Noto Sans"/>
              </a:rPr>
              <a:t>Bài toán nhóm chọn</a:t>
            </a:r>
          </a:p>
        </p:txBody>
      </p:sp>
      <p:sp>
        <p:nvSpPr>
          <p:cNvPr id="7" name="">
            <a:extLst xmlns:a="http://schemas.openxmlformats.org/drawingml/2006/main">
              <a:ext uri="{FF2B5EF4-FFF2-40B4-BE49-F238E27FC236}">
                <a16:creationId xmlns:a16="http://schemas.microsoft.com/office/drawing/2014/main" id="{9AB309AF-E3ED-4A95-9ED3-C1FE9C7FDB3A}"/>
              </a:ext>
            </a:extLst>
          </p:cNvPr>
          <p:cNvSpPr>
            <a:spLocks xmlns:a="http://schemas.openxmlformats.org/drawingml/2006/main" noGrp="1"/>
          </p:cNvSpPr>
          <p:nvPr/>
        </p:nvSpPr>
        <p:spPr>
          <a:xfrm xmlns:a="http://schemas.openxmlformats.org/drawingml/2006/main">
            <a:off x="6419850" y="2190750"/>
            <a:ext cx="4619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17324D"/>
                </a:solidFill>
                <a:latin typeface="Noto Sans"/>
                <a:ea typeface="Noto Sans"/>
                <a:cs typeface="Noto Sans"/>
              </a:defRPr>
            </a:pPr>
            <a:r>
              <a:rPr sz="2100" b="1">
                <a:solidFill>
                  <a:srgbClr val="17324D"/>
                </a:solidFill>
                <a:latin typeface="Noto Sans"/>
                <a:ea typeface="Noto Sans"/>
                <a:cs typeface="Noto Sans"/>
              </a:rPr>
              <a:t>Dự báo nhiệt độ sau 3 giờ</a:t>
            </a:r>
          </a:p>
          <a:p xmlns:a="http://schemas.openxmlformats.org/drawingml/2006/main">
            <a:pPr>
              <a:defRPr sz="2100" b="1">
                <a:solidFill>
                  <a:srgbClr val="17324D"/>
                </a:solidFill>
                <a:latin typeface="Noto Sans"/>
                <a:ea typeface="Noto Sans"/>
                <a:cs typeface="Noto Sans"/>
              </a:defRPr>
            </a:pPr>
            <a:r>
              <a:rPr sz="2100" b="1">
                <a:solidFill>
                  <a:srgbClr val="17324D"/>
                </a:solidFill>
                <a:latin typeface="Noto Sans"/>
                <a:ea typeface="Noto Sans"/>
                <a:cs typeface="Noto Sans"/>
              </a:rPr>
              <a:t>từ các mẫu nhiệt độ theo giờ</a:t>
            </a:r>
          </a:p>
        </p:txBody>
      </p:sp>
      <p:sp>
        <p:nvSpPr>
          <p:cNvPr id="8" name="">
            <a:extLst xmlns:a="http://schemas.openxmlformats.org/drawingml/2006/main">
              <a:ext uri="{FF2B5EF4-FFF2-40B4-BE49-F238E27FC236}">
                <a16:creationId xmlns:a16="http://schemas.microsoft.com/office/drawing/2014/main" id="{68B7083A-4AC0-4D87-B54A-49B5EE63D608}"/>
              </a:ext>
            </a:extLst>
          </p:cNvPr>
          <p:cNvSpPr>
            <a:spLocks xmlns:a="http://schemas.openxmlformats.org/drawingml/2006/main" noGrp="1"/>
          </p:cNvSpPr>
          <p:nvPr/>
        </p:nvSpPr>
        <p:spPr>
          <a:xfrm xmlns:a="http://schemas.openxmlformats.org/drawingml/2006/main">
            <a:off x="742950" y="3686175"/>
            <a:ext cx="10144125" cy="19050"/>
          </a:xfrm>
          <a:prstGeom xmlns:a="http://schemas.openxmlformats.org/drawingml/2006/main" prst="rect">
            <a:avLst/>
          </a:prstGeom>
          <a:solidFill xmlns:a="http://schemas.openxmlformats.org/drawingml/2006/main">
            <a:srgbClr val="CBD8D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4E877AD-A5E4-46DA-AA66-5742779DF0F7}"/>
              </a:ext>
            </a:extLst>
          </p:cNvPr>
          <p:cNvSpPr>
            <a:spLocks xmlns:a="http://schemas.openxmlformats.org/drawingml/2006/main" noGrp="1"/>
          </p:cNvSpPr>
          <p:nvPr/>
        </p:nvSpPr>
        <p:spPr>
          <a:xfrm xmlns:a="http://schemas.openxmlformats.org/drawingml/2006/main">
            <a:off x="742950" y="40195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C46B42"/>
                </a:solidFill>
                <a:latin typeface="Noto Sans"/>
                <a:ea typeface="Noto Sans"/>
                <a:cs typeface="Noto Sans"/>
              </a:defRPr>
            </a:pPr>
            <a:r>
              <a:rPr sz="1725" b="1">
                <a:solidFill>
                  <a:srgbClr val="C46B42"/>
                </a:solidFill>
                <a:latin typeface="Noto Sans"/>
                <a:ea typeface="Noto Sans"/>
                <a:cs typeface="Noto Sans"/>
              </a:rPr>
              <a:t>Đầu vào</a:t>
            </a:r>
          </a:p>
        </p:txBody>
      </p:sp>
      <p:sp>
        <p:nvSpPr>
          <p:cNvPr id="10" name="">
            <a:extLst xmlns:a="http://schemas.openxmlformats.org/drawingml/2006/main">
              <a:ext uri="{FF2B5EF4-FFF2-40B4-BE49-F238E27FC236}">
                <a16:creationId xmlns:a16="http://schemas.microsoft.com/office/drawing/2014/main" id="{F21B0C5D-05C6-4052-911E-3126A2BBBCC9}"/>
              </a:ext>
            </a:extLst>
          </p:cNvPr>
          <p:cNvSpPr>
            <a:spLocks xmlns:a="http://schemas.openxmlformats.org/drawingml/2006/main" noGrp="1"/>
          </p:cNvSpPr>
          <p:nvPr/>
        </p:nvSpPr>
        <p:spPr>
          <a:xfrm xmlns:a="http://schemas.openxmlformats.org/drawingml/2006/main">
            <a:off x="742950" y="4448175"/>
            <a:ext cx="44100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243B49"/>
                </a:solidFill>
                <a:latin typeface="Noto Sans"/>
                <a:ea typeface="Noto Sans"/>
                <a:cs typeface="Noto Sans"/>
              </a:defRPr>
            </a:pPr>
            <a:r>
              <a:rPr sz="1725" b="0">
                <a:solidFill>
                  <a:srgbClr val="243B49"/>
                </a:solidFill>
                <a:latin typeface="Noto Sans"/>
                <a:ea typeface="Noto Sans"/>
                <a:cs typeface="Noto Sans"/>
              </a:rPr>
              <a:t>Chuỗi T(t) tại một địa điểm</a:t>
            </a:r>
          </a:p>
        </p:txBody>
      </p:sp>
      <p:sp>
        <p:nvSpPr>
          <p:cNvPr id="11" name="">
            <a:extLst xmlns:a="http://schemas.openxmlformats.org/drawingml/2006/main">
              <a:ext uri="{FF2B5EF4-FFF2-40B4-BE49-F238E27FC236}">
                <a16:creationId xmlns:a16="http://schemas.microsoft.com/office/drawing/2014/main" id="{7824CB9B-E1AB-4066-B6F7-B33FF632421F}"/>
              </a:ext>
            </a:extLst>
          </p:cNvPr>
          <p:cNvSpPr>
            <a:spLocks xmlns:a="http://schemas.openxmlformats.org/drawingml/2006/main" noGrp="1"/>
          </p:cNvSpPr>
          <p:nvPr/>
        </p:nvSpPr>
        <p:spPr>
          <a:xfrm xmlns:a="http://schemas.openxmlformats.org/drawingml/2006/main">
            <a:off x="6419850" y="40195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C46B42"/>
                </a:solidFill>
                <a:latin typeface="Noto Sans"/>
                <a:ea typeface="Noto Sans"/>
                <a:cs typeface="Noto Sans"/>
              </a:defRPr>
            </a:pPr>
            <a:r>
              <a:rPr sz="1725" b="1">
                <a:solidFill>
                  <a:srgbClr val="C46B42"/>
                </a:solidFill>
                <a:latin typeface="Noto Sans"/>
                <a:ea typeface="Noto Sans"/>
                <a:cs typeface="Noto Sans"/>
              </a:rPr>
              <a:t>Đầu ra</a:t>
            </a:r>
          </a:p>
        </p:txBody>
      </p:sp>
      <p:sp>
        <p:nvSpPr>
          <p:cNvPr id="12" name="">
            <a:extLst xmlns:a="http://schemas.openxmlformats.org/drawingml/2006/main">
              <a:ext uri="{FF2B5EF4-FFF2-40B4-BE49-F238E27FC236}">
                <a16:creationId xmlns:a16="http://schemas.microsoft.com/office/drawing/2014/main" id="{842B461E-B9C5-4C68-A245-7B985702F746}"/>
              </a:ext>
            </a:extLst>
          </p:cNvPr>
          <p:cNvSpPr>
            <a:spLocks xmlns:a="http://schemas.openxmlformats.org/drawingml/2006/main" noGrp="1"/>
          </p:cNvSpPr>
          <p:nvPr/>
        </p:nvSpPr>
        <p:spPr>
          <a:xfrm xmlns:a="http://schemas.openxmlformats.org/drawingml/2006/main">
            <a:off x="6419850" y="4448175"/>
            <a:ext cx="442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243B49"/>
                </a:solidFill>
                <a:latin typeface="Noto Sans"/>
                <a:ea typeface="Noto Sans"/>
                <a:cs typeface="Noto Sans"/>
              </a:defRPr>
            </a:pPr>
            <a:r>
              <a:rPr sz="1725" b="0">
                <a:solidFill>
                  <a:srgbClr val="243B49"/>
                </a:solidFill>
                <a:latin typeface="Noto Sans"/>
                <a:ea typeface="Noto Sans"/>
                <a:cs typeface="Noto Sans"/>
              </a:rPr>
              <a:t>Một giá trị T̂(t+3), đơn vị °C</a:t>
            </a:r>
          </a:p>
        </p:txBody>
      </p:sp>
      <p:sp>
        <p:nvSpPr>
          <p:cNvPr id="13" name="">
            <a:extLst xmlns:a="http://schemas.openxmlformats.org/drawingml/2006/main">
              <a:ext uri="{FF2B5EF4-FFF2-40B4-BE49-F238E27FC236}">
                <a16:creationId xmlns:a16="http://schemas.microsoft.com/office/drawing/2014/main" id="{E7E28399-9D04-4CA8-AE5A-4F17FAF1A0DC}"/>
              </a:ext>
            </a:extLst>
          </p:cNvPr>
          <p:cNvSpPr>
            <a:spLocks xmlns:a="http://schemas.openxmlformats.org/drawingml/2006/main" noGrp="1"/>
          </p:cNvSpPr>
          <p:nvPr/>
        </p:nvSpPr>
        <p:spPr>
          <a:xfrm xmlns:a="http://schemas.openxmlformats.org/drawingml/2006/main">
            <a:off x="742950" y="544830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1">
                <a:solidFill>
                  <a:srgbClr val="24717A"/>
                </a:solidFill>
                <a:latin typeface="Noto Sans"/>
                <a:ea typeface="Noto Sans"/>
                <a:cs typeface="Noto Sans"/>
              </a:defRPr>
            </a:pPr>
            <a:r>
              <a:rPr sz="1575" b="1">
                <a:solidFill>
                  <a:srgbClr val="24717A"/>
                </a:solidFill>
                <a:latin typeface="Noto Sans"/>
                <a:ea typeface="Noto Sans"/>
                <a:cs typeface="Noto Sans"/>
              </a:rPr>
              <a:t>Cần thầy xác nhận: phạm vi dự báo một đại lượng có đáp ứng yêu cầu của chủ đề.</a:t>
            </a:r>
          </a:p>
        </p:txBody>
      </p:sp>
    </p:spTree>
    <p:extLst>
      <p:ext uri="{BB962C8B-B14F-4D97-AF65-F5344CB8AC3E}">
        <p14:creationId xmlns:p14="http://schemas.microsoft.com/office/powerpoint/2010/main" val="1379776608"/>
      </p:ext>
    </p:extLst>
  </p:cSld>
</p:sld>
</file>

<file path=ppt/slides/slide3.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CFC2C40-D9D6-43B4-9149-A9AB586F8B0D}"/>
              </a:ext>
            </a:extLst>
          </p:cNvPr>
          <p:cNvSpPr>
            <a:spLocks xmlns:a="http://schemas.openxmlformats.org/drawingml/2006/main" noGrp="1"/>
          </p:cNvSpPr>
          <p:nvPr/>
        </p:nvSpPr>
        <p:spPr>
          <a:xfrm xmlns:a="http://schemas.openxmlformats.org/drawingml/2006/main">
            <a:off x="666750" y="4095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7324D"/>
                </a:solidFill>
                <a:latin typeface="Noto Sans"/>
                <a:ea typeface="Noto Sans"/>
                <a:cs typeface="Noto Sans"/>
              </a:defRPr>
            </a:pPr>
            <a:r>
              <a:rPr sz="2850" b="1">
                <a:solidFill>
                  <a:srgbClr val="17324D"/>
                </a:solidFill>
                <a:latin typeface="Noto Sans"/>
                <a:ea typeface="Noto Sans"/>
                <a:cs typeface="Noto Sans"/>
              </a:rPr>
              <a:t>Mục tiêu và sản phẩm cần bàn giao</a:t>
            </a:r>
          </a:p>
        </p:txBody>
      </p:sp>
      <p:sp>
        <p:nvSpPr>
          <p:cNvPr id="2" name="">
            <a:extLst xmlns:a="http://schemas.openxmlformats.org/drawingml/2006/main">
              <a:ext uri="{FF2B5EF4-FFF2-40B4-BE49-F238E27FC236}">
                <a16:creationId xmlns:a16="http://schemas.microsoft.com/office/drawing/2014/main" id="{8647549F-AF16-4757-AD57-56B13E7394D7}"/>
              </a:ext>
            </a:extLst>
          </p:cNvPr>
          <p:cNvSpPr>
            <a:spLocks xmlns:a="http://schemas.openxmlformats.org/drawingml/2006/main" noGrp="1"/>
          </p:cNvSpPr>
          <p:nvPr/>
        </p:nvSpPr>
        <p:spPr>
          <a:xfrm xmlns:a="http://schemas.openxmlformats.org/drawingml/2006/main">
            <a:off x="666750" y="1238250"/>
            <a:ext cx="10839450" cy="28575"/>
          </a:xfrm>
          <a:prstGeom xmlns:a="http://schemas.openxmlformats.org/drawingml/2006/main" prst="rect">
            <a:avLst/>
          </a:prstGeom>
          <a:solidFill xmlns:a="http://schemas.openxmlformats.org/drawingml/2006/main">
            <a:srgbClr val="2471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8D3B158-4DFB-4EEB-924B-54A0A20ED851}"/>
              </a:ext>
            </a:extLst>
          </p:cNvPr>
          <p:cNvSpPr>
            <a:spLocks xmlns:a="http://schemas.openxmlformats.org/drawingml/2006/main" noGrp="1"/>
          </p:cNvSpPr>
          <p:nvPr/>
        </p:nvSpPr>
        <p:spPr>
          <a:xfrm xmlns:a="http://schemas.openxmlformats.org/drawingml/2006/main">
            <a:off x="10953750" y="62484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1737A"/>
                </a:solidFill>
                <a:latin typeface="Noto Sans"/>
                <a:ea typeface="Noto Sans"/>
                <a:cs typeface="Noto Sans"/>
              </a:defRPr>
            </a:pPr>
            <a:r>
              <a:rPr sz="1200" b="0">
                <a:solidFill>
                  <a:srgbClr val="61737A"/>
                </a:solidFill>
                <a:latin typeface="Noto Sans"/>
                <a:ea typeface="Noto Sans"/>
                <a:cs typeface="Noto Sans"/>
              </a:rPr>
              <a:t>03</a:t>
            </a:r>
          </a:p>
        </p:txBody>
      </p:sp>
      <p:sp>
        <p:nvSpPr>
          <p:cNvPr id="4" name="">
            <a:extLst xmlns:a="http://schemas.openxmlformats.org/drawingml/2006/main">
              <a:ext uri="{FF2B5EF4-FFF2-40B4-BE49-F238E27FC236}">
                <a16:creationId xmlns:a16="http://schemas.microsoft.com/office/drawing/2014/main" id="{FC3D8349-42C0-4B04-82F1-E1DED4333D56}"/>
              </a:ext>
            </a:extLst>
          </p:cNvPr>
          <p:cNvSpPr>
            <a:spLocks xmlns:a="http://schemas.openxmlformats.org/drawingml/2006/main" noGrp="1"/>
          </p:cNvSpPr>
          <p:nvPr/>
        </p:nvSpPr>
        <p:spPr>
          <a:xfrm xmlns:a="http://schemas.openxmlformats.org/drawingml/2006/main">
            <a:off x="723900" y="162877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24717A"/>
                </a:solidFill>
                <a:latin typeface="Noto Sans"/>
                <a:ea typeface="Noto Sans"/>
                <a:cs typeface="Noto Sans"/>
              </a:defRPr>
            </a:pPr>
            <a:r>
              <a:rPr sz="1875" b="1">
                <a:solidFill>
                  <a:srgbClr val="24717A"/>
                </a:solidFill>
                <a:latin typeface="Noto Sans"/>
                <a:ea typeface="Noto Sans"/>
                <a:cs typeface="Noto Sans"/>
              </a:rPr>
              <a:t>Câu hỏi nhóm cần trả lời</a:t>
            </a:r>
          </a:p>
        </p:txBody>
      </p:sp>
      <p:sp>
        <p:nvSpPr>
          <p:cNvPr id="5" name="">
            <a:extLst xmlns:a="http://schemas.openxmlformats.org/drawingml/2006/main">
              <a:ext uri="{FF2B5EF4-FFF2-40B4-BE49-F238E27FC236}">
                <a16:creationId xmlns:a16="http://schemas.microsoft.com/office/drawing/2014/main" id="{68F0F6BB-554C-4A67-93CC-7E4914AD882A}"/>
              </a:ext>
            </a:extLst>
          </p:cNvPr>
          <p:cNvSpPr>
            <a:spLocks xmlns:a="http://schemas.openxmlformats.org/drawingml/2006/main" noGrp="1"/>
          </p:cNvSpPr>
          <p:nvPr/>
        </p:nvSpPr>
        <p:spPr>
          <a:xfrm xmlns:a="http://schemas.openxmlformats.org/drawingml/2006/main">
            <a:off x="723900" y="2190750"/>
            <a:ext cx="102870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243B49"/>
                </a:solidFill>
                <a:latin typeface="Noto Sans"/>
                <a:ea typeface="Noto Sans"/>
                <a:cs typeface="Noto Sans"/>
              </a:defRPr>
            </a:pPr>
            <a:r>
              <a:rPr sz="1725" b="0">
                <a:solidFill>
                  <a:srgbClr val="243B49"/>
                </a:solidFill>
                <a:latin typeface="Noto Sans"/>
                <a:ea typeface="Noto Sans"/>
                <a:cs typeface="Noto Sans"/>
              </a:rPr>
              <a:t>1. Mô hình có giảm sai số so với cách dự báo đơn giản?</a:t>
            </a:r>
          </a:p>
          <a:p xmlns:a="http://schemas.openxmlformats.org/drawingml/2006/main">
            <a:pPr>
              <a:defRPr sz="1725" b="0">
                <a:solidFill>
                  <a:srgbClr val="243B49"/>
                </a:solidFill>
                <a:latin typeface="Noto Sans"/>
                <a:ea typeface="Noto Sans"/>
                <a:cs typeface="Noto Sans"/>
              </a:defRPr>
            </a:pPr>
            <a:r>
              <a:rPr sz="1725" b="0">
                <a:solidFill>
                  <a:srgbClr val="243B49"/>
                </a:solidFill>
                <a:latin typeface="Noto Sans"/>
                <a:ea typeface="Noto Sans"/>
                <a:cs typeface="Noto Sans"/>
              </a:rPr>
              <a:t>2. FPGA có cho kết quả đúng như mô hình số cố định?</a:t>
            </a:r>
          </a:p>
          <a:p xmlns:a="http://schemas.openxmlformats.org/drawingml/2006/main">
            <a:pPr>
              <a:defRPr sz="1725" b="0">
                <a:solidFill>
                  <a:srgbClr val="243B49"/>
                </a:solidFill>
                <a:latin typeface="Noto Sans"/>
                <a:ea typeface="Noto Sans"/>
                <a:cs typeface="Noto Sans"/>
              </a:defRPr>
            </a:pPr>
            <a:r>
              <a:rPr sz="1725" b="0">
                <a:solidFill>
                  <a:srgbClr val="243B49"/>
                </a:solidFill>
                <a:latin typeface="Noto Sans"/>
                <a:ea typeface="Noto Sans"/>
                <a:cs typeface="Noto Sans"/>
              </a:rPr>
              <a:t>3. Mạch cần bao nhiêu tài nguyên và mất bao lâu để tính?</a:t>
            </a:r>
          </a:p>
        </p:txBody>
      </p:sp>
      <p:sp>
        <p:nvSpPr>
          <p:cNvPr id="6" name="">
            <a:extLst xmlns:a="http://schemas.openxmlformats.org/drawingml/2006/main">
              <a:ext uri="{FF2B5EF4-FFF2-40B4-BE49-F238E27FC236}">
                <a16:creationId xmlns:a16="http://schemas.microsoft.com/office/drawing/2014/main" id="{C1D6FCD4-C2EF-4D53-929D-816D63C04EEE}"/>
              </a:ext>
            </a:extLst>
          </p:cNvPr>
          <p:cNvSpPr>
            <a:spLocks xmlns:a="http://schemas.openxmlformats.org/drawingml/2006/main" noGrp="1"/>
          </p:cNvSpPr>
          <p:nvPr/>
        </p:nvSpPr>
        <p:spPr>
          <a:xfrm xmlns:a="http://schemas.openxmlformats.org/drawingml/2006/main">
            <a:off x="723900" y="4105275"/>
            <a:ext cx="10001250" cy="19050"/>
          </a:xfrm>
          <a:prstGeom xmlns:a="http://schemas.openxmlformats.org/drawingml/2006/main" prst="rect">
            <a:avLst/>
          </a:prstGeom>
          <a:solidFill xmlns:a="http://schemas.openxmlformats.org/drawingml/2006/main">
            <a:srgbClr val="CBD8D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D3DA798-3B3E-4F1F-966C-E965570FE540}"/>
              </a:ext>
            </a:extLst>
          </p:cNvPr>
          <p:cNvSpPr>
            <a:spLocks xmlns:a="http://schemas.openxmlformats.org/drawingml/2006/main" noGrp="1"/>
          </p:cNvSpPr>
          <p:nvPr/>
        </p:nvSpPr>
        <p:spPr>
          <a:xfrm xmlns:a="http://schemas.openxmlformats.org/drawingml/2006/main">
            <a:off x="723900" y="4391025"/>
            <a:ext cx="428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C46B42"/>
                </a:solidFill>
                <a:latin typeface="Noto Sans"/>
                <a:ea typeface="Noto Sans"/>
                <a:cs typeface="Noto Sans"/>
              </a:defRPr>
            </a:pPr>
            <a:r>
              <a:rPr sz="1875" b="1">
                <a:solidFill>
                  <a:srgbClr val="C46B42"/>
                </a:solidFill>
                <a:latin typeface="Noto Sans"/>
                <a:ea typeface="Noto Sans"/>
                <a:cs typeface="Noto Sans"/>
              </a:rPr>
              <a:t>Sản phẩm cuối kỳ</a:t>
            </a:r>
          </a:p>
        </p:txBody>
      </p:sp>
      <p:sp>
        <p:nvSpPr>
          <p:cNvPr id="8" name="">
            <a:extLst xmlns:a="http://schemas.openxmlformats.org/drawingml/2006/main">
              <a:ext uri="{FF2B5EF4-FFF2-40B4-BE49-F238E27FC236}">
                <a16:creationId xmlns:a16="http://schemas.microsoft.com/office/drawing/2014/main" id="{7089BCD7-FD0A-4049-AB4F-F56B3585CD6B}"/>
              </a:ext>
            </a:extLst>
          </p:cNvPr>
          <p:cNvSpPr>
            <a:spLocks xmlns:a="http://schemas.openxmlformats.org/drawingml/2006/main" noGrp="1"/>
          </p:cNvSpPr>
          <p:nvPr/>
        </p:nvSpPr>
        <p:spPr>
          <a:xfrm xmlns:a="http://schemas.openxmlformats.org/drawingml/2006/main">
            <a:off x="723900" y="4924425"/>
            <a:ext cx="10096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243B49"/>
                </a:solidFill>
                <a:latin typeface="Noto Sans"/>
                <a:ea typeface="Noto Sans"/>
                <a:cs typeface="Noto Sans"/>
              </a:defRPr>
            </a:pPr>
            <a:r>
              <a:rPr sz="1650" b="0">
                <a:solidFill>
                  <a:srgbClr val="243B49"/>
                </a:solidFill>
                <a:latin typeface="Noto Sans"/>
                <a:ea typeface="Noto Sans"/>
                <a:cs typeface="Noto Sans"/>
              </a:rPr>
              <a:t>Chương trình C++  •  Mạch RTL  •  Testbench  •  Demo trên board  •  Báo cáo đánh giá</a:t>
            </a:r>
          </a:p>
        </p:txBody>
      </p:sp>
    </p:spTree>
    <p:extLst>
      <p:ext uri="{BB962C8B-B14F-4D97-AF65-F5344CB8AC3E}">
        <p14:creationId xmlns:p14="http://schemas.microsoft.com/office/powerpoint/2010/main" val="950102313"/>
      </p:ext>
    </p:extLst>
  </p:cSld>
</p:sld>
</file>

<file path=ppt/slides/slide4.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E4A63E6-4031-4B09-8361-1260707B4946}"/>
              </a:ext>
            </a:extLst>
          </p:cNvPr>
          <p:cNvSpPr>
            <a:spLocks xmlns:a="http://schemas.openxmlformats.org/drawingml/2006/main" noGrp="1"/>
          </p:cNvSpPr>
          <p:nvPr/>
        </p:nvSpPr>
        <p:spPr>
          <a:xfrm xmlns:a="http://schemas.openxmlformats.org/drawingml/2006/main">
            <a:off x="666750" y="4095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7324D"/>
                </a:solidFill>
                <a:latin typeface="Noto Sans"/>
                <a:ea typeface="Noto Sans"/>
                <a:cs typeface="Noto Sans"/>
              </a:defRPr>
            </a:pPr>
            <a:r>
              <a:rPr sz="2850" b="1">
                <a:solidFill>
                  <a:srgbClr val="17324D"/>
                </a:solidFill>
                <a:latin typeface="Noto Sans"/>
                <a:ea typeface="Noto Sans"/>
                <a:cs typeface="Noto Sans"/>
              </a:rPr>
              <a:t>Nguồn dữ liệu và cách tạo mẫu</a:t>
            </a:r>
          </a:p>
        </p:txBody>
      </p:sp>
      <p:sp>
        <p:nvSpPr>
          <p:cNvPr id="2" name="">
            <a:extLst xmlns:a="http://schemas.openxmlformats.org/drawingml/2006/main">
              <a:ext uri="{FF2B5EF4-FFF2-40B4-BE49-F238E27FC236}">
                <a16:creationId xmlns:a16="http://schemas.microsoft.com/office/drawing/2014/main" id="{26C31404-CB76-4517-B7E7-FB07388D26AE}"/>
              </a:ext>
            </a:extLst>
          </p:cNvPr>
          <p:cNvSpPr>
            <a:spLocks xmlns:a="http://schemas.openxmlformats.org/drawingml/2006/main" noGrp="1"/>
          </p:cNvSpPr>
          <p:nvPr/>
        </p:nvSpPr>
        <p:spPr>
          <a:xfrm xmlns:a="http://schemas.openxmlformats.org/drawingml/2006/main">
            <a:off x="666750" y="1238250"/>
            <a:ext cx="10839450" cy="28575"/>
          </a:xfrm>
          <a:prstGeom xmlns:a="http://schemas.openxmlformats.org/drawingml/2006/main" prst="rect">
            <a:avLst/>
          </a:prstGeom>
          <a:solidFill xmlns:a="http://schemas.openxmlformats.org/drawingml/2006/main">
            <a:srgbClr val="2471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D9CE737-8D48-4531-808E-8BC076509674}"/>
              </a:ext>
            </a:extLst>
          </p:cNvPr>
          <p:cNvSpPr>
            <a:spLocks xmlns:a="http://schemas.openxmlformats.org/drawingml/2006/main" noGrp="1"/>
          </p:cNvSpPr>
          <p:nvPr/>
        </p:nvSpPr>
        <p:spPr>
          <a:xfrm xmlns:a="http://schemas.openxmlformats.org/drawingml/2006/main">
            <a:off x="10953750" y="62484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1737A"/>
                </a:solidFill>
                <a:latin typeface="Noto Sans"/>
                <a:ea typeface="Noto Sans"/>
                <a:cs typeface="Noto Sans"/>
              </a:defRPr>
            </a:pPr>
            <a:r>
              <a:rPr sz="1200" b="0">
                <a:solidFill>
                  <a:srgbClr val="61737A"/>
                </a:solidFill>
                <a:latin typeface="Noto Sans"/>
                <a:ea typeface="Noto Sans"/>
                <a:cs typeface="Noto Sans"/>
              </a:rPr>
              <a:t>04</a:t>
            </a:r>
          </a:p>
        </p:txBody>
      </p:sp>
      <p:sp>
        <p:nvSpPr>
          <p:cNvPr id="4" name="">
            <a:extLst xmlns:a="http://schemas.openxmlformats.org/drawingml/2006/main">
              <a:ext uri="{FF2B5EF4-FFF2-40B4-BE49-F238E27FC236}">
                <a16:creationId xmlns:a16="http://schemas.microsoft.com/office/drawing/2014/main" id="{5E402E87-45E2-410F-809B-4FC54ABA5B53}"/>
              </a:ext>
            </a:extLst>
          </p:cNvPr>
          <p:cNvSpPr>
            <a:spLocks xmlns:a="http://schemas.openxmlformats.org/drawingml/2006/main" noGrp="1"/>
          </p:cNvSpPr>
          <p:nvPr/>
        </p:nvSpPr>
        <p:spPr>
          <a:xfrm xmlns:a="http://schemas.openxmlformats.org/drawingml/2006/main">
            <a:off x="723900" y="166687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24717A"/>
                </a:solidFill>
                <a:latin typeface="Noto Sans"/>
                <a:ea typeface="Noto Sans"/>
                <a:cs typeface="Noto Sans"/>
              </a:defRPr>
            </a:pPr>
            <a:r>
              <a:rPr sz="1800" b="1">
                <a:solidFill>
                  <a:srgbClr val="24717A"/>
                </a:solidFill>
                <a:latin typeface="Noto Sans"/>
                <a:ea typeface="Noto Sans"/>
                <a:cs typeface="Noto Sans"/>
              </a:rPr>
              <a:t>Nguồn dự kiến</a:t>
            </a:r>
          </a:p>
        </p:txBody>
      </p:sp>
      <p:sp>
        <p:nvSpPr>
          <p:cNvPr id="5" name="">
            <a:extLst xmlns:a="http://schemas.openxmlformats.org/drawingml/2006/main">
              <a:ext uri="{FF2B5EF4-FFF2-40B4-BE49-F238E27FC236}">
                <a16:creationId xmlns:a16="http://schemas.microsoft.com/office/drawing/2014/main" id="{C3BE89EF-0506-43B3-8AFC-3FB2F388D5F5}"/>
              </a:ext>
            </a:extLst>
          </p:cNvPr>
          <p:cNvSpPr>
            <a:spLocks xmlns:a="http://schemas.openxmlformats.org/drawingml/2006/main" noGrp="1"/>
          </p:cNvSpPr>
          <p:nvPr/>
        </p:nvSpPr>
        <p:spPr>
          <a:xfrm xmlns:a="http://schemas.openxmlformats.org/drawingml/2006/main">
            <a:off x="723900" y="2143125"/>
            <a:ext cx="10382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243B49"/>
                </a:solidFill>
                <a:latin typeface="Noto Sans"/>
                <a:ea typeface="Noto Sans"/>
                <a:cs typeface="Noto Sans"/>
              </a:defRPr>
            </a:pPr>
            <a:r>
              <a:rPr sz="1800" b="0">
                <a:solidFill>
                  <a:srgbClr val="243B49"/>
                </a:solidFill>
                <a:latin typeface="Noto Sans"/>
                <a:ea typeface="Noto Sans"/>
                <a:cs typeface="Noto Sans"/>
              </a:rPr>
              <a:t>NASA POWER, nhiệt độ T2M theo giờ tại một tọa độ được chọn.</a:t>
            </a:r>
          </a:p>
        </p:txBody>
      </p:sp>
      <p:sp>
        <p:nvSpPr>
          <p:cNvPr id="6" name="">
            <a:extLst xmlns:a="http://schemas.openxmlformats.org/drawingml/2006/main">
              <a:ext uri="{FF2B5EF4-FFF2-40B4-BE49-F238E27FC236}">
                <a16:creationId xmlns:a16="http://schemas.microsoft.com/office/drawing/2014/main" id="{6C5360B1-A79F-4F56-9D75-06D845E5AF5E}"/>
              </a:ext>
            </a:extLst>
          </p:cNvPr>
          <p:cNvSpPr>
            <a:spLocks xmlns:a="http://schemas.openxmlformats.org/drawingml/2006/main" noGrp="1"/>
          </p:cNvSpPr>
          <p:nvPr/>
        </p:nvSpPr>
        <p:spPr>
          <a:xfrm xmlns:a="http://schemas.openxmlformats.org/drawingml/2006/main">
            <a:off x="723900" y="2905125"/>
            <a:ext cx="10096500" cy="19050"/>
          </a:xfrm>
          <a:prstGeom xmlns:a="http://schemas.openxmlformats.org/drawingml/2006/main" prst="rect">
            <a:avLst/>
          </a:prstGeom>
          <a:solidFill xmlns:a="http://schemas.openxmlformats.org/drawingml/2006/main">
            <a:srgbClr val="CBD8D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81A2E01-C0F2-49FE-9045-AB89FAEEA4F2}"/>
              </a:ext>
            </a:extLst>
          </p:cNvPr>
          <p:cNvSpPr>
            <a:spLocks xmlns:a="http://schemas.openxmlformats.org/drawingml/2006/main" noGrp="1"/>
          </p:cNvSpPr>
          <p:nvPr/>
        </p:nvSpPr>
        <p:spPr>
          <a:xfrm xmlns:a="http://schemas.openxmlformats.org/drawingml/2006/main">
            <a:off x="723900" y="324802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C46B42"/>
                </a:solidFill>
                <a:latin typeface="Noto Sans"/>
                <a:ea typeface="Noto Sans"/>
                <a:cs typeface="Noto Sans"/>
              </a:defRPr>
            </a:pPr>
            <a:r>
              <a:rPr sz="1800" b="1">
                <a:solidFill>
                  <a:srgbClr val="C46B42"/>
                </a:solidFill>
                <a:latin typeface="Noto Sans"/>
                <a:ea typeface="Noto Sans"/>
                <a:cs typeface="Noto Sans"/>
              </a:rPr>
              <a:t>Tại thời điểm t</a:t>
            </a:r>
          </a:p>
        </p:txBody>
      </p:sp>
      <p:sp>
        <p:nvSpPr>
          <p:cNvPr id="8" name="">
            <a:extLst xmlns:a="http://schemas.openxmlformats.org/drawingml/2006/main">
              <a:ext uri="{FF2B5EF4-FFF2-40B4-BE49-F238E27FC236}">
                <a16:creationId xmlns:a16="http://schemas.microsoft.com/office/drawing/2014/main" id="{57DA43A6-D9C0-4A86-B229-3E5A94DAAE82}"/>
              </a:ext>
            </a:extLst>
          </p:cNvPr>
          <p:cNvSpPr>
            <a:spLocks xmlns:a="http://schemas.openxmlformats.org/drawingml/2006/main" noGrp="1"/>
          </p:cNvSpPr>
          <p:nvPr/>
        </p:nvSpPr>
        <p:spPr>
          <a:xfrm xmlns:a="http://schemas.openxmlformats.org/drawingml/2006/main">
            <a:off x="723900" y="3733800"/>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17324D"/>
                </a:solidFill>
                <a:latin typeface="Noto Sans"/>
                <a:ea typeface="Noto Sans"/>
                <a:cs typeface="Noto Sans"/>
              </a:defRPr>
            </a:pPr>
            <a:r>
              <a:rPr sz="2100" b="1">
                <a:solidFill>
                  <a:srgbClr val="17324D"/>
                </a:solidFill>
                <a:latin typeface="Noto Sans"/>
                <a:ea typeface="Noto Sans"/>
                <a:cs typeface="Noto Sans"/>
              </a:rPr>
              <a:t>T(t−24)     T(t−21)     T(t−3)     T(t)</a:t>
            </a:r>
          </a:p>
        </p:txBody>
      </p:sp>
      <p:sp>
        <p:nvSpPr>
          <p:cNvPr id="9" name="">
            <a:extLst xmlns:a="http://schemas.openxmlformats.org/drawingml/2006/main">
              <a:ext uri="{FF2B5EF4-FFF2-40B4-BE49-F238E27FC236}">
                <a16:creationId xmlns:a16="http://schemas.microsoft.com/office/drawing/2014/main" id="{83E80804-25A4-407F-8BEB-3A8C0CBA9FB0}"/>
              </a:ext>
            </a:extLst>
          </p:cNvPr>
          <p:cNvSpPr>
            <a:spLocks xmlns:a="http://schemas.openxmlformats.org/drawingml/2006/main" noGrp="1"/>
          </p:cNvSpPr>
          <p:nvPr/>
        </p:nvSpPr>
        <p:spPr>
          <a:xfrm xmlns:a="http://schemas.openxmlformats.org/drawingml/2006/main">
            <a:off x="723900" y="432435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61737A"/>
                </a:solidFill>
                <a:latin typeface="Noto Sans"/>
                <a:ea typeface="Noto Sans"/>
                <a:cs typeface="Noto Sans"/>
              </a:defRPr>
            </a:pPr>
            <a:r>
              <a:rPr sz="1425" b="0">
                <a:solidFill>
                  <a:srgbClr val="61737A"/>
                </a:solidFill>
                <a:latin typeface="Noto Sans"/>
                <a:ea typeface="Noto Sans"/>
                <a:cs typeface="Noto Sans"/>
              </a:rPr>
              <a:t>24 giờ trước          21 giờ trước          3 giờ trước          hiện tại</a:t>
            </a:r>
          </a:p>
        </p:txBody>
      </p:sp>
      <p:sp>
        <p:nvSpPr>
          <p:cNvPr id="10" name="">
            <a:extLst xmlns:a="http://schemas.openxmlformats.org/drawingml/2006/main">
              <a:ext uri="{FF2B5EF4-FFF2-40B4-BE49-F238E27FC236}">
                <a16:creationId xmlns:a16="http://schemas.microsoft.com/office/drawing/2014/main" id="{52EBE6B9-FC68-4104-BDAD-2D5F85727646}"/>
              </a:ext>
            </a:extLst>
          </p:cNvPr>
          <p:cNvSpPr>
            <a:spLocks xmlns:a="http://schemas.openxmlformats.org/drawingml/2006/main" noGrp="1"/>
          </p:cNvSpPr>
          <p:nvPr/>
        </p:nvSpPr>
        <p:spPr>
          <a:xfrm xmlns:a="http://schemas.openxmlformats.org/drawingml/2006/main">
            <a:off x="723900" y="5019675"/>
            <a:ext cx="10096500" cy="19050"/>
          </a:xfrm>
          <a:prstGeom xmlns:a="http://schemas.openxmlformats.org/drawingml/2006/main" prst="rect">
            <a:avLst/>
          </a:prstGeom>
          <a:solidFill xmlns:a="http://schemas.openxmlformats.org/drawingml/2006/main">
            <a:srgbClr val="CBD8D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982D268-E7AB-4B54-B87E-76D11150D9A5}"/>
              </a:ext>
            </a:extLst>
          </p:cNvPr>
          <p:cNvSpPr>
            <a:spLocks xmlns:a="http://schemas.openxmlformats.org/drawingml/2006/main" noGrp="1"/>
          </p:cNvSpPr>
          <p:nvPr/>
        </p:nvSpPr>
        <p:spPr>
          <a:xfrm xmlns:a="http://schemas.openxmlformats.org/drawingml/2006/main">
            <a:off x="723900" y="5248275"/>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243B49"/>
                </a:solidFill>
                <a:latin typeface="Noto Sans"/>
                <a:ea typeface="Noto Sans"/>
                <a:cs typeface="Noto Sans"/>
              </a:defRPr>
            </a:pPr>
            <a:r>
              <a:rPr sz="1575" b="0">
                <a:solidFill>
                  <a:srgbClr val="243B49"/>
                </a:solidFill>
                <a:latin typeface="Noto Sans"/>
                <a:ea typeface="Noto Sans"/>
                <a:cs typeface="Noto Sans"/>
              </a:rPr>
              <a:t>Kiểm tra mốc giờ và dữ liệu thiếu; chia tập theo thời gian để giữ giai đoạn cuối cho kiểm tra.</a:t>
            </a:r>
          </a:p>
        </p:txBody>
      </p:sp>
    </p:spTree>
    <p:extLst>
      <p:ext uri="{BB962C8B-B14F-4D97-AF65-F5344CB8AC3E}">
        <p14:creationId xmlns:p14="http://schemas.microsoft.com/office/powerpoint/2010/main" val="862578867"/>
      </p:ext>
    </p:extLst>
  </p:cSld>
</p:sld>
</file>

<file path=ppt/slides/slide5.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F620AA5-762B-4C61-9148-24959C2897FB}"/>
              </a:ext>
            </a:extLst>
          </p:cNvPr>
          <p:cNvSpPr>
            <a:spLocks xmlns:a="http://schemas.openxmlformats.org/drawingml/2006/main" noGrp="1"/>
          </p:cNvSpPr>
          <p:nvPr/>
        </p:nvSpPr>
        <p:spPr>
          <a:xfrm xmlns:a="http://schemas.openxmlformats.org/drawingml/2006/main">
            <a:off x="666750" y="4095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7324D"/>
                </a:solidFill>
                <a:latin typeface="Noto Sans"/>
                <a:ea typeface="Noto Sans"/>
                <a:cs typeface="Noto Sans"/>
              </a:defRPr>
            </a:pPr>
            <a:r>
              <a:rPr sz="2850" b="1">
                <a:solidFill>
                  <a:srgbClr val="17324D"/>
                </a:solidFill>
                <a:latin typeface="Noto Sans"/>
                <a:ea typeface="Noto Sans"/>
                <a:cs typeface="Noto Sans"/>
              </a:rPr>
              <a:t>Hai mốc dự báo để so sánh</a:t>
            </a:r>
          </a:p>
        </p:txBody>
      </p:sp>
      <p:sp>
        <p:nvSpPr>
          <p:cNvPr id="2" name="">
            <a:extLst xmlns:a="http://schemas.openxmlformats.org/drawingml/2006/main">
              <a:ext uri="{FF2B5EF4-FFF2-40B4-BE49-F238E27FC236}">
                <a16:creationId xmlns:a16="http://schemas.microsoft.com/office/drawing/2014/main" id="{179E13CC-99A0-46CA-A889-6E31EAD21F29}"/>
              </a:ext>
            </a:extLst>
          </p:cNvPr>
          <p:cNvSpPr>
            <a:spLocks xmlns:a="http://schemas.openxmlformats.org/drawingml/2006/main" noGrp="1"/>
          </p:cNvSpPr>
          <p:nvPr/>
        </p:nvSpPr>
        <p:spPr>
          <a:xfrm xmlns:a="http://schemas.openxmlformats.org/drawingml/2006/main">
            <a:off x="666750" y="1238250"/>
            <a:ext cx="10839450" cy="28575"/>
          </a:xfrm>
          <a:prstGeom xmlns:a="http://schemas.openxmlformats.org/drawingml/2006/main" prst="rect">
            <a:avLst/>
          </a:prstGeom>
          <a:solidFill xmlns:a="http://schemas.openxmlformats.org/drawingml/2006/main">
            <a:srgbClr val="2471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A05B192-E5A3-40A3-9BDE-E6E484E1CE93}"/>
              </a:ext>
            </a:extLst>
          </p:cNvPr>
          <p:cNvSpPr>
            <a:spLocks xmlns:a="http://schemas.openxmlformats.org/drawingml/2006/main" noGrp="1"/>
          </p:cNvSpPr>
          <p:nvPr/>
        </p:nvSpPr>
        <p:spPr>
          <a:xfrm xmlns:a="http://schemas.openxmlformats.org/drawingml/2006/main">
            <a:off x="10953750" y="62484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1737A"/>
                </a:solidFill>
                <a:latin typeface="Noto Sans"/>
                <a:ea typeface="Noto Sans"/>
                <a:cs typeface="Noto Sans"/>
              </a:defRPr>
            </a:pPr>
            <a:r>
              <a:rPr sz="1200" b="0">
                <a:solidFill>
                  <a:srgbClr val="61737A"/>
                </a:solidFill>
                <a:latin typeface="Noto Sans"/>
                <a:ea typeface="Noto Sans"/>
                <a:cs typeface="Noto Sans"/>
              </a:rPr>
              <a:t>05</a:t>
            </a:r>
          </a:p>
        </p:txBody>
      </p:sp>
      <p:sp>
        <p:nvSpPr>
          <p:cNvPr id="4" name="">
            <a:extLst xmlns:a="http://schemas.openxmlformats.org/drawingml/2006/main">
              <a:ext uri="{FF2B5EF4-FFF2-40B4-BE49-F238E27FC236}">
                <a16:creationId xmlns:a16="http://schemas.microsoft.com/office/drawing/2014/main" id="{69C9CC6A-EF98-49CD-8497-113917D2929B}"/>
              </a:ext>
            </a:extLst>
          </p:cNvPr>
          <p:cNvSpPr>
            <a:spLocks xmlns:a="http://schemas.openxmlformats.org/drawingml/2006/main" noGrp="1"/>
          </p:cNvSpPr>
          <p:nvPr/>
        </p:nvSpPr>
        <p:spPr>
          <a:xfrm xmlns:a="http://schemas.openxmlformats.org/drawingml/2006/main">
            <a:off x="733425" y="1771650"/>
            <a:ext cx="442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4717A"/>
                </a:solidFill>
                <a:latin typeface="Noto Sans"/>
                <a:ea typeface="Noto Sans"/>
                <a:cs typeface="Noto Sans"/>
              </a:defRPr>
            </a:pPr>
            <a:r>
              <a:rPr sz="1950" b="1">
                <a:solidFill>
                  <a:srgbClr val="24717A"/>
                </a:solidFill>
                <a:latin typeface="Noto Sans"/>
                <a:ea typeface="Noto Sans"/>
                <a:cs typeface="Noto Sans"/>
              </a:rPr>
              <a:t>Giữ nguyên hiện tại</a:t>
            </a:r>
          </a:p>
        </p:txBody>
      </p:sp>
      <p:sp>
        <p:nvSpPr>
          <p:cNvPr id="5" name="">
            <a:extLst xmlns:a="http://schemas.openxmlformats.org/drawingml/2006/main">
              <a:ext uri="{FF2B5EF4-FFF2-40B4-BE49-F238E27FC236}">
                <a16:creationId xmlns:a16="http://schemas.microsoft.com/office/drawing/2014/main" id="{CEF19DF9-7BB3-4012-A871-97D8D249591A}"/>
              </a:ext>
            </a:extLst>
          </p:cNvPr>
          <p:cNvSpPr>
            <a:spLocks xmlns:a="http://schemas.openxmlformats.org/drawingml/2006/main" noGrp="1"/>
          </p:cNvSpPr>
          <p:nvPr/>
        </p:nvSpPr>
        <p:spPr>
          <a:xfrm xmlns:a="http://schemas.openxmlformats.org/drawingml/2006/main">
            <a:off x="733425" y="2400300"/>
            <a:ext cx="4524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17324D"/>
                </a:solidFill>
                <a:latin typeface="Noto Sans"/>
                <a:ea typeface="Noto Sans"/>
                <a:cs typeface="Noto Sans"/>
              </a:defRPr>
            </a:pPr>
            <a:r>
              <a:rPr sz="2475" b="1">
                <a:solidFill>
                  <a:srgbClr val="17324D"/>
                </a:solidFill>
                <a:latin typeface="Noto Sans"/>
                <a:ea typeface="Noto Sans"/>
                <a:cs typeface="Noto Sans"/>
              </a:rPr>
              <a:t>T̂(t+3) = T(t)</a:t>
            </a:r>
          </a:p>
        </p:txBody>
      </p:sp>
      <p:sp>
        <p:nvSpPr>
          <p:cNvPr id="6" name="">
            <a:extLst xmlns:a="http://schemas.openxmlformats.org/drawingml/2006/main">
              <a:ext uri="{FF2B5EF4-FFF2-40B4-BE49-F238E27FC236}">
                <a16:creationId xmlns:a16="http://schemas.microsoft.com/office/drawing/2014/main" id="{D66DDA5C-0BA7-4DFF-8C5B-BC7D500462BF}"/>
              </a:ext>
            </a:extLst>
          </p:cNvPr>
          <p:cNvSpPr>
            <a:spLocks xmlns:a="http://schemas.openxmlformats.org/drawingml/2006/main" noGrp="1"/>
          </p:cNvSpPr>
          <p:nvPr/>
        </p:nvSpPr>
        <p:spPr>
          <a:xfrm xmlns:a="http://schemas.openxmlformats.org/drawingml/2006/main">
            <a:off x="733425" y="3209925"/>
            <a:ext cx="4619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243B49"/>
                </a:solidFill>
                <a:latin typeface="Noto Sans"/>
                <a:ea typeface="Noto Sans"/>
                <a:cs typeface="Noto Sans"/>
              </a:defRPr>
            </a:pPr>
            <a:r>
              <a:rPr sz="1650" b="0">
                <a:solidFill>
                  <a:srgbClr val="243B49"/>
                </a:solidFill>
                <a:latin typeface="Noto Sans"/>
                <a:ea typeface="Noto Sans"/>
                <a:cs typeface="Noto Sans"/>
              </a:rPr>
              <a:t>Nếu nhiệt độ thay đổi ít trong 3 giờ, cách này có thể rất mạnh.</a:t>
            </a:r>
          </a:p>
        </p:txBody>
      </p:sp>
      <p:sp>
        <p:nvSpPr>
          <p:cNvPr id="7" name="">
            <a:extLst xmlns:a="http://schemas.openxmlformats.org/drawingml/2006/main">
              <a:ext uri="{FF2B5EF4-FFF2-40B4-BE49-F238E27FC236}">
                <a16:creationId xmlns:a16="http://schemas.microsoft.com/office/drawing/2014/main" id="{3DEF4986-A4B2-4409-ABEC-3423B69FD434}"/>
              </a:ext>
            </a:extLst>
          </p:cNvPr>
          <p:cNvSpPr>
            <a:spLocks xmlns:a="http://schemas.openxmlformats.org/drawingml/2006/main" noGrp="1"/>
          </p:cNvSpPr>
          <p:nvPr/>
        </p:nvSpPr>
        <p:spPr>
          <a:xfrm xmlns:a="http://schemas.openxmlformats.org/drawingml/2006/main">
            <a:off x="6457950" y="177165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4717A"/>
                </a:solidFill>
                <a:latin typeface="Noto Sans"/>
                <a:ea typeface="Noto Sans"/>
                <a:cs typeface="Noto Sans"/>
              </a:defRPr>
            </a:pPr>
            <a:r>
              <a:rPr sz="1950" b="1">
                <a:solidFill>
                  <a:srgbClr val="24717A"/>
                </a:solidFill>
                <a:latin typeface="Noto Sans"/>
                <a:ea typeface="Noto Sans"/>
                <a:cs typeface="Noto Sans"/>
              </a:rPr>
              <a:t>Cùng giờ ngày trước</a:t>
            </a:r>
          </a:p>
        </p:txBody>
      </p:sp>
      <p:sp>
        <p:nvSpPr>
          <p:cNvPr id="8" name="">
            <a:extLst xmlns:a="http://schemas.openxmlformats.org/drawingml/2006/main">
              <a:ext uri="{FF2B5EF4-FFF2-40B4-BE49-F238E27FC236}">
                <a16:creationId xmlns:a16="http://schemas.microsoft.com/office/drawing/2014/main" id="{E663EEBC-0EF1-4E3C-A7B3-63623B94E6DA}"/>
              </a:ext>
            </a:extLst>
          </p:cNvPr>
          <p:cNvSpPr>
            <a:spLocks xmlns:a="http://schemas.openxmlformats.org/drawingml/2006/main" noGrp="1"/>
          </p:cNvSpPr>
          <p:nvPr/>
        </p:nvSpPr>
        <p:spPr>
          <a:xfrm xmlns:a="http://schemas.openxmlformats.org/drawingml/2006/main">
            <a:off x="6457950" y="240030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17324D"/>
                </a:solidFill>
                <a:latin typeface="Noto Sans"/>
                <a:ea typeface="Noto Sans"/>
                <a:cs typeface="Noto Sans"/>
              </a:defRPr>
            </a:pPr>
            <a:r>
              <a:rPr sz="2475" b="1">
                <a:solidFill>
                  <a:srgbClr val="17324D"/>
                </a:solidFill>
                <a:latin typeface="Noto Sans"/>
                <a:ea typeface="Noto Sans"/>
                <a:cs typeface="Noto Sans"/>
              </a:rPr>
              <a:t>T̂(t+3) = T(t−21)</a:t>
            </a:r>
          </a:p>
        </p:txBody>
      </p:sp>
      <p:sp>
        <p:nvSpPr>
          <p:cNvPr id="9" name="">
            <a:extLst xmlns:a="http://schemas.openxmlformats.org/drawingml/2006/main">
              <a:ext uri="{FF2B5EF4-FFF2-40B4-BE49-F238E27FC236}">
                <a16:creationId xmlns:a16="http://schemas.microsoft.com/office/drawing/2014/main" id="{675A8082-62DF-42EB-A62A-E491B523F282}"/>
              </a:ext>
            </a:extLst>
          </p:cNvPr>
          <p:cNvSpPr>
            <a:spLocks xmlns:a="http://schemas.openxmlformats.org/drawingml/2006/main" noGrp="1"/>
          </p:cNvSpPr>
          <p:nvPr/>
        </p:nvSpPr>
        <p:spPr>
          <a:xfrm xmlns:a="http://schemas.openxmlformats.org/drawingml/2006/main">
            <a:off x="6457950" y="3209925"/>
            <a:ext cx="4572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243B49"/>
                </a:solidFill>
                <a:latin typeface="Noto Sans"/>
                <a:ea typeface="Noto Sans"/>
                <a:cs typeface="Noto Sans"/>
              </a:defRPr>
            </a:pPr>
            <a:r>
              <a:rPr sz="1650" b="0">
                <a:solidFill>
                  <a:srgbClr val="243B49"/>
                </a:solidFill>
                <a:latin typeface="Noto Sans"/>
                <a:ea typeface="Noto Sans"/>
                <a:cs typeface="Noto Sans"/>
              </a:rPr>
              <a:t>T(t−21) là giá trị 24 giờ trước thời điểm cần dự báo.</a:t>
            </a:r>
          </a:p>
        </p:txBody>
      </p:sp>
      <p:sp>
        <p:nvSpPr>
          <p:cNvPr id="10" name="">
            <a:extLst xmlns:a="http://schemas.openxmlformats.org/drawingml/2006/main">
              <a:ext uri="{FF2B5EF4-FFF2-40B4-BE49-F238E27FC236}">
                <a16:creationId xmlns:a16="http://schemas.microsoft.com/office/drawing/2014/main" id="{11E82D6E-0D73-4F19-A470-7D76351FC2EB}"/>
              </a:ext>
            </a:extLst>
          </p:cNvPr>
          <p:cNvSpPr>
            <a:spLocks xmlns:a="http://schemas.openxmlformats.org/drawingml/2006/main" noGrp="1"/>
          </p:cNvSpPr>
          <p:nvPr/>
        </p:nvSpPr>
        <p:spPr>
          <a:xfrm xmlns:a="http://schemas.openxmlformats.org/drawingml/2006/main">
            <a:off x="733425" y="4619625"/>
            <a:ext cx="10096500" cy="19050"/>
          </a:xfrm>
          <a:prstGeom xmlns:a="http://schemas.openxmlformats.org/drawingml/2006/main" prst="rect">
            <a:avLst/>
          </a:prstGeom>
          <a:solidFill xmlns:a="http://schemas.openxmlformats.org/drawingml/2006/main">
            <a:srgbClr val="CBD8D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A2FA55C-4C27-4211-B41A-7737D7E1DA3F}"/>
              </a:ext>
            </a:extLst>
          </p:cNvPr>
          <p:cNvSpPr>
            <a:spLocks xmlns:a="http://schemas.openxmlformats.org/drawingml/2006/main" noGrp="1"/>
          </p:cNvSpPr>
          <p:nvPr/>
        </p:nvSpPr>
        <p:spPr>
          <a:xfrm xmlns:a="http://schemas.openxmlformats.org/drawingml/2006/main">
            <a:off x="733425" y="5038725"/>
            <a:ext cx="1028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C46B42"/>
                </a:solidFill>
                <a:latin typeface="Noto Sans"/>
                <a:ea typeface="Noto Sans"/>
                <a:cs typeface="Noto Sans"/>
              </a:defRPr>
            </a:pPr>
            <a:r>
              <a:rPr sz="1800" b="1">
                <a:solidFill>
                  <a:srgbClr val="C46B42"/>
                </a:solidFill>
                <a:latin typeface="Noto Sans"/>
                <a:ea typeface="Noto Sans"/>
                <a:cs typeface="Noto Sans"/>
              </a:rPr>
              <a:t>Dùng cùng tập kiểm tra và cùng thước đo MAE (°C) cho cả ba phương án.</a:t>
            </a:r>
          </a:p>
        </p:txBody>
      </p:sp>
    </p:spTree>
    <p:extLst>
      <p:ext uri="{BB962C8B-B14F-4D97-AF65-F5344CB8AC3E}">
        <p14:creationId xmlns:p14="http://schemas.microsoft.com/office/powerpoint/2010/main" val="385488186"/>
      </p:ext>
    </p:extLst>
  </p:cSld>
</p:sld>
</file>

<file path=ppt/slides/slide6.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E59EDD0-2632-4CAA-B12D-65492CB5AF38}"/>
              </a:ext>
            </a:extLst>
          </p:cNvPr>
          <p:cNvSpPr>
            <a:spLocks xmlns:a="http://schemas.openxmlformats.org/drawingml/2006/main" noGrp="1"/>
          </p:cNvSpPr>
          <p:nvPr/>
        </p:nvSpPr>
        <p:spPr>
          <a:xfrm xmlns:a="http://schemas.openxmlformats.org/drawingml/2006/main">
            <a:off x="666750" y="4095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7324D"/>
                </a:solidFill>
                <a:latin typeface="Noto Sans"/>
                <a:ea typeface="Noto Sans"/>
                <a:cs typeface="Noto Sans"/>
              </a:defRPr>
            </a:pPr>
            <a:r>
              <a:rPr sz="2850" b="1">
                <a:solidFill>
                  <a:srgbClr val="17324D"/>
                </a:solidFill>
                <a:latin typeface="Noto Sans"/>
                <a:ea typeface="Noto Sans"/>
                <a:cs typeface="Noto Sans"/>
              </a:rPr>
              <a:t>Mô hình tuyến tính đề xuất</a:t>
            </a:r>
          </a:p>
        </p:txBody>
      </p:sp>
      <p:sp>
        <p:nvSpPr>
          <p:cNvPr id="2" name="">
            <a:extLst xmlns:a="http://schemas.openxmlformats.org/drawingml/2006/main">
              <a:ext uri="{FF2B5EF4-FFF2-40B4-BE49-F238E27FC236}">
                <a16:creationId xmlns:a16="http://schemas.microsoft.com/office/drawing/2014/main" id="{A1E71BAF-352B-480D-B24E-4BC377083145}"/>
              </a:ext>
            </a:extLst>
          </p:cNvPr>
          <p:cNvSpPr>
            <a:spLocks xmlns:a="http://schemas.openxmlformats.org/drawingml/2006/main" noGrp="1"/>
          </p:cNvSpPr>
          <p:nvPr/>
        </p:nvSpPr>
        <p:spPr>
          <a:xfrm xmlns:a="http://schemas.openxmlformats.org/drawingml/2006/main">
            <a:off x="666750" y="1238250"/>
            <a:ext cx="10839450" cy="28575"/>
          </a:xfrm>
          <a:prstGeom xmlns:a="http://schemas.openxmlformats.org/drawingml/2006/main" prst="rect">
            <a:avLst/>
          </a:prstGeom>
          <a:solidFill xmlns:a="http://schemas.openxmlformats.org/drawingml/2006/main">
            <a:srgbClr val="2471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0A0E295-54B0-4D7A-9937-20AD0ADA0B1F}"/>
              </a:ext>
            </a:extLst>
          </p:cNvPr>
          <p:cNvSpPr>
            <a:spLocks xmlns:a="http://schemas.openxmlformats.org/drawingml/2006/main" noGrp="1"/>
          </p:cNvSpPr>
          <p:nvPr/>
        </p:nvSpPr>
        <p:spPr>
          <a:xfrm xmlns:a="http://schemas.openxmlformats.org/drawingml/2006/main">
            <a:off x="10953750" y="62484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1737A"/>
                </a:solidFill>
                <a:latin typeface="Noto Sans"/>
                <a:ea typeface="Noto Sans"/>
                <a:cs typeface="Noto Sans"/>
              </a:defRPr>
            </a:pPr>
            <a:r>
              <a:rPr sz="1200" b="0">
                <a:solidFill>
                  <a:srgbClr val="61737A"/>
                </a:solidFill>
                <a:latin typeface="Noto Sans"/>
                <a:ea typeface="Noto Sans"/>
                <a:cs typeface="Noto Sans"/>
              </a:rPr>
              <a:t>06</a:t>
            </a:r>
          </a:p>
        </p:txBody>
      </p:sp>
      <p:sp>
        <p:nvSpPr>
          <p:cNvPr id="4" name="">
            <a:extLst xmlns:a="http://schemas.openxmlformats.org/drawingml/2006/main">
              <a:ext uri="{FF2B5EF4-FFF2-40B4-BE49-F238E27FC236}">
                <a16:creationId xmlns:a16="http://schemas.microsoft.com/office/drawing/2014/main" id="{239C4669-6CA6-41B7-A304-2F0BC88160BE}"/>
              </a:ext>
            </a:extLst>
          </p:cNvPr>
          <p:cNvSpPr>
            <a:spLocks xmlns:a="http://schemas.openxmlformats.org/drawingml/2006/main" noGrp="1"/>
          </p:cNvSpPr>
          <p:nvPr/>
        </p:nvSpPr>
        <p:spPr>
          <a:xfrm xmlns:a="http://schemas.openxmlformats.org/drawingml/2006/main">
            <a:off x="723900" y="1666875"/>
            <a:ext cx="10668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7324D"/>
                </a:solidFill>
                <a:latin typeface="Noto Sans"/>
                <a:ea typeface="Noto Sans"/>
                <a:cs typeface="Noto Sans"/>
              </a:defRPr>
            </a:pPr>
            <a:r>
              <a:rPr sz="2325" b="1">
                <a:solidFill>
                  <a:srgbClr val="17324D"/>
                </a:solidFill>
                <a:latin typeface="Noto Sans"/>
                <a:ea typeface="Noto Sans"/>
                <a:cs typeface="Noto Sans"/>
              </a:rPr>
              <a:t>T̂(t+3) = T(t−21) + a[T(t)−T(t−24)] + b[T(t)−T(t−3)] + c</a:t>
            </a:r>
          </a:p>
        </p:txBody>
      </p:sp>
      <p:sp>
        <p:nvSpPr>
          <p:cNvPr id="5" name="">
            <a:extLst xmlns:a="http://schemas.openxmlformats.org/drawingml/2006/main">
              <a:ext uri="{FF2B5EF4-FFF2-40B4-BE49-F238E27FC236}">
                <a16:creationId xmlns:a16="http://schemas.microsoft.com/office/drawing/2014/main" id="{4C187E1D-5F0A-4BF4-83AC-CF7C74F3E94E}"/>
              </a:ext>
            </a:extLst>
          </p:cNvPr>
          <p:cNvSpPr>
            <a:spLocks xmlns:a="http://schemas.openxmlformats.org/drawingml/2006/main" noGrp="1"/>
          </p:cNvSpPr>
          <p:nvPr/>
        </p:nvSpPr>
        <p:spPr>
          <a:xfrm xmlns:a="http://schemas.openxmlformats.org/drawingml/2006/main">
            <a:off x="723900" y="2895600"/>
            <a:ext cx="10096500" cy="19050"/>
          </a:xfrm>
          <a:prstGeom xmlns:a="http://schemas.openxmlformats.org/drawingml/2006/main" prst="rect">
            <a:avLst/>
          </a:prstGeom>
          <a:solidFill xmlns:a="http://schemas.openxmlformats.org/drawingml/2006/main">
            <a:srgbClr val="CBD8D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D121B0B-40CF-4574-BF3A-EC9AB8A4D50A}"/>
              </a:ext>
            </a:extLst>
          </p:cNvPr>
          <p:cNvSpPr>
            <a:spLocks xmlns:a="http://schemas.openxmlformats.org/drawingml/2006/main" noGrp="1"/>
          </p:cNvSpPr>
          <p:nvPr/>
        </p:nvSpPr>
        <p:spPr>
          <a:xfrm xmlns:a="http://schemas.openxmlformats.org/drawingml/2006/main">
            <a:off x="733425" y="3219450"/>
            <a:ext cx="2876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24717A"/>
                </a:solidFill>
                <a:latin typeface="Noto Sans"/>
                <a:ea typeface="Noto Sans"/>
                <a:cs typeface="Noto Sans"/>
              </a:defRPr>
            </a:pPr>
            <a:r>
              <a:rPr sz="1875" b="1">
                <a:solidFill>
                  <a:srgbClr val="24717A"/>
                </a:solidFill>
                <a:latin typeface="Noto Sans"/>
                <a:ea typeface="Noto Sans"/>
                <a:cs typeface="Noto Sans"/>
              </a:rPr>
              <a:t>T(t−21)</a:t>
            </a:r>
          </a:p>
        </p:txBody>
      </p:sp>
      <p:sp>
        <p:nvSpPr>
          <p:cNvPr id="7" name="">
            <a:extLst xmlns:a="http://schemas.openxmlformats.org/drawingml/2006/main">
              <a:ext uri="{FF2B5EF4-FFF2-40B4-BE49-F238E27FC236}">
                <a16:creationId xmlns:a16="http://schemas.microsoft.com/office/drawing/2014/main" id="{982CBC28-5F17-4884-89A6-F45F2F36FFF2}"/>
              </a:ext>
            </a:extLst>
          </p:cNvPr>
          <p:cNvSpPr>
            <a:spLocks xmlns:a="http://schemas.openxmlformats.org/drawingml/2006/main" noGrp="1"/>
          </p:cNvSpPr>
          <p:nvPr/>
        </p:nvSpPr>
        <p:spPr>
          <a:xfrm xmlns:a="http://schemas.openxmlformats.org/drawingml/2006/main">
            <a:off x="733425" y="3705225"/>
            <a:ext cx="285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243B49"/>
                </a:solidFill>
                <a:latin typeface="Noto Sans"/>
                <a:ea typeface="Noto Sans"/>
                <a:cs typeface="Noto Sans"/>
              </a:defRPr>
            </a:pPr>
            <a:r>
              <a:rPr sz="1650" b="0">
                <a:solidFill>
                  <a:srgbClr val="243B49"/>
                </a:solidFill>
                <a:latin typeface="Noto Sans"/>
                <a:ea typeface="Noto Sans"/>
                <a:cs typeface="Noto Sans"/>
              </a:rPr>
              <a:t>Mốc cùng giờ</a:t>
            </a:r>
          </a:p>
          <a:p xmlns:a="http://schemas.openxmlformats.org/drawingml/2006/main">
            <a:pPr>
              <a:defRPr sz="1650" b="0">
                <a:solidFill>
                  <a:srgbClr val="243B49"/>
                </a:solidFill>
                <a:latin typeface="Noto Sans"/>
                <a:ea typeface="Noto Sans"/>
                <a:cs typeface="Noto Sans"/>
              </a:defRPr>
            </a:pPr>
            <a:r>
              <a:rPr sz="1650" b="0">
                <a:solidFill>
                  <a:srgbClr val="243B49"/>
                </a:solidFill>
                <a:latin typeface="Noto Sans"/>
                <a:ea typeface="Noto Sans"/>
                <a:cs typeface="Noto Sans"/>
              </a:rPr>
              <a:t>ngày hôm trước</a:t>
            </a:r>
          </a:p>
        </p:txBody>
      </p:sp>
      <p:sp>
        <p:nvSpPr>
          <p:cNvPr id="8" name="">
            <a:extLst xmlns:a="http://schemas.openxmlformats.org/drawingml/2006/main">
              <a:ext uri="{FF2B5EF4-FFF2-40B4-BE49-F238E27FC236}">
                <a16:creationId xmlns:a16="http://schemas.microsoft.com/office/drawing/2014/main" id="{2FF435A6-772C-425B-9288-2B453D55E051}"/>
              </a:ext>
            </a:extLst>
          </p:cNvPr>
          <p:cNvSpPr>
            <a:spLocks xmlns:a="http://schemas.openxmlformats.org/drawingml/2006/main" noGrp="1"/>
          </p:cNvSpPr>
          <p:nvPr/>
        </p:nvSpPr>
        <p:spPr>
          <a:xfrm xmlns:a="http://schemas.openxmlformats.org/drawingml/2006/main">
            <a:off x="4295775" y="32194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24717A"/>
                </a:solidFill>
                <a:latin typeface="Noto Sans"/>
                <a:ea typeface="Noto Sans"/>
                <a:cs typeface="Noto Sans"/>
              </a:defRPr>
            </a:pPr>
            <a:r>
              <a:rPr sz="1875" b="1">
                <a:solidFill>
                  <a:srgbClr val="24717A"/>
                </a:solidFill>
                <a:latin typeface="Noto Sans"/>
                <a:ea typeface="Noto Sans"/>
                <a:cs typeface="Noto Sans"/>
              </a:rPr>
              <a:t>T(t)−T(t−24)</a:t>
            </a:r>
          </a:p>
        </p:txBody>
      </p:sp>
      <p:sp>
        <p:nvSpPr>
          <p:cNvPr id="9" name="">
            <a:extLst xmlns:a="http://schemas.openxmlformats.org/drawingml/2006/main">
              <a:ext uri="{FF2B5EF4-FFF2-40B4-BE49-F238E27FC236}">
                <a16:creationId xmlns:a16="http://schemas.microsoft.com/office/drawing/2014/main" id="{AC5E745C-74BC-4521-973A-723613E2D280}"/>
              </a:ext>
            </a:extLst>
          </p:cNvPr>
          <p:cNvSpPr>
            <a:spLocks xmlns:a="http://schemas.openxmlformats.org/drawingml/2006/main" noGrp="1"/>
          </p:cNvSpPr>
          <p:nvPr/>
        </p:nvSpPr>
        <p:spPr>
          <a:xfrm xmlns:a="http://schemas.openxmlformats.org/drawingml/2006/main">
            <a:off x="4295775" y="3705225"/>
            <a:ext cx="304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243B49"/>
                </a:solidFill>
                <a:latin typeface="Noto Sans"/>
                <a:ea typeface="Noto Sans"/>
                <a:cs typeface="Noto Sans"/>
              </a:defRPr>
            </a:pPr>
            <a:r>
              <a:rPr sz="1650" b="0">
                <a:solidFill>
                  <a:srgbClr val="243B49"/>
                </a:solidFill>
                <a:latin typeface="Noto Sans"/>
                <a:ea typeface="Noto Sans"/>
                <a:cs typeface="Noto Sans"/>
              </a:rPr>
              <a:t>Nhiệt độ hiện tại lệch</a:t>
            </a:r>
          </a:p>
          <a:p xmlns:a="http://schemas.openxmlformats.org/drawingml/2006/main">
            <a:pPr>
              <a:defRPr sz="1650" b="0">
                <a:solidFill>
                  <a:srgbClr val="243B49"/>
                </a:solidFill>
                <a:latin typeface="Noto Sans"/>
                <a:ea typeface="Noto Sans"/>
                <a:cs typeface="Noto Sans"/>
              </a:defRPr>
            </a:pPr>
            <a:r>
              <a:rPr sz="1650" b="0">
                <a:solidFill>
                  <a:srgbClr val="243B49"/>
                </a:solidFill>
                <a:latin typeface="Noto Sans"/>
                <a:ea typeface="Noto Sans"/>
                <a:cs typeface="Noto Sans"/>
              </a:rPr>
              <a:t>so với hôm trước bao nhiêu</a:t>
            </a:r>
          </a:p>
        </p:txBody>
      </p:sp>
      <p:sp>
        <p:nvSpPr>
          <p:cNvPr id="10" name="">
            <a:extLst xmlns:a="http://schemas.openxmlformats.org/drawingml/2006/main">
              <a:ext uri="{FF2B5EF4-FFF2-40B4-BE49-F238E27FC236}">
                <a16:creationId xmlns:a16="http://schemas.microsoft.com/office/drawing/2014/main" id="{DBBAB1C8-A412-4179-B2D6-C71F09C08479}"/>
              </a:ext>
            </a:extLst>
          </p:cNvPr>
          <p:cNvSpPr>
            <a:spLocks xmlns:a="http://schemas.openxmlformats.org/drawingml/2006/main" noGrp="1"/>
          </p:cNvSpPr>
          <p:nvPr/>
        </p:nvSpPr>
        <p:spPr>
          <a:xfrm xmlns:a="http://schemas.openxmlformats.org/drawingml/2006/main">
            <a:off x="7943850" y="32194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24717A"/>
                </a:solidFill>
                <a:latin typeface="Noto Sans"/>
                <a:ea typeface="Noto Sans"/>
                <a:cs typeface="Noto Sans"/>
              </a:defRPr>
            </a:pPr>
            <a:r>
              <a:rPr sz="1875" b="1">
                <a:solidFill>
                  <a:srgbClr val="24717A"/>
                </a:solidFill>
                <a:latin typeface="Noto Sans"/>
                <a:ea typeface="Noto Sans"/>
                <a:cs typeface="Noto Sans"/>
              </a:rPr>
              <a:t>T(t)−T(t−3)</a:t>
            </a:r>
          </a:p>
        </p:txBody>
      </p:sp>
      <p:sp>
        <p:nvSpPr>
          <p:cNvPr id="11" name="">
            <a:extLst xmlns:a="http://schemas.openxmlformats.org/drawingml/2006/main">
              <a:ext uri="{FF2B5EF4-FFF2-40B4-BE49-F238E27FC236}">
                <a16:creationId xmlns:a16="http://schemas.microsoft.com/office/drawing/2014/main" id="{086D3852-1E5D-4C32-93A1-CE6F2F8354E1}"/>
              </a:ext>
            </a:extLst>
          </p:cNvPr>
          <p:cNvSpPr>
            <a:spLocks xmlns:a="http://schemas.openxmlformats.org/drawingml/2006/main" noGrp="1"/>
          </p:cNvSpPr>
          <p:nvPr/>
        </p:nvSpPr>
        <p:spPr>
          <a:xfrm xmlns:a="http://schemas.openxmlformats.org/drawingml/2006/main">
            <a:off x="7943850" y="3705225"/>
            <a:ext cx="28860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243B49"/>
                </a:solidFill>
                <a:latin typeface="Noto Sans"/>
                <a:ea typeface="Noto Sans"/>
                <a:cs typeface="Noto Sans"/>
              </a:defRPr>
            </a:pPr>
            <a:r>
              <a:rPr sz="1650" b="0">
                <a:solidFill>
                  <a:srgbClr val="243B49"/>
                </a:solidFill>
                <a:latin typeface="Noto Sans"/>
                <a:ea typeface="Noto Sans"/>
                <a:cs typeface="Noto Sans"/>
              </a:rPr>
              <a:t>Xu hướng trong</a:t>
            </a:r>
          </a:p>
          <a:p xmlns:a="http://schemas.openxmlformats.org/drawingml/2006/main">
            <a:pPr>
              <a:defRPr sz="1650" b="0">
                <a:solidFill>
                  <a:srgbClr val="243B49"/>
                </a:solidFill>
                <a:latin typeface="Noto Sans"/>
                <a:ea typeface="Noto Sans"/>
                <a:cs typeface="Noto Sans"/>
              </a:defRPr>
            </a:pPr>
            <a:r>
              <a:rPr sz="1650" b="0">
                <a:solidFill>
                  <a:srgbClr val="243B49"/>
                </a:solidFill>
                <a:latin typeface="Noto Sans"/>
                <a:ea typeface="Noto Sans"/>
                <a:cs typeface="Noto Sans"/>
              </a:rPr>
              <a:t>3 giờ vừa qua</a:t>
            </a:r>
          </a:p>
        </p:txBody>
      </p:sp>
      <p:sp>
        <p:nvSpPr>
          <p:cNvPr id="12" name="">
            <a:extLst xmlns:a="http://schemas.openxmlformats.org/drawingml/2006/main">
              <a:ext uri="{FF2B5EF4-FFF2-40B4-BE49-F238E27FC236}">
                <a16:creationId xmlns:a16="http://schemas.microsoft.com/office/drawing/2014/main" id="{FBBF40E5-030C-4C68-BA90-4F48AE208FCE}"/>
              </a:ext>
            </a:extLst>
          </p:cNvPr>
          <p:cNvSpPr>
            <a:spLocks xmlns:a="http://schemas.openxmlformats.org/drawingml/2006/main" noGrp="1"/>
          </p:cNvSpPr>
          <p:nvPr/>
        </p:nvSpPr>
        <p:spPr>
          <a:xfrm xmlns:a="http://schemas.openxmlformats.org/drawingml/2006/main">
            <a:off x="733425" y="5200650"/>
            <a:ext cx="1019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C46B42"/>
                </a:solidFill>
                <a:latin typeface="Noto Sans"/>
                <a:ea typeface="Noto Sans"/>
                <a:cs typeface="Noto Sans"/>
              </a:defRPr>
            </a:pPr>
            <a:r>
              <a:rPr sz="1650" b="1">
                <a:solidFill>
                  <a:srgbClr val="C46B42"/>
                </a:solidFill>
                <a:latin typeface="Noto Sans"/>
                <a:ea typeface="Noto Sans"/>
                <a:cs typeface="Noto Sans"/>
              </a:rPr>
              <a:t>a, b, c được tìm trên C++; FPGA sử dụng các hệ số cố định để tính liên tục theo từng mẫu.</a:t>
            </a:r>
          </a:p>
        </p:txBody>
      </p:sp>
    </p:spTree>
    <p:extLst>
      <p:ext uri="{BB962C8B-B14F-4D97-AF65-F5344CB8AC3E}">
        <p14:creationId xmlns:p14="http://schemas.microsoft.com/office/powerpoint/2010/main" val="360718687"/>
      </p:ext>
    </p:extLst>
  </p:cSld>
</p:sld>
</file>

<file path=ppt/slides/slide7.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27F5AB8-7015-44E4-975B-58E78DE63E26}"/>
              </a:ext>
            </a:extLst>
          </p:cNvPr>
          <p:cNvSpPr>
            <a:spLocks xmlns:a="http://schemas.openxmlformats.org/drawingml/2006/main" noGrp="1"/>
          </p:cNvSpPr>
          <p:nvPr/>
        </p:nvSpPr>
        <p:spPr>
          <a:xfrm xmlns:a="http://schemas.openxmlformats.org/drawingml/2006/main">
            <a:off x="666750" y="4095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7324D"/>
                </a:solidFill>
                <a:latin typeface="Noto Sans"/>
                <a:ea typeface="Noto Sans"/>
                <a:cs typeface="Noto Sans"/>
              </a:defRPr>
            </a:pPr>
            <a:r>
              <a:rPr sz="2850" b="1">
                <a:solidFill>
                  <a:srgbClr val="17324D"/>
                </a:solidFill>
                <a:latin typeface="Noto Sans"/>
                <a:ea typeface="Noto Sans"/>
                <a:cs typeface="Noto Sans"/>
              </a:rPr>
              <a:t>Ví dụ một lượt dự báo</a:t>
            </a:r>
          </a:p>
        </p:txBody>
      </p:sp>
      <p:sp>
        <p:nvSpPr>
          <p:cNvPr id="2" name="">
            <a:extLst xmlns:a="http://schemas.openxmlformats.org/drawingml/2006/main">
              <a:ext uri="{FF2B5EF4-FFF2-40B4-BE49-F238E27FC236}">
                <a16:creationId xmlns:a16="http://schemas.microsoft.com/office/drawing/2014/main" id="{0125FDAA-FC98-43B1-B96F-D087DCF0FB26}"/>
              </a:ext>
            </a:extLst>
          </p:cNvPr>
          <p:cNvSpPr>
            <a:spLocks xmlns:a="http://schemas.openxmlformats.org/drawingml/2006/main" noGrp="1"/>
          </p:cNvSpPr>
          <p:nvPr/>
        </p:nvSpPr>
        <p:spPr>
          <a:xfrm xmlns:a="http://schemas.openxmlformats.org/drawingml/2006/main">
            <a:off x="666750" y="1238250"/>
            <a:ext cx="10839450" cy="28575"/>
          </a:xfrm>
          <a:prstGeom xmlns:a="http://schemas.openxmlformats.org/drawingml/2006/main" prst="rect">
            <a:avLst/>
          </a:prstGeom>
          <a:solidFill xmlns:a="http://schemas.openxmlformats.org/drawingml/2006/main">
            <a:srgbClr val="2471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EAAC339-5785-4731-B2A9-38B201C06CE7}"/>
              </a:ext>
            </a:extLst>
          </p:cNvPr>
          <p:cNvSpPr>
            <a:spLocks xmlns:a="http://schemas.openxmlformats.org/drawingml/2006/main" noGrp="1"/>
          </p:cNvSpPr>
          <p:nvPr/>
        </p:nvSpPr>
        <p:spPr>
          <a:xfrm xmlns:a="http://schemas.openxmlformats.org/drawingml/2006/main">
            <a:off x="10953750" y="62484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1737A"/>
                </a:solidFill>
                <a:latin typeface="Noto Sans"/>
                <a:ea typeface="Noto Sans"/>
                <a:cs typeface="Noto Sans"/>
              </a:defRPr>
            </a:pPr>
            <a:r>
              <a:rPr sz="1200" b="0">
                <a:solidFill>
                  <a:srgbClr val="61737A"/>
                </a:solidFill>
                <a:latin typeface="Noto Sans"/>
                <a:ea typeface="Noto Sans"/>
                <a:cs typeface="Noto Sans"/>
              </a:rPr>
              <a:t>07</a:t>
            </a:r>
          </a:p>
        </p:txBody>
      </p:sp>
      <p:sp>
        <p:nvSpPr>
          <p:cNvPr id="4" name="">
            <a:extLst xmlns:a="http://schemas.openxmlformats.org/drawingml/2006/main">
              <a:ext uri="{FF2B5EF4-FFF2-40B4-BE49-F238E27FC236}">
                <a16:creationId xmlns:a16="http://schemas.microsoft.com/office/drawing/2014/main" id="{A9EBF5B0-E7BB-4EAA-91A6-414552ABF669}"/>
              </a:ext>
            </a:extLst>
          </p:cNvPr>
          <p:cNvSpPr>
            <a:spLocks xmlns:a="http://schemas.openxmlformats.org/drawingml/2006/main" noGrp="1"/>
          </p:cNvSpPr>
          <p:nvPr/>
        </p:nvSpPr>
        <p:spPr>
          <a:xfrm xmlns:a="http://schemas.openxmlformats.org/drawingml/2006/main">
            <a:off x="733425" y="15811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1">
                <a:solidFill>
                  <a:srgbClr val="C46B42"/>
                </a:solidFill>
                <a:latin typeface="Noto Sans"/>
                <a:ea typeface="Noto Sans"/>
                <a:cs typeface="Noto Sans"/>
              </a:defRPr>
            </a:pPr>
            <a:r>
              <a:rPr sz="1575" b="1">
                <a:solidFill>
                  <a:srgbClr val="C46B42"/>
                </a:solidFill>
                <a:latin typeface="Noto Sans"/>
                <a:ea typeface="Noto Sans"/>
                <a:cs typeface="Noto Sans"/>
              </a:rPr>
              <a:t>Giá trị minh hoạ, chưa phải dữ liệu hoặc hệ số đã đo</a:t>
            </a:r>
          </a:p>
        </p:txBody>
      </p:sp>
      <p:sp>
        <p:nvSpPr>
          <p:cNvPr id="5" name="">
            <a:extLst xmlns:a="http://schemas.openxmlformats.org/drawingml/2006/main">
              <a:ext uri="{FF2B5EF4-FFF2-40B4-BE49-F238E27FC236}">
                <a16:creationId xmlns:a16="http://schemas.microsoft.com/office/drawing/2014/main" id="{66E61BFF-93AA-489E-9219-34E6770A9920}"/>
              </a:ext>
            </a:extLst>
          </p:cNvPr>
          <p:cNvSpPr>
            <a:spLocks xmlns:a="http://schemas.openxmlformats.org/drawingml/2006/main" noGrp="1"/>
          </p:cNvSpPr>
          <p:nvPr/>
        </p:nvSpPr>
        <p:spPr>
          <a:xfrm xmlns:a="http://schemas.openxmlformats.org/drawingml/2006/main">
            <a:off x="733425" y="228600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17324D"/>
                </a:solidFill>
                <a:latin typeface="Noto Sans"/>
                <a:ea typeface="Noto Sans"/>
                <a:cs typeface="Noto Sans"/>
              </a:defRPr>
            </a:pPr>
            <a:r>
              <a:rPr sz="2100" b="1">
                <a:solidFill>
                  <a:srgbClr val="17324D"/>
                </a:solidFill>
                <a:latin typeface="Noto Sans"/>
                <a:ea typeface="Noto Sans"/>
                <a:cs typeface="Noto Sans"/>
              </a:rPr>
              <a:t>T(t−24) = 19 °C</a:t>
            </a:r>
          </a:p>
        </p:txBody>
      </p:sp>
      <p:sp>
        <p:nvSpPr>
          <p:cNvPr id="6" name="">
            <a:extLst xmlns:a="http://schemas.openxmlformats.org/drawingml/2006/main">
              <a:ext uri="{FF2B5EF4-FFF2-40B4-BE49-F238E27FC236}">
                <a16:creationId xmlns:a16="http://schemas.microsoft.com/office/drawing/2014/main" id="{9EC45545-F696-4F54-8FA4-D158DD77E1C8}"/>
              </a:ext>
            </a:extLst>
          </p:cNvPr>
          <p:cNvSpPr>
            <a:spLocks xmlns:a="http://schemas.openxmlformats.org/drawingml/2006/main" noGrp="1"/>
          </p:cNvSpPr>
          <p:nvPr/>
        </p:nvSpPr>
        <p:spPr>
          <a:xfrm xmlns:a="http://schemas.openxmlformats.org/drawingml/2006/main">
            <a:off x="6457950" y="22860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17324D"/>
                </a:solidFill>
                <a:latin typeface="Noto Sans"/>
                <a:ea typeface="Noto Sans"/>
                <a:cs typeface="Noto Sans"/>
              </a:defRPr>
            </a:pPr>
            <a:r>
              <a:rPr sz="2100" b="1">
                <a:solidFill>
                  <a:srgbClr val="17324D"/>
                </a:solidFill>
                <a:latin typeface="Noto Sans"/>
                <a:ea typeface="Noto Sans"/>
                <a:cs typeface="Noto Sans"/>
              </a:rPr>
              <a:t>T(t−21) = 21 °C</a:t>
            </a:r>
          </a:p>
        </p:txBody>
      </p:sp>
      <p:sp>
        <p:nvSpPr>
          <p:cNvPr id="7" name="">
            <a:extLst xmlns:a="http://schemas.openxmlformats.org/drawingml/2006/main">
              <a:ext uri="{FF2B5EF4-FFF2-40B4-BE49-F238E27FC236}">
                <a16:creationId xmlns:a16="http://schemas.microsoft.com/office/drawing/2014/main" id="{1A4E069E-14AB-4795-AF75-75FB4E1033E8}"/>
              </a:ext>
            </a:extLst>
          </p:cNvPr>
          <p:cNvSpPr>
            <a:spLocks xmlns:a="http://schemas.openxmlformats.org/drawingml/2006/main" noGrp="1"/>
          </p:cNvSpPr>
          <p:nvPr/>
        </p:nvSpPr>
        <p:spPr>
          <a:xfrm xmlns:a="http://schemas.openxmlformats.org/drawingml/2006/main">
            <a:off x="733425" y="300037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17324D"/>
                </a:solidFill>
                <a:latin typeface="Noto Sans"/>
                <a:ea typeface="Noto Sans"/>
                <a:cs typeface="Noto Sans"/>
              </a:defRPr>
            </a:pPr>
            <a:r>
              <a:rPr sz="2100" b="1">
                <a:solidFill>
                  <a:srgbClr val="17324D"/>
                </a:solidFill>
                <a:latin typeface="Noto Sans"/>
                <a:ea typeface="Noto Sans"/>
                <a:cs typeface="Noto Sans"/>
              </a:rPr>
              <a:t>T(t−3) = 18 °C</a:t>
            </a:r>
          </a:p>
        </p:txBody>
      </p:sp>
      <p:sp>
        <p:nvSpPr>
          <p:cNvPr id="8" name="">
            <a:extLst xmlns:a="http://schemas.openxmlformats.org/drawingml/2006/main">
              <a:ext uri="{FF2B5EF4-FFF2-40B4-BE49-F238E27FC236}">
                <a16:creationId xmlns:a16="http://schemas.microsoft.com/office/drawing/2014/main" id="{6165E016-22B6-4BC9-8881-39EED37319C6}"/>
              </a:ext>
            </a:extLst>
          </p:cNvPr>
          <p:cNvSpPr>
            <a:spLocks xmlns:a="http://schemas.openxmlformats.org/drawingml/2006/main" noGrp="1"/>
          </p:cNvSpPr>
          <p:nvPr/>
        </p:nvSpPr>
        <p:spPr>
          <a:xfrm xmlns:a="http://schemas.openxmlformats.org/drawingml/2006/main">
            <a:off x="6457950" y="3000375"/>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17324D"/>
                </a:solidFill>
                <a:latin typeface="Noto Sans"/>
                <a:ea typeface="Noto Sans"/>
                <a:cs typeface="Noto Sans"/>
              </a:defRPr>
            </a:pPr>
            <a:r>
              <a:rPr sz="2100" b="1">
                <a:solidFill>
                  <a:srgbClr val="17324D"/>
                </a:solidFill>
                <a:latin typeface="Noto Sans"/>
                <a:ea typeface="Noto Sans"/>
                <a:cs typeface="Noto Sans"/>
              </a:rPr>
              <a:t>T(t) = 20 °C</a:t>
            </a:r>
          </a:p>
        </p:txBody>
      </p:sp>
      <p:sp>
        <p:nvSpPr>
          <p:cNvPr id="9" name="">
            <a:extLst xmlns:a="http://schemas.openxmlformats.org/drawingml/2006/main">
              <a:ext uri="{FF2B5EF4-FFF2-40B4-BE49-F238E27FC236}">
                <a16:creationId xmlns:a16="http://schemas.microsoft.com/office/drawing/2014/main" id="{461686EA-0C1F-4E30-B27C-DDBA8A0AD973}"/>
              </a:ext>
            </a:extLst>
          </p:cNvPr>
          <p:cNvSpPr>
            <a:spLocks xmlns:a="http://schemas.openxmlformats.org/drawingml/2006/main" noGrp="1"/>
          </p:cNvSpPr>
          <p:nvPr/>
        </p:nvSpPr>
        <p:spPr>
          <a:xfrm xmlns:a="http://schemas.openxmlformats.org/drawingml/2006/main">
            <a:off x="733425" y="3886200"/>
            <a:ext cx="10096500" cy="19050"/>
          </a:xfrm>
          <a:prstGeom xmlns:a="http://schemas.openxmlformats.org/drawingml/2006/main" prst="rect">
            <a:avLst/>
          </a:prstGeom>
          <a:solidFill xmlns:a="http://schemas.openxmlformats.org/drawingml/2006/main">
            <a:srgbClr val="CBD8D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8876280-9F17-4E5C-AE17-14811A2FA9E6}"/>
              </a:ext>
            </a:extLst>
          </p:cNvPr>
          <p:cNvSpPr>
            <a:spLocks xmlns:a="http://schemas.openxmlformats.org/drawingml/2006/main" noGrp="1"/>
          </p:cNvSpPr>
          <p:nvPr/>
        </p:nvSpPr>
        <p:spPr>
          <a:xfrm xmlns:a="http://schemas.openxmlformats.org/drawingml/2006/main">
            <a:off x="733425" y="4191000"/>
            <a:ext cx="1000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24717A"/>
                </a:solidFill>
                <a:latin typeface="Noto Sans"/>
                <a:ea typeface="Noto Sans"/>
                <a:cs typeface="Noto Sans"/>
              </a:defRPr>
            </a:pPr>
            <a:r>
              <a:rPr sz="1875" b="1">
                <a:solidFill>
                  <a:srgbClr val="24717A"/>
                </a:solidFill>
                <a:latin typeface="Noto Sans"/>
                <a:ea typeface="Noto Sans"/>
                <a:cs typeface="Noto Sans"/>
              </a:rPr>
              <a:t>Nếu a = 0,5; b = 0,2; c = 0</a:t>
            </a:r>
          </a:p>
        </p:txBody>
      </p:sp>
      <p:sp>
        <p:nvSpPr>
          <p:cNvPr id="11" name="">
            <a:extLst xmlns:a="http://schemas.openxmlformats.org/drawingml/2006/main">
              <a:ext uri="{FF2B5EF4-FFF2-40B4-BE49-F238E27FC236}">
                <a16:creationId xmlns:a16="http://schemas.microsoft.com/office/drawing/2014/main" id="{FA30AD77-CDFE-4C4A-BC3B-64DA0EACAC5A}"/>
              </a:ext>
            </a:extLst>
          </p:cNvPr>
          <p:cNvSpPr>
            <a:spLocks xmlns:a="http://schemas.openxmlformats.org/drawingml/2006/main" noGrp="1"/>
          </p:cNvSpPr>
          <p:nvPr/>
        </p:nvSpPr>
        <p:spPr>
          <a:xfrm xmlns:a="http://schemas.openxmlformats.org/drawingml/2006/main">
            <a:off x="733425" y="48768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7324D"/>
                </a:solidFill>
                <a:latin typeface="Noto Sans"/>
                <a:ea typeface="Noto Sans"/>
                <a:cs typeface="Noto Sans"/>
              </a:defRPr>
            </a:pPr>
            <a:r>
              <a:rPr sz="2175" b="1">
                <a:solidFill>
                  <a:srgbClr val="17324D"/>
                </a:solidFill>
                <a:latin typeface="Noto Sans"/>
                <a:ea typeface="Noto Sans"/>
                <a:cs typeface="Noto Sans"/>
              </a:rPr>
              <a:t>T̂(t+3) = 21 + 0,5(20−19) + 0,2(20−18) = 21,9 °C</a:t>
            </a:r>
          </a:p>
        </p:txBody>
      </p:sp>
    </p:spTree>
    <p:extLst>
      <p:ext uri="{BB962C8B-B14F-4D97-AF65-F5344CB8AC3E}">
        <p14:creationId xmlns:p14="http://schemas.microsoft.com/office/powerpoint/2010/main" val="363583021"/>
      </p:ext>
    </p:extLst>
  </p:cSld>
</p:sld>
</file>

<file path=ppt/slides/slide8.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0DEDDEF-ECD0-4F09-90C6-5090DA272BEC}"/>
              </a:ext>
            </a:extLst>
          </p:cNvPr>
          <p:cNvSpPr>
            <a:spLocks xmlns:a="http://schemas.openxmlformats.org/drawingml/2006/main" noGrp="1"/>
          </p:cNvSpPr>
          <p:nvPr/>
        </p:nvSpPr>
        <p:spPr>
          <a:xfrm xmlns:a="http://schemas.openxmlformats.org/drawingml/2006/main">
            <a:off x="666750" y="4095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7324D"/>
                </a:solidFill>
                <a:latin typeface="Noto Sans"/>
                <a:ea typeface="Noto Sans"/>
                <a:cs typeface="Noto Sans"/>
              </a:defRPr>
            </a:pPr>
            <a:r>
              <a:rPr sz="2850" b="1">
                <a:solidFill>
                  <a:srgbClr val="17324D"/>
                </a:solidFill>
                <a:latin typeface="Noto Sans"/>
                <a:ea typeface="Noto Sans"/>
                <a:cs typeface="Noto Sans"/>
              </a:rPr>
              <a:t>Phần việc trên C++</a:t>
            </a:r>
          </a:p>
        </p:txBody>
      </p:sp>
      <p:sp>
        <p:nvSpPr>
          <p:cNvPr id="2" name="">
            <a:extLst xmlns:a="http://schemas.openxmlformats.org/drawingml/2006/main">
              <a:ext uri="{FF2B5EF4-FFF2-40B4-BE49-F238E27FC236}">
                <a16:creationId xmlns:a16="http://schemas.microsoft.com/office/drawing/2014/main" id="{1900D27B-3347-4DFA-8B8F-AFB035CA74E5}"/>
              </a:ext>
            </a:extLst>
          </p:cNvPr>
          <p:cNvSpPr>
            <a:spLocks xmlns:a="http://schemas.openxmlformats.org/drawingml/2006/main" noGrp="1"/>
          </p:cNvSpPr>
          <p:nvPr/>
        </p:nvSpPr>
        <p:spPr>
          <a:xfrm xmlns:a="http://schemas.openxmlformats.org/drawingml/2006/main">
            <a:off x="666750" y="1238250"/>
            <a:ext cx="10839450" cy="28575"/>
          </a:xfrm>
          <a:prstGeom xmlns:a="http://schemas.openxmlformats.org/drawingml/2006/main" prst="rect">
            <a:avLst/>
          </a:prstGeom>
          <a:solidFill xmlns:a="http://schemas.openxmlformats.org/drawingml/2006/main">
            <a:srgbClr val="2471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9DA3998-CBC2-4D53-A5BE-755A54C3562A}"/>
              </a:ext>
            </a:extLst>
          </p:cNvPr>
          <p:cNvSpPr>
            <a:spLocks xmlns:a="http://schemas.openxmlformats.org/drawingml/2006/main" noGrp="1"/>
          </p:cNvSpPr>
          <p:nvPr/>
        </p:nvSpPr>
        <p:spPr>
          <a:xfrm xmlns:a="http://schemas.openxmlformats.org/drawingml/2006/main">
            <a:off x="10953750" y="62484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1737A"/>
                </a:solidFill>
                <a:latin typeface="Noto Sans"/>
                <a:ea typeface="Noto Sans"/>
                <a:cs typeface="Noto Sans"/>
              </a:defRPr>
            </a:pPr>
            <a:r>
              <a:rPr sz="1200" b="0">
                <a:solidFill>
                  <a:srgbClr val="61737A"/>
                </a:solidFill>
                <a:latin typeface="Noto Sans"/>
                <a:ea typeface="Noto Sans"/>
                <a:cs typeface="Noto Sans"/>
              </a:rPr>
              <a:t>08</a:t>
            </a:r>
          </a:p>
        </p:txBody>
      </p:sp>
      <p:sp>
        <p:nvSpPr>
          <p:cNvPr id="4" name="">
            <a:extLst xmlns:a="http://schemas.openxmlformats.org/drawingml/2006/main">
              <a:ext uri="{FF2B5EF4-FFF2-40B4-BE49-F238E27FC236}">
                <a16:creationId xmlns:a16="http://schemas.microsoft.com/office/drawing/2014/main" id="{9EE9C46A-436B-490D-AA26-3E28D4240EF1}"/>
              </a:ext>
            </a:extLst>
          </p:cNvPr>
          <p:cNvSpPr>
            <a:spLocks xmlns:a="http://schemas.openxmlformats.org/drawingml/2006/main" noGrp="1"/>
          </p:cNvSpPr>
          <p:nvPr/>
        </p:nvSpPr>
        <p:spPr>
          <a:xfrm xmlns:a="http://schemas.openxmlformats.org/drawingml/2006/main">
            <a:off x="723900" y="1647825"/>
            <a:ext cx="8286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C46B42"/>
                </a:solidFill>
                <a:latin typeface="Noto Sans"/>
                <a:ea typeface="Noto Sans"/>
                <a:cs typeface="Noto Sans"/>
              </a:defRPr>
            </a:pPr>
            <a:r>
              <a:rPr sz="2325" b="1">
                <a:solidFill>
                  <a:srgbClr val="C46B42"/>
                </a:solidFill>
                <a:latin typeface="Noto Sans"/>
                <a:ea typeface="Noto Sans"/>
                <a:cs typeface="Noto Sans"/>
              </a:rPr>
              <a:t>01</a:t>
            </a:r>
          </a:p>
        </p:txBody>
      </p:sp>
      <p:sp>
        <p:nvSpPr>
          <p:cNvPr id="5" name="">
            <a:extLst xmlns:a="http://schemas.openxmlformats.org/drawingml/2006/main">
              <a:ext uri="{FF2B5EF4-FFF2-40B4-BE49-F238E27FC236}">
                <a16:creationId xmlns:a16="http://schemas.microsoft.com/office/drawing/2014/main" id="{277F8BBB-E399-4EB3-9DA8-3EBF5BE98710}"/>
              </a:ext>
            </a:extLst>
          </p:cNvPr>
          <p:cNvSpPr>
            <a:spLocks xmlns:a="http://schemas.openxmlformats.org/drawingml/2006/main" noGrp="1"/>
          </p:cNvSpPr>
          <p:nvPr/>
        </p:nvSpPr>
        <p:spPr>
          <a:xfrm xmlns:a="http://schemas.openxmlformats.org/drawingml/2006/main">
            <a:off x="1628775" y="1647825"/>
            <a:ext cx="3524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7324D"/>
                </a:solidFill>
                <a:latin typeface="Noto Sans"/>
                <a:ea typeface="Noto Sans"/>
                <a:cs typeface="Noto Sans"/>
              </a:defRPr>
            </a:pPr>
            <a:r>
              <a:rPr sz="1800" b="1">
                <a:solidFill>
                  <a:srgbClr val="17324D"/>
                </a:solidFill>
                <a:latin typeface="Noto Sans"/>
                <a:ea typeface="Noto Sans"/>
                <a:cs typeface="Noto Sans"/>
              </a:rPr>
              <a:t>Đọc và làm sạch</a:t>
            </a:r>
          </a:p>
        </p:txBody>
      </p:sp>
      <p:sp>
        <p:nvSpPr>
          <p:cNvPr id="6" name="">
            <a:extLst xmlns:a="http://schemas.openxmlformats.org/drawingml/2006/main">
              <a:ext uri="{FF2B5EF4-FFF2-40B4-BE49-F238E27FC236}">
                <a16:creationId xmlns:a16="http://schemas.microsoft.com/office/drawing/2014/main" id="{EC1A04F4-95AF-42AF-B601-2830DB5AFDE9}"/>
              </a:ext>
            </a:extLst>
          </p:cNvPr>
          <p:cNvSpPr>
            <a:spLocks xmlns:a="http://schemas.openxmlformats.org/drawingml/2006/main" noGrp="1"/>
          </p:cNvSpPr>
          <p:nvPr/>
        </p:nvSpPr>
        <p:spPr>
          <a:xfrm xmlns:a="http://schemas.openxmlformats.org/drawingml/2006/main">
            <a:off x="5143500" y="1647825"/>
            <a:ext cx="5857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243B49"/>
                </a:solidFill>
                <a:latin typeface="Noto Sans"/>
                <a:ea typeface="Noto Sans"/>
                <a:cs typeface="Noto Sans"/>
              </a:defRPr>
            </a:pPr>
            <a:r>
              <a:rPr sz="1575" b="0">
                <a:solidFill>
                  <a:srgbClr val="243B49"/>
                </a:solidFill>
                <a:latin typeface="Noto Sans"/>
                <a:ea typeface="Noto Sans"/>
                <a:cs typeface="Noto Sans"/>
              </a:rPr>
              <a:t>Kiểm tra thứ tự giờ, giá trị thiếu và đơn vị</a:t>
            </a:r>
          </a:p>
        </p:txBody>
      </p:sp>
      <p:sp>
        <p:nvSpPr>
          <p:cNvPr id="7" name="">
            <a:extLst xmlns:a="http://schemas.openxmlformats.org/drawingml/2006/main">
              <a:ext uri="{FF2B5EF4-FFF2-40B4-BE49-F238E27FC236}">
                <a16:creationId xmlns:a16="http://schemas.microsoft.com/office/drawing/2014/main" id="{556162C7-849F-4F1D-B78C-92A88D4A88D2}"/>
              </a:ext>
            </a:extLst>
          </p:cNvPr>
          <p:cNvSpPr>
            <a:spLocks xmlns:a="http://schemas.openxmlformats.org/drawingml/2006/main" noGrp="1"/>
          </p:cNvSpPr>
          <p:nvPr/>
        </p:nvSpPr>
        <p:spPr>
          <a:xfrm xmlns:a="http://schemas.openxmlformats.org/drawingml/2006/main">
            <a:off x="723900" y="2524125"/>
            <a:ext cx="10096500" cy="19050"/>
          </a:xfrm>
          <a:prstGeom xmlns:a="http://schemas.openxmlformats.org/drawingml/2006/main" prst="rect">
            <a:avLst/>
          </a:prstGeom>
          <a:solidFill xmlns:a="http://schemas.openxmlformats.org/drawingml/2006/main">
            <a:srgbClr val="CBD8D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53AC343-820E-46B5-B3EA-2CA505C9355A}"/>
              </a:ext>
            </a:extLst>
          </p:cNvPr>
          <p:cNvSpPr>
            <a:spLocks xmlns:a="http://schemas.openxmlformats.org/drawingml/2006/main" noGrp="1"/>
          </p:cNvSpPr>
          <p:nvPr/>
        </p:nvSpPr>
        <p:spPr>
          <a:xfrm xmlns:a="http://schemas.openxmlformats.org/drawingml/2006/main">
            <a:off x="723900" y="2714625"/>
            <a:ext cx="8286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C46B42"/>
                </a:solidFill>
                <a:latin typeface="Noto Sans"/>
                <a:ea typeface="Noto Sans"/>
                <a:cs typeface="Noto Sans"/>
              </a:defRPr>
            </a:pPr>
            <a:r>
              <a:rPr sz="2325" b="1">
                <a:solidFill>
                  <a:srgbClr val="C46B42"/>
                </a:solidFill>
                <a:latin typeface="Noto Sans"/>
                <a:ea typeface="Noto Sans"/>
                <a:cs typeface="Noto Sans"/>
              </a:rPr>
              <a:t>02</a:t>
            </a:r>
          </a:p>
        </p:txBody>
      </p:sp>
      <p:sp>
        <p:nvSpPr>
          <p:cNvPr id="9" name="">
            <a:extLst xmlns:a="http://schemas.openxmlformats.org/drawingml/2006/main">
              <a:ext uri="{FF2B5EF4-FFF2-40B4-BE49-F238E27FC236}">
                <a16:creationId xmlns:a16="http://schemas.microsoft.com/office/drawing/2014/main" id="{06D04393-BBA6-4103-9314-5187C03315EE}"/>
              </a:ext>
            </a:extLst>
          </p:cNvPr>
          <p:cNvSpPr>
            <a:spLocks xmlns:a="http://schemas.openxmlformats.org/drawingml/2006/main" noGrp="1"/>
          </p:cNvSpPr>
          <p:nvPr/>
        </p:nvSpPr>
        <p:spPr>
          <a:xfrm xmlns:a="http://schemas.openxmlformats.org/drawingml/2006/main">
            <a:off x="1628775" y="2714625"/>
            <a:ext cx="3524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7324D"/>
                </a:solidFill>
                <a:latin typeface="Noto Sans"/>
                <a:ea typeface="Noto Sans"/>
                <a:cs typeface="Noto Sans"/>
              </a:defRPr>
            </a:pPr>
            <a:r>
              <a:rPr sz="1800" b="1">
                <a:solidFill>
                  <a:srgbClr val="17324D"/>
                </a:solidFill>
                <a:latin typeface="Noto Sans"/>
                <a:ea typeface="Noto Sans"/>
                <a:cs typeface="Noto Sans"/>
              </a:rPr>
              <a:t>Tạo mẫu huấn luyện</a:t>
            </a:r>
          </a:p>
        </p:txBody>
      </p:sp>
      <p:sp>
        <p:nvSpPr>
          <p:cNvPr id="10" name="">
            <a:extLst xmlns:a="http://schemas.openxmlformats.org/drawingml/2006/main">
              <a:ext uri="{FF2B5EF4-FFF2-40B4-BE49-F238E27FC236}">
                <a16:creationId xmlns:a16="http://schemas.microsoft.com/office/drawing/2014/main" id="{376260D0-BF8C-4A0C-8DCE-4D0AF1C4F881}"/>
              </a:ext>
            </a:extLst>
          </p:cNvPr>
          <p:cNvSpPr>
            <a:spLocks xmlns:a="http://schemas.openxmlformats.org/drawingml/2006/main" noGrp="1"/>
          </p:cNvSpPr>
          <p:nvPr/>
        </p:nvSpPr>
        <p:spPr>
          <a:xfrm xmlns:a="http://schemas.openxmlformats.org/drawingml/2006/main">
            <a:off x="5143500" y="2714625"/>
            <a:ext cx="5857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243B49"/>
                </a:solidFill>
                <a:latin typeface="Noto Sans"/>
                <a:ea typeface="Noto Sans"/>
                <a:cs typeface="Noto Sans"/>
              </a:defRPr>
            </a:pPr>
            <a:r>
              <a:rPr sz="1575" b="0">
                <a:solidFill>
                  <a:srgbClr val="243B49"/>
                </a:solidFill>
                <a:latin typeface="Noto Sans"/>
                <a:ea typeface="Noto Sans"/>
                <a:cs typeface="Noto Sans"/>
              </a:rPr>
              <a:t>Tạo các hiệu số đầu vào và nhãn T(t+3)</a:t>
            </a:r>
          </a:p>
        </p:txBody>
      </p:sp>
      <p:sp>
        <p:nvSpPr>
          <p:cNvPr id="11" name="">
            <a:extLst xmlns:a="http://schemas.openxmlformats.org/drawingml/2006/main">
              <a:ext uri="{FF2B5EF4-FFF2-40B4-BE49-F238E27FC236}">
                <a16:creationId xmlns:a16="http://schemas.microsoft.com/office/drawing/2014/main" id="{D70E9D69-FE75-4BD1-9331-F11B2EA96E54}"/>
              </a:ext>
            </a:extLst>
          </p:cNvPr>
          <p:cNvSpPr>
            <a:spLocks xmlns:a="http://schemas.openxmlformats.org/drawingml/2006/main" noGrp="1"/>
          </p:cNvSpPr>
          <p:nvPr/>
        </p:nvSpPr>
        <p:spPr>
          <a:xfrm xmlns:a="http://schemas.openxmlformats.org/drawingml/2006/main">
            <a:off x="723900" y="3590925"/>
            <a:ext cx="10096500" cy="19050"/>
          </a:xfrm>
          <a:prstGeom xmlns:a="http://schemas.openxmlformats.org/drawingml/2006/main" prst="rect">
            <a:avLst/>
          </a:prstGeom>
          <a:solidFill xmlns:a="http://schemas.openxmlformats.org/drawingml/2006/main">
            <a:srgbClr val="CBD8D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158B17C-01DA-4086-9D16-9E0A27EEC1CD}"/>
              </a:ext>
            </a:extLst>
          </p:cNvPr>
          <p:cNvSpPr>
            <a:spLocks xmlns:a="http://schemas.openxmlformats.org/drawingml/2006/main" noGrp="1"/>
          </p:cNvSpPr>
          <p:nvPr/>
        </p:nvSpPr>
        <p:spPr>
          <a:xfrm xmlns:a="http://schemas.openxmlformats.org/drawingml/2006/main">
            <a:off x="723900" y="3781425"/>
            <a:ext cx="8286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C46B42"/>
                </a:solidFill>
                <a:latin typeface="Noto Sans"/>
                <a:ea typeface="Noto Sans"/>
                <a:cs typeface="Noto Sans"/>
              </a:defRPr>
            </a:pPr>
            <a:r>
              <a:rPr sz="2325" b="1">
                <a:solidFill>
                  <a:srgbClr val="C46B42"/>
                </a:solidFill>
                <a:latin typeface="Noto Sans"/>
                <a:ea typeface="Noto Sans"/>
                <a:cs typeface="Noto Sans"/>
              </a:rPr>
              <a:t>03</a:t>
            </a:r>
          </a:p>
        </p:txBody>
      </p:sp>
      <p:sp>
        <p:nvSpPr>
          <p:cNvPr id="13" name="">
            <a:extLst xmlns:a="http://schemas.openxmlformats.org/drawingml/2006/main">
              <a:ext uri="{FF2B5EF4-FFF2-40B4-BE49-F238E27FC236}">
                <a16:creationId xmlns:a16="http://schemas.microsoft.com/office/drawing/2014/main" id="{8BAFB58D-2243-43BD-ADE8-04F0E9118571}"/>
              </a:ext>
            </a:extLst>
          </p:cNvPr>
          <p:cNvSpPr>
            <a:spLocks xmlns:a="http://schemas.openxmlformats.org/drawingml/2006/main" noGrp="1"/>
          </p:cNvSpPr>
          <p:nvPr/>
        </p:nvSpPr>
        <p:spPr>
          <a:xfrm xmlns:a="http://schemas.openxmlformats.org/drawingml/2006/main">
            <a:off x="1628775" y="3781425"/>
            <a:ext cx="3524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7324D"/>
                </a:solidFill>
                <a:latin typeface="Noto Sans"/>
                <a:ea typeface="Noto Sans"/>
                <a:cs typeface="Noto Sans"/>
              </a:defRPr>
            </a:pPr>
            <a:r>
              <a:rPr sz="1800" b="1">
                <a:solidFill>
                  <a:srgbClr val="17324D"/>
                </a:solidFill>
                <a:latin typeface="Noto Sans"/>
                <a:ea typeface="Noto Sans"/>
                <a:cs typeface="Noto Sans"/>
              </a:rPr>
              <a:t>Tìm hệ số</a:t>
            </a:r>
          </a:p>
        </p:txBody>
      </p:sp>
      <p:sp>
        <p:nvSpPr>
          <p:cNvPr id="14" name="">
            <a:extLst xmlns:a="http://schemas.openxmlformats.org/drawingml/2006/main">
              <a:ext uri="{FF2B5EF4-FFF2-40B4-BE49-F238E27FC236}">
                <a16:creationId xmlns:a16="http://schemas.microsoft.com/office/drawing/2014/main" id="{9815BDB3-7BB0-4B6F-B618-CD2E16BA7AE7}"/>
              </a:ext>
            </a:extLst>
          </p:cNvPr>
          <p:cNvSpPr>
            <a:spLocks xmlns:a="http://schemas.openxmlformats.org/drawingml/2006/main" noGrp="1"/>
          </p:cNvSpPr>
          <p:nvPr/>
        </p:nvSpPr>
        <p:spPr>
          <a:xfrm xmlns:a="http://schemas.openxmlformats.org/drawingml/2006/main">
            <a:off x="5143500" y="3781425"/>
            <a:ext cx="5857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243B49"/>
                </a:solidFill>
                <a:latin typeface="Noto Sans"/>
                <a:ea typeface="Noto Sans"/>
                <a:cs typeface="Noto Sans"/>
              </a:defRPr>
            </a:pPr>
            <a:r>
              <a:rPr sz="1575" b="0">
                <a:solidFill>
                  <a:srgbClr val="243B49"/>
                </a:solidFill>
                <a:latin typeface="Noto Sans"/>
                <a:ea typeface="Noto Sans"/>
                <a:cs typeface="Noto Sans"/>
              </a:rPr>
              <a:t>Ước lượng a, b, c bằng bình phương tối thiểu</a:t>
            </a:r>
          </a:p>
        </p:txBody>
      </p:sp>
      <p:sp>
        <p:nvSpPr>
          <p:cNvPr id="15" name="">
            <a:extLst xmlns:a="http://schemas.openxmlformats.org/drawingml/2006/main">
              <a:ext uri="{FF2B5EF4-FFF2-40B4-BE49-F238E27FC236}">
                <a16:creationId xmlns:a16="http://schemas.microsoft.com/office/drawing/2014/main" id="{86395B27-8BDB-4F03-BCF7-244CB3ABD3C5}"/>
              </a:ext>
            </a:extLst>
          </p:cNvPr>
          <p:cNvSpPr>
            <a:spLocks xmlns:a="http://schemas.openxmlformats.org/drawingml/2006/main" noGrp="1"/>
          </p:cNvSpPr>
          <p:nvPr/>
        </p:nvSpPr>
        <p:spPr>
          <a:xfrm xmlns:a="http://schemas.openxmlformats.org/drawingml/2006/main">
            <a:off x="723900" y="4657725"/>
            <a:ext cx="10096500" cy="19050"/>
          </a:xfrm>
          <a:prstGeom xmlns:a="http://schemas.openxmlformats.org/drawingml/2006/main" prst="rect">
            <a:avLst/>
          </a:prstGeom>
          <a:solidFill xmlns:a="http://schemas.openxmlformats.org/drawingml/2006/main">
            <a:srgbClr val="CBD8D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F64FB98-C9DA-460C-BB92-4FBF9B789CD1}"/>
              </a:ext>
            </a:extLst>
          </p:cNvPr>
          <p:cNvSpPr>
            <a:spLocks xmlns:a="http://schemas.openxmlformats.org/drawingml/2006/main" noGrp="1"/>
          </p:cNvSpPr>
          <p:nvPr/>
        </p:nvSpPr>
        <p:spPr>
          <a:xfrm xmlns:a="http://schemas.openxmlformats.org/drawingml/2006/main">
            <a:off x="723900" y="4848225"/>
            <a:ext cx="8286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C46B42"/>
                </a:solidFill>
                <a:latin typeface="Noto Sans"/>
                <a:ea typeface="Noto Sans"/>
                <a:cs typeface="Noto Sans"/>
              </a:defRPr>
            </a:pPr>
            <a:r>
              <a:rPr sz="2325" b="1">
                <a:solidFill>
                  <a:srgbClr val="C46B42"/>
                </a:solidFill>
                <a:latin typeface="Noto Sans"/>
                <a:ea typeface="Noto Sans"/>
                <a:cs typeface="Noto Sans"/>
              </a:rPr>
              <a:t>04</a:t>
            </a:r>
          </a:p>
        </p:txBody>
      </p:sp>
      <p:sp>
        <p:nvSpPr>
          <p:cNvPr id="17" name="">
            <a:extLst xmlns:a="http://schemas.openxmlformats.org/drawingml/2006/main">
              <a:ext uri="{FF2B5EF4-FFF2-40B4-BE49-F238E27FC236}">
                <a16:creationId xmlns:a16="http://schemas.microsoft.com/office/drawing/2014/main" id="{01F874A5-C970-43E6-9C75-35089FF16984}"/>
              </a:ext>
            </a:extLst>
          </p:cNvPr>
          <p:cNvSpPr>
            <a:spLocks xmlns:a="http://schemas.openxmlformats.org/drawingml/2006/main" noGrp="1"/>
          </p:cNvSpPr>
          <p:nvPr/>
        </p:nvSpPr>
        <p:spPr>
          <a:xfrm xmlns:a="http://schemas.openxmlformats.org/drawingml/2006/main">
            <a:off x="1628775" y="4848225"/>
            <a:ext cx="3524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7324D"/>
                </a:solidFill>
                <a:latin typeface="Noto Sans"/>
                <a:ea typeface="Noto Sans"/>
                <a:cs typeface="Noto Sans"/>
              </a:defRPr>
            </a:pPr>
            <a:r>
              <a:rPr sz="1800" b="1">
                <a:solidFill>
                  <a:srgbClr val="17324D"/>
                </a:solidFill>
                <a:latin typeface="Noto Sans"/>
                <a:ea typeface="Noto Sans"/>
                <a:cs typeface="Noto Sans"/>
              </a:rPr>
              <a:t>Đánh giá</a:t>
            </a:r>
          </a:p>
        </p:txBody>
      </p:sp>
      <p:sp>
        <p:nvSpPr>
          <p:cNvPr id="18" name="">
            <a:extLst xmlns:a="http://schemas.openxmlformats.org/drawingml/2006/main">
              <a:ext uri="{FF2B5EF4-FFF2-40B4-BE49-F238E27FC236}">
                <a16:creationId xmlns:a16="http://schemas.microsoft.com/office/drawing/2014/main" id="{290CC50E-36B6-46E0-BB16-99CAB59B5901}"/>
              </a:ext>
            </a:extLst>
          </p:cNvPr>
          <p:cNvSpPr>
            <a:spLocks xmlns:a="http://schemas.openxmlformats.org/drawingml/2006/main" noGrp="1"/>
          </p:cNvSpPr>
          <p:nvPr/>
        </p:nvSpPr>
        <p:spPr>
          <a:xfrm xmlns:a="http://schemas.openxmlformats.org/drawingml/2006/main">
            <a:off x="5143500" y="4848225"/>
            <a:ext cx="5857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243B49"/>
                </a:solidFill>
                <a:latin typeface="Noto Sans"/>
                <a:ea typeface="Noto Sans"/>
                <a:cs typeface="Noto Sans"/>
              </a:defRPr>
            </a:pPr>
            <a:r>
              <a:rPr sz="1575" b="0">
                <a:solidFill>
                  <a:srgbClr val="243B49"/>
                </a:solidFill>
                <a:latin typeface="Noto Sans"/>
                <a:ea typeface="Noto Sans"/>
                <a:cs typeface="Noto Sans"/>
              </a:rPr>
              <a:t>Tính MAE trên giai đoạn chưa dùng để tìm hệ số</a:t>
            </a:r>
          </a:p>
        </p:txBody>
      </p:sp>
    </p:spTree>
    <p:extLst>
      <p:ext uri="{BB962C8B-B14F-4D97-AF65-F5344CB8AC3E}">
        <p14:creationId xmlns:p14="http://schemas.microsoft.com/office/powerpoint/2010/main" val="468080439"/>
      </p:ext>
    </p:extLst>
  </p:cSld>
</p:sld>
</file>

<file path=ppt/slides/slide9.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7246790-3817-444E-AE94-22965C843BAF}"/>
              </a:ext>
            </a:extLst>
          </p:cNvPr>
          <p:cNvSpPr>
            <a:spLocks xmlns:a="http://schemas.openxmlformats.org/drawingml/2006/main" noGrp="1"/>
          </p:cNvSpPr>
          <p:nvPr/>
        </p:nvSpPr>
        <p:spPr>
          <a:xfrm xmlns:a="http://schemas.openxmlformats.org/drawingml/2006/main">
            <a:off x="666750" y="4095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7324D"/>
                </a:solidFill>
                <a:latin typeface="Noto Sans"/>
                <a:ea typeface="Noto Sans"/>
                <a:cs typeface="Noto Sans"/>
              </a:defRPr>
            </a:pPr>
            <a:r>
              <a:rPr sz="2850" b="1">
                <a:solidFill>
                  <a:srgbClr val="17324D"/>
                </a:solidFill>
                <a:latin typeface="Noto Sans"/>
                <a:ea typeface="Noto Sans"/>
                <a:cs typeface="Noto Sans"/>
              </a:rPr>
              <a:t>Chuyển từ số thực sang số cố định</a:t>
            </a:r>
          </a:p>
        </p:txBody>
      </p:sp>
      <p:sp>
        <p:nvSpPr>
          <p:cNvPr id="2" name="">
            <a:extLst xmlns:a="http://schemas.openxmlformats.org/drawingml/2006/main">
              <a:ext uri="{FF2B5EF4-FFF2-40B4-BE49-F238E27FC236}">
                <a16:creationId xmlns:a16="http://schemas.microsoft.com/office/drawing/2014/main" id="{3F1466F5-71C9-4EF4-9A96-5B5CFF86C33F}"/>
              </a:ext>
            </a:extLst>
          </p:cNvPr>
          <p:cNvSpPr>
            <a:spLocks xmlns:a="http://schemas.openxmlformats.org/drawingml/2006/main" noGrp="1"/>
          </p:cNvSpPr>
          <p:nvPr/>
        </p:nvSpPr>
        <p:spPr>
          <a:xfrm xmlns:a="http://schemas.openxmlformats.org/drawingml/2006/main">
            <a:off x="666750" y="1238250"/>
            <a:ext cx="10839450" cy="28575"/>
          </a:xfrm>
          <a:prstGeom xmlns:a="http://schemas.openxmlformats.org/drawingml/2006/main" prst="rect">
            <a:avLst/>
          </a:prstGeom>
          <a:solidFill xmlns:a="http://schemas.openxmlformats.org/drawingml/2006/main">
            <a:srgbClr val="2471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E42C0F6-F887-41D1-85A6-7321329809E0}"/>
              </a:ext>
            </a:extLst>
          </p:cNvPr>
          <p:cNvSpPr>
            <a:spLocks xmlns:a="http://schemas.openxmlformats.org/drawingml/2006/main" noGrp="1"/>
          </p:cNvSpPr>
          <p:nvPr/>
        </p:nvSpPr>
        <p:spPr>
          <a:xfrm xmlns:a="http://schemas.openxmlformats.org/drawingml/2006/main">
            <a:off x="10953750" y="62484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1737A"/>
                </a:solidFill>
                <a:latin typeface="Noto Sans"/>
                <a:ea typeface="Noto Sans"/>
                <a:cs typeface="Noto Sans"/>
              </a:defRPr>
            </a:pPr>
            <a:r>
              <a:rPr sz="1200" b="0">
                <a:solidFill>
                  <a:srgbClr val="61737A"/>
                </a:solidFill>
                <a:latin typeface="Noto Sans"/>
                <a:ea typeface="Noto Sans"/>
                <a:cs typeface="Noto Sans"/>
              </a:rPr>
              <a:t>09</a:t>
            </a:r>
          </a:p>
        </p:txBody>
      </p:sp>
      <p:sp>
        <p:nvSpPr>
          <p:cNvPr id="4" name="">
            <a:extLst xmlns:a="http://schemas.openxmlformats.org/drawingml/2006/main">
              <a:ext uri="{FF2B5EF4-FFF2-40B4-BE49-F238E27FC236}">
                <a16:creationId xmlns:a16="http://schemas.microsoft.com/office/drawing/2014/main" id="{BC3544CB-B217-4B10-88FE-8651E3F33AB6}"/>
              </a:ext>
            </a:extLst>
          </p:cNvPr>
          <p:cNvSpPr>
            <a:spLocks xmlns:a="http://schemas.openxmlformats.org/drawingml/2006/main" noGrp="1"/>
          </p:cNvSpPr>
          <p:nvPr/>
        </p:nvSpPr>
        <p:spPr>
          <a:xfrm xmlns:a="http://schemas.openxmlformats.org/drawingml/2006/main">
            <a:off x="762000" y="176212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4717A"/>
                </a:solidFill>
                <a:latin typeface="Noto Sans"/>
                <a:ea typeface="Noto Sans"/>
                <a:cs typeface="Noto Sans"/>
              </a:defRPr>
            </a:pPr>
            <a:r>
              <a:rPr sz="1950" b="1">
                <a:solidFill>
                  <a:srgbClr val="24717A"/>
                </a:solidFill>
                <a:latin typeface="Noto Sans"/>
                <a:ea typeface="Noto Sans"/>
                <a:cs typeface="Noto Sans"/>
              </a:rPr>
              <a:t>C++ số thực</a:t>
            </a:r>
          </a:p>
        </p:txBody>
      </p:sp>
      <p:sp>
        <p:nvSpPr>
          <p:cNvPr id="5" name="">
            <a:extLst xmlns:a="http://schemas.openxmlformats.org/drawingml/2006/main">
              <a:ext uri="{FF2B5EF4-FFF2-40B4-BE49-F238E27FC236}">
                <a16:creationId xmlns:a16="http://schemas.microsoft.com/office/drawing/2014/main" id="{C3C519B1-7E12-4353-8630-43917A855AFF}"/>
              </a:ext>
            </a:extLst>
          </p:cNvPr>
          <p:cNvSpPr>
            <a:spLocks xmlns:a="http://schemas.openxmlformats.org/drawingml/2006/main" noGrp="1"/>
          </p:cNvSpPr>
          <p:nvPr/>
        </p:nvSpPr>
        <p:spPr>
          <a:xfrm xmlns:a="http://schemas.openxmlformats.org/drawingml/2006/main">
            <a:off x="762000" y="2343150"/>
            <a:ext cx="46291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243B49"/>
                </a:solidFill>
                <a:latin typeface="Noto Sans"/>
                <a:ea typeface="Noto Sans"/>
                <a:cs typeface="Noto Sans"/>
              </a:defRPr>
            </a:pPr>
            <a:r>
              <a:rPr sz="1725" b="0">
                <a:solidFill>
                  <a:srgbClr val="243B49"/>
                </a:solidFill>
                <a:latin typeface="Noto Sans"/>
                <a:ea typeface="Noto Sans"/>
                <a:cs typeface="Noto Sans"/>
              </a:rPr>
              <a:t>Hệ số và nhiệt độ được tính với độ chính xác cao để làm mốc.</a:t>
            </a:r>
          </a:p>
        </p:txBody>
      </p:sp>
      <p:sp>
        <p:nvSpPr>
          <p:cNvPr id="6" name="">
            <a:extLst xmlns:a="http://schemas.openxmlformats.org/drawingml/2006/main">
              <a:ext uri="{FF2B5EF4-FFF2-40B4-BE49-F238E27FC236}">
                <a16:creationId xmlns:a16="http://schemas.microsoft.com/office/drawing/2014/main" id="{A5C1DD36-2216-44E1-84AD-8B722D2CBBC2}"/>
              </a:ext>
            </a:extLst>
          </p:cNvPr>
          <p:cNvSpPr>
            <a:spLocks xmlns:a="http://schemas.openxmlformats.org/drawingml/2006/main" noGrp="1"/>
          </p:cNvSpPr>
          <p:nvPr/>
        </p:nvSpPr>
        <p:spPr>
          <a:xfrm xmlns:a="http://schemas.openxmlformats.org/drawingml/2006/main">
            <a:off x="6438900" y="176212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4717A"/>
                </a:solidFill>
                <a:latin typeface="Noto Sans"/>
                <a:ea typeface="Noto Sans"/>
                <a:cs typeface="Noto Sans"/>
              </a:defRPr>
            </a:pPr>
            <a:r>
              <a:rPr sz="1950" b="1">
                <a:solidFill>
                  <a:srgbClr val="24717A"/>
                </a:solidFill>
                <a:latin typeface="Noto Sans"/>
                <a:ea typeface="Noto Sans"/>
                <a:cs typeface="Noto Sans"/>
              </a:rPr>
              <a:t>C++ số cố định và RTL</a:t>
            </a:r>
          </a:p>
        </p:txBody>
      </p:sp>
      <p:sp>
        <p:nvSpPr>
          <p:cNvPr id="7" name="">
            <a:extLst xmlns:a="http://schemas.openxmlformats.org/drawingml/2006/main">
              <a:ext uri="{FF2B5EF4-FFF2-40B4-BE49-F238E27FC236}">
                <a16:creationId xmlns:a16="http://schemas.microsoft.com/office/drawing/2014/main" id="{0DE5C58B-C286-4DDC-91F2-D4EA79502331}"/>
              </a:ext>
            </a:extLst>
          </p:cNvPr>
          <p:cNvSpPr>
            <a:spLocks xmlns:a="http://schemas.openxmlformats.org/drawingml/2006/main" noGrp="1"/>
          </p:cNvSpPr>
          <p:nvPr/>
        </p:nvSpPr>
        <p:spPr>
          <a:xfrm xmlns:a="http://schemas.openxmlformats.org/drawingml/2006/main">
            <a:off x="6438900" y="2343150"/>
            <a:ext cx="4762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243B49"/>
                </a:solidFill>
                <a:latin typeface="Noto Sans"/>
                <a:ea typeface="Noto Sans"/>
                <a:cs typeface="Noto Sans"/>
              </a:defRPr>
            </a:pPr>
            <a:r>
              <a:rPr sz="1725" b="0">
                <a:solidFill>
                  <a:srgbClr val="243B49"/>
                </a:solidFill>
                <a:latin typeface="Noto Sans"/>
                <a:ea typeface="Noto Sans"/>
                <a:cs typeface="Noto Sans"/>
              </a:rPr>
              <a:t>Dùng cùng tỉ lệ, làm tròn, độ rộng bit và cách xử lý tràn số.</a:t>
            </a:r>
          </a:p>
        </p:txBody>
      </p:sp>
      <p:sp>
        <p:nvSpPr>
          <p:cNvPr id="8" name="">
            <a:extLst xmlns:a="http://schemas.openxmlformats.org/drawingml/2006/main">
              <a:ext uri="{FF2B5EF4-FFF2-40B4-BE49-F238E27FC236}">
                <a16:creationId xmlns:a16="http://schemas.microsoft.com/office/drawing/2014/main" id="{598200D8-19AE-43F5-B0D3-785211A2D848}"/>
              </a:ext>
            </a:extLst>
          </p:cNvPr>
          <p:cNvSpPr>
            <a:spLocks xmlns:a="http://schemas.openxmlformats.org/drawingml/2006/main" noGrp="1"/>
          </p:cNvSpPr>
          <p:nvPr/>
        </p:nvSpPr>
        <p:spPr>
          <a:xfrm xmlns:a="http://schemas.openxmlformats.org/drawingml/2006/main">
            <a:off x="762000" y="3905250"/>
            <a:ext cx="10096500" cy="19050"/>
          </a:xfrm>
          <a:prstGeom xmlns:a="http://schemas.openxmlformats.org/drawingml/2006/main" prst="rect">
            <a:avLst/>
          </a:prstGeom>
          <a:solidFill xmlns:a="http://schemas.openxmlformats.org/drawingml/2006/main">
            <a:srgbClr val="CBD8D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8026ADE-8AE3-4DFC-ACBD-F3A6A02C1129}"/>
              </a:ext>
            </a:extLst>
          </p:cNvPr>
          <p:cNvSpPr>
            <a:spLocks xmlns:a="http://schemas.openxmlformats.org/drawingml/2006/main" noGrp="1"/>
          </p:cNvSpPr>
          <p:nvPr/>
        </p:nvSpPr>
        <p:spPr>
          <a:xfrm xmlns:a="http://schemas.openxmlformats.org/drawingml/2006/main">
            <a:off x="762000" y="4248150"/>
            <a:ext cx="695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C46B42"/>
                </a:solidFill>
                <a:latin typeface="Noto Sans"/>
                <a:ea typeface="Noto Sans"/>
                <a:cs typeface="Noto Sans"/>
              </a:defRPr>
            </a:pPr>
            <a:r>
              <a:rPr sz="1875" b="1">
                <a:solidFill>
                  <a:srgbClr val="C46B42"/>
                </a:solidFill>
                <a:latin typeface="Noto Sans"/>
                <a:ea typeface="Noto Sans"/>
                <a:cs typeface="Noto Sans"/>
              </a:rPr>
              <a:t>Cần kiểm tra trước khi chốt định dạng</a:t>
            </a:r>
          </a:p>
        </p:txBody>
      </p:sp>
      <p:sp>
        <p:nvSpPr>
          <p:cNvPr id="10" name="">
            <a:extLst xmlns:a="http://schemas.openxmlformats.org/drawingml/2006/main">
              <a:ext uri="{FF2B5EF4-FFF2-40B4-BE49-F238E27FC236}">
                <a16:creationId xmlns:a16="http://schemas.microsoft.com/office/drawing/2014/main" id="{85929EDD-59E3-4F3E-B4FC-B7FD8844693D}"/>
              </a:ext>
            </a:extLst>
          </p:cNvPr>
          <p:cNvSpPr>
            <a:spLocks xmlns:a="http://schemas.openxmlformats.org/drawingml/2006/main" noGrp="1"/>
          </p:cNvSpPr>
          <p:nvPr/>
        </p:nvSpPr>
        <p:spPr>
          <a:xfrm xmlns:a="http://schemas.openxmlformats.org/drawingml/2006/main">
            <a:off x="762000" y="4781550"/>
            <a:ext cx="10096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243B49"/>
                </a:solidFill>
                <a:latin typeface="Noto Sans"/>
                <a:ea typeface="Noto Sans"/>
                <a:cs typeface="Noto Sans"/>
              </a:defRPr>
            </a:pPr>
            <a:r>
              <a:rPr sz="1725" b="0">
                <a:solidFill>
                  <a:srgbClr val="243B49"/>
                </a:solidFill>
                <a:latin typeface="Noto Sans"/>
                <a:ea typeface="Noto Sans"/>
                <a:cs typeface="Noto Sans"/>
              </a:rPr>
              <a:t>Miền nhiệt độ trong dữ liệu  •  miền giá trị hệ số  •  độ lớn tổng trung gian</a:t>
            </a:r>
          </a:p>
        </p:txBody>
      </p:sp>
    </p:spTree>
    <p:extLst>
      <p:ext uri="{BB962C8B-B14F-4D97-AF65-F5344CB8AC3E}">
        <p14:creationId xmlns:p14="http://schemas.microsoft.com/office/powerpoint/2010/main" val="1929257464"/>
      </p:ext>
    </p:extLst>
  </p:cSld>
</p:sld>
</file>

<file path=ppt/slides/slide10.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EABCCCB-9D6A-468A-8677-55A006E8157C}"/>
              </a:ext>
            </a:extLst>
          </p:cNvPr>
          <p:cNvSpPr>
            <a:spLocks xmlns:a="http://schemas.openxmlformats.org/drawingml/2006/main" noGrp="1"/>
          </p:cNvSpPr>
          <p:nvPr/>
        </p:nvSpPr>
        <p:spPr>
          <a:xfrm xmlns:a="http://schemas.openxmlformats.org/drawingml/2006/main">
            <a:off x="666750" y="4095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7324D"/>
                </a:solidFill>
                <a:latin typeface="Noto Sans"/>
                <a:ea typeface="Noto Sans"/>
                <a:cs typeface="Noto Sans"/>
              </a:defRPr>
            </a:pPr>
            <a:r>
              <a:rPr sz="2850" b="1">
                <a:solidFill>
                  <a:srgbClr val="17324D"/>
                </a:solidFill>
                <a:latin typeface="Noto Sans"/>
                <a:ea typeface="Noto Sans"/>
                <a:cs typeface="Noto Sans"/>
              </a:rPr>
              <a:t>Kiến trúc mạch FPGA dự kiến</a:t>
            </a:r>
          </a:p>
        </p:txBody>
      </p:sp>
      <p:sp>
        <p:nvSpPr>
          <p:cNvPr id="2" name="">
            <a:extLst xmlns:a="http://schemas.openxmlformats.org/drawingml/2006/main">
              <a:ext uri="{FF2B5EF4-FFF2-40B4-BE49-F238E27FC236}">
                <a16:creationId xmlns:a16="http://schemas.microsoft.com/office/drawing/2014/main" id="{CF885330-D234-460E-9A19-023603A66507}"/>
              </a:ext>
            </a:extLst>
          </p:cNvPr>
          <p:cNvSpPr>
            <a:spLocks xmlns:a="http://schemas.openxmlformats.org/drawingml/2006/main" noGrp="1"/>
          </p:cNvSpPr>
          <p:nvPr/>
        </p:nvSpPr>
        <p:spPr>
          <a:xfrm xmlns:a="http://schemas.openxmlformats.org/drawingml/2006/main">
            <a:off x="666750" y="1238250"/>
            <a:ext cx="10839450" cy="28575"/>
          </a:xfrm>
          <a:prstGeom xmlns:a="http://schemas.openxmlformats.org/drawingml/2006/main" prst="rect">
            <a:avLst/>
          </a:prstGeom>
          <a:solidFill xmlns:a="http://schemas.openxmlformats.org/drawingml/2006/main">
            <a:srgbClr val="2471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5142178-C47B-429F-B2AE-C61AD740BEF5}"/>
              </a:ext>
            </a:extLst>
          </p:cNvPr>
          <p:cNvSpPr>
            <a:spLocks xmlns:a="http://schemas.openxmlformats.org/drawingml/2006/main" noGrp="1"/>
          </p:cNvSpPr>
          <p:nvPr/>
        </p:nvSpPr>
        <p:spPr>
          <a:xfrm xmlns:a="http://schemas.openxmlformats.org/drawingml/2006/main">
            <a:off x="10953750" y="62484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1737A"/>
                </a:solidFill>
                <a:latin typeface="Noto Sans"/>
                <a:ea typeface="Noto Sans"/>
                <a:cs typeface="Noto Sans"/>
              </a:defRPr>
            </a:pPr>
            <a:r>
              <a:rPr sz="1200" b="0">
                <a:solidFill>
                  <a:srgbClr val="61737A"/>
                </a:solidFill>
                <a:latin typeface="Noto Sans"/>
                <a:ea typeface="Noto Sans"/>
                <a:cs typeface="Noto Sans"/>
              </a:rPr>
              <a:t>10</a:t>
            </a:r>
          </a:p>
        </p:txBody>
      </p:sp>
      <p:sp>
        <p:nvSpPr>
          <p:cNvPr id="4" name="">
            <a:extLst xmlns:a="http://schemas.openxmlformats.org/drawingml/2006/main">
              <a:ext uri="{FF2B5EF4-FFF2-40B4-BE49-F238E27FC236}">
                <a16:creationId xmlns:a16="http://schemas.microsoft.com/office/drawing/2014/main" id="{CEF79EC1-B08D-4CA4-B5DA-B02434EB129C}"/>
              </a:ext>
            </a:extLst>
          </p:cNvPr>
          <p:cNvSpPr>
            <a:spLocks xmlns:a="http://schemas.openxmlformats.org/drawingml/2006/main" noGrp="1"/>
          </p:cNvSpPr>
          <p:nvPr/>
        </p:nvSpPr>
        <p:spPr>
          <a:xfrm xmlns:a="http://schemas.openxmlformats.org/drawingml/2006/main">
            <a:off x="733425" y="1924050"/>
            <a:ext cx="1809750" cy="1695450"/>
          </a:xfrm>
          <a:prstGeom xmlns:a="http://schemas.openxmlformats.org/drawingml/2006/main" prst="roundRect">
            <a:avLst>
              <a:gd name="adj" fmla="val 4494"/>
            </a:avLst>
          </a:prstGeom>
          <a:solidFill xmlns:a="http://schemas.openxmlformats.org/drawingml/2006/main">
            <a:srgbClr val="E7F0E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96E30C6-71F2-4CB2-B478-63A4BE03B0D0}"/>
              </a:ext>
            </a:extLst>
          </p:cNvPr>
          <p:cNvSpPr>
            <a:spLocks xmlns:a="http://schemas.openxmlformats.org/drawingml/2006/main" noGrp="1"/>
          </p:cNvSpPr>
          <p:nvPr/>
        </p:nvSpPr>
        <p:spPr>
          <a:xfrm xmlns:a="http://schemas.openxmlformats.org/drawingml/2006/main">
            <a:off x="895350" y="2124075"/>
            <a:ext cx="1485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7324D"/>
                </a:solidFill>
                <a:latin typeface="Noto Sans"/>
                <a:ea typeface="Noto Sans"/>
                <a:cs typeface="Noto Sans"/>
              </a:defRPr>
            </a:pPr>
            <a:r>
              <a:rPr sz="1800" b="1">
                <a:solidFill>
                  <a:srgbClr val="17324D"/>
                </a:solidFill>
                <a:latin typeface="Noto Sans"/>
                <a:ea typeface="Noto Sans"/>
                <a:cs typeface="Noto Sans"/>
              </a:rPr>
              <a:t>Mẫu T(t)</a:t>
            </a:r>
          </a:p>
        </p:txBody>
      </p:sp>
      <p:sp>
        <p:nvSpPr>
          <p:cNvPr id="6" name="">
            <a:extLst xmlns:a="http://schemas.openxmlformats.org/drawingml/2006/main">
              <a:ext uri="{FF2B5EF4-FFF2-40B4-BE49-F238E27FC236}">
                <a16:creationId xmlns:a16="http://schemas.microsoft.com/office/drawing/2014/main" id="{28D22D36-DBBA-4EEF-AFDC-10C72F668ADB}"/>
              </a:ext>
            </a:extLst>
          </p:cNvPr>
          <p:cNvSpPr>
            <a:spLocks xmlns:a="http://schemas.openxmlformats.org/drawingml/2006/main" noGrp="1"/>
          </p:cNvSpPr>
          <p:nvPr/>
        </p:nvSpPr>
        <p:spPr>
          <a:xfrm xmlns:a="http://schemas.openxmlformats.org/drawingml/2006/main">
            <a:off x="895350" y="2762250"/>
            <a:ext cx="1485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243B49"/>
                </a:solidFill>
                <a:latin typeface="Noto Sans"/>
                <a:ea typeface="Noto Sans"/>
                <a:cs typeface="Noto Sans"/>
              </a:defRPr>
            </a:pPr>
            <a:r>
              <a:rPr sz="1500" b="0">
                <a:solidFill>
                  <a:srgbClr val="243B49"/>
                </a:solidFill>
                <a:latin typeface="Noto Sans"/>
                <a:ea typeface="Noto Sans"/>
                <a:cs typeface="Noto Sans"/>
              </a:rPr>
              <a:t>Nhận mẫu mới</a:t>
            </a:r>
          </a:p>
        </p:txBody>
      </p:sp>
      <p:sp>
        <p:nvSpPr>
          <p:cNvPr id="7" name="">
            <a:extLst xmlns:a="http://schemas.openxmlformats.org/drawingml/2006/main">
              <a:ext uri="{FF2B5EF4-FFF2-40B4-BE49-F238E27FC236}">
                <a16:creationId xmlns:a16="http://schemas.microsoft.com/office/drawing/2014/main" id="{3A1644B3-89C7-44D8-8D22-4E2C74731106}"/>
              </a:ext>
            </a:extLst>
          </p:cNvPr>
          <p:cNvSpPr>
            <a:spLocks xmlns:a="http://schemas.openxmlformats.org/drawingml/2006/main" noGrp="1"/>
          </p:cNvSpPr>
          <p:nvPr/>
        </p:nvSpPr>
        <p:spPr>
          <a:xfrm xmlns:a="http://schemas.openxmlformats.org/drawingml/2006/main">
            <a:off x="3067050" y="1924050"/>
            <a:ext cx="2114550" cy="1695450"/>
          </a:xfrm>
          <a:prstGeom xmlns:a="http://schemas.openxmlformats.org/drawingml/2006/main" prst="roundRect">
            <a:avLst>
              <a:gd name="adj" fmla="val 4494"/>
            </a:avLst>
          </a:prstGeom>
          <a:solidFill xmlns:a="http://schemas.openxmlformats.org/drawingml/2006/main">
            <a:srgbClr val="E7F0E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6C6FD2F-6743-4AC8-B6B2-B8BD0047FE9D}"/>
              </a:ext>
            </a:extLst>
          </p:cNvPr>
          <p:cNvSpPr>
            <a:spLocks xmlns:a="http://schemas.openxmlformats.org/drawingml/2006/main" noGrp="1"/>
          </p:cNvSpPr>
          <p:nvPr/>
        </p:nvSpPr>
        <p:spPr>
          <a:xfrm xmlns:a="http://schemas.openxmlformats.org/drawingml/2006/main">
            <a:off x="3228975" y="2124075"/>
            <a:ext cx="17907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7324D"/>
                </a:solidFill>
                <a:latin typeface="Noto Sans"/>
                <a:ea typeface="Noto Sans"/>
                <a:cs typeface="Noto Sans"/>
              </a:defRPr>
            </a:pPr>
            <a:r>
              <a:rPr sz="1800" b="1">
                <a:solidFill>
                  <a:srgbClr val="17324D"/>
                </a:solidFill>
                <a:latin typeface="Noto Sans"/>
                <a:ea typeface="Noto Sans"/>
                <a:cs typeface="Noto Sans"/>
              </a:rPr>
              <a:t>Bộ đệm 25 mẫu</a:t>
            </a:r>
          </a:p>
        </p:txBody>
      </p:sp>
      <p:sp>
        <p:nvSpPr>
          <p:cNvPr id="9" name="">
            <a:extLst xmlns:a="http://schemas.openxmlformats.org/drawingml/2006/main">
              <a:ext uri="{FF2B5EF4-FFF2-40B4-BE49-F238E27FC236}">
                <a16:creationId xmlns:a16="http://schemas.microsoft.com/office/drawing/2014/main" id="{E87A82EA-92C0-4290-B87B-F6246F078505}"/>
              </a:ext>
            </a:extLst>
          </p:cNvPr>
          <p:cNvSpPr>
            <a:spLocks xmlns:a="http://schemas.openxmlformats.org/drawingml/2006/main" noGrp="1"/>
          </p:cNvSpPr>
          <p:nvPr/>
        </p:nvSpPr>
        <p:spPr>
          <a:xfrm xmlns:a="http://schemas.openxmlformats.org/drawingml/2006/main">
            <a:off x="3228975" y="2762250"/>
            <a:ext cx="179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243B49"/>
                </a:solidFill>
                <a:latin typeface="Noto Sans"/>
                <a:ea typeface="Noto Sans"/>
                <a:cs typeface="Noto Sans"/>
              </a:defRPr>
            </a:pPr>
            <a:r>
              <a:rPr sz="1500" b="0">
                <a:solidFill>
                  <a:srgbClr val="243B49"/>
                </a:solidFill>
                <a:latin typeface="Noto Sans"/>
                <a:ea typeface="Noto Sans"/>
                <a:cs typeface="Noto Sans"/>
              </a:rPr>
              <a:t>Giữ T(t−24)…T(t)</a:t>
            </a:r>
          </a:p>
        </p:txBody>
      </p:sp>
      <p:sp>
        <p:nvSpPr>
          <p:cNvPr id="10" name="">
            <a:extLst xmlns:a="http://schemas.openxmlformats.org/drawingml/2006/main">
              <a:ext uri="{FF2B5EF4-FFF2-40B4-BE49-F238E27FC236}">
                <a16:creationId xmlns:a16="http://schemas.microsoft.com/office/drawing/2014/main" id="{667C0A4C-0D8E-4D76-89FA-28775FEE027D}"/>
              </a:ext>
            </a:extLst>
          </p:cNvPr>
          <p:cNvSpPr>
            <a:spLocks xmlns:a="http://schemas.openxmlformats.org/drawingml/2006/main" noGrp="1"/>
          </p:cNvSpPr>
          <p:nvPr/>
        </p:nvSpPr>
        <p:spPr>
          <a:xfrm xmlns:a="http://schemas.openxmlformats.org/drawingml/2006/main">
            <a:off x="5734050" y="1924050"/>
            <a:ext cx="2219325" cy="1695450"/>
          </a:xfrm>
          <a:prstGeom xmlns:a="http://schemas.openxmlformats.org/drawingml/2006/main" prst="roundRect">
            <a:avLst>
              <a:gd name="adj" fmla="val 4494"/>
            </a:avLst>
          </a:prstGeom>
          <a:solidFill xmlns:a="http://schemas.openxmlformats.org/drawingml/2006/main">
            <a:srgbClr val="E7F0E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9E6F0AC-0240-4BDD-AA6C-CA26A5AA4851}"/>
              </a:ext>
            </a:extLst>
          </p:cNvPr>
          <p:cNvSpPr>
            <a:spLocks xmlns:a="http://schemas.openxmlformats.org/drawingml/2006/main" noGrp="1"/>
          </p:cNvSpPr>
          <p:nvPr/>
        </p:nvSpPr>
        <p:spPr>
          <a:xfrm xmlns:a="http://schemas.openxmlformats.org/drawingml/2006/main">
            <a:off x="5895975" y="2124075"/>
            <a:ext cx="18954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7324D"/>
                </a:solidFill>
                <a:latin typeface="Noto Sans"/>
                <a:ea typeface="Noto Sans"/>
                <a:cs typeface="Noto Sans"/>
              </a:defRPr>
            </a:pPr>
            <a:r>
              <a:rPr sz="1800" b="1">
                <a:solidFill>
                  <a:srgbClr val="17324D"/>
                </a:solidFill>
                <a:latin typeface="Noto Sans"/>
                <a:ea typeface="Noto Sans"/>
                <a:cs typeface="Noto Sans"/>
              </a:rPr>
              <a:t>Khối tính hiệu</a:t>
            </a:r>
          </a:p>
        </p:txBody>
      </p:sp>
      <p:sp>
        <p:nvSpPr>
          <p:cNvPr id="12" name="">
            <a:extLst xmlns:a="http://schemas.openxmlformats.org/drawingml/2006/main">
              <a:ext uri="{FF2B5EF4-FFF2-40B4-BE49-F238E27FC236}">
                <a16:creationId xmlns:a16="http://schemas.microsoft.com/office/drawing/2014/main" id="{2293A44F-0DB2-4C5B-8D20-FBB757103FC6}"/>
              </a:ext>
            </a:extLst>
          </p:cNvPr>
          <p:cNvSpPr>
            <a:spLocks xmlns:a="http://schemas.openxmlformats.org/drawingml/2006/main" noGrp="1"/>
          </p:cNvSpPr>
          <p:nvPr/>
        </p:nvSpPr>
        <p:spPr>
          <a:xfrm xmlns:a="http://schemas.openxmlformats.org/drawingml/2006/main">
            <a:off x="5895975" y="2762250"/>
            <a:ext cx="1895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243B49"/>
                </a:solidFill>
                <a:latin typeface="Noto Sans"/>
                <a:ea typeface="Noto Sans"/>
                <a:cs typeface="Noto Sans"/>
              </a:defRPr>
            </a:pPr>
            <a:r>
              <a:rPr sz="1500" b="0">
                <a:solidFill>
                  <a:srgbClr val="243B49"/>
                </a:solidFill>
                <a:latin typeface="Noto Sans"/>
                <a:ea typeface="Noto Sans"/>
                <a:cs typeface="Noto Sans"/>
              </a:rPr>
              <a:t>Tạo 2 độ lệch</a:t>
            </a:r>
          </a:p>
        </p:txBody>
      </p:sp>
      <p:sp>
        <p:nvSpPr>
          <p:cNvPr id="13" name="">
            <a:extLst xmlns:a="http://schemas.openxmlformats.org/drawingml/2006/main">
              <a:ext uri="{FF2B5EF4-FFF2-40B4-BE49-F238E27FC236}">
                <a16:creationId xmlns:a16="http://schemas.microsoft.com/office/drawing/2014/main" id="{9C074FBE-CA1A-42BD-A015-8EA070857218}"/>
              </a:ext>
            </a:extLst>
          </p:cNvPr>
          <p:cNvSpPr>
            <a:spLocks xmlns:a="http://schemas.openxmlformats.org/drawingml/2006/main" noGrp="1"/>
          </p:cNvSpPr>
          <p:nvPr/>
        </p:nvSpPr>
        <p:spPr>
          <a:xfrm xmlns:a="http://schemas.openxmlformats.org/drawingml/2006/main">
            <a:off x="8515350" y="1924050"/>
            <a:ext cx="2333625" cy="1695450"/>
          </a:xfrm>
          <a:prstGeom xmlns:a="http://schemas.openxmlformats.org/drawingml/2006/main" prst="roundRect">
            <a:avLst>
              <a:gd name="adj" fmla="val 4494"/>
            </a:avLst>
          </a:prstGeom>
          <a:solidFill xmlns:a="http://schemas.openxmlformats.org/drawingml/2006/main">
            <a:srgbClr val="E7F0E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B937C1E-31E6-4767-8EC6-236BC083033C}"/>
              </a:ext>
            </a:extLst>
          </p:cNvPr>
          <p:cNvSpPr>
            <a:spLocks xmlns:a="http://schemas.openxmlformats.org/drawingml/2006/main" noGrp="1"/>
          </p:cNvSpPr>
          <p:nvPr/>
        </p:nvSpPr>
        <p:spPr>
          <a:xfrm xmlns:a="http://schemas.openxmlformats.org/drawingml/2006/main">
            <a:off x="8677275" y="2124075"/>
            <a:ext cx="20097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7324D"/>
                </a:solidFill>
                <a:latin typeface="Noto Sans"/>
                <a:ea typeface="Noto Sans"/>
                <a:cs typeface="Noto Sans"/>
              </a:defRPr>
            </a:pPr>
            <a:r>
              <a:rPr sz="1800" b="1">
                <a:solidFill>
                  <a:srgbClr val="17324D"/>
                </a:solidFill>
                <a:latin typeface="Noto Sans"/>
                <a:ea typeface="Noto Sans"/>
                <a:cs typeface="Noto Sans"/>
              </a:rPr>
              <a:t>Nhân và cộng</a:t>
            </a:r>
          </a:p>
        </p:txBody>
      </p:sp>
      <p:sp>
        <p:nvSpPr>
          <p:cNvPr id="15" name="">
            <a:extLst xmlns:a="http://schemas.openxmlformats.org/drawingml/2006/main">
              <a:ext uri="{FF2B5EF4-FFF2-40B4-BE49-F238E27FC236}">
                <a16:creationId xmlns:a16="http://schemas.microsoft.com/office/drawing/2014/main" id="{057A69BE-7857-46B2-9ED0-28A131CCD932}"/>
              </a:ext>
            </a:extLst>
          </p:cNvPr>
          <p:cNvSpPr>
            <a:spLocks xmlns:a="http://schemas.openxmlformats.org/drawingml/2006/main" noGrp="1"/>
          </p:cNvSpPr>
          <p:nvPr/>
        </p:nvSpPr>
        <p:spPr>
          <a:xfrm xmlns:a="http://schemas.openxmlformats.org/drawingml/2006/main">
            <a:off x="8677275" y="2762250"/>
            <a:ext cx="20097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243B49"/>
                </a:solidFill>
                <a:latin typeface="Noto Sans"/>
                <a:ea typeface="Noto Sans"/>
                <a:cs typeface="Noto Sans"/>
              </a:defRPr>
            </a:pPr>
            <a:r>
              <a:rPr sz="1500" b="0">
                <a:solidFill>
                  <a:srgbClr val="243B49"/>
                </a:solidFill>
                <a:latin typeface="Noto Sans"/>
                <a:ea typeface="Noto Sans"/>
                <a:cs typeface="Noto Sans"/>
              </a:rPr>
              <a:t>Xuất T̂(t+3)</a:t>
            </a:r>
          </a:p>
        </p:txBody>
      </p:sp>
      <p:sp>
        <p:nvSpPr>
          <p:cNvPr id="16" name="">
            <a:extLst xmlns:a="http://schemas.openxmlformats.org/drawingml/2006/main">
              <a:ext uri="{FF2B5EF4-FFF2-40B4-BE49-F238E27FC236}">
                <a16:creationId xmlns:a16="http://schemas.microsoft.com/office/drawing/2014/main" id="{38DC778C-E66D-40B2-A127-56B6BA38FE14}"/>
              </a:ext>
            </a:extLst>
          </p:cNvPr>
          <p:cNvSpPr>
            <a:spLocks xmlns:a="http://schemas.openxmlformats.org/drawingml/2006/main" noGrp="1"/>
          </p:cNvSpPr>
          <p:nvPr/>
        </p:nvSpPr>
        <p:spPr>
          <a:xfrm xmlns:a="http://schemas.openxmlformats.org/drawingml/2006/main">
            <a:off x="2619375" y="2419350"/>
            <a:ext cx="42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C46B42"/>
                </a:solidFill>
                <a:latin typeface="Noto Sans"/>
                <a:ea typeface="Noto Sans"/>
                <a:cs typeface="Noto Sans"/>
              </a:defRPr>
            </a:pPr>
            <a:r>
              <a:rPr sz="2925" b="1">
                <a:solidFill>
                  <a:srgbClr val="C46B42"/>
                </a:solidFill>
                <a:latin typeface="Noto Sans"/>
                <a:ea typeface="Noto Sans"/>
                <a:cs typeface="Noto Sans"/>
              </a:rPr>
              <a:t>→</a:t>
            </a:r>
          </a:p>
        </p:txBody>
      </p:sp>
      <p:sp>
        <p:nvSpPr>
          <p:cNvPr id="17" name="">
            <a:extLst xmlns:a="http://schemas.openxmlformats.org/drawingml/2006/main">
              <a:ext uri="{FF2B5EF4-FFF2-40B4-BE49-F238E27FC236}">
                <a16:creationId xmlns:a16="http://schemas.microsoft.com/office/drawing/2014/main" id="{7D267D05-92D5-4F58-BEC9-654D49C9256A}"/>
              </a:ext>
            </a:extLst>
          </p:cNvPr>
          <p:cNvSpPr>
            <a:spLocks xmlns:a="http://schemas.openxmlformats.org/drawingml/2006/main" noGrp="1"/>
          </p:cNvSpPr>
          <p:nvPr/>
        </p:nvSpPr>
        <p:spPr>
          <a:xfrm xmlns:a="http://schemas.openxmlformats.org/drawingml/2006/main">
            <a:off x="5267325" y="2419350"/>
            <a:ext cx="42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C46B42"/>
                </a:solidFill>
                <a:latin typeface="Noto Sans"/>
                <a:ea typeface="Noto Sans"/>
                <a:cs typeface="Noto Sans"/>
              </a:defRPr>
            </a:pPr>
            <a:r>
              <a:rPr sz="2925" b="1">
                <a:solidFill>
                  <a:srgbClr val="C46B42"/>
                </a:solidFill>
                <a:latin typeface="Noto Sans"/>
                <a:ea typeface="Noto Sans"/>
                <a:cs typeface="Noto Sans"/>
              </a:rPr>
              <a:t>→</a:t>
            </a:r>
          </a:p>
        </p:txBody>
      </p:sp>
      <p:sp>
        <p:nvSpPr>
          <p:cNvPr id="18" name="">
            <a:extLst xmlns:a="http://schemas.openxmlformats.org/drawingml/2006/main">
              <a:ext uri="{FF2B5EF4-FFF2-40B4-BE49-F238E27FC236}">
                <a16:creationId xmlns:a16="http://schemas.microsoft.com/office/drawing/2014/main" id="{E92EA767-7C2D-40D0-ABF7-FEAC5AE3F41B}"/>
              </a:ext>
            </a:extLst>
          </p:cNvPr>
          <p:cNvSpPr>
            <a:spLocks xmlns:a="http://schemas.openxmlformats.org/drawingml/2006/main" noGrp="1"/>
          </p:cNvSpPr>
          <p:nvPr/>
        </p:nvSpPr>
        <p:spPr>
          <a:xfrm xmlns:a="http://schemas.openxmlformats.org/drawingml/2006/main">
            <a:off x="8039100" y="2419350"/>
            <a:ext cx="42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C46B42"/>
                </a:solidFill>
                <a:latin typeface="Noto Sans"/>
                <a:ea typeface="Noto Sans"/>
                <a:cs typeface="Noto Sans"/>
              </a:defRPr>
            </a:pPr>
            <a:r>
              <a:rPr sz="2925" b="1">
                <a:solidFill>
                  <a:srgbClr val="C46B42"/>
                </a:solidFill>
                <a:latin typeface="Noto Sans"/>
                <a:ea typeface="Noto Sans"/>
                <a:cs typeface="Noto Sans"/>
              </a:rPr>
              <a:t>→</a:t>
            </a:r>
          </a:p>
        </p:txBody>
      </p:sp>
      <p:sp>
        <p:nvSpPr>
          <p:cNvPr id="19" name="">
            <a:extLst xmlns:a="http://schemas.openxmlformats.org/drawingml/2006/main">
              <a:ext uri="{FF2B5EF4-FFF2-40B4-BE49-F238E27FC236}">
                <a16:creationId xmlns:a16="http://schemas.microsoft.com/office/drawing/2014/main" id="{8F49590A-D6D7-4D74-8C7E-E922EFA30D21}"/>
              </a:ext>
            </a:extLst>
          </p:cNvPr>
          <p:cNvSpPr>
            <a:spLocks xmlns:a="http://schemas.openxmlformats.org/drawingml/2006/main" noGrp="1"/>
          </p:cNvSpPr>
          <p:nvPr/>
        </p:nvSpPr>
        <p:spPr>
          <a:xfrm xmlns:a="http://schemas.openxmlformats.org/drawingml/2006/main">
            <a:off x="733425" y="4124325"/>
            <a:ext cx="10096500" cy="19050"/>
          </a:xfrm>
          <a:prstGeom xmlns:a="http://schemas.openxmlformats.org/drawingml/2006/main" prst="rect">
            <a:avLst/>
          </a:prstGeom>
          <a:solidFill xmlns:a="http://schemas.openxmlformats.org/drawingml/2006/main">
            <a:srgbClr val="CBD8D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C98AB5E-2549-4119-A217-D7423FE296B0}"/>
              </a:ext>
            </a:extLst>
          </p:cNvPr>
          <p:cNvSpPr>
            <a:spLocks xmlns:a="http://schemas.openxmlformats.org/drawingml/2006/main" noGrp="1"/>
          </p:cNvSpPr>
          <p:nvPr/>
        </p:nvSpPr>
        <p:spPr>
          <a:xfrm xmlns:a="http://schemas.openxmlformats.org/drawingml/2006/main">
            <a:off x="733425" y="4438650"/>
            <a:ext cx="10001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243B49"/>
                </a:solidFill>
                <a:latin typeface="Noto Sans"/>
                <a:ea typeface="Noto Sans"/>
                <a:cs typeface="Noto Sans"/>
              </a:defRPr>
            </a:pPr>
            <a:r>
              <a:rPr sz="1725" b="0">
                <a:solidFill>
                  <a:srgbClr val="243B49"/>
                </a:solidFill>
                <a:latin typeface="Noto Sans"/>
                <a:ea typeface="Noto Sans"/>
                <a:cs typeface="Noto Sans"/>
              </a:rPr>
              <a:t>Hệ số a, b, c lưu trong mạch. Mỗi mẫu giờ mới tạo một dự báo sau khi bộ đệm đủ dữ liệu.</a:t>
            </a:r>
          </a:p>
        </p:txBody>
      </p:sp>
    </p:spTree>
    <p:extLst>
      <p:ext uri="{BB962C8B-B14F-4D97-AF65-F5344CB8AC3E}">
        <p14:creationId xmlns:p14="http://schemas.microsoft.com/office/powerpoint/2010/main" val="1092613711"/>
      </p:ext>
    </p:extLst>
  </p:cSld>
</p:sld>
</file>

<file path=ppt/slides/slide11.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ED8A894-6874-4BF7-8AD0-6F2B30D88B52}"/>
              </a:ext>
            </a:extLst>
          </p:cNvPr>
          <p:cNvSpPr>
            <a:spLocks xmlns:a="http://schemas.openxmlformats.org/drawingml/2006/main" noGrp="1"/>
          </p:cNvSpPr>
          <p:nvPr/>
        </p:nvSpPr>
        <p:spPr>
          <a:xfrm xmlns:a="http://schemas.openxmlformats.org/drawingml/2006/main">
            <a:off x="666750" y="4095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7324D"/>
                </a:solidFill>
                <a:latin typeface="Noto Sans"/>
                <a:ea typeface="Noto Sans"/>
                <a:cs typeface="Noto Sans"/>
              </a:defRPr>
            </a:pPr>
            <a:r>
              <a:rPr sz="2850" b="1">
                <a:solidFill>
                  <a:srgbClr val="17324D"/>
                </a:solidFill>
                <a:latin typeface="Noto Sans"/>
                <a:ea typeface="Noto Sans"/>
                <a:cs typeface="Noto Sans"/>
              </a:rPr>
              <a:t>Kế hoạch kiểm chứng</a:t>
            </a:r>
          </a:p>
        </p:txBody>
      </p:sp>
      <p:sp>
        <p:nvSpPr>
          <p:cNvPr id="2" name="">
            <a:extLst xmlns:a="http://schemas.openxmlformats.org/drawingml/2006/main">
              <a:ext uri="{FF2B5EF4-FFF2-40B4-BE49-F238E27FC236}">
                <a16:creationId xmlns:a16="http://schemas.microsoft.com/office/drawing/2014/main" id="{73D004FD-8E3D-4D3A-B4C9-6850EEA251A1}"/>
              </a:ext>
            </a:extLst>
          </p:cNvPr>
          <p:cNvSpPr>
            <a:spLocks xmlns:a="http://schemas.openxmlformats.org/drawingml/2006/main" noGrp="1"/>
          </p:cNvSpPr>
          <p:nvPr/>
        </p:nvSpPr>
        <p:spPr>
          <a:xfrm xmlns:a="http://schemas.openxmlformats.org/drawingml/2006/main">
            <a:off x="666750" y="1238250"/>
            <a:ext cx="10839450" cy="28575"/>
          </a:xfrm>
          <a:prstGeom xmlns:a="http://schemas.openxmlformats.org/drawingml/2006/main" prst="rect">
            <a:avLst/>
          </a:prstGeom>
          <a:solidFill xmlns:a="http://schemas.openxmlformats.org/drawingml/2006/main">
            <a:srgbClr val="2471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8B40F55-0153-4A75-9CD8-F5C0ECE2E1AE}"/>
              </a:ext>
            </a:extLst>
          </p:cNvPr>
          <p:cNvSpPr>
            <a:spLocks xmlns:a="http://schemas.openxmlformats.org/drawingml/2006/main" noGrp="1"/>
          </p:cNvSpPr>
          <p:nvPr/>
        </p:nvSpPr>
        <p:spPr>
          <a:xfrm xmlns:a="http://schemas.openxmlformats.org/drawingml/2006/main">
            <a:off x="10953750" y="62484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1737A"/>
                </a:solidFill>
                <a:latin typeface="Noto Sans"/>
                <a:ea typeface="Noto Sans"/>
                <a:cs typeface="Noto Sans"/>
              </a:defRPr>
            </a:pPr>
            <a:r>
              <a:rPr sz="1200" b="0">
                <a:solidFill>
                  <a:srgbClr val="61737A"/>
                </a:solidFill>
                <a:latin typeface="Noto Sans"/>
                <a:ea typeface="Noto Sans"/>
                <a:cs typeface="Noto Sans"/>
              </a:rPr>
              <a:t>11</a:t>
            </a:r>
          </a:p>
        </p:txBody>
      </p:sp>
      <p:sp>
        <p:nvSpPr>
          <p:cNvPr id="4" name="">
            <a:extLst xmlns:a="http://schemas.openxmlformats.org/drawingml/2006/main">
              <a:ext uri="{FF2B5EF4-FFF2-40B4-BE49-F238E27FC236}">
                <a16:creationId xmlns:a16="http://schemas.microsoft.com/office/drawing/2014/main" id="{64EEB657-8C0B-449E-A9F5-D7A8FE952078}"/>
              </a:ext>
            </a:extLst>
          </p:cNvPr>
          <p:cNvSpPr>
            <a:spLocks xmlns:a="http://schemas.openxmlformats.org/drawingml/2006/main" noGrp="1"/>
          </p:cNvSpPr>
          <p:nvPr/>
        </p:nvSpPr>
        <p:spPr>
          <a:xfrm xmlns:a="http://schemas.openxmlformats.org/drawingml/2006/main">
            <a:off x="742950" y="1743075"/>
            <a:ext cx="1657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C46B42"/>
                </a:solidFill>
                <a:latin typeface="Noto Sans"/>
                <a:ea typeface="Noto Sans"/>
                <a:cs typeface="Noto Sans"/>
              </a:defRPr>
            </a:pPr>
            <a:r>
              <a:rPr sz="2025" b="1">
                <a:solidFill>
                  <a:srgbClr val="C46B42"/>
                </a:solidFill>
                <a:latin typeface="Noto Sans"/>
                <a:ea typeface="Noto Sans"/>
                <a:cs typeface="Noto Sans"/>
              </a:rPr>
              <a:t>Tầng 1</a:t>
            </a:r>
          </a:p>
        </p:txBody>
      </p:sp>
      <p:sp>
        <p:nvSpPr>
          <p:cNvPr id="5" name="">
            <a:extLst xmlns:a="http://schemas.openxmlformats.org/drawingml/2006/main">
              <a:ext uri="{FF2B5EF4-FFF2-40B4-BE49-F238E27FC236}">
                <a16:creationId xmlns:a16="http://schemas.microsoft.com/office/drawing/2014/main" id="{A1EB4FC3-FA6A-4679-990C-A0BE6649FCF2}"/>
              </a:ext>
            </a:extLst>
          </p:cNvPr>
          <p:cNvSpPr>
            <a:spLocks xmlns:a="http://schemas.openxmlformats.org/drawingml/2006/main" noGrp="1"/>
          </p:cNvSpPr>
          <p:nvPr/>
        </p:nvSpPr>
        <p:spPr>
          <a:xfrm xmlns:a="http://schemas.openxmlformats.org/drawingml/2006/main">
            <a:off x="2571750" y="1743075"/>
            <a:ext cx="4495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17324D"/>
                </a:solidFill>
                <a:latin typeface="Noto Sans"/>
                <a:ea typeface="Noto Sans"/>
                <a:cs typeface="Noto Sans"/>
              </a:defRPr>
            </a:pPr>
            <a:r>
              <a:rPr sz="1875" b="1">
                <a:solidFill>
                  <a:srgbClr val="17324D"/>
                </a:solidFill>
                <a:latin typeface="Noto Sans"/>
                <a:ea typeface="Noto Sans"/>
                <a:cs typeface="Noto Sans"/>
              </a:rPr>
              <a:t>C++ số thực và số cố định</a:t>
            </a:r>
          </a:p>
        </p:txBody>
      </p:sp>
      <p:sp>
        <p:nvSpPr>
          <p:cNvPr id="6" name="">
            <a:extLst xmlns:a="http://schemas.openxmlformats.org/drawingml/2006/main">
              <a:ext uri="{FF2B5EF4-FFF2-40B4-BE49-F238E27FC236}">
                <a16:creationId xmlns:a16="http://schemas.microsoft.com/office/drawing/2014/main" id="{D2FBD48C-A983-47EF-816B-152630C644A4}"/>
              </a:ext>
            </a:extLst>
          </p:cNvPr>
          <p:cNvSpPr>
            <a:spLocks xmlns:a="http://schemas.openxmlformats.org/drawingml/2006/main" noGrp="1"/>
          </p:cNvSpPr>
          <p:nvPr/>
        </p:nvSpPr>
        <p:spPr>
          <a:xfrm xmlns:a="http://schemas.openxmlformats.org/drawingml/2006/main">
            <a:off x="7096125" y="1743075"/>
            <a:ext cx="3924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243B49"/>
                </a:solidFill>
                <a:latin typeface="Noto Sans"/>
                <a:ea typeface="Noto Sans"/>
                <a:cs typeface="Noto Sans"/>
              </a:defRPr>
            </a:pPr>
            <a:r>
              <a:rPr sz="1575" b="0">
                <a:solidFill>
                  <a:srgbClr val="243B49"/>
                </a:solidFill>
                <a:latin typeface="Noto Sans"/>
                <a:ea typeface="Noto Sans"/>
                <a:cs typeface="Noto Sans"/>
              </a:rPr>
              <a:t>Đo tác động của lượng tử hoá</a:t>
            </a:r>
          </a:p>
        </p:txBody>
      </p:sp>
      <p:sp>
        <p:nvSpPr>
          <p:cNvPr id="7" name="">
            <a:extLst xmlns:a="http://schemas.openxmlformats.org/drawingml/2006/main">
              <a:ext uri="{FF2B5EF4-FFF2-40B4-BE49-F238E27FC236}">
                <a16:creationId xmlns:a16="http://schemas.microsoft.com/office/drawing/2014/main" id="{5C99EE89-118B-44A7-BC5D-847133E99C65}"/>
              </a:ext>
            </a:extLst>
          </p:cNvPr>
          <p:cNvSpPr>
            <a:spLocks xmlns:a="http://schemas.openxmlformats.org/drawingml/2006/main" noGrp="1"/>
          </p:cNvSpPr>
          <p:nvPr/>
        </p:nvSpPr>
        <p:spPr>
          <a:xfrm xmlns:a="http://schemas.openxmlformats.org/drawingml/2006/main">
            <a:off x="742950" y="2800350"/>
            <a:ext cx="10077450" cy="19050"/>
          </a:xfrm>
          <a:prstGeom xmlns:a="http://schemas.openxmlformats.org/drawingml/2006/main" prst="rect">
            <a:avLst/>
          </a:prstGeom>
          <a:solidFill xmlns:a="http://schemas.openxmlformats.org/drawingml/2006/main">
            <a:srgbClr val="CBD8D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029885D-0E4D-45D4-BC7C-4B3D387EE6D1}"/>
              </a:ext>
            </a:extLst>
          </p:cNvPr>
          <p:cNvSpPr>
            <a:spLocks xmlns:a="http://schemas.openxmlformats.org/drawingml/2006/main" noGrp="1"/>
          </p:cNvSpPr>
          <p:nvPr/>
        </p:nvSpPr>
        <p:spPr>
          <a:xfrm xmlns:a="http://schemas.openxmlformats.org/drawingml/2006/main">
            <a:off x="742950" y="3067050"/>
            <a:ext cx="1657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C46B42"/>
                </a:solidFill>
                <a:latin typeface="Noto Sans"/>
                <a:ea typeface="Noto Sans"/>
                <a:cs typeface="Noto Sans"/>
              </a:defRPr>
            </a:pPr>
            <a:r>
              <a:rPr sz="2025" b="1">
                <a:solidFill>
                  <a:srgbClr val="C46B42"/>
                </a:solidFill>
                <a:latin typeface="Noto Sans"/>
                <a:ea typeface="Noto Sans"/>
                <a:cs typeface="Noto Sans"/>
              </a:rPr>
              <a:t>Tầng 2</a:t>
            </a:r>
          </a:p>
        </p:txBody>
      </p:sp>
      <p:sp>
        <p:nvSpPr>
          <p:cNvPr id="9" name="">
            <a:extLst xmlns:a="http://schemas.openxmlformats.org/drawingml/2006/main">
              <a:ext uri="{FF2B5EF4-FFF2-40B4-BE49-F238E27FC236}">
                <a16:creationId xmlns:a16="http://schemas.microsoft.com/office/drawing/2014/main" id="{9C7D961F-81D0-412A-993E-6A6BD7CDF487}"/>
              </a:ext>
            </a:extLst>
          </p:cNvPr>
          <p:cNvSpPr>
            <a:spLocks xmlns:a="http://schemas.openxmlformats.org/drawingml/2006/main" noGrp="1"/>
          </p:cNvSpPr>
          <p:nvPr/>
        </p:nvSpPr>
        <p:spPr>
          <a:xfrm xmlns:a="http://schemas.openxmlformats.org/drawingml/2006/main">
            <a:off x="2571750" y="3067050"/>
            <a:ext cx="4495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17324D"/>
                </a:solidFill>
                <a:latin typeface="Noto Sans"/>
                <a:ea typeface="Noto Sans"/>
                <a:cs typeface="Noto Sans"/>
              </a:defRPr>
            </a:pPr>
            <a:r>
              <a:rPr sz="1875" b="1">
                <a:solidFill>
                  <a:srgbClr val="17324D"/>
                </a:solidFill>
                <a:latin typeface="Noto Sans"/>
                <a:ea typeface="Noto Sans"/>
                <a:cs typeface="Noto Sans"/>
              </a:rPr>
              <a:t>Testbench và RTL</a:t>
            </a:r>
          </a:p>
        </p:txBody>
      </p:sp>
      <p:sp>
        <p:nvSpPr>
          <p:cNvPr id="10" name="">
            <a:extLst xmlns:a="http://schemas.openxmlformats.org/drawingml/2006/main">
              <a:ext uri="{FF2B5EF4-FFF2-40B4-BE49-F238E27FC236}">
                <a16:creationId xmlns:a16="http://schemas.microsoft.com/office/drawing/2014/main" id="{E6F2EF66-6A79-447C-BF2A-410DD1AE7521}"/>
              </a:ext>
            </a:extLst>
          </p:cNvPr>
          <p:cNvSpPr>
            <a:spLocks xmlns:a="http://schemas.openxmlformats.org/drawingml/2006/main" noGrp="1"/>
          </p:cNvSpPr>
          <p:nvPr/>
        </p:nvSpPr>
        <p:spPr>
          <a:xfrm xmlns:a="http://schemas.openxmlformats.org/drawingml/2006/main">
            <a:off x="7096125" y="3067050"/>
            <a:ext cx="3924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243B49"/>
                </a:solidFill>
                <a:latin typeface="Noto Sans"/>
                <a:ea typeface="Noto Sans"/>
                <a:cs typeface="Noto Sans"/>
              </a:defRPr>
            </a:pPr>
            <a:r>
              <a:rPr sz="1575" b="0">
                <a:solidFill>
                  <a:srgbClr val="243B49"/>
                </a:solidFill>
                <a:latin typeface="Noto Sans"/>
                <a:ea typeface="Noto Sans"/>
                <a:cs typeface="Noto Sans"/>
              </a:rPr>
              <a:t>So từng mẫu với C++ số cố định</a:t>
            </a:r>
          </a:p>
        </p:txBody>
      </p:sp>
      <p:sp>
        <p:nvSpPr>
          <p:cNvPr id="11" name="">
            <a:extLst xmlns:a="http://schemas.openxmlformats.org/drawingml/2006/main">
              <a:ext uri="{FF2B5EF4-FFF2-40B4-BE49-F238E27FC236}">
                <a16:creationId xmlns:a16="http://schemas.microsoft.com/office/drawing/2014/main" id="{74D8E42B-911A-456A-B29A-F0F047F6E900}"/>
              </a:ext>
            </a:extLst>
          </p:cNvPr>
          <p:cNvSpPr>
            <a:spLocks xmlns:a="http://schemas.openxmlformats.org/drawingml/2006/main" noGrp="1"/>
          </p:cNvSpPr>
          <p:nvPr/>
        </p:nvSpPr>
        <p:spPr>
          <a:xfrm xmlns:a="http://schemas.openxmlformats.org/drawingml/2006/main">
            <a:off x="742950" y="4124325"/>
            <a:ext cx="10077450" cy="19050"/>
          </a:xfrm>
          <a:prstGeom xmlns:a="http://schemas.openxmlformats.org/drawingml/2006/main" prst="rect">
            <a:avLst/>
          </a:prstGeom>
          <a:solidFill xmlns:a="http://schemas.openxmlformats.org/drawingml/2006/main">
            <a:srgbClr val="CBD8D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D94346C-E256-4BEB-8FE1-9F5AD88A4A0B}"/>
              </a:ext>
            </a:extLst>
          </p:cNvPr>
          <p:cNvSpPr>
            <a:spLocks xmlns:a="http://schemas.openxmlformats.org/drawingml/2006/main" noGrp="1"/>
          </p:cNvSpPr>
          <p:nvPr/>
        </p:nvSpPr>
        <p:spPr>
          <a:xfrm xmlns:a="http://schemas.openxmlformats.org/drawingml/2006/main">
            <a:off x="742950" y="4391025"/>
            <a:ext cx="1657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C46B42"/>
                </a:solidFill>
                <a:latin typeface="Noto Sans"/>
                <a:ea typeface="Noto Sans"/>
                <a:cs typeface="Noto Sans"/>
              </a:defRPr>
            </a:pPr>
            <a:r>
              <a:rPr sz="2025" b="1">
                <a:solidFill>
                  <a:srgbClr val="C46B42"/>
                </a:solidFill>
                <a:latin typeface="Noto Sans"/>
                <a:ea typeface="Noto Sans"/>
                <a:cs typeface="Noto Sans"/>
              </a:rPr>
              <a:t>Tầng 3</a:t>
            </a:r>
          </a:p>
        </p:txBody>
      </p:sp>
      <p:sp>
        <p:nvSpPr>
          <p:cNvPr id="13" name="">
            <a:extLst xmlns:a="http://schemas.openxmlformats.org/drawingml/2006/main">
              <a:ext uri="{FF2B5EF4-FFF2-40B4-BE49-F238E27FC236}">
                <a16:creationId xmlns:a16="http://schemas.microsoft.com/office/drawing/2014/main" id="{2BCAC5B7-573B-45AF-A8B8-5A9733C2E63C}"/>
              </a:ext>
            </a:extLst>
          </p:cNvPr>
          <p:cNvSpPr>
            <a:spLocks xmlns:a="http://schemas.openxmlformats.org/drawingml/2006/main" noGrp="1"/>
          </p:cNvSpPr>
          <p:nvPr/>
        </p:nvSpPr>
        <p:spPr>
          <a:xfrm xmlns:a="http://schemas.openxmlformats.org/drawingml/2006/main">
            <a:off x="2571750" y="4391025"/>
            <a:ext cx="4495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17324D"/>
                </a:solidFill>
                <a:latin typeface="Noto Sans"/>
                <a:ea typeface="Noto Sans"/>
                <a:cs typeface="Noto Sans"/>
              </a:defRPr>
            </a:pPr>
            <a:r>
              <a:rPr sz="1875" b="1">
                <a:solidFill>
                  <a:srgbClr val="17324D"/>
                </a:solidFill>
                <a:latin typeface="Noto Sans"/>
                <a:ea typeface="Noto Sans"/>
                <a:cs typeface="Noto Sans"/>
              </a:rPr>
              <a:t>Chạy trên board</a:t>
            </a:r>
          </a:p>
        </p:txBody>
      </p:sp>
      <p:sp>
        <p:nvSpPr>
          <p:cNvPr id="14" name="">
            <a:extLst xmlns:a="http://schemas.openxmlformats.org/drawingml/2006/main">
              <a:ext uri="{FF2B5EF4-FFF2-40B4-BE49-F238E27FC236}">
                <a16:creationId xmlns:a16="http://schemas.microsoft.com/office/drawing/2014/main" id="{0265AEAD-3D56-4E09-BACB-D1EF678AF148}"/>
              </a:ext>
            </a:extLst>
          </p:cNvPr>
          <p:cNvSpPr>
            <a:spLocks xmlns:a="http://schemas.openxmlformats.org/drawingml/2006/main" noGrp="1"/>
          </p:cNvSpPr>
          <p:nvPr/>
        </p:nvSpPr>
        <p:spPr>
          <a:xfrm xmlns:a="http://schemas.openxmlformats.org/drawingml/2006/main">
            <a:off x="7096125" y="4391025"/>
            <a:ext cx="3924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243B49"/>
                </a:solidFill>
                <a:latin typeface="Noto Sans"/>
                <a:ea typeface="Noto Sans"/>
                <a:cs typeface="Noto Sans"/>
              </a:defRPr>
            </a:pPr>
            <a:r>
              <a:rPr sz="1575" b="0">
                <a:solidFill>
                  <a:srgbClr val="243B49"/>
                </a:solidFill>
                <a:latin typeface="Noto Sans"/>
                <a:ea typeface="Noto Sans"/>
                <a:cs typeface="Noto Sans"/>
              </a:rPr>
              <a:t>Kiểm tra giao tiếp và kết quả thực</a:t>
            </a:r>
          </a:p>
        </p:txBody>
      </p:sp>
      <p:sp>
        <p:nvSpPr>
          <p:cNvPr id="15" name="">
            <a:extLst xmlns:a="http://schemas.openxmlformats.org/drawingml/2006/main">
              <a:ext uri="{FF2B5EF4-FFF2-40B4-BE49-F238E27FC236}">
                <a16:creationId xmlns:a16="http://schemas.microsoft.com/office/drawing/2014/main" id="{4981F173-226F-49C5-82B8-B245139AA2A7}"/>
              </a:ext>
            </a:extLst>
          </p:cNvPr>
          <p:cNvSpPr>
            <a:spLocks xmlns:a="http://schemas.openxmlformats.org/drawingml/2006/main" noGrp="1"/>
          </p:cNvSpPr>
          <p:nvPr/>
        </p:nvSpPr>
        <p:spPr>
          <a:xfrm xmlns:a="http://schemas.openxmlformats.org/drawingml/2006/main">
            <a:off x="742950" y="578167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24717A"/>
                </a:solidFill>
                <a:latin typeface="Noto Sans"/>
                <a:ea typeface="Noto Sans"/>
                <a:cs typeface="Noto Sans"/>
              </a:defRPr>
            </a:pPr>
            <a:r>
              <a:rPr sz="1500" b="1">
                <a:solidFill>
                  <a:srgbClr val="24717A"/>
                </a:solidFill>
                <a:latin typeface="Noto Sans"/>
                <a:ea typeface="Noto Sans"/>
                <a:cs typeface="Noto Sans"/>
              </a:rPr>
              <a:t>Trường hợp biên: nhiệt độ âm, thay đổi đột ngột, reset, dữ liệu chưa đủ 25 mẫu.</a:t>
            </a:r>
          </a:p>
        </p:txBody>
      </p:sp>
    </p:spTree>
    <p:extLst>
      <p:ext uri="{BB962C8B-B14F-4D97-AF65-F5344CB8AC3E}">
        <p14:creationId xmlns:p14="http://schemas.microsoft.com/office/powerpoint/2010/main" val="765382972"/>
      </p:ext>
    </p:extLst>
  </p:cSld>
</p:sld>
</file>

<file path=ppt/slides/slide12.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C446635-B22F-4750-9D05-68CCE2D69207}"/>
              </a:ext>
            </a:extLst>
          </p:cNvPr>
          <p:cNvSpPr>
            <a:spLocks xmlns:a="http://schemas.openxmlformats.org/drawingml/2006/main" noGrp="1"/>
          </p:cNvSpPr>
          <p:nvPr/>
        </p:nvSpPr>
        <p:spPr>
          <a:xfrm xmlns:a="http://schemas.openxmlformats.org/drawingml/2006/main">
            <a:off x="666750" y="4095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7324D"/>
                </a:solidFill>
                <a:latin typeface="Noto Sans"/>
                <a:ea typeface="Noto Sans"/>
                <a:cs typeface="Noto Sans"/>
              </a:defRPr>
            </a:pPr>
            <a:r>
              <a:rPr sz="2850" b="1">
                <a:solidFill>
                  <a:srgbClr val="17324D"/>
                </a:solidFill>
                <a:latin typeface="Noto Sans"/>
                <a:ea typeface="Noto Sans"/>
                <a:cs typeface="Noto Sans"/>
              </a:rPr>
              <a:t>Kịch bản demo cuối kỳ</a:t>
            </a:r>
          </a:p>
        </p:txBody>
      </p:sp>
      <p:sp>
        <p:nvSpPr>
          <p:cNvPr id="2" name="">
            <a:extLst xmlns:a="http://schemas.openxmlformats.org/drawingml/2006/main">
              <a:ext uri="{FF2B5EF4-FFF2-40B4-BE49-F238E27FC236}">
                <a16:creationId xmlns:a16="http://schemas.microsoft.com/office/drawing/2014/main" id="{ACF4F481-5602-4863-A3DE-22B8EECBE6A5}"/>
              </a:ext>
            </a:extLst>
          </p:cNvPr>
          <p:cNvSpPr>
            <a:spLocks xmlns:a="http://schemas.openxmlformats.org/drawingml/2006/main" noGrp="1"/>
          </p:cNvSpPr>
          <p:nvPr/>
        </p:nvSpPr>
        <p:spPr>
          <a:xfrm xmlns:a="http://schemas.openxmlformats.org/drawingml/2006/main">
            <a:off x="666750" y="1238250"/>
            <a:ext cx="10839450" cy="28575"/>
          </a:xfrm>
          <a:prstGeom xmlns:a="http://schemas.openxmlformats.org/drawingml/2006/main" prst="rect">
            <a:avLst/>
          </a:prstGeom>
          <a:solidFill xmlns:a="http://schemas.openxmlformats.org/drawingml/2006/main">
            <a:srgbClr val="2471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C3D5394-05C0-41DF-A20F-5A5EC921191A}"/>
              </a:ext>
            </a:extLst>
          </p:cNvPr>
          <p:cNvSpPr>
            <a:spLocks xmlns:a="http://schemas.openxmlformats.org/drawingml/2006/main" noGrp="1"/>
          </p:cNvSpPr>
          <p:nvPr/>
        </p:nvSpPr>
        <p:spPr>
          <a:xfrm xmlns:a="http://schemas.openxmlformats.org/drawingml/2006/main">
            <a:off x="10953750" y="62484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1737A"/>
                </a:solidFill>
                <a:latin typeface="Noto Sans"/>
                <a:ea typeface="Noto Sans"/>
                <a:cs typeface="Noto Sans"/>
              </a:defRPr>
            </a:pPr>
            <a:r>
              <a:rPr sz="1200" b="0">
                <a:solidFill>
                  <a:srgbClr val="61737A"/>
                </a:solidFill>
                <a:latin typeface="Noto Sans"/>
                <a:ea typeface="Noto Sans"/>
                <a:cs typeface="Noto Sans"/>
              </a:rPr>
              <a:t>12</a:t>
            </a:r>
          </a:p>
        </p:txBody>
      </p:sp>
      <p:sp>
        <p:nvSpPr>
          <p:cNvPr id="4" name="">
            <a:extLst xmlns:a="http://schemas.openxmlformats.org/drawingml/2006/main">
              <a:ext uri="{FF2B5EF4-FFF2-40B4-BE49-F238E27FC236}">
                <a16:creationId xmlns:a16="http://schemas.microsoft.com/office/drawing/2014/main" id="{2AA1BC71-3C9F-4F8B-A6D0-2DC5E63B8A92}"/>
              </a:ext>
            </a:extLst>
          </p:cNvPr>
          <p:cNvSpPr>
            <a:spLocks xmlns:a="http://schemas.openxmlformats.org/drawingml/2006/main" noGrp="1"/>
          </p:cNvSpPr>
          <p:nvPr/>
        </p:nvSpPr>
        <p:spPr>
          <a:xfrm xmlns:a="http://schemas.openxmlformats.org/drawingml/2006/main">
            <a:off x="733425" y="1866900"/>
            <a:ext cx="2657475" cy="1809750"/>
          </a:xfrm>
          <a:prstGeom xmlns:a="http://schemas.openxmlformats.org/drawingml/2006/main" prst="roundRect">
            <a:avLst>
              <a:gd name="adj" fmla="val 4211"/>
            </a:avLst>
          </a:prstGeom>
          <a:solidFill xmlns:a="http://schemas.openxmlformats.org/drawingml/2006/main">
            <a:srgbClr val="E7F0E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410B1F3-B266-4354-A4AD-508B5947023F}"/>
              </a:ext>
            </a:extLst>
          </p:cNvPr>
          <p:cNvSpPr>
            <a:spLocks xmlns:a="http://schemas.openxmlformats.org/drawingml/2006/main" noGrp="1"/>
          </p:cNvSpPr>
          <p:nvPr/>
        </p:nvSpPr>
        <p:spPr>
          <a:xfrm xmlns:a="http://schemas.openxmlformats.org/drawingml/2006/main">
            <a:off x="904875" y="2095500"/>
            <a:ext cx="23145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324D"/>
                </a:solidFill>
                <a:latin typeface="Noto Sans"/>
                <a:ea typeface="Noto Sans"/>
                <a:cs typeface="Noto Sans"/>
              </a:defRPr>
            </a:pPr>
            <a:r>
              <a:rPr sz="2025" b="1">
                <a:solidFill>
                  <a:srgbClr val="17324D"/>
                </a:solidFill>
                <a:latin typeface="Noto Sans"/>
                <a:ea typeface="Noto Sans"/>
                <a:cs typeface="Noto Sans"/>
              </a:rPr>
              <a:t>Máy tính</a:t>
            </a:r>
          </a:p>
        </p:txBody>
      </p:sp>
      <p:sp>
        <p:nvSpPr>
          <p:cNvPr id="6" name="">
            <a:extLst xmlns:a="http://schemas.openxmlformats.org/drawingml/2006/main">
              <a:ext uri="{FF2B5EF4-FFF2-40B4-BE49-F238E27FC236}">
                <a16:creationId xmlns:a16="http://schemas.microsoft.com/office/drawing/2014/main" id="{C1C2D79B-7BA5-48C8-9002-73A6EF3BCC12}"/>
              </a:ext>
            </a:extLst>
          </p:cNvPr>
          <p:cNvSpPr>
            <a:spLocks xmlns:a="http://schemas.openxmlformats.org/drawingml/2006/main" noGrp="1"/>
          </p:cNvSpPr>
          <p:nvPr/>
        </p:nvSpPr>
        <p:spPr>
          <a:xfrm xmlns:a="http://schemas.openxmlformats.org/drawingml/2006/main">
            <a:off x="904875" y="2762250"/>
            <a:ext cx="23145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243B49"/>
                </a:solidFill>
                <a:latin typeface="Noto Sans"/>
                <a:ea typeface="Noto Sans"/>
                <a:cs typeface="Noto Sans"/>
              </a:defRPr>
            </a:pPr>
            <a:r>
              <a:rPr sz="1575" b="0">
                <a:solidFill>
                  <a:srgbClr val="243B49"/>
                </a:solidFill>
                <a:latin typeface="Noto Sans"/>
                <a:ea typeface="Noto Sans"/>
                <a:cs typeface="Noto Sans"/>
              </a:rPr>
              <a:t>Phát lại chuỗi nhiệt độ</a:t>
            </a:r>
          </a:p>
          <a:p xmlns:a="http://schemas.openxmlformats.org/drawingml/2006/main">
            <a:pPr>
              <a:defRPr sz="1575" b="0">
                <a:solidFill>
                  <a:srgbClr val="243B49"/>
                </a:solidFill>
                <a:latin typeface="Noto Sans"/>
                <a:ea typeface="Noto Sans"/>
                <a:cs typeface="Noto Sans"/>
              </a:defRPr>
            </a:pPr>
            <a:r>
              <a:rPr sz="1575" b="0">
                <a:solidFill>
                  <a:srgbClr val="243B49"/>
                </a:solidFill>
                <a:latin typeface="Noto Sans"/>
                <a:ea typeface="Noto Sans"/>
                <a:cs typeface="Noto Sans"/>
              </a:rPr>
              <a:t>theo giờ từ dữ liệu cũ</a:t>
            </a:r>
          </a:p>
        </p:txBody>
      </p:sp>
      <p:sp>
        <p:nvSpPr>
          <p:cNvPr id="7" name="">
            <a:extLst xmlns:a="http://schemas.openxmlformats.org/drawingml/2006/main">
              <a:ext uri="{FF2B5EF4-FFF2-40B4-BE49-F238E27FC236}">
                <a16:creationId xmlns:a16="http://schemas.microsoft.com/office/drawing/2014/main" id="{B7044D33-8459-468A-AF62-722634DB02C4}"/>
              </a:ext>
            </a:extLst>
          </p:cNvPr>
          <p:cNvSpPr>
            <a:spLocks xmlns:a="http://schemas.openxmlformats.org/drawingml/2006/main" noGrp="1"/>
          </p:cNvSpPr>
          <p:nvPr/>
        </p:nvSpPr>
        <p:spPr>
          <a:xfrm xmlns:a="http://schemas.openxmlformats.org/drawingml/2006/main">
            <a:off x="4772025" y="1866900"/>
            <a:ext cx="2657475" cy="1809750"/>
          </a:xfrm>
          <a:prstGeom xmlns:a="http://schemas.openxmlformats.org/drawingml/2006/main" prst="roundRect">
            <a:avLst>
              <a:gd name="adj" fmla="val 4211"/>
            </a:avLst>
          </a:prstGeom>
          <a:solidFill xmlns:a="http://schemas.openxmlformats.org/drawingml/2006/main">
            <a:srgbClr val="E7F0E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0F438B6-412E-40DF-BF18-3633649902C2}"/>
              </a:ext>
            </a:extLst>
          </p:cNvPr>
          <p:cNvSpPr>
            <a:spLocks xmlns:a="http://schemas.openxmlformats.org/drawingml/2006/main" noGrp="1"/>
          </p:cNvSpPr>
          <p:nvPr/>
        </p:nvSpPr>
        <p:spPr>
          <a:xfrm xmlns:a="http://schemas.openxmlformats.org/drawingml/2006/main">
            <a:off x="4943475" y="2095500"/>
            <a:ext cx="23145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324D"/>
                </a:solidFill>
                <a:latin typeface="Noto Sans"/>
                <a:ea typeface="Noto Sans"/>
                <a:cs typeface="Noto Sans"/>
              </a:defRPr>
            </a:pPr>
            <a:r>
              <a:rPr sz="2025" b="1">
                <a:solidFill>
                  <a:srgbClr val="17324D"/>
                </a:solidFill>
                <a:latin typeface="Noto Sans"/>
                <a:ea typeface="Noto Sans"/>
                <a:cs typeface="Noto Sans"/>
              </a:rPr>
              <a:t>FPGA</a:t>
            </a:r>
          </a:p>
        </p:txBody>
      </p:sp>
      <p:sp>
        <p:nvSpPr>
          <p:cNvPr id="9" name="">
            <a:extLst xmlns:a="http://schemas.openxmlformats.org/drawingml/2006/main">
              <a:ext uri="{FF2B5EF4-FFF2-40B4-BE49-F238E27FC236}">
                <a16:creationId xmlns:a16="http://schemas.microsoft.com/office/drawing/2014/main" id="{4A9EA793-61F4-49AE-A862-0D0B9BD6EE07}"/>
              </a:ext>
            </a:extLst>
          </p:cNvPr>
          <p:cNvSpPr>
            <a:spLocks xmlns:a="http://schemas.openxmlformats.org/drawingml/2006/main" noGrp="1"/>
          </p:cNvSpPr>
          <p:nvPr/>
        </p:nvSpPr>
        <p:spPr>
          <a:xfrm xmlns:a="http://schemas.openxmlformats.org/drawingml/2006/main">
            <a:off x="4943475" y="2762250"/>
            <a:ext cx="23145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243B49"/>
                </a:solidFill>
                <a:latin typeface="Noto Sans"/>
                <a:ea typeface="Noto Sans"/>
                <a:cs typeface="Noto Sans"/>
              </a:defRPr>
            </a:pPr>
            <a:r>
              <a:rPr sz="1575" b="0">
                <a:solidFill>
                  <a:srgbClr val="243B49"/>
                </a:solidFill>
                <a:latin typeface="Noto Sans"/>
                <a:ea typeface="Noto Sans"/>
                <a:cs typeface="Noto Sans"/>
              </a:rPr>
              <a:t>Nhận từng mẫu và tạo</a:t>
            </a:r>
          </a:p>
          <a:p xmlns:a="http://schemas.openxmlformats.org/drawingml/2006/main">
            <a:pPr>
              <a:defRPr sz="1575" b="0">
                <a:solidFill>
                  <a:srgbClr val="243B49"/>
                </a:solidFill>
                <a:latin typeface="Noto Sans"/>
                <a:ea typeface="Noto Sans"/>
                <a:cs typeface="Noto Sans"/>
              </a:defRPr>
            </a:pPr>
            <a:r>
              <a:rPr sz="1575" b="0">
                <a:solidFill>
                  <a:srgbClr val="243B49"/>
                </a:solidFill>
                <a:latin typeface="Noto Sans"/>
                <a:ea typeface="Noto Sans"/>
                <a:cs typeface="Noto Sans"/>
              </a:rPr>
              <a:t>dự báo T̂(t+3)</a:t>
            </a:r>
          </a:p>
        </p:txBody>
      </p:sp>
      <p:sp>
        <p:nvSpPr>
          <p:cNvPr id="10" name="">
            <a:extLst xmlns:a="http://schemas.openxmlformats.org/drawingml/2006/main">
              <a:ext uri="{FF2B5EF4-FFF2-40B4-BE49-F238E27FC236}">
                <a16:creationId xmlns:a16="http://schemas.microsoft.com/office/drawing/2014/main" id="{8210F182-E831-4EAE-89EE-1F18C562FF87}"/>
              </a:ext>
            </a:extLst>
          </p:cNvPr>
          <p:cNvSpPr>
            <a:spLocks xmlns:a="http://schemas.openxmlformats.org/drawingml/2006/main" noGrp="1"/>
          </p:cNvSpPr>
          <p:nvPr/>
        </p:nvSpPr>
        <p:spPr>
          <a:xfrm xmlns:a="http://schemas.openxmlformats.org/drawingml/2006/main">
            <a:off x="8810625" y="1866900"/>
            <a:ext cx="2657475" cy="1809750"/>
          </a:xfrm>
          <a:prstGeom xmlns:a="http://schemas.openxmlformats.org/drawingml/2006/main" prst="roundRect">
            <a:avLst>
              <a:gd name="adj" fmla="val 4211"/>
            </a:avLst>
          </a:prstGeom>
          <a:solidFill xmlns:a="http://schemas.openxmlformats.org/drawingml/2006/main">
            <a:srgbClr val="E7F0E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3EEA8D5-39F4-4424-BE7E-01D86D754F4E}"/>
              </a:ext>
            </a:extLst>
          </p:cNvPr>
          <p:cNvSpPr>
            <a:spLocks xmlns:a="http://schemas.openxmlformats.org/drawingml/2006/main" noGrp="1"/>
          </p:cNvSpPr>
          <p:nvPr/>
        </p:nvSpPr>
        <p:spPr>
          <a:xfrm xmlns:a="http://schemas.openxmlformats.org/drawingml/2006/main">
            <a:off x="8982075" y="2095500"/>
            <a:ext cx="23145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7324D"/>
                </a:solidFill>
                <a:latin typeface="Noto Sans"/>
                <a:ea typeface="Noto Sans"/>
                <a:cs typeface="Noto Sans"/>
              </a:defRPr>
            </a:pPr>
            <a:r>
              <a:rPr sz="2025" b="1">
                <a:solidFill>
                  <a:srgbClr val="17324D"/>
                </a:solidFill>
                <a:latin typeface="Noto Sans"/>
                <a:ea typeface="Noto Sans"/>
                <a:cs typeface="Noto Sans"/>
              </a:rPr>
              <a:t>Đối chiếu</a:t>
            </a:r>
          </a:p>
        </p:txBody>
      </p:sp>
      <p:sp>
        <p:nvSpPr>
          <p:cNvPr id="12" name="">
            <a:extLst xmlns:a="http://schemas.openxmlformats.org/drawingml/2006/main">
              <a:ext uri="{FF2B5EF4-FFF2-40B4-BE49-F238E27FC236}">
                <a16:creationId xmlns:a16="http://schemas.microsoft.com/office/drawing/2014/main" id="{B4C1AE57-FAD8-4C9E-92EA-118172A30F01}"/>
              </a:ext>
            </a:extLst>
          </p:cNvPr>
          <p:cNvSpPr>
            <a:spLocks xmlns:a="http://schemas.openxmlformats.org/drawingml/2006/main" noGrp="1"/>
          </p:cNvSpPr>
          <p:nvPr/>
        </p:nvSpPr>
        <p:spPr>
          <a:xfrm xmlns:a="http://schemas.openxmlformats.org/drawingml/2006/main">
            <a:off x="8982075" y="2762250"/>
            <a:ext cx="23145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243B49"/>
                </a:solidFill>
                <a:latin typeface="Noto Sans"/>
                <a:ea typeface="Noto Sans"/>
                <a:cs typeface="Noto Sans"/>
              </a:defRPr>
            </a:pPr>
            <a:r>
              <a:rPr sz="1575" b="0">
                <a:solidFill>
                  <a:srgbClr val="243B49"/>
                </a:solidFill>
                <a:latin typeface="Noto Sans"/>
                <a:ea typeface="Noto Sans"/>
                <a:cs typeface="Noto Sans"/>
              </a:rPr>
              <a:t>Hiển thị dự báo và</a:t>
            </a:r>
          </a:p>
          <a:p xmlns:a="http://schemas.openxmlformats.org/drawingml/2006/main">
            <a:pPr>
              <a:defRPr sz="1575" b="0">
                <a:solidFill>
                  <a:srgbClr val="243B49"/>
                </a:solidFill>
                <a:latin typeface="Noto Sans"/>
                <a:ea typeface="Noto Sans"/>
                <a:cs typeface="Noto Sans"/>
              </a:defRPr>
            </a:pPr>
            <a:r>
              <a:rPr sz="1575" b="0">
                <a:solidFill>
                  <a:srgbClr val="243B49"/>
                </a:solidFill>
                <a:latin typeface="Noto Sans"/>
                <a:ea typeface="Noto Sans"/>
                <a:cs typeface="Noto Sans"/>
              </a:rPr>
              <a:t>T(t+3) thực trong CSV</a:t>
            </a:r>
          </a:p>
        </p:txBody>
      </p:sp>
      <p:sp>
        <p:nvSpPr>
          <p:cNvPr id="13" name="">
            <a:extLst xmlns:a="http://schemas.openxmlformats.org/drawingml/2006/main">
              <a:ext uri="{FF2B5EF4-FFF2-40B4-BE49-F238E27FC236}">
                <a16:creationId xmlns:a16="http://schemas.microsoft.com/office/drawing/2014/main" id="{FF306350-5688-4578-9426-B2B8DA18FB14}"/>
              </a:ext>
            </a:extLst>
          </p:cNvPr>
          <p:cNvSpPr>
            <a:spLocks xmlns:a="http://schemas.openxmlformats.org/drawingml/2006/main" noGrp="1"/>
          </p:cNvSpPr>
          <p:nvPr/>
        </p:nvSpPr>
        <p:spPr>
          <a:xfrm xmlns:a="http://schemas.openxmlformats.org/drawingml/2006/main">
            <a:off x="3676650" y="2390775"/>
            <a:ext cx="66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C46B42"/>
                </a:solidFill>
                <a:latin typeface="Noto Sans"/>
                <a:ea typeface="Noto Sans"/>
                <a:cs typeface="Noto Sans"/>
              </a:defRPr>
            </a:pPr>
            <a:r>
              <a:rPr sz="3600" b="1">
                <a:solidFill>
                  <a:srgbClr val="C46B42"/>
                </a:solidFill>
                <a:latin typeface="Noto Sans"/>
                <a:ea typeface="Noto Sans"/>
                <a:cs typeface="Noto Sans"/>
              </a:rPr>
              <a:t>→</a:t>
            </a:r>
          </a:p>
        </p:txBody>
      </p:sp>
      <p:sp>
        <p:nvSpPr>
          <p:cNvPr id="14" name="">
            <a:extLst xmlns:a="http://schemas.openxmlformats.org/drawingml/2006/main">
              <a:ext uri="{FF2B5EF4-FFF2-40B4-BE49-F238E27FC236}">
                <a16:creationId xmlns:a16="http://schemas.microsoft.com/office/drawing/2014/main" id="{BFF866F8-33F5-43D4-9B85-945179DD5F36}"/>
              </a:ext>
            </a:extLst>
          </p:cNvPr>
          <p:cNvSpPr>
            <a:spLocks xmlns:a="http://schemas.openxmlformats.org/drawingml/2006/main" noGrp="1"/>
          </p:cNvSpPr>
          <p:nvPr/>
        </p:nvSpPr>
        <p:spPr>
          <a:xfrm xmlns:a="http://schemas.openxmlformats.org/drawingml/2006/main">
            <a:off x="7715250" y="2390775"/>
            <a:ext cx="66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C46B42"/>
                </a:solidFill>
                <a:latin typeface="Noto Sans"/>
                <a:ea typeface="Noto Sans"/>
                <a:cs typeface="Noto Sans"/>
              </a:defRPr>
            </a:pPr>
            <a:r>
              <a:rPr sz="3600" b="1">
                <a:solidFill>
                  <a:srgbClr val="C46B42"/>
                </a:solidFill>
                <a:latin typeface="Noto Sans"/>
                <a:ea typeface="Noto Sans"/>
                <a:cs typeface="Noto Sans"/>
              </a:rPr>
              <a:t>→</a:t>
            </a:r>
          </a:p>
        </p:txBody>
      </p:sp>
      <p:sp>
        <p:nvSpPr>
          <p:cNvPr id="15" name="">
            <a:extLst xmlns:a="http://schemas.openxmlformats.org/drawingml/2006/main">
              <a:ext uri="{FF2B5EF4-FFF2-40B4-BE49-F238E27FC236}">
                <a16:creationId xmlns:a16="http://schemas.microsoft.com/office/drawing/2014/main" id="{3F8CAC12-5A6F-4939-A669-B7366103C1F4}"/>
              </a:ext>
            </a:extLst>
          </p:cNvPr>
          <p:cNvSpPr>
            <a:spLocks xmlns:a="http://schemas.openxmlformats.org/drawingml/2006/main" noGrp="1"/>
          </p:cNvSpPr>
          <p:nvPr/>
        </p:nvSpPr>
        <p:spPr>
          <a:xfrm xmlns:a="http://schemas.openxmlformats.org/drawingml/2006/main">
            <a:off x="733425" y="4276725"/>
            <a:ext cx="10096500" cy="19050"/>
          </a:xfrm>
          <a:prstGeom xmlns:a="http://schemas.openxmlformats.org/drawingml/2006/main" prst="rect">
            <a:avLst/>
          </a:prstGeom>
          <a:solidFill xmlns:a="http://schemas.openxmlformats.org/drawingml/2006/main">
            <a:srgbClr val="CBD8D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47E4DA4-5010-40F8-91D9-5FF214654139}"/>
              </a:ext>
            </a:extLst>
          </p:cNvPr>
          <p:cNvSpPr>
            <a:spLocks xmlns:a="http://schemas.openxmlformats.org/drawingml/2006/main" noGrp="1"/>
          </p:cNvSpPr>
          <p:nvPr/>
        </p:nvSpPr>
        <p:spPr>
          <a:xfrm xmlns:a="http://schemas.openxmlformats.org/drawingml/2006/main">
            <a:off x="733425" y="4591050"/>
            <a:ext cx="10287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24717A"/>
                </a:solidFill>
                <a:latin typeface="Noto Sans"/>
                <a:ea typeface="Noto Sans"/>
                <a:cs typeface="Noto Sans"/>
              </a:defRPr>
            </a:pPr>
            <a:r>
              <a:rPr sz="1725" b="1">
                <a:solidFill>
                  <a:srgbClr val="24717A"/>
                </a:solidFill>
                <a:latin typeface="Noto Sans"/>
                <a:ea typeface="Noto Sans"/>
                <a:cs typeface="Noto Sans"/>
              </a:rPr>
              <a:t>Dữ liệu được phát lại nhanh để demo. FPGA vẫn chỉ thấy các mẫu tới thời điểm t khi tính dự báo.</a:t>
            </a:r>
          </a:p>
        </p:txBody>
      </p:sp>
    </p:spTree>
    <p:extLst>
      <p:ext uri="{BB962C8B-B14F-4D97-AF65-F5344CB8AC3E}">
        <p14:creationId xmlns:p14="http://schemas.microsoft.com/office/powerpoint/2010/main" val="849504699"/>
      </p:ext>
    </p:extLst>
  </p:cSld>
</p:sld>
</file>

<file path=ppt/slides/slide13.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B3562D6-371A-4486-8C02-7075CE23FD8C}"/>
              </a:ext>
            </a:extLst>
          </p:cNvPr>
          <p:cNvSpPr>
            <a:spLocks xmlns:a="http://schemas.openxmlformats.org/drawingml/2006/main" noGrp="1"/>
          </p:cNvSpPr>
          <p:nvPr/>
        </p:nvSpPr>
        <p:spPr>
          <a:xfrm xmlns:a="http://schemas.openxmlformats.org/drawingml/2006/main">
            <a:off x="666750" y="4095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7324D"/>
                </a:solidFill>
                <a:latin typeface="Noto Sans"/>
                <a:ea typeface="Noto Sans"/>
                <a:cs typeface="Noto Sans"/>
              </a:defRPr>
            </a:pPr>
            <a:r>
              <a:rPr sz="2850" b="1">
                <a:solidFill>
                  <a:srgbClr val="17324D"/>
                </a:solidFill>
                <a:latin typeface="Noto Sans"/>
                <a:ea typeface="Noto Sans"/>
                <a:cs typeface="Noto Sans"/>
              </a:rPr>
              <a:t>Kế hoạch 12 tuần và mốc bàn giao</a:t>
            </a:r>
          </a:p>
        </p:txBody>
      </p:sp>
      <p:sp>
        <p:nvSpPr>
          <p:cNvPr id="2" name="">
            <a:extLst xmlns:a="http://schemas.openxmlformats.org/drawingml/2006/main">
              <a:ext uri="{FF2B5EF4-FFF2-40B4-BE49-F238E27FC236}">
                <a16:creationId xmlns:a16="http://schemas.microsoft.com/office/drawing/2014/main" id="{6F788804-D56F-4647-905F-230E4C377C0E}"/>
              </a:ext>
            </a:extLst>
          </p:cNvPr>
          <p:cNvSpPr>
            <a:spLocks xmlns:a="http://schemas.openxmlformats.org/drawingml/2006/main" noGrp="1"/>
          </p:cNvSpPr>
          <p:nvPr/>
        </p:nvSpPr>
        <p:spPr>
          <a:xfrm xmlns:a="http://schemas.openxmlformats.org/drawingml/2006/main">
            <a:off x="666750" y="1238250"/>
            <a:ext cx="10839450" cy="28575"/>
          </a:xfrm>
          <a:prstGeom xmlns:a="http://schemas.openxmlformats.org/drawingml/2006/main" prst="rect">
            <a:avLst/>
          </a:prstGeom>
          <a:solidFill xmlns:a="http://schemas.openxmlformats.org/drawingml/2006/main">
            <a:srgbClr val="2471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8615C3E-1300-4E31-B7E2-7FA7F1B67783}"/>
              </a:ext>
            </a:extLst>
          </p:cNvPr>
          <p:cNvSpPr>
            <a:spLocks xmlns:a="http://schemas.openxmlformats.org/drawingml/2006/main" noGrp="1"/>
          </p:cNvSpPr>
          <p:nvPr/>
        </p:nvSpPr>
        <p:spPr>
          <a:xfrm xmlns:a="http://schemas.openxmlformats.org/drawingml/2006/main">
            <a:off x="10953750" y="62484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1737A"/>
                </a:solidFill>
                <a:latin typeface="Noto Sans"/>
                <a:ea typeface="Noto Sans"/>
                <a:cs typeface="Noto Sans"/>
              </a:defRPr>
            </a:pPr>
            <a:r>
              <a:rPr sz="1200" b="0">
                <a:solidFill>
                  <a:srgbClr val="61737A"/>
                </a:solidFill>
                <a:latin typeface="Noto Sans"/>
                <a:ea typeface="Noto Sans"/>
                <a:cs typeface="Noto Sans"/>
              </a:rPr>
              <a:t>13</a:t>
            </a:r>
          </a:p>
        </p:txBody>
      </p:sp>
      <p:sp>
        <p:nvSpPr>
          <p:cNvPr id="4" name="">
            <a:extLst xmlns:a="http://schemas.openxmlformats.org/drawingml/2006/main">
              <a:ext uri="{FF2B5EF4-FFF2-40B4-BE49-F238E27FC236}">
                <a16:creationId xmlns:a16="http://schemas.microsoft.com/office/drawing/2014/main" id="{7C1392F9-0EEB-4C56-AED2-D202277B4A2B}"/>
              </a:ext>
            </a:extLst>
          </p:cNvPr>
          <p:cNvSpPr>
            <a:spLocks xmlns:a="http://schemas.openxmlformats.org/drawingml/2006/main" noGrp="1"/>
          </p:cNvSpPr>
          <p:nvPr/>
        </p:nvSpPr>
        <p:spPr>
          <a:xfrm xmlns:a="http://schemas.openxmlformats.org/drawingml/2006/main">
            <a:off x="733425" y="1809750"/>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C46B42"/>
                </a:solidFill>
                <a:latin typeface="Noto Sans"/>
                <a:ea typeface="Noto Sans"/>
                <a:cs typeface="Noto Sans"/>
              </a:defRPr>
            </a:pPr>
            <a:r>
              <a:rPr sz="2100" b="1">
                <a:solidFill>
                  <a:srgbClr val="C46B42"/>
                </a:solidFill>
                <a:latin typeface="Noto Sans"/>
                <a:ea typeface="Noto Sans"/>
                <a:cs typeface="Noto Sans"/>
              </a:rPr>
              <a:t>Tuần 1–3</a:t>
            </a:r>
          </a:p>
        </p:txBody>
      </p:sp>
      <p:sp>
        <p:nvSpPr>
          <p:cNvPr id="5" name="">
            <a:extLst xmlns:a="http://schemas.openxmlformats.org/drawingml/2006/main">
              <a:ext uri="{FF2B5EF4-FFF2-40B4-BE49-F238E27FC236}">
                <a16:creationId xmlns:a16="http://schemas.microsoft.com/office/drawing/2014/main" id="{6543AF79-2327-43A7-9D11-7D4365D7D2B6}"/>
              </a:ext>
            </a:extLst>
          </p:cNvPr>
          <p:cNvSpPr>
            <a:spLocks xmlns:a="http://schemas.openxmlformats.org/drawingml/2006/main" noGrp="1"/>
          </p:cNvSpPr>
          <p:nvPr/>
        </p:nvSpPr>
        <p:spPr>
          <a:xfrm xmlns:a="http://schemas.openxmlformats.org/drawingml/2006/main">
            <a:off x="733425" y="2419350"/>
            <a:ext cx="242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7324D"/>
                </a:solidFill>
                <a:latin typeface="Noto Sans"/>
                <a:ea typeface="Noto Sans"/>
                <a:cs typeface="Noto Sans"/>
              </a:defRPr>
            </a:pPr>
            <a:r>
              <a:rPr sz="1800" b="1">
                <a:solidFill>
                  <a:srgbClr val="17324D"/>
                </a:solidFill>
                <a:latin typeface="Noto Sans"/>
                <a:ea typeface="Noto Sans"/>
                <a:cs typeface="Noto Sans"/>
              </a:rPr>
              <a:t>Dữ liệu</a:t>
            </a:r>
          </a:p>
        </p:txBody>
      </p:sp>
      <p:sp>
        <p:nvSpPr>
          <p:cNvPr id="6" name="">
            <a:extLst xmlns:a="http://schemas.openxmlformats.org/drawingml/2006/main">
              <a:ext uri="{FF2B5EF4-FFF2-40B4-BE49-F238E27FC236}">
                <a16:creationId xmlns:a16="http://schemas.microsoft.com/office/drawing/2014/main" id="{5393E676-AD0D-4CF1-B550-69E0E0F18609}"/>
              </a:ext>
            </a:extLst>
          </p:cNvPr>
          <p:cNvSpPr>
            <a:spLocks xmlns:a="http://schemas.openxmlformats.org/drawingml/2006/main" noGrp="1"/>
          </p:cNvSpPr>
          <p:nvPr/>
        </p:nvSpPr>
        <p:spPr>
          <a:xfrm xmlns:a="http://schemas.openxmlformats.org/drawingml/2006/main">
            <a:off x="733425" y="3181350"/>
            <a:ext cx="23812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243B49"/>
                </a:solidFill>
                <a:latin typeface="Noto Sans"/>
                <a:ea typeface="Noto Sans"/>
                <a:cs typeface="Noto Sans"/>
              </a:defRPr>
            </a:pPr>
            <a:r>
              <a:rPr sz="1575" b="0">
                <a:solidFill>
                  <a:srgbClr val="243B49"/>
                </a:solidFill>
                <a:latin typeface="Noto Sans"/>
                <a:ea typeface="Noto Sans"/>
                <a:cs typeface="Noto Sans"/>
              </a:rPr>
              <a:t>CSV sạch; baseline</a:t>
            </a:r>
          </a:p>
        </p:txBody>
      </p:sp>
      <p:sp>
        <p:nvSpPr>
          <p:cNvPr id="7" name="">
            <a:extLst xmlns:a="http://schemas.openxmlformats.org/drawingml/2006/main">
              <a:ext uri="{FF2B5EF4-FFF2-40B4-BE49-F238E27FC236}">
                <a16:creationId xmlns:a16="http://schemas.microsoft.com/office/drawing/2014/main" id="{AB5465E2-12CA-4278-9C1C-3A4DA8DA9B9B}"/>
              </a:ext>
            </a:extLst>
          </p:cNvPr>
          <p:cNvSpPr>
            <a:spLocks xmlns:a="http://schemas.openxmlformats.org/drawingml/2006/main" noGrp="1"/>
          </p:cNvSpPr>
          <p:nvPr/>
        </p:nvSpPr>
        <p:spPr>
          <a:xfrm xmlns:a="http://schemas.openxmlformats.org/drawingml/2006/main">
            <a:off x="3114675" y="2181225"/>
            <a:ext cx="257175" cy="28575"/>
          </a:xfrm>
          <a:prstGeom xmlns:a="http://schemas.openxmlformats.org/drawingml/2006/main" prst="rect">
            <a:avLst/>
          </a:prstGeom>
          <a:solidFill xmlns:a="http://schemas.openxmlformats.org/drawingml/2006/main">
            <a:srgbClr val="24717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1FD41CB-4927-4B50-A18B-5EEB279D7A1B}"/>
              </a:ext>
            </a:extLst>
          </p:cNvPr>
          <p:cNvSpPr>
            <a:spLocks xmlns:a="http://schemas.openxmlformats.org/drawingml/2006/main" noGrp="1"/>
          </p:cNvSpPr>
          <p:nvPr/>
        </p:nvSpPr>
        <p:spPr>
          <a:xfrm xmlns:a="http://schemas.openxmlformats.org/drawingml/2006/main">
            <a:off x="3467100" y="1809750"/>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C46B42"/>
                </a:solidFill>
                <a:latin typeface="Noto Sans"/>
                <a:ea typeface="Noto Sans"/>
                <a:cs typeface="Noto Sans"/>
              </a:defRPr>
            </a:pPr>
            <a:r>
              <a:rPr sz="2100" b="1">
                <a:solidFill>
                  <a:srgbClr val="C46B42"/>
                </a:solidFill>
                <a:latin typeface="Noto Sans"/>
                <a:ea typeface="Noto Sans"/>
                <a:cs typeface="Noto Sans"/>
              </a:rPr>
              <a:t>Tuần 4–6</a:t>
            </a:r>
          </a:p>
        </p:txBody>
      </p:sp>
      <p:sp>
        <p:nvSpPr>
          <p:cNvPr id="9" name="">
            <a:extLst xmlns:a="http://schemas.openxmlformats.org/drawingml/2006/main">
              <a:ext uri="{FF2B5EF4-FFF2-40B4-BE49-F238E27FC236}">
                <a16:creationId xmlns:a16="http://schemas.microsoft.com/office/drawing/2014/main" id="{19F7B9AF-976A-4D7E-9B81-8B0AE37368DA}"/>
              </a:ext>
            </a:extLst>
          </p:cNvPr>
          <p:cNvSpPr>
            <a:spLocks xmlns:a="http://schemas.openxmlformats.org/drawingml/2006/main" noGrp="1"/>
          </p:cNvSpPr>
          <p:nvPr/>
        </p:nvSpPr>
        <p:spPr>
          <a:xfrm xmlns:a="http://schemas.openxmlformats.org/drawingml/2006/main">
            <a:off x="3467100" y="2419350"/>
            <a:ext cx="242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7324D"/>
                </a:solidFill>
                <a:latin typeface="Noto Sans"/>
                <a:ea typeface="Noto Sans"/>
                <a:cs typeface="Noto Sans"/>
              </a:defRPr>
            </a:pPr>
            <a:r>
              <a:rPr sz="1800" b="1">
                <a:solidFill>
                  <a:srgbClr val="17324D"/>
                </a:solidFill>
                <a:latin typeface="Noto Sans"/>
                <a:ea typeface="Noto Sans"/>
                <a:cs typeface="Noto Sans"/>
              </a:rPr>
              <a:t>Mô hình C++</a:t>
            </a:r>
          </a:p>
        </p:txBody>
      </p:sp>
      <p:sp>
        <p:nvSpPr>
          <p:cNvPr id="10" name="">
            <a:extLst xmlns:a="http://schemas.openxmlformats.org/drawingml/2006/main">
              <a:ext uri="{FF2B5EF4-FFF2-40B4-BE49-F238E27FC236}">
                <a16:creationId xmlns:a16="http://schemas.microsoft.com/office/drawing/2014/main" id="{D476DEBB-8023-4AA5-8745-D6E20FBC4F58}"/>
              </a:ext>
            </a:extLst>
          </p:cNvPr>
          <p:cNvSpPr>
            <a:spLocks xmlns:a="http://schemas.openxmlformats.org/drawingml/2006/main" noGrp="1"/>
          </p:cNvSpPr>
          <p:nvPr/>
        </p:nvSpPr>
        <p:spPr>
          <a:xfrm xmlns:a="http://schemas.openxmlformats.org/drawingml/2006/main">
            <a:off x="3467100" y="3181350"/>
            <a:ext cx="23812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243B49"/>
                </a:solidFill>
                <a:latin typeface="Noto Sans"/>
                <a:ea typeface="Noto Sans"/>
                <a:cs typeface="Noto Sans"/>
              </a:defRPr>
            </a:pPr>
            <a:r>
              <a:rPr sz="1575" b="0">
                <a:solidFill>
                  <a:srgbClr val="243B49"/>
                </a:solidFill>
                <a:latin typeface="Noto Sans"/>
                <a:ea typeface="Noto Sans"/>
                <a:cs typeface="Noto Sans"/>
              </a:rPr>
              <a:t>Hệ số; MAE trên dữ liệu mới</a:t>
            </a:r>
          </a:p>
        </p:txBody>
      </p:sp>
      <p:sp>
        <p:nvSpPr>
          <p:cNvPr id="11" name="">
            <a:extLst xmlns:a="http://schemas.openxmlformats.org/drawingml/2006/main">
              <a:ext uri="{FF2B5EF4-FFF2-40B4-BE49-F238E27FC236}">
                <a16:creationId xmlns:a16="http://schemas.microsoft.com/office/drawing/2014/main" id="{A4415BA3-E71E-4CBA-9F72-E60FDDFCEC8E}"/>
              </a:ext>
            </a:extLst>
          </p:cNvPr>
          <p:cNvSpPr>
            <a:spLocks xmlns:a="http://schemas.openxmlformats.org/drawingml/2006/main" noGrp="1"/>
          </p:cNvSpPr>
          <p:nvPr/>
        </p:nvSpPr>
        <p:spPr>
          <a:xfrm xmlns:a="http://schemas.openxmlformats.org/drawingml/2006/main">
            <a:off x="5848350" y="2181225"/>
            <a:ext cx="257175" cy="28575"/>
          </a:xfrm>
          <a:prstGeom xmlns:a="http://schemas.openxmlformats.org/drawingml/2006/main" prst="rect">
            <a:avLst/>
          </a:prstGeom>
          <a:solidFill xmlns:a="http://schemas.openxmlformats.org/drawingml/2006/main">
            <a:srgbClr val="24717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848683D-F9DD-47BC-964A-6053E0459EFD}"/>
              </a:ext>
            </a:extLst>
          </p:cNvPr>
          <p:cNvSpPr>
            <a:spLocks xmlns:a="http://schemas.openxmlformats.org/drawingml/2006/main" noGrp="1"/>
          </p:cNvSpPr>
          <p:nvPr/>
        </p:nvSpPr>
        <p:spPr>
          <a:xfrm xmlns:a="http://schemas.openxmlformats.org/drawingml/2006/main">
            <a:off x="6229350" y="1809750"/>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C46B42"/>
                </a:solidFill>
                <a:latin typeface="Noto Sans"/>
                <a:ea typeface="Noto Sans"/>
                <a:cs typeface="Noto Sans"/>
              </a:defRPr>
            </a:pPr>
            <a:r>
              <a:rPr sz="2100" b="1">
                <a:solidFill>
                  <a:srgbClr val="C46B42"/>
                </a:solidFill>
                <a:latin typeface="Noto Sans"/>
                <a:ea typeface="Noto Sans"/>
                <a:cs typeface="Noto Sans"/>
              </a:rPr>
              <a:t>Tuần 7–9</a:t>
            </a:r>
          </a:p>
        </p:txBody>
      </p:sp>
      <p:sp>
        <p:nvSpPr>
          <p:cNvPr id="13" name="">
            <a:extLst xmlns:a="http://schemas.openxmlformats.org/drawingml/2006/main">
              <a:ext uri="{FF2B5EF4-FFF2-40B4-BE49-F238E27FC236}">
                <a16:creationId xmlns:a16="http://schemas.microsoft.com/office/drawing/2014/main" id="{1FC8EBD2-B074-4EAA-88D2-11840CD859EC}"/>
              </a:ext>
            </a:extLst>
          </p:cNvPr>
          <p:cNvSpPr>
            <a:spLocks xmlns:a="http://schemas.openxmlformats.org/drawingml/2006/main" noGrp="1"/>
          </p:cNvSpPr>
          <p:nvPr/>
        </p:nvSpPr>
        <p:spPr>
          <a:xfrm xmlns:a="http://schemas.openxmlformats.org/drawingml/2006/main">
            <a:off x="6229350" y="2419350"/>
            <a:ext cx="242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7324D"/>
                </a:solidFill>
                <a:latin typeface="Noto Sans"/>
                <a:ea typeface="Noto Sans"/>
                <a:cs typeface="Noto Sans"/>
              </a:defRPr>
            </a:pPr>
            <a:r>
              <a:rPr sz="1800" b="1">
                <a:solidFill>
                  <a:srgbClr val="17324D"/>
                </a:solidFill>
                <a:latin typeface="Noto Sans"/>
                <a:ea typeface="Noto Sans"/>
                <a:cs typeface="Noto Sans"/>
              </a:rPr>
              <a:t>RTL và testbench</a:t>
            </a:r>
          </a:p>
        </p:txBody>
      </p:sp>
      <p:sp>
        <p:nvSpPr>
          <p:cNvPr id="14" name="">
            <a:extLst xmlns:a="http://schemas.openxmlformats.org/drawingml/2006/main">
              <a:ext uri="{FF2B5EF4-FFF2-40B4-BE49-F238E27FC236}">
                <a16:creationId xmlns:a16="http://schemas.microsoft.com/office/drawing/2014/main" id="{6017C647-2343-4EA1-907A-A7127936DA45}"/>
              </a:ext>
            </a:extLst>
          </p:cNvPr>
          <p:cNvSpPr>
            <a:spLocks xmlns:a="http://schemas.openxmlformats.org/drawingml/2006/main" noGrp="1"/>
          </p:cNvSpPr>
          <p:nvPr/>
        </p:nvSpPr>
        <p:spPr>
          <a:xfrm xmlns:a="http://schemas.openxmlformats.org/drawingml/2006/main">
            <a:off x="6229350" y="3181350"/>
            <a:ext cx="23812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243B49"/>
                </a:solidFill>
                <a:latin typeface="Noto Sans"/>
                <a:ea typeface="Noto Sans"/>
                <a:cs typeface="Noto Sans"/>
              </a:defRPr>
            </a:pPr>
            <a:r>
              <a:rPr sz="1575" b="0">
                <a:solidFill>
                  <a:srgbClr val="243B49"/>
                </a:solidFill>
                <a:latin typeface="Noto Sans"/>
                <a:ea typeface="Noto Sans"/>
                <a:cs typeface="Noto Sans"/>
              </a:rPr>
              <a:t>Đối chiếu số cố định</a:t>
            </a:r>
          </a:p>
        </p:txBody>
      </p:sp>
      <p:sp>
        <p:nvSpPr>
          <p:cNvPr id="15" name="">
            <a:extLst xmlns:a="http://schemas.openxmlformats.org/drawingml/2006/main">
              <a:ext uri="{FF2B5EF4-FFF2-40B4-BE49-F238E27FC236}">
                <a16:creationId xmlns:a16="http://schemas.microsoft.com/office/drawing/2014/main" id="{126057C8-FE7C-40F3-B53B-8F1CD5E38128}"/>
              </a:ext>
            </a:extLst>
          </p:cNvPr>
          <p:cNvSpPr>
            <a:spLocks xmlns:a="http://schemas.openxmlformats.org/drawingml/2006/main" noGrp="1"/>
          </p:cNvSpPr>
          <p:nvPr/>
        </p:nvSpPr>
        <p:spPr>
          <a:xfrm xmlns:a="http://schemas.openxmlformats.org/drawingml/2006/main">
            <a:off x="8610600" y="2181225"/>
            <a:ext cx="257175" cy="28575"/>
          </a:xfrm>
          <a:prstGeom xmlns:a="http://schemas.openxmlformats.org/drawingml/2006/main" prst="rect">
            <a:avLst/>
          </a:prstGeom>
          <a:solidFill xmlns:a="http://schemas.openxmlformats.org/drawingml/2006/main">
            <a:srgbClr val="24717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39DB29D-ABE5-4082-BDB8-E0B50FBC3669}"/>
              </a:ext>
            </a:extLst>
          </p:cNvPr>
          <p:cNvSpPr>
            <a:spLocks xmlns:a="http://schemas.openxmlformats.org/drawingml/2006/main" noGrp="1"/>
          </p:cNvSpPr>
          <p:nvPr/>
        </p:nvSpPr>
        <p:spPr>
          <a:xfrm xmlns:a="http://schemas.openxmlformats.org/drawingml/2006/main">
            <a:off x="8991600" y="1809750"/>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C46B42"/>
                </a:solidFill>
                <a:latin typeface="Noto Sans"/>
                <a:ea typeface="Noto Sans"/>
                <a:cs typeface="Noto Sans"/>
              </a:defRPr>
            </a:pPr>
            <a:r>
              <a:rPr sz="2100" b="1">
                <a:solidFill>
                  <a:srgbClr val="C46B42"/>
                </a:solidFill>
                <a:latin typeface="Noto Sans"/>
                <a:ea typeface="Noto Sans"/>
                <a:cs typeface="Noto Sans"/>
              </a:rPr>
              <a:t>Tuần 10–12</a:t>
            </a:r>
          </a:p>
        </p:txBody>
      </p:sp>
      <p:sp>
        <p:nvSpPr>
          <p:cNvPr id="17" name="">
            <a:extLst xmlns:a="http://schemas.openxmlformats.org/drawingml/2006/main">
              <a:ext uri="{FF2B5EF4-FFF2-40B4-BE49-F238E27FC236}">
                <a16:creationId xmlns:a16="http://schemas.microsoft.com/office/drawing/2014/main" id="{79F5BFFE-16B3-4C03-8EAD-E36AFA6BA100}"/>
              </a:ext>
            </a:extLst>
          </p:cNvPr>
          <p:cNvSpPr>
            <a:spLocks xmlns:a="http://schemas.openxmlformats.org/drawingml/2006/main" noGrp="1"/>
          </p:cNvSpPr>
          <p:nvPr/>
        </p:nvSpPr>
        <p:spPr>
          <a:xfrm xmlns:a="http://schemas.openxmlformats.org/drawingml/2006/main">
            <a:off x="8991600" y="2419350"/>
            <a:ext cx="242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7324D"/>
                </a:solidFill>
                <a:latin typeface="Noto Sans"/>
                <a:ea typeface="Noto Sans"/>
                <a:cs typeface="Noto Sans"/>
              </a:defRPr>
            </a:pPr>
            <a:r>
              <a:rPr sz="1800" b="1">
                <a:solidFill>
                  <a:srgbClr val="17324D"/>
                </a:solidFill>
                <a:latin typeface="Noto Sans"/>
                <a:ea typeface="Noto Sans"/>
                <a:cs typeface="Noto Sans"/>
              </a:rPr>
              <a:t>Board và báo cáo</a:t>
            </a:r>
          </a:p>
        </p:txBody>
      </p:sp>
      <p:sp>
        <p:nvSpPr>
          <p:cNvPr id="18" name="">
            <a:extLst xmlns:a="http://schemas.openxmlformats.org/drawingml/2006/main">
              <a:ext uri="{FF2B5EF4-FFF2-40B4-BE49-F238E27FC236}">
                <a16:creationId xmlns:a16="http://schemas.microsoft.com/office/drawing/2014/main" id="{E781F907-3A09-4BD6-92B6-86358134E09D}"/>
              </a:ext>
            </a:extLst>
          </p:cNvPr>
          <p:cNvSpPr>
            <a:spLocks xmlns:a="http://schemas.openxmlformats.org/drawingml/2006/main" noGrp="1"/>
          </p:cNvSpPr>
          <p:nvPr/>
        </p:nvSpPr>
        <p:spPr>
          <a:xfrm xmlns:a="http://schemas.openxmlformats.org/drawingml/2006/main">
            <a:off x="8991600" y="3181350"/>
            <a:ext cx="23812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243B49"/>
                </a:solidFill>
                <a:latin typeface="Noto Sans"/>
                <a:ea typeface="Noto Sans"/>
                <a:cs typeface="Noto Sans"/>
              </a:defRPr>
            </a:pPr>
            <a:r>
              <a:rPr sz="1575" b="0">
                <a:solidFill>
                  <a:srgbClr val="243B49"/>
                </a:solidFill>
                <a:latin typeface="Noto Sans"/>
                <a:ea typeface="Noto Sans"/>
                <a:cs typeface="Noto Sans"/>
              </a:rPr>
              <a:t>Demo; tài nguyên; giới hạn</a:t>
            </a:r>
          </a:p>
        </p:txBody>
      </p:sp>
      <p:sp>
        <p:nvSpPr>
          <p:cNvPr id="19" name="">
            <a:extLst xmlns:a="http://schemas.openxmlformats.org/drawingml/2006/main">
              <a:ext uri="{FF2B5EF4-FFF2-40B4-BE49-F238E27FC236}">
                <a16:creationId xmlns:a16="http://schemas.microsoft.com/office/drawing/2014/main" id="{AAD1A3F1-D26C-4482-8402-41410F69D3BF}"/>
              </a:ext>
            </a:extLst>
          </p:cNvPr>
          <p:cNvSpPr>
            <a:spLocks xmlns:a="http://schemas.openxmlformats.org/drawingml/2006/main" noGrp="1"/>
          </p:cNvSpPr>
          <p:nvPr/>
        </p:nvSpPr>
        <p:spPr>
          <a:xfrm xmlns:a="http://schemas.openxmlformats.org/drawingml/2006/main">
            <a:off x="733425" y="4819650"/>
            <a:ext cx="10096500" cy="19050"/>
          </a:xfrm>
          <a:prstGeom xmlns:a="http://schemas.openxmlformats.org/drawingml/2006/main" prst="rect">
            <a:avLst/>
          </a:prstGeom>
          <a:solidFill xmlns:a="http://schemas.openxmlformats.org/drawingml/2006/main">
            <a:srgbClr val="CBD8D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41EAE23-E0C7-4943-9965-ADC018990C84}"/>
              </a:ext>
            </a:extLst>
          </p:cNvPr>
          <p:cNvSpPr>
            <a:spLocks xmlns:a="http://schemas.openxmlformats.org/drawingml/2006/main" noGrp="1"/>
          </p:cNvSpPr>
          <p:nvPr/>
        </p:nvSpPr>
        <p:spPr>
          <a:xfrm xmlns:a="http://schemas.openxmlformats.org/drawingml/2006/main">
            <a:off x="733425" y="5105400"/>
            <a:ext cx="1028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24717A"/>
                </a:solidFill>
                <a:latin typeface="Noto Sans"/>
                <a:ea typeface="Noto Sans"/>
                <a:cs typeface="Noto Sans"/>
              </a:defRPr>
            </a:pPr>
            <a:r>
              <a:rPr sz="1725" b="1">
                <a:solidFill>
                  <a:srgbClr val="24717A"/>
                </a:solidFill>
                <a:latin typeface="Noto Sans"/>
                <a:ea typeface="Noto Sans"/>
                <a:cs typeface="Noto Sans"/>
              </a:rPr>
              <a:t>Giữa kỳ: chứng minh mô hình và RTL mô phỏng. Cuối kỳ: FPGA chạy demo và có số liệu đánh giá.</a:t>
            </a:r>
          </a:p>
        </p:txBody>
      </p:sp>
    </p:spTree>
    <p:extLst>
      <p:ext uri="{BB962C8B-B14F-4D97-AF65-F5344CB8AC3E}">
        <p14:creationId xmlns:p14="http://schemas.microsoft.com/office/powerpoint/2010/main" val="865179992"/>
      </p:ext>
    </p:extLst>
  </p:cSld>
</p:sld>
</file>

<file path=ppt/slides/slide14.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FE3E019-8021-4057-BD6C-CB726B9801E1}"/>
              </a:ext>
            </a:extLst>
          </p:cNvPr>
          <p:cNvSpPr>
            <a:spLocks xmlns:a="http://schemas.openxmlformats.org/drawingml/2006/main" noGrp="1"/>
          </p:cNvSpPr>
          <p:nvPr/>
        </p:nvSpPr>
        <p:spPr>
          <a:xfrm xmlns:a="http://schemas.openxmlformats.org/drawingml/2006/main">
            <a:off x="666750" y="4095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7324D"/>
                </a:solidFill>
                <a:latin typeface="Noto Sans"/>
                <a:ea typeface="Noto Sans"/>
                <a:cs typeface="Noto Sans"/>
              </a:defRPr>
            </a:pPr>
            <a:r>
              <a:rPr sz="2850" b="1">
                <a:solidFill>
                  <a:srgbClr val="17324D"/>
                </a:solidFill>
                <a:latin typeface="Noto Sans"/>
                <a:ea typeface="Noto Sans"/>
                <a:cs typeface="Noto Sans"/>
              </a:rPr>
              <a:t>Rủi ro chính và cách xử lý</a:t>
            </a:r>
          </a:p>
        </p:txBody>
      </p:sp>
      <p:sp>
        <p:nvSpPr>
          <p:cNvPr id="2" name="">
            <a:extLst xmlns:a="http://schemas.openxmlformats.org/drawingml/2006/main">
              <a:ext uri="{FF2B5EF4-FFF2-40B4-BE49-F238E27FC236}">
                <a16:creationId xmlns:a16="http://schemas.microsoft.com/office/drawing/2014/main" id="{6B10787A-B5CE-4CDF-82D1-C9A291A1CA05}"/>
              </a:ext>
            </a:extLst>
          </p:cNvPr>
          <p:cNvSpPr>
            <a:spLocks xmlns:a="http://schemas.openxmlformats.org/drawingml/2006/main" noGrp="1"/>
          </p:cNvSpPr>
          <p:nvPr/>
        </p:nvSpPr>
        <p:spPr>
          <a:xfrm xmlns:a="http://schemas.openxmlformats.org/drawingml/2006/main">
            <a:off x="666750" y="1238250"/>
            <a:ext cx="10839450" cy="28575"/>
          </a:xfrm>
          <a:prstGeom xmlns:a="http://schemas.openxmlformats.org/drawingml/2006/main" prst="rect">
            <a:avLst/>
          </a:prstGeom>
          <a:solidFill xmlns:a="http://schemas.openxmlformats.org/drawingml/2006/main">
            <a:srgbClr val="2471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A1E659B-383A-4578-A231-A4BAFDBD3350}"/>
              </a:ext>
            </a:extLst>
          </p:cNvPr>
          <p:cNvSpPr>
            <a:spLocks xmlns:a="http://schemas.openxmlformats.org/drawingml/2006/main" noGrp="1"/>
          </p:cNvSpPr>
          <p:nvPr/>
        </p:nvSpPr>
        <p:spPr>
          <a:xfrm xmlns:a="http://schemas.openxmlformats.org/drawingml/2006/main">
            <a:off x="10953750" y="62484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1737A"/>
                </a:solidFill>
                <a:latin typeface="Noto Sans"/>
                <a:ea typeface="Noto Sans"/>
                <a:cs typeface="Noto Sans"/>
              </a:defRPr>
            </a:pPr>
            <a:r>
              <a:rPr sz="1200" b="0">
                <a:solidFill>
                  <a:srgbClr val="61737A"/>
                </a:solidFill>
                <a:latin typeface="Noto Sans"/>
                <a:ea typeface="Noto Sans"/>
                <a:cs typeface="Noto Sans"/>
              </a:rPr>
              <a:t>14</a:t>
            </a:r>
          </a:p>
        </p:txBody>
      </p:sp>
      <p:sp>
        <p:nvSpPr>
          <p:cNvPr id="4" name="">
            <a:extLst xmlns:a="http://schemas.openxmlformats.org/drawingml/2006/main">
              <a:ext uri="{FF2B5EF4-FFF2-40B4-BE49-F238E27FC236}">
                <a16:creationId xmlns:a16="http://schemas.microsoft.com/office/drawing/2014/main" id="{D15E2F24-BCE4-4698-88F2-B2D2CA4530A5}"/>
              </a:ext>
            </a:extLst>
          </p:cNvPr>
          <p:cNvSpPr>
            <a:spLocks xmlns:a="http://schemas.openxmlformats.org/drawingml/2006/main" noGrp="1"/>
          </p:cNvSpPr>
          <p:nvPr/>
        </p:nvSpPr>
        <p:spPr>
          <a:xfrm xmlns:a="http://schemas.openxmlformats.org/drawingml/2006/main">
            <a:off x="742950" y="1762125"/>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C46B42"/>
                </a:solidFill>
                <a:latin typeface="Noto Sans"/>
                <a:ea typeface="Noto Sans"/>
                <a:cs typeface="Noto Sans"/>
              </a:defRPr>
            </a:pPr>
            <a:r>
              <a:rPr sz="1950" b="1">
                <a:solidFill>
                  <a:srgbClr val="C46B42"/>
                </a:solidFill>
                <a:latin typeface="Noto Sans"/>
                <a:ea typeface="Noto Sans"/>
                <a:cs typeface="Noto Sans"/>
              </a:rPr>
              <a:t>Dữ liệu</a:t>
            </a:r>
          </a:p>
        </p:txBody>
      </p:sp>
      <p:sp>
        <p:nvSpPr>
          <p:cNvPr id="5" name="">
            <a:extLst xmlns:a="http://schemas.openxmlformats.org/drawingml/2006/main">
              <a:ext uri="{FF2B5EF4-FFF2-40B4-BE49-F238E27FC236}">
                <a16:creationId xmlns:a16="http://schemas.microsoft.com/office/drawing/2014/main" id="{B5B3DE28-76D8-4BE8-9388-1E900F1B8988}"/>
              </a:ext>
            </a:extLst>
          </p:cNvPr>
          <p:cNvSpPr>
            <a:spLocks xmlns:a="http://schemas.openxmlformats.org/drawingml/2006/main" noGrp="1"/>
          </p:cNvSpPr>
          <p:nvPr/>
        </p:nvSpPr>
        <p:spPr>
          <a:xfrm xmlns:a="http://schemas.openxmlformats.org/drawingml/2006/main">
            <a:off x="2476500" y="1762125"/>
            <a:ext cx="4238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324D"/>
                </a:solidFill>
                <a:latin typeface="Noto Sans"/>
                <a:ea typeface="Noto Sans"/>
                <a:cs typeface="Noto Sans"/>
              </a:defRPr>
            </a:pPr>
            <a:r>
              <a:rPr sz="1725" b="1">
                <a:solidFill>
                  <a:srgbClr val="17324D"/>
                </a:solidFill>
                <a:latin typeface="Noto Sans"/>
                <a:ea typeface="Noto Sans"/>
                <a:cs typeface="Noto Sans"/>
              </a:rPr>
              <a:t>Thiếu giờ hoặc khác múi giờ</a:t>
            </a:r>
          </a:p>
        </p:txBody>
      </p:sp>
      <p:sp>
        <p:nvSpPr>
          <p:cNvPr id="6" name="">
            <a:extLst xmlns:a="http://schemas.openxmlformats.org/drawingml/2006/main">
              <a:ext uri="{FF2B5EF4-FFF2-40B4-BE49-F238E27FC236}">
                <a16:creationId xmlns:a16="http://schemas.microsoft.com/office/drawing/2014/main" id="{719BA306-BF64-4C48-AE69-D76E6A419394}"/>
              </a:ext>
            </a:extLst>
          </p:cNvPr>
          <p:cNvSpPr>
            <a:spLocks xmlns:a="http://schemas.openxmlformats.org/drawingml/2006/main" noGrp="1"/>
          </p:cNvSpPr>
          <p:nvPr/>
        </p:nvSpPr>
        <p:spPr>
          <a:xfrm xmlns:a="http://schemas.openxmlformats.org/drawingml/2006/main">
            <a:off x="7000875" y="1762125"/>
            <a:ext cx="39243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243B49"/>
                </a:solidFill>
                <a:latin typeface="Noto Sans"/>
                <a:ea typeface="Noto Sans"/>
                <a:cs typeface="Noto Sans"/>
              </a:defRPr>
            </a:pPr>
            <a:r>
              <a:rPr sz="1575" b="0">
                <a:solidFill>
                  <a:srgbClr val="243B49"/>
                </a:solidFill>
                <a:latin typeface="Noto Sans"/>
                <a:ea typeface="Noto Sans"/>
                <a:cs typeface="Noto Sans"/>
              </a:rPr>
              <a:t>Kiểm tra chuỗi thời gian trước khi tạo mẫu</a:t>
            </a:r>
          </a:p>
        </p:txBody>
      </p:sp>
      <p:sp>
        <p:nvSpPr>
          <p:cNvPr id="7" name="">
            <a:extLst xmlns:a="http://schemas.openxmlformats.org/drawingml/2006/main">
              <a:ext uri="{FF2B5EF4-FFF2-40B4-BE49-F238E27FC236}">
                <a16:creationId xmlns:a16="http://schemas.microsoft.com/office/drawing/2014/main" id="{4DB75CB2-C5BE-4711-9924-90F7E7006282}"/>
              </a:ext>
            </a:extLst>
          </p:cNvPr>
          <p:cNvSpPr>
            <a:spLocks xmlns:a="http://schemas.openxmlformats.org/drawingml/2006/main" noGrp="1"/>
          </p:cNvSpPr>
          <p:nvPr/>
        </p:nvSpPr>
        <p:spPr>
          <a:xfrm xmlns:a="http://schemas.openxmlformats.org/drawingml/2006/main">
            <a:off x="742950" y="2828925"/>
            <a:ext cx="10077450" cy="19050"/>
          </a:xfrm>
          <a:prstGeom xmlns:a="http://schemas.openxmlformats.org/drawingml/2006/main" prst="rect">
            <a:avLst/>
          </a:prstGeom>
          <a:solidFill xmlns:a="http://schemas.openxmlformats.org/drawingml/2006/main">
            <a:srgbClr val="CBD8D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C3D0047-E825-448B-8A79-75E5435DB1FE}"/>
              </a:ext>
            </a:extLst>
          </p:cNvPr>
          <p:cNvSpPr>
            <a:spLocks xmlns:a="http://schemas.openxmlformats.org/drawingml/2006/main" noGrp="1"/>
          </p:cNvSpPr>
          <p:nvPr/>
        </p:nvSpPr>
        <p:spPr>
          <a:xfrm xmlns:a="http://schemas.openxmlformats.org/drawingml/2006/main">
            <a:off x="742950" y="3095625"/>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C46B42"/>
                </a:solidFill>
                <a:latin typeface="Noto Sans"/>
                <a:ea typeface="Noto Sans"/>
                <a:cs typeface="Noto Sans"/>
              </a:defRPr>
            </a:pPr>
            <a:r>
              <a:rPr sz="1950" b="1">
                <a:solidFill>
                  <a:srgbClr val="C46B42"/>
                </a:solidFill>
                <a:latin typeface="Noto Sans"/>
                <a:ea typeface="Noto Sans"/>
                <a:cs typeface="Noto Sans"/>
              </a:rPr>
              <a:t>Mô hình</a:t>
            </a:r>
          </a:p>
        </p:txBody>
      </p:sp>
      <p:sp>
        <p:nvSpPr>
          <p:cNvPr id="9" name="">
            <a:extLst xmlns:a="http://schemas.openxmlformats.org/drawingml/2006/main">
              <a:ext uri="{FF2B5EF4-FFF2-40B4-BE49-F238E27FC236}">
                <a16:creationId xmlns:a16="http://schemas.microsoft.com/office/drawing/2014/main" id="{B79096A8-9C6F-4772-B9A7-4CD0CE096CA0}"/>
              </a:ext>
            </a:extLst>
          </p:cNvPr>
          <p:cNvSpPr>
            <a:spLocks xmlns:a="http://schemas.openxmlformats.org/drawingml/2006/main" noGrp="1"/>
          </p:cNvSpPr>
          <p:nvPr/>
        </p:nvSpPr>
        <p:spPr>
          <a:xfrm xmlns:a="http://schemas.openxmlformats.org/drawingml/2006/main">
            <a:off x="2476500" y="3095625"/>
            <a:ext cx="4238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324D"/>
                </a:solidFill>
                <a:latin typeface="Noto Sans"/>
                <a:ea typeface="Noto Sans"/>
                <a:cs typeface="Noto Sans"/>
              </a:defRPr>
            </a:pPr>
            <a:r>
              <a:rPr sz="1725" b="1">
                <a:solidFill>
                  <a:srgbClr val="17324D"/>
                </a:solidFill>
                <a:latin typeface="Noto Sans"/>
                <a:ea typeface="Noto Sans"/>
                <a:cs typeface="Noto Sans"/>
              </a:rPr>
              <a:t>Sai số không hơn mốc đơn giản</a:t>
            </a:r>
          </a:p>
        </p:txBody>
      </p:sp>
      <p:sp>
        <p:nvSpPr>
          <p:cNvPr id="10" name="">
            <a:extLst xmlns:a="http://schemas.openxmlformats.org/drawingml/2006/main">
              <a:ext uri="{FF2B5EF4-FFF2-40B4-BE49-F238E27FC236}">
                <a16:creationId xmlns:a16="http://schemas.microsoft.com/office/drawing/2014/main" id="{D39B6C49-A575-4357-968A-A99E62421185}"/>
              </a:ext>
            </a:extLst>
          </p:cNvPr>
          <p:cNvSpPr>
            <a:spLocks xmlns:a="http://schemas.openxmlformats.org/drawingml/2006/main" noGrp="1"/>
          </p:cNvSpPr>
          <p:nvPr/>
        </p:nvSpPr>
        <p:spPr>
          <a:xfrm xmlns:a="http://schemas.openxmlformats.org/drawingml/2006/main">
            <a:off x="7000875" y="3095625"/>
            <a:ext cx="39243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243B49"/>
                </a:solidFill>
                <a:latin typeface="Noto Sans"/>
                <a:ea typeface="Noto Sans"/>
                <a:cs typeface="Noto Sans"/>
              </a:defRPr>
            </a:pPr>
            <a:r>
              <a:rPr sz="1575" b="0">
                <a:solidFill>
                  <a:srgbClr val="243B49"/>
                </a:solidFill>
                <a:latin typeface="Noto Sans"/>
                <a:ea typeface="Noto Sans"/>
                <a:cs typeface="Noto Sans"/>
              </a:rPr>
              <a:t>Thử lại đặc trưng; báo cáo đúng kết quả</a:t>
            </a:r>
          </a:p>
        </p:txBody>
      </p:sp>
      <p:sp>
        <p:nvSpPr>
          <p:cNvPr id="11" name="">
            <a:extLst xmlns:a="http://schemas.openxmlformats.org/drawingml/2006/main">
              <a:ext uri="{FF2B5EF4-FFF2-40B4-BE49-F238E27FC236}">
                <a16:creationId xmlns:a16="http://schemas.microsoft.com/office/drawing/2014/main" id="{64DFD2AE-3F7B-42F0-B480-8721A90C1F5C}"/>
              </a:ext>
            </a:extLst>
          </p:cNvPr>
          <p:cNvSpPr>
            <a:spLocks xmlns:a="http://schemas.openxmlformats.org/drawingml/2006/main" noGrp="1"/>
          </p:cNvSpPr>
          <p:nvPr/>
        </p:nvSpPr>
        <p:spPr>
          <a:xfrm xmlns:a="http://schemas.openxmlformats.org/drawingml/2006/main">
            <a:off x="742950" y="4162425"/>
            <a:ext cx="10077450" cy="19050"/>
          </a:xfrm>
          <a:prstGeom xmlns:a="http://schemas.openxmlformats.org/drawingml/2006/main" prst="rect">
            <a:avLst/>
          </a:prstGeom>
          <a:solidFill xmlns:a="http://schemas.openxmlformats.org/drawingml/2006/main">
            <a:srgbClr val="CBD8D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F983A86-D3B7-407E-B78A-7C30641577EB}"/>
              </a:ext>
            </a:extLst>
          </p:cNvPr>
          <p:cNvSpPr>
            <a:spLocks xmlns:a="http://schemas.openxmlformats.org/drawingml/2006/main" noGrp="1"/>
          </p:cNvSpPr>
          <p:nvPr/>
        </p:nvSpPr>
        <p:spPr>
          <a:xfrm xmlns:a="http://schemas.openxmlformats.org/drawingml/2006/main">
            <a:off x="742950" y="4429125"/>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C46B42"/>
                </a:solidFill>
                <a:latin typeface="Noto Sans"/>
                <a:ea typeface="Noto Sans"/>
                <a:cs typeface="Noto Sans"/>
              </a:defRPr>
            </a:pPr>
            <a:r>
              <a:rPr sz="1950" b="1">
                <a:solidFill>
                  <a:srgbClr val="C46B42"/>
                </a:solidFill>
                <a:latin typeface="Noto Sans"/>
                <a:ea typeface="Noto Sans"/>
                <a:cs typeface="Noto Sans"/>
              </a:rPr>
              <a:t>Board</a:t>
            </a:r>
          </a:p>
        </p:txBody>
      </p:sp>
      <p:sp>
        <p:nvSpPr>
          <p:cNvPr id="13" name="">
            <a:extLst xmlns:a="http://schemas.openxmlformats.org/drawingml/2006/main">
              <a:ext uri="{FF2B5EF4-FFF2-40B4-BE49-F238E27FC236}">
                <a16:creationId xmlns:a16="http://schemas.microsoft.com/office/drawing/2014/main" id="{B5E5DA35-EEDF-4BA6-94EB-128619D4D8E5}"/>
              </a:ext>
            </a:extLst>
          </p:cNvPr>
          <p:cNvSpPr>
            <a:spLocks xmlns:a="http://schemas.openxmlformats.org/drawingml/2006/main" noGrp="1"/>
          </p:cNvSpPr>
          <p:nvPr/>
        </p:nvSpPr>
        <p:spPr>
          <a:xfrm xmlns:a="http://schemas.openxmlformats.org/drawingml/2006/main">
            <a:off x="2476500" y="4429125"/>
            <a:ext cx="4238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7324D"/>
                </a:solidFill>
                <a:latin typeface="Noto Sans"/>
                <a:ea typeface="Noto Sans"/>
                <a:cs typeface="Noto Sans"/>
              </a:defRPr>
            </a:pPr>
            <a:r>
              <a:rPr sz="1725" b="1">
                <a:solidFill>
                  <a:srgbClr val="17324D"/>
                </a:solidFill>
                <a:latin typeface="Noto Sans"/>
                <a:ea typeface="Noto Sans"/>
                <a:cs typeface="Noto Sans"/>
              </a:rPr>
              <a:t>Chưa biết giao tiếp, thời điểm nhận board</a:t>
            </a:r>
          </a:p>
        </p:txBody>
      </p:sp>
      <p:sp>
        <p:nvSpPr>
          <p:cNvPr id="14" name="">
            <a:extLst xmlns:a="http://schemas.openxmlformats.org/drawingml/2006/main">
              <a:ext uri="{FF2B5EF4-FFF2-40B4-BE49-F238E27FC236}">
                <a16:creationId xmlns:a16="http://schemas.microsoft.com/office/drawing/2014/main" id="{C4C340C7-52C2-4445-B2BA-A7D037E335FA}"/>
              </a:ext>
            </a:extLst>
          </p:cNvPr>
          <p:cNvSpPr>
            <a:spLocks xmlns:a="http://schemas.openxmlformats.org/drawingml/2006/main" noGrp="1"/>
          </p:cNvSpPr>
          <p:nvPr/>
        </p:nvSpPr>
        <p:spPr>
          <a:xfrm xmlns:a="http://schemas.openxmlformats.org/drawingml/2006/main">
            <a:off x="7000875" y="4429125"/>
            <a:ext cx="39243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243B49"/>
                </a:solidFill>
                <a:latin typeface="Noto Sans"/>
                <a:ea typeface="Noto Sans"/>
                <a:cs typeface="Noto Sans"/>
              </a:defRPr>
            </a:pPr>
            <a:r>
              <a:rPr sz="1575" b="0">
                <a:solidFill>
                  <a:srgbClr val="243B49"/>
                </a:solidFill>
                <a:latin typeface="Noto Sans"/>
                <a:ea typeface="Noto Sans"/>
                <a:cs typeface="Noto Sans"/>
              </a:rPr>
              <a:t>Hoàn thiện lõi RTL và testbench trước</a:t>
            </a:r>
          </a:p>
        </p:txBody>
      </p:sp>
    </p:spTree>
    <p:extLst>
      <p:ext uri="{BB962C8B-B14F-4D97-AF65-F5344CB8AC3E}">
        <p14:creationId xmlns:p14="http://schemas.microsoft.com/office/powerpoint/2010/main" val="1151125898"/>
      </p:ext>
    </p:extLst>
  </p:cSld>
</p:sld>
</file>

<file path=ppt/slides/slide15.xml><?xml version="1.0" encoding="utf-8"?>
<p:sld xmlns:p="http://schemas.openxmlformats.org/presentationml/2006/main">
  <p:cSld>
    <p:bg>
      <p:bgPr>
        <a:solidFill xmlns:a="http://schemas.openxmlformats.org/drawingml/2006/main">
          <a:srgbClr val="F9FA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33E028F-35E9-41D8-A182-9F5EBA0AD2AC}"/>
              </a:ext>
            </a:extLst>
          </p:cNvPr>
          <p:cNvSpPr>
            <a:spLocks xmlns:a="http://schemas.openxmlformats.org/drawingml/2006/main" noGrp="1"/>
          </p:cNvSpPr>
          <p:nvPr/>
        </p:nvSpPr>
        <p:spPr>
          <a:xfrm xmlns:a="http://schemas.openxmlformats.org/drawingml/2006/main">
            <a:off x="666750" y="4095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7324D"/>
                </a:solidFill>
                <a:latin typeface="Noto Sans"/>
                <a:ea typeface="Noto Sans"/>
                <a:cs typeface="Noto Sans"/>
              </a:defRPr>
            </a:pPr>
            <a:r>
              <a:rPr sz="2850" b="1">
                <a:solidFill>
                  <a:srgbClr val="17324D"/>
                </a:solidFill>
                <a:latin typeface="Noto Sans"/>
                <a:ea typeface="Noto Sans"/>
                <a:cs typeface="Noto Sans"/>
              </a:rPr>
              <a:t>Phân công nhóm và điểm cần xác nhận</a:t>
            </a:r>
          </a:p>
        </p:txBody>
      </p:sp>
      <p:sp>
        <p:nvSpPr>
          <p:cNvPr id="2" name="">
            <a:extLst xmlns:a="http://schemas.openxmlformats.org/drawingml/2006/main">
              <a:ext uri="{FF2B5EF4-FFF2-40B4-BE49-F238E27FC236}">
                <a16:creationId xmlns:a16="http://schemas.microsoft.com/office/drawing/2014/main" id="{507F9541-82D5-44A6-BD69-1C34AD429052}"/>
              </a:ext>
            </a:extLst>
          </p:cNvPr>
          <p:cNvSpPr>
            <a:spLocks xmlns:a="http://schemas.openxmlformats.org/drawingml/2006/main" noGrp="1"/>
          </p:cNvSpPr>
          <p:nvPr/>
        </p:nvSpPr>
        <p:spPr>
          <a:xfrm xmlns:a="http://schemas.openxmlformats.org/drawingml/2006/main">
            <a:off x="666750" y="1238250"/>
            <a:ext cx="10839450" cy="28575"/>
          </a:xfrm>
          <a:prstGeom xmlns:a="http://schemas.openxmlformats.org/drawingml/2006/main" prst="rect">
            <a:avLst/>
          </a:prstGeom>
          <a:solidFill xmlns:a="http://schemas.openxmlformats.org/drawingml/2006/main">
            <a:srgbClr val="24717A"/>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68FF926-01F3-472F-AFF1-56ACC525D31B}"/>
              </a:ext>
            </a:extLst>
          </p:cNvPr>
          <p:cNvSpPr>
            <a:spLocks xmlns:a="http://schemas.openxmlformats.org/drawingml/2006/main" noGrp="1"/>
          </p:cNvSpPr>
          <p:nvPr/>
        </p:nvSpPr>
        <p:spPr>
          <a:xfrm xmlns:a="http://schemas.openxmlformats.org/drawingml/2006/main">
            <a:off x="10953750" y="62484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61737A"/>
                </a:solidFill>
                <a:latin typeface="Noto Sans"/>
                <a:ea typeface="Noto Sans"/>
                <a:cs typeface="Noto Sans"/>
              </a:defRPr>
            </a:pPr>
            <a:r>
              <a:rPr sz="1200" b="0">
                <a:solidFill>
                  <a:srgbClr val="61737A"/>
                </a:solidFill>
                <a:latin typeface="Noto Sans"/>
                <a:ea typeface="Noto Sans"/>
                <a:cs typeface="Noto Sans"/>
              </a:rPr>
              <a:t>15</a:t>
            </a:r>
          </a:p>
        </p:txBody>
      </p:sp>
      <p:sp>
        <p:nvSpPr>
          <p:cNvPr id="4" name="">
            <a:extLst xmlns:a="http://schemas.openxmlformats.org/drawingml/2006/main">
              <a:ext uri="{FF2B5EF4-FFF2-40B4-BE49-F238E27FC236}">
                <a16:creationId xmlns:a16="http://schemas.microsoft.com/office/drawing/2014/main" id="{93C4ED49-0920-4FF4-BB38-CF78719205B8}"/>
              </a:ext>
            </a:extLst>
          </p:cNvPr>
          <p:cNvSpPr>
            <a:spLocks xmlns:a="http://schemas.openxmlformats.org/drawingml/2006/main" noGrp="1"/>
          </p:cNvSpPr>
          <p:nvPr/>
        </p:nvSpPr>
        <p:spPr>
          <a:xfrm xmlns:a="http://schemas.openxmlformats.org/drawingml/2006/main">
            <a:off x="733425" y="1628775"/>
            <a:ext cx="304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24717A"/>
                </a:solidFill>
                <a:latin typeface="Noto Sans"/>
                <a:ea typeface="Noto Sans"/>
                <a:cs typeface="Noto Sans"/>
              </a:defRPr>
            </a:pPr>
            <a:r>
              <a:rPr sz="1725" b="1">
                <a:solidFill>
                  <a:srgbClr val="24717A"/>
                </a:solidFill>
                <a:latin typeface="Noto Sans"/>
                <a:ea typeface="Noto Sans"/>
                <a:cs typeface="Noto Sans"/>
              </a:rPr>
              <a:t>Người 1</a:t>
            </a:r>
          </a:p>
        </p:txBody>
      </p:sp>
      <p:sp>
        <p:nvSpPr>
          <p:cNvPr id="5" name="">
            <a:extLst xmlns:a="http://schemas.openxmlformats.org/drawingml/2006/main">
              <a:ext uri="{FF2B5EF4-FFF2-40B4-BE49-F238E27FC236}">
                <a16:creationId xmlns:a16="http://schemas.microsoft.com/office/drawing/2014/main" id="{819F5860-30E5-400E-AF5C-C38C425B4BA6}"/>
              </a:ext>
            </a:extLst>
          </p:cNvPr>
          <p:cNvSpPr>
            <a:spLocks xmlns:a="http://schemas.openxmlformats.org/drawingml/2006/main" noGrp="1"/>
          </p:cNvSpPr>
          <p:nvPr/>
        </p:nvSpPr>
        <p:spPr>
          <a:xfrm xmlns:a="http://schemas.openxmlformats.org/drawingml/2006/main">
            <a:off x="733425" y="2038350"/>
            <a:ext cx="3171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7324D"/>
                </a:solidFill>
                <a:latin typeface="Noto Sans"/>
                <a:ea typeface="Noto Sans"/>
                <a:cs typeface="Noto Sans"/>
              </a:defRPr>
            </a:pPr>
            <a:r>
              <a:rPr sz="1800" b="1">
                <a:solidFill>
                  <a:srgbClr val="17324D"/>
                </a:solidFill>
                <a:latin typeface="Noto Sans"/>
                <a:ea typeface="Noto Sans"/>
                <a:cs typeface="Noto Sans"/>
              </a:rPr>
              <a:t>Dữ liệu và C++</a:t>
            </a:r>
          </a:p>
        </p:txBody>
      </p:sp>
      <p:sp>
        <p:nvSpPr>
          <p:cNvPr id="6" name="">
            <a:extLst xmlns:a="http://schemas.openxmlformats.org/drawingml/2006/main">
              <a:ext uri="{FF2B5EF4-FFF2-40B4-BE49-F238E27FC236}">
                <a16:creationId xmlns:a16="http://schemas.microsoft.com/office/drawing/2014/main" id="{05AC0E18-E63F-4525-BE7F-1FB9BE5017E0}"/>
              </a:ext>
            </a:extLst>
          </p:cNvPr>
          <p:cNvSpPr>
            <a:spLocks xmlns:a="http://schemas.openxmlformats.org/drawingml/2006/main" noGrp="1"/>
          </p:cNvSpPr>
          <p:nvPr/>
        </p:nvSpPr>
        <p:spPr>
          <a:xfrm xmlns:a="http://schemas.openxmlformats.org/drawingml/2006/main">
            <a:off x="733425" y="2600325"/>
            <a:ext cx="31146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243B49"/>
                </a:solidFill>
                <a:latin typeface="Noto Sans"/>
                <a:ea typeface="Noto Sans"/>
                <a:cs typeface="Noto Sans"/>
              </a:defRPr>
            </a:pPr>
            <a:r>
              <a:rPr sz="1500" b="0">
                <a:solidFill>
                  <a:srgbClr val="243B49"/>
                </a:solidFill>
                <a:latin typeface="Noto Sans"/>
                <a:ea typeface="Noto Sans"/>
                <a:cs typeface="Noto Sans"/>
              </a:rPr>
              <a:t>Chuỗi thời gian, hệ số, MAE</a:t>
            </a:r>
          </a:p>
        </p:txBody>
      </p:sp>
      <p:sp>
        <p:nvSpPr>
          <p:cNvPr id="7" name="">
            <a:extLst xmlns:a="http://schemas.openxmlformats.org/drawingml/2006/main">
              <a:ext uri="{FF2B5EF4-FFF2-40B4-BE49-F238E27FC236}">
                <a16:creationId xmlns:a16="http://schemas.microsoft.com/office/drawing/2014/main" id="{9C48F9AC-E72F-4A35-B39E-DB01C0718BBF}"/>
              </a:ext>
            </a:extLst>
          </p:cNvPr>
          <p:cNvSpPr>
            <a:spLocks xmlns:a="http://schemas.openxmlformats.org/drawingml/2006/main" noGrp="1"/>
          </p:cNvSpPr>
          <p:nvPr/>
        </p:nvSpPr>
        <p:spPr>
          <a:xfrm xmlns:a="http://schemas.openxmlformats.org/drawingml/2006/main">
            <a:off x="4371975" y="1628775"/>
            <a:ext cx="304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24717A"/>
                </a:solidFill>
                <a:latin typeface="Noto Sans"/>
                <a:ea typeface="Noto Sans"/>
                <a:cs typeface="Noto Sans"/>
              </a:defRPr>
            </a:pPr>
            <a:r>
              <a:rPr sz="1725" b="1">
                <a:solidFill>
                  <a:srgbClr val="24717A"/>
                </a:solidFill>
                <a:latin typeface="Noto Sans"/>
                <a:ea typeface="Noto Sans"/>
                <a:cs typeface="Noto Sans"/>
              </a:rPr>
              <a:t>Người 2</a:t>
            </a:r>
          </a:p>
        </p:txBody>
      </p:sp>
      <p:sp>
        <p:nvSpPr>
          <p:cNvPr id="8" name="">
            <a:extLst xmlns:a="http://schemas.openxmlformats.org/drawingml/2006/main">
              <a:ext uri="{FF2B5EF4-FFF2-40B4-BE49-F238E27FC236}">
                <a16:creationId xmlns:a16="http://schemas.microsoft.com/office/drawing/2014/main" id="{2114BD8C-8F18-4EC6-B57C-4858AEFCA218}"/>
              </a:ext>
            </a:extLst>
          </p:cNvPr>
          <p:cNvSpPr>
            <a:spLocks xmlns:a="http://schemas.openxmlformats.org/drawingml/2006/main" noGrp="1"/>
          </p:cNvSpPr>
          <p:nvPr/>
        </p:nvSpPr>
        <p:spPr>
          <a:xfrm xmlns:a="http://schemas.openxmlformats.org/drawingml/2006/main">
            <a:off x="4371975" y="2038350"/>
            <a:ext cx="3171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7324D"/>
                </a:solidFill>
                <a:latin typeface="Noto Sans"/>
                <a:ea typeface="Noto Sans"/>
                <a:cs typeface="Noto Sans"/>
              </a:defRPr>
            </a:pPr>
            <a:r>
              <a:rPr sz="1800" b="1">
                <a:solidFill>
                  <a:srgbClr val="17324D"/>
                </a:solidFill>
                <a:latin typeface="Noto Sans"/>
                <a:ea typeface="Noto Sans"/>
                <a:cs typeface="Noto Sans"/>
              </a:rPr>
              <a:t>Mạch FPGA</a:t>
            </a:r>
          </a:p>
        </p:txBody>
      </p:sp>
      <p:sp>
        <p:nvSpPr>
          <p:cNvPr id="9" name="">
            <a:extLst xmlns:a="http://schemas.openxmlformats.org/drawingml/2006/main">
              <a:ext uri="{FF2B5EF4-FFF2-40B4-BE49-F238E27FC236}">
                <a16:creationId xmlns:a16="http://schemas.microsoft.com/office/drawing/2014/main" id="{086BD32B-0F0C-4645-9976-D613AF84435A}"/>
              </a:ext>
            </a:extLst>
          </p:cNvPr>
          <p:cNvSpPr>
            <a:spLocks xmlns:a="http://schemas.openxmlformats.org/drawingml/2006/main" noGrp="1"/>
          </p:cNvSpPr>
          <p:nvPr/>
        </p:nvSpPr>
        <p:spPr>
          <a:xfrm xmlns:a="http://schemas.openxmlformats.org/drawingml/2006/main">
            <a:off x="4371975" y="2600325"/>
            <a:ext cx="31146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243B49"/>
                </a:solidFill>
                <a:latin typeface="Noto Sans"/>
                <a:ea typeface="Noto Sans"/>
                <a:cs typeface="Noto Sans"/>
              </a:defRPr>
            </a:pPr>
            <a:r>
              <a:rPr sz="1500" b="0">
                <a:solidFill>
                  <a:srgbClr val="243B49"/>
                </a:solidFill>
                <a:latin typeface="Noto Sans"/>
                <a:ea typeface="Noto Sans"/>
                <a:cs typeface="Noto Sans"/>
              </a:rPr>
              <a:t>Số cố định, bộ đệm, phép tính</a:t>
            </a:r>
          </a:p>
        </p:txBody>
      </p:sp>
      <p:sp>
        <p:nvSpPr>
          <p:cNvPr id="10" name="">
            <a:extLst xmlns:a="http://schemas.openxmlformats.org/drawingml/2006/main">
              <a:ext uri="{FF2B5EF4-FFF2-40B4-BE49-F238E27FC236}">
                <a16:creationId xmlns:a16="http://schemas.microsoft.com/office/drawing/2014/main" id="{42F8EE7C-A6BC-42EC-820C-3630A52B09F1}"/>
              </a:ext>
            </a:extLst>
          </p:cNvPr>
          <p:cNvSpPr>
            <a:spLocks xmlns:a="http://schemas.openxmlformats.org/drawingml/2006/main" noGrp="1"/>
          </p:cNvSpPr>
          <p:nvPr/>
        </p:nvSpPr>
        <p:spPr>
          <a:xfrm xmlns:a="http://schemas.openxmlformats.org/drawingml/2006/main">
            <a:off x="8010525" y="1628775"/>
            <a:ext cx="304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24717A"/>
                </a:solidFill>
                <a:latin typeface="Noto Sans"/>
                <a:ea typeface="Noto Sans"/>
                <a:cs typeface="Noto Sans"/>
              </a:defRPr>
            </a:pPr>
            <a:r>
              <a:rPr sz="1725" b="1">
                <a:solidFill>
                  <a:srgbClr val="24717A"/>
                </a:solidFill>
                <a:latin typeface="Noto Sans"/>
                <a:ea typeface="Noto Sans"/>
                <a:cs typeface="Noto Sans"/>
              </a:rPr>
              <a:t>Người 3</a:t>
            </a:r>
          </a:p>
        </p:txBody>
      </p:sp>
      <p:sp>
        <p:nvSpPr>
          <p:cNvPr id="11" name="">
            <a:extLst xmlns:a="http://schemas.openxmlformats.org/drawingml/2006/main">
              <a:ext uri="{FF2B5EF4-FFF2-40B4-BE49-F238E27FC236}">
                <a16:creationId xmlns:a16="http://schemas.microsoft.com/office/drawing/2014/main" id="{CEC6B51C-B546-4042-AE8F-2C7B17422D8F}"/>
              </a:ext>
            </a:extLst>
          </p:cNvPr>
          <p:cNvSpPr>
            <a:spLocks xmlns:a="http://schemas.openxmlformats.org/drawingml/2006/main" noGrp="1"/>
          </p:cNvSpPr>
          <p:nvPr/>
        </p:nvSpPr>
        <p:spPr>
          <a:xfrm xmlns:a="http://schemas.openxmlformats.org/drawingml/2006/main">
            <a:off x="8010525" y="2038350"/>
            <a:ext cx="3171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7324D"/>
                </a:solidFill>
                <a:latin typeface="Noto Sans"/>
                <a:ea typeface="Noto Sans"/>
                <a:cs typeface="Noto Sans"/>
              </a:defRPr>
            </a:pPr>
            <a:r>
              <a:rPr sz="1800" b="1">
                <a:solidFill>
                  <a:srgbClr val="17324D"/>
                </a:solidFill>
                <a:latin typeface="Noto Sans"/>
                <a:ea typeface="Noto Sans"/>
                <a:cs typeface="Noto Sans"/>
              </a:rPr>
              <a:t>Kiểm chứng và demo</a:t>
            </a:r>
          </a:p>
        </p:txBody>
      </p:sp>
      <p:sp>
        <p:nvSpPr>
          <p:cNvPr id="12" name="">
            <a:extLst xmlns:a="http://schemas.openxmlformats.org/drawingml/2006/main">
              <a:ext uri="{FF2B5EF4-FFF2-40B4-BE49-F238E27FC236}">
                <a16:creationId xmlns:a16="http://schemas.microsoft.com/office/drawing/2014/main" id="{91934BA7-E3A5-49EB-8A37-1ECAFDFAD33A}"/>
              </a:ext>
            </a:extLst>
          </p:cNvPr>
          <p:cNvSpPr>
            <a:spLocks xmlns:a="http://schemas.openxmlformats.org/drawingml/2006/main" noGrp="1"/>
          </p:cNvSpPr>
          <p:nvPr/>
        </p:nvSpPr>
        <p:spPr>
          <a:xfrm xmlns:a="http://schemas.openxmlformats.org/drawingml/2006/main">
            <a:off x="8010525" y="2600325"/>
            <a:ext cx="31146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243B49"/>
                </a:solidFill>
                <a:latin typeface="Noto Sans"/>
                <a:ea typeface="Noto Sans"/>
                <a:cs typeface="Noto Sans"/>
              </a:defRPr>
            </a:pPr>
            <a:r>
              <a:rPr sz="1500" b="0">
                <a:solidFill>
                  <a:srgbClr val="243B49"/>
                </a:solidFill>
                <a:latin typeface="Noto Sans"/>
                <a:ea typeface="Noto Sans"/>
                <a:cs typeface="Noto Sans"/>
              </a:rPr>
              <a:t>Testbench, giao tiếp, biểu đồ</a:t>
            </a:r>
          </a:p>
        </p:txBody>
      </p:sp>
      <p:sp>
        <p:nvSpPr>
          <p:cNvPr id="13" name="">
            <a:extLst xmlns:a="http://schemas.openxmlformats.org/drawingml/2006/main">
              <a:ext uri="{FF2B5EF4-FFF2-40B4-BE49-F238E27FC236}">
                <a16:creationId xmlns:a16="http://schemas.microsoft.com/office/drawing/2014/main" id="{1FF20CF2-0AFF-4CFC-A09B-DD273FDCBC2E}"/>
              </a:ext>
            </a:extLst>
          </p:cNvPr>
          <p:cNvSpPr>
            <a:spLocks xmlns:a="http://schemas.openxmlformats.org/drawingml/2006/main" noGrp="1"/>
          </p:cNvSpPr>
          <p:nvPr/>
        </p:nvSpPr>
        <p:spPr>
          <a:xfrm xmlns:a="http://schemas.openxmlformats.org/drawingml/2006/main">
            <a:off x="733425" y="3771900"/>
            <a:ext cx="10096500" cy="19050"/>
          </a:xfrm>
          <a:prstGeom xmlns:a="http://schemas.openxmlformats.org/drawingml/2006/main" prst="rect">
            <a:avLst/>
          </a:prstGeom>
          <a:solidFill xmlns:a="http://schemas.openxmlformats.org/drawingml/2006/main">
            <a:srgbClr val="CBD8D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916F136-6ACB-48F1-9585-66E2DA0C62F3}"/>
              </a:ext>
            </a:extLst>
          </p:cNvPr>
          <p:cNvSpPr>
            <a:spLocks xmlns:a="http://schemas.openxmlformats.org/drawingml/2006/main" noGrp="1"/>
          </p:cNvSpPr>
          <p:nvPr/>
        </p:nvSpPr>
        <p:spPr>
          <a:xfrm xmlns:a="http://schemas.openxmlformats.org/drawingml/2006/main">
            <a:off x="733425" y="40481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C46B42"/>
                </a:solidFill>
                <a:latin typeface="Noto Sans"/>
                <a:ea typeface="Noto Sans"/>
                <a:cs typeface="Noto Sans"/>
              </a:defRPr>
            </a:pPr>
            <a:r>
              <a:rPr sz="1875" b="1">
                <a:solidFill>
                  <a:srgbClr val="C46B42"/>
                </a:solidFill>
                <a:latin typeface="Noto Sans"/>
                <a:ea typeface="Noto Sans"/>
                <a:cs typeface="Noto Sans"/>
              </a:rPr>
              <a:t>Cần chốt với thầy sau buổi 1</a:t>
            </a:r>
          </a:p>
        </p:txBody>
      </p:sp>
      <p:sp>
        <p:nvSpPr>
          <p:cNvPr id="15" name="">
            <a:extLst xmlns:a="http://schemas.openxmlformats.org/drawingml/2006/main">
              <a:ext uri="{FF2B5EF4-FFF2-40B4-BE49-F238E27FC236}">
                <a16:creationId xmlns:a16="http://schemas.microsoft.com/office/drawing/2014/main" id="{8CDBF689-F28B-4E4D-B6C3-F0D584405F37}"/>
              </a:ext>
            </a:extLst>
          </p:cNvPr>
          <p:cNvSpPr>
            <a:spLocks xmlns:a="http://schemas.openxmlformats.org/drawingml/2006/main" noGrp="1"/>
          </p:cNvSpPr>
          <p:nvPr/>
        </p:nvSpPr>
        <p:spPr>
          <a:xfrm xmlns:a="http://schemas.openxmlformats.org/drawingml/2006/main">
            <a:off x="733425" y="4638675"/>
            <a:ext cx="1009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243B49"/>
                </a:solidFill>
                <a:latin typeface="Noto Sans"/>
                <a:ea typeface="Noto Sans"/>
                <a:cs typeface="Noto Sans"/>
              </a:defRPr>
            </a:pPr>
            <a:r>
              <a:rPr sz="1650" b="0">
                <a:solidFill>
                  <a:srgbClr val="243B49"/>
                </a:solidFill>
                <a:latin typeface="Noto Sans"/>
                <a:ea typeface="Noto Sans"/>
                <a:cs typeface="Noto Sans"/>
              </a:rPr>
              <a:t>Phạm vi dự báo nhiệt độ sau 3 giờ  •  board FPGA và công cụ  •  yêu cầu demo tối thiểu</a:t>
            </a:r>
          </a:p>
        </p:txBody>
      </p:sp>
    </p:spTree>
    <p:extLst>
      <p:ext uri="{BB962C8B-B14F-4D97-AF65-F5344CB8AC3E}">
        <p14:creationId xmlns:p14="http://schemas.microsoft.com/office/powerpoint/2010/main" val="6629428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2026-09-24T03:36:19.1740000Z</dcterms:created>
  <dcterms:modified xsi:type="dcterms:W3CDTF">2026-09-24T03:36:19.1740000Z</dcterms:modified>
</coreProperties>
</file>