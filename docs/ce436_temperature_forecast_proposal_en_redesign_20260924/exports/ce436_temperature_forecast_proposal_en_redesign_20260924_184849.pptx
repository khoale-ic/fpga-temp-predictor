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Good afternoon, Professor and classmates. Our group proposes a three-hour-ahead temperature forecasting system on FPGA using a linear time-series model built from past values. This is a focused, rigorous realization of the assigned weather forecasting topic. Today we present our proposed algorithmic model, hardware micro-architecture, and upgraded twelve-week execution plan.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deliberately narrow the broad weather forecasting topic down to hourly temperature at a specific geographic location. At hour t, the model ingests observations available up to t and outputs a forecast for t plus three hours in degrees Celsius. A linear model provides clear, auditable arithmetic that we can reproduce identically in C++ and RTL within three months. FPGA speedup is not our claim for data that arrives only once an hour; our real objective is mastering the complete model-to-hardware workflow.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system separates offline algorithmic training from FPGA runtime inference. Offline in C++, we clean the NASA CSV dataset, establish baseline metrics, solve for model weights using least squares, and generate a bit-exact fixed-point golden reference alongside test vectors. The FPGA accepts sequential samples, buffers the history, and computes predictions with fixed coefficients on-chip. Our tangible deliverables include the C++ reference suite, synthesizable RTL, testbench, board demo, and comprehensive resource report.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slide consolidates our mathematical model, physical tap meanings, and arithmetic execution. Relative to our forecast target at t plus three hours, the sample at t minus twenty-one hours acts as the diurnal anchor—exactly the same hour yesterday. The difference T(t) minus T(t minus twenty-four) captures the day-to-day trend, while T(t) minus T(t minus three) tracks the recent three-hour temperature gradient. In our numerical walkthrough, past temperatures of nineteen, twenty-one, eighteen, and twenty degrees Celsius with weights zero-point-five and zero-point-two yield a forecast of twenty-one point nine degrees Celsius through subtraction, multiplication, and an adder tree. A twenty-five sample buffer stores samples t minus twenty-four through t, while the future target stays strictly on the host PC.</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formulate the model as an Ordinary Least Squares problem: x one is the day-to-day change, x two is the recent three-hour change, and target y is the offset from the diurnal anchor. C++ fits weights a, b, and constant c on historical training data using the Eigen library. To prevent look-ahead data leakage, we enforce a strict chronological split into training, validation, and held-out test periods. Previously observed history crosses split boundaries only as input buffer context, never as future labels.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 establish scientific value, we must answer whether our linear model outperforms simple, no-math heuristics. We evaluate all methods using Mean Absolute Error in degrees Celsius across identical test timestamps. We benchmark against two naive baselines: Persistence, which assumes the temperature remains unchanged from t, and Diurnal, which assumes today exactly repeats yesterday at the same hour. If our linear model does not outperform these baselines, we analyze the residuals and report the findings with full academic integrity.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Fixed-point hardware implementation begins by profiling dynamic ranges across historical records: capturing sub-zero winter temperatures, peak summer heat, and coefficient magnitudes. We select an optimal signed Q-format, such as Q8.8 or Q10.6, balancing integer headroom against fractional precision. Our C++ fixed-point golden model mirrors every RTL truncation, shift, and saturation rule bit-for-bit. This separates statistical forecasting error against ground truth from quantization noise against floating point, enabling one hundred percent bit-exact RTL verification.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 ensure project feasibility while demonstrating substantial engineering depth for three students, we divide our roadmap into two distinct phases. Phase one is our Core MVP, executed during Weeks one through six. It establishes a guaranteed working baseline: a single-variable temperature predictor, a twenty-five stage shift register buffer, and a synthesizable RTL core verified against C++. Phase two, running from Weeks seven to twelve, expands into advanced extensions: multi-variable features including relative humidity and pressure, an architectural trade-off study, and code-coverage verification. This two-phase strategy eliminates semester failure risk early.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we map the mathematical taps directly to the hardware datapath. A twenty-five stage shift register receives incoming samples when valid is asserted. Dedicated taps extract the four required indices, feeding two subtraction stages, two fixed-coefficient multipliers, and a pipelined adder tree with saturation logic. A delay of one sample represents one real-world hour in data, whereas hardware latency is only two to four clock cycles. The circuit produces a forecast in nanoseconds, never waiting three real hours.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hardware demonstration replays historical CSV records from a host PC to the FPGA in accelerated time. Samples are transmitted via UART milliseconds apart rather than hours apart, allowing us to demonstrate over one thousand sequential predictions in under two minutes. The FPGA processes each incoming sample, updates its buffer, and streams back the forecast. A host Python dashboard compares the prediction against the held-out target label and plots live error curves without any future data leakage.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Verification proceeds across three hierarchical layers using identical test vectors. In Layer one, C++ compares floating-point against fixed-point arithmetic to measure quantization noise and test boundary conditions. In Layer two, the RTL simulation testbench verifies cycle-by-cycle valid handshakes, reset behavior, and buffer warm-up, requiring zero bit differences against the golden model. In Layer three, physical board tests validate UART timing, packet byte order, and end-to-end scoreboard synchronization.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As part of our Phase two engineering exploration, we conduct an architectural trade-off study comparing two distinct micro-architectures. Architecture A implements a fully parallel pipelined DSP datapath with dedicated multipliers for maximum throughput, targeting high-speed multi-channel sensing. Architecture B implements a resource-shared single-MAC architecture driven by a finite state machine, time-multiplexing multiplications into a single DSP slice or LUT-based multiplier. We will synthesize both architectures on our target FPGA and compare LUTs, DSP slices, and maximum operating frequency.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plan to build a working C++ and RTL prototype by the end of week three, including clean data and a basic end-to-end test. Weeks four through six focus on model validation and fixed-point precision experiments. Weeks seven through nine harden the RTL verification and compare hardware resource trade-offs. The final three weeks cover board integration, held-out test evaluation, and the report; the schedule is a proposal rather than a claim of completed work.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workload is evenly distributed across three students across both project phases. Student One leads algorithms and data, delivering the C++ golden model in Phase one and multi-variable modeling in Phase two. Student Two leads RTL design, building the pipelined datapath in Phase one and conducting the architectural trade-off study in Phase two. Student Three leads verification and demo, constructing the bit-exact testbench in Phase one and integrating the UART controller and live PC dashboard in Phase two. All interfaces and arithmetic conventions are agreed upon at kickoff.</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In summary, our project delivers a three-hour-ahead temperature forecasting system on FPGA, rigorously backed by two distinct proofs: proving forecasting quality against naive baselines on unseen data, and proving hardware correctness bit-for-bit against a golden fixed-point model. Before we proceed, we welcome the professor's feedback on our three-hour prediction scope, recommended FPGA board and toolchain, and minimum demo expectations. Thank you for your time, and we look forward to your guidance.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e436_temperature_forecast_proposal_en_re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e436_temperature_forecast_proposal_en_re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75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25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10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9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5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7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5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4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5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100" kern="1200" lang="en-US">
          <a:solidFill>
            <a:schemeClr val="tx1"/>
          </a:solidFill>
          <a:latin typeface="+mn-lt"/>
          <a:ea typeface="+mn-ea"/>
          <a:cs typeface="+mn-cs"/>
        </a:defRPr>
      </a:lvl9pPr>
    </p:bodyStyle>
    <p:otherStyle>
      <a:defPPr>
        <a:defRPr lang="en-US"/>
      </a:defPPr>
      <a:lvl1pPr marL="0" algn="l" defTabSz="457200" rtl="0" eaLnBrk="1" latinLnBrk="0" hangingPunct="1">
        <a:defRPr sz="2250" kern="1200" lang="en-US">
          <a:solidFill>
            <a:schemeClr val="tx1"/>
          </a:solidFill>
          <a:latin typeface="+mn-lt"/>
          <a:ea typeface="+mn-ea"/>
          <a:cs typeface="+mn-cs"/>
        </a:defRPr>
      </a:lvl1pPr>
      <a:lvl2pPr marL="457200" algn="l" defTabSz="457200" rtl="0" eaLnBrk="1" latinLnBrk="0" hangingPunct="1">
        <a:defRPr sz="2100" kern="1200" lang="en-US">
          <a:solidFill>
            <a:schemeClr val="tx1"/>
          </a:solidFill>
          <a:latin typeface="+mn-lt"/>
          <a:ea typeface="+mn-ea"/>
          <a:cs typeface="+mn-cs"/>
        </a:defRPr>
      </a:lvl2pPr>
      <a:lvl3pPr marL="914400" algn="l" defTabSz="457200" rtl="0" eaLnBrk="1" latinLnBrk="0" hangingPunct="1">
        <a:defRPr sz="1950" kern="1200" lang="en-US">
          <a:solidFill>
            <a:schemeClr val="tx1"/>
          </a:solidFill>
          <a:latin typeface="+mn-lt"/>
          <a:ea typeface="+mn-ea"/>
          <a:cs typeface="+mn-cs"/>
        </a:defRPr>
      </a:lvl3pPr>
      <a:lvl4pPr marL="1371600" algn="l" defTabSz="457200" rtl="0" eaLnBrk="1" latinLnBrk="0" hangingPunct="1">
        <a:defRPr sz="1850" kern="1200" lang="en-US">
          <a:solidFill>
            <a:schemeClr val="tx1"/>
          </a:solidFill>
          <a:latin typeface="+mn-lt"/>
          <a:ea typeface="+mn-ea"/>
          <a:cs typeface="+mn-cs"/>
        </a:defRPr>
      </a:lvl4pPr>
      <a:lvl5pPr marL="1828800" algn="l" defTabSz="457200" rtl="0" eaLnBrk="1" latinLnBrk="0" hangingPunct="1">
        <a:defRPr sz="1700" kern="1200" lang="en-US">
          <a:solidFill>
            <a:schemeClr val="tx1"/>
          </a:solidFill>
          <a:latin typeface="+mn-lt"/>
          <a:ea typeface="+mn-ea"/>
          <a:cs typeface="+mn-cs"/>
        </a:defRPr>
      </a:lvl5pPr>
      <a:lvl6pPr marL="2286000" algn="l" defTabSz="457200" rtl="0" eaLnBrk="1" latinLnBrk="0" hangingPunct="1">
        <a:defRPr sz="1550" kern="1200" lang="en-US">
          <a:solidFill>
            <a:schemeClr val="tx1"/>
          </a:solidFill>
          <a:latin typeface="+mn-lt"/>
          <a:ea typeface="+mn-ea"/>
          <a:cs typeface="+mn-cs"/>
        </a:defRPr>
      </a:lvl6pPr>
      <a:lvl7pPr marL="2743200" algn="l" defTabSz="457200" rtl="0" eaLnBrk="1" latinLnBrk="0" hangingPunct="1">
        <a:defRPr sz="1400" kern="1200" lang="en-US">
          <a:solidFill>
            <a:schemeClr val="tx1"/>
          </a:solidFill>
          <a:latin typeface="+mn-lt"/>
          <a:ea typeface="+mn-ea"/>
          <a:cs typeface="+mn-cs"/>
        </a:defRPr>
      </a:lvl7pPr>
      <a:lvl8pPr marL="3200400" algn="l" defTabSz="457200" rtl="0" eaLnBrk="1" latinLnBrk="0" hangingPunct="1">
        <a:defRPr sz="1250" kern="1200" lang="en-US">
          <a:solidFill>
            <a:schemeClr val="tx1"/>
          </a:solidFill>
          <a:latin typeface="+mn-lt"/>
          <a:ea typeface="+mn-ea"/>
          <a:cs typeface="+mn-cs"/>
        </a:defRPr>
      </a:lvl8pPr>
      <a:lvl9pPr marL="3657600" algn="l" defTabSz="457200" rtl="0" eaLnBrk="1" latinLnBrk="0" hangingPunct="1">
        <a:defRPr sz="110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01 / 15</a:t>
            </a:r>
          </a:p>
        </p:txBody>
      </p:sp>
      <p:grpSp>
        <p:nvGrpSpPr>
          <p:cNvPr id="18" name="cover-content"/>
          <p:cNvGrpSpPr/>
          <p:nvPr/>
        </p:nvGrpSpPr>
        <p:grpSpPr>
          <a:xfrm>
            <a:off x="609600" y="819150"/>
            <a:ext cx="10439400" cy="5460206"/>
            <a:chOff x="609600" y="819150"/>
            <a:chExt cx="10439400" cy="5460206"/>
          </a:xfrm>
        </p:grpSpPr>
        <p:sp>
          <p:nvSpPr>
            <p:cNvPr id="3" name="Rectangle 3"/>
            <p:cNvSpPr/>
            <p:nvPr/>
          </p:nvSpPr>
          <p:spPr>
            <a:xfrm>
              <a:off x="609600" y="819150"/>
              <a:ext cx="95250" cy="4695825"/>
            </a:xfrm>
            <a:prstGeom prst="rect">
              <a:avLst/>
            </a:prstGeom>
            <a:solidFill>
              <a:schemeClr val="accent1"/>
            </a:solidFill>
            <a:ln>
              <a:noFill/>
            </a:ln>
          </p:spPr>
        </p:sp>
        <p:sp>
          <p:nvSpPr>
            <p:cNvPr id="4" name="TextBox 4"/>
            <p:cNvSpPr txBox="1"/>
            <p:nvPr/>
          </p:nvSpPr>
          <p:spPr>
            <a:xfrm>
              <a:off x="960882" y="1240155"/>
              <a:ext cx="4304154"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CE436 / PROJECT PROPOSAL</a:t>
              </a:r>
            </a:p>
          </p:txBody>
        </p:sp>
        <p:sp>
          <p:nvSpPr>
            <p:cNvPr id="5" name="TextBox 5"/>
            <p:cNvSpPr txBox="1"/>
            <p:nvPr/>
          </p:nvSpPr>
          <p:spPr>
            <a:xfrm>
              <a:off x="952500" y="1895475"/>
              <a:ext cx="4910005" cy="876300"/>
            </a:xfrm>
            <a:prstGeom prst="rect">
              <a:avLst/>
            </a:prstGeom>
            <a:noFill/>
            <a:ln>
              <a:noFill/>
            </a:ln>
          </p:spPr>
          <p:txBody>
            <a:bodyPr wrap="none" lIns="0" tIns="0" rIns="0" bIns="0" anchor="t" anchorCtr="0">
              <a:spAutoFit/>
            </a:bodyPr>
            <a:lstStyle/>
            <a:p>
              <a:pPr algn="l"/>
              <a:r>
                <a:rPr lang="en-US" sz="4500" b="1" dirty="0">
                  <a:solidFill>
                    <a:schemeClr val="dk1"/>
                  </a:solidFill>
                  <a:latin typeface="+mn-lt"/>
                  <a:ea typeface="+mn-ea"/>
                  <a:cs typeface="+mn-cs"/>
                </a:rPr>
                <a:t>TEMPERATURE</a:t>
              </a:r>
            </a:p>
          </p:txBody>
        </p:sp>
        <p:sp>
          <p:nvSpPr>
            <p:cNvPr id="6" name="TextBox 6"/>
            <p:cNvSpPr txBox="1"/>
            <p:nvPr/>
          </p:nvSpPr>
          <p:spPr>
            <a:xfrm>
              <a:off x="952500" y="2562225"/>
              <a:ext cx="6652303" cy="876300"/>
            </a:xfrm>
            <a:prstGeom prst="rect">
              <a:avLst/>
            </a:prstGeom>
            <a:noFill/>
            <a:ln>
              <a:noFill/>
            </a:ln>
          </p:spPr>
          <p:txBody>
            <a:bodyPr wrap="none" lIns="0" tIns="0" rIns="0" bIns="0" anchor="t" anchorCtr="0">
              <a:spAutoFit/>
            </a:bodyPr>
            <a:lstStyle/>
            <a:p>
              <a:pPr algn="l"/>
              <a:r>
                <a:rPr lang="en-US" sz="4500" b="1" dirty="0">
                  <a:solidFill>
                    <a:schemeClr val="dk1"/>
                  </a:solidFill>
                  <a:latin typeface="+mn-lt"/>
                  <a:ea typeface="+mn-ea"/>
                  <a:cs typeface="+mn-cs"/>
                </a:rPr>
                <a:t>FORECAST ON FPGA</a:t>
              </a:r>
            </a:p>
          </p:txBody>
        </p:sp>
        <p:sp>
          <p:nvSpPr>
            <p:cNvPr id="7" name="TextBox 7"/>
            <p:cNvSpPr txBox="1"/>
            <p:nvPr/>
          </p:nvSpPr>
          <p:spPr>
            <a:xfrm>
              <a:off x="952500" y="3046095"/>
              <a:ext cx="2332283" cy="1619250"/>
            </a:xfrm>
            <a:prstGeom prst="rect">
              <a:avLst/>
            </a:prstGeom>
            <a:noFill/>
            <a:ln>
              <a:noFill/>
            </a:ln>
          </p:spPr>
          <p:txBody>
            <a:bodyPr wrap="none" lIns="0" tIns="0" rIns="0" bIns="0" anchor="t" anchorCtr="0">
              <a:spAutoFit/>
            </a:bodyPr>
            <a:lstStyle/>
            <a:p>
              <a:pPr algn="l"/>
              <a:r>
                <a:rPr lang="en-US" sz="8400" b="1" dirty="0">
                  <a:solidFill>
                    <a:schemeClr val="accent2"/>
                  </a:solidFill>
                  <a:latin typeface="+mn-lt"/>
                  <a:ea typeface="+mn-ea"/>
                  <a:cs typeface="+mn-cs"/>
                </a:rPr>
                <a:t>+3 h</a:t>
              </a:r>
            </a:p>
          </p:txBody>
        </p:sp>
        <p:sp>
          <p:nvSpPr>
            <p:cNvPr id="8" name="TextBox 8"/>
            <p:cNvSpPr txBox="1"/>
            <p:nvPr/>
          </p:nvSpPr>
          <p:spPr>
            <a:xfrm>
              <a:off x="3653790" y="3640931"/>
              <a:ext cx="3672999" cy="513398"/>
            </a:xfrm>
            <a:prstGeom prst="rect">
              <a:avLst/>
            </a:prstGeom>
            <a:noFill/>
            <a:ln>
              <a:noFill/>
            </a:ln>
          </p:spPr>
          <p:txBody>
            <a:bodyPr wrap="none" lIns="0" tIns="0" rIns="0" bIns="0" anchor="t" anchorCtr="0">
              <a:spAutoFit/>
            </a:bodyPr>
            <a:lstStyle/>
            <a:p>
              <a:pPr algn="l"/>
              <a:r>
                <a:rPr lang="en-US" sz="2620" dirty="0">
                  <a:solidFill>
                    <a:schemeClr val="accent3"/>
                  </a:solidFill>
                  <a:latin typeface="+mn-lt"/>
                  <a:ea typeface="+mn-ea"/>
                  <a:cs typeface="+mn-cs"/>
                </a:rPr>
                <a:t>from past hourly values</a:t>
              </a:r>
            </a:p>
          </p:txBody>
        </p:sp>
        <p:sp>
          <p:nvSpPr>
            <p:cNvPr id="9" name="Line 9"/>
            <p:cNvSpPr/>
            <p:nvPr/>
          </p:nvSpPr>
          <p:spPr>
            <a:xfrm>
              <a:off x="1066800" y="4953000"/>
              <a:ext cx="9982200" cy="9525"/>
            </a:xfrm>
            <a:custGeom>
              <a:avLst/>
              <a:gdLst/>
              <a:ahLst/>
              <a:cxnLst/>
              <a:rect l="l" t="t" r="r" b="b"/>
              <a:pathLst>
                <a:path w="9982200" h="9525">
                  <a:moveTo>
                    <a:pt x="0" y="0"/>
                  </a:moveTo>
                  <a:lnTo>
                    <a:pt x="9982200" y="0"/>
                  </a:lnTo>
                </a:path>
              </a:pathLst>
            </a:custGeom>
            <a:noFill/>
            <a:ln w="38100">
              <a:solidFill>
                <a:srgbClr val="DDE1E6"/>
              </a:solidFill>
            </a:ln>
          </p:spPr>
        </p:sp>
        <p:sp>
          <p:nvSpPr>
            <p:cNvPr id="10" name="Ellipse 10"/>
            <p:cNvSpPr/>
            <p:nvPr/>
          </p:nvSpPr>
          <p:spPr>
            <a:xfrm>
              <a:off x="1304925" y="4876800"/>
              <a:ext cx="152400" cy="152400"/>
            </a:xfrm>
            <a:prstGeom prst="ellipse">
              <a:avLst/>
            </a:prstGeom>
            <a:solidFill>
              <a:schemeClr val="accent3"/>
            </a:solidFill>
            <a:ln>
              <a:noFill/>
            </a:ln>
          </p:spPr>
        </p:sp>
        <p:sp>
          <p:nvSpPr>
            <p:cNvPr id="11" name="Ellipse 11"/>
            <p:cNvSpPr/>
            <p:nvPr/>
          </p:nvSpPr>
          <p:spPr>
            <a:xfrm>
              <a:off x="3943350" y="4876800"/>
              <a:ext cx="152400" cy="152400"/>
            </a:xfrm>
            <a:prstGeom prst="ellipse">
              <a:avLst/>
            </a:prstGeom>
            <a:solidFill>
              <a:schemeClr val="accent3"/>
            </a:solidFill>
            <a:ln>
              <a:noFill/>
            </a:ln>
          </p:spPr>
        </p:sp>
        <p:sp>
          <p:nvSpPr>
            <p:cNvPr id="12" name="Ellipse 12"/>
            <p:cNvSpPr/>
            <p:nvPr/>
          </p:nvSpPr>
          <p:spPr>
            <a:xfrm>
              <a:off x="6781800" y="4876800"/>
              <a:ext cx="152400" cy="152400"/>
            </a:xfrm>
            <a:prstGeom prst="ellipse">
              <a:avLst/>
            </a:prstGeom>
            <a:solidFill>
              <a:schemeClr val="accent3"/>
            </a:solidFill>
            <a:ln>
              <a:noFill/>
            </a:ln>
          </p:spPr>
        </p:sp>
        <p:sp>
          <p:nvSpPr>
            <p:cNvPr id="13" name="Ellipse 13"/>
            <p:cNvSpPr/>
            <p:nvPr/>
          </p:nvSpPr>
          <p:spPr>
            <a:xfrm>
              <a:off x="10220325" y="4791075"/>
              <a:ext cx="323850" cy="323850"/>
            </a:xfrm>
            <a:prstGeom prst="ellipse">
              <a:avLst/>
            </a:prstGeom>
            <a:solidFill>
              <a:schemeClr val="accent1"/>
            </a:solidFill>
            <a:ln>
              <a:noFill/>
            </a:ln>
          </p:spPr>
        </p:sp>
        <p:sp>
          <p:nvSpPr>
            <p:cNvPr id="14" name="TextBox 14"/>
            <p:cNvSpPr txBox="1"/>
            <p:nvPr/>
          </p:nvSpPr>
          <p:spPr>
            <a:xfrm>
              <a:off x="1055751" y="5242084"/>
              <a:ext cx="576818" cy="425386"/>
            </a:xfrm>
            <a:prstGeom prst="rect">
              <a:avLst/>
            </a:prstGeom>
            <a:noFill/>
            <a:ln>
              <a:noFill/>
            </a:ln>
          </p:spPr>
          <p:txBody>
            <a:bodyPr wrap="none" lIns="0" tIns="0" rIns="0" bIns="0" anchor="t" anchorCtr="0">
              <a:spAutoFit/>
            </a:bodyPr>
            <a:lstStyle/>
            <a:p>
              <a:pPr algn="l"/>
              <a:r>
                <a:rPr lang="en-US" sz="2180" dirty="0">
                  <a:solidFill>
                    <a:schemeClr val="accent3"/>
                  </a:solidFill>
                  <a:latin typeface="+mn-lt"/>
                  <a:ea typeface="+mn-ea"/>
                  <a:cs typeface="+mn-cs"/>
                </a:rPr>
                <a:t>past</a:t>
              </a:r>
            </a:p>
          </p:txBody>
        </p:sp>
        <p:sp>
          <p:nvSpPr>
            <p:cNvPr id="15" name="TextBox 15"/>
            <p:cNvSpPr txBox="1"/>
            <p:nvPr/>
          </p:nvSpPr>
          <p:spPr>
            <a:xfrm>
              <a:off x="6504051" y="5242084"/>
              <a:ext cx="560501" cy="425386"/>
            </a:xfrm>
            <a:prstGeom prst="rect">
              <a:avLst/>
            </a:prstGeom>
            <a:noFill/>
            <a:ln>
              <a:noFill/>
            </a:ln>
          </p:spPr>
          <p:txBody>
            <a:bodyPr wrap="none" lIns="0" tIns="0" rIns="0" bIns="0" anchor="t" anchorCtr="0">
              <a:spAutoFit/>
            </a:bodyPr>
            <a:lstStyle/>
            <a:p>
              <a:pPr algn="l"/>
              <a:r>
                <a:rPr lang="en-US" sz="2180" dirty="0">
                  <a:solidFill>
                    <a:schemeClr val="accent3"/>
                  </a:solidFill>
                  <a:latin typeface="+mn-lt"/>
                  <a:ea typeface="+mn-ea"/>
                  <a:cs typeface="+mn-cs"/>
                </a:rPr>
                <a:t>now</a:t>
              </a:r>
            </a:p>
          </p:txBody>
        </p:sp>
        <p:sp>
          <p:nvSpPr>
            <p:cNvPr id="16" name="TextBox 16"/>
            <p:cNvSpPr txBox="1"/>
            <p:nvPr/>
          </p:nvSpPr>
          <p:spPr>
            <a:xfrm>
              <a:off x="9628251" y="5242084"/>
              <a:ext cx="1163937" cy="425386"/>
            </a:xfrm>
            <a:prstGeom prst="rect">
              <a:avLst/>
            </a:prstGeom>
            <a:noFill/>
            <a:ln>
              <a:noFill/>
            </a:ln>
          </p:spPr>
          <p:txBody>
            <a:bodyPr wrap="none" lIns="0" tIns="0" rIns="0" bIns="0" anchor="t" anchorCtr="0">
              <a:spAutoFit/>
            </a:bodyPr>
            <a:lstStyle/>
            <a:p>
              <a:pPr algn="l"/>
              <a:r>
                <a:rPr lang="en-US" sz="2180" b="1" dirty="0">
                  <a:solidFill>
                    <a:schemeClr val="accent2"/>
                  </a:solidFill>
                  <a:latin typeface="+mn-lt"/>
                  <a:ea typeface="+mn-ea"/>
                  <a:cs typeface="+mn-cs"/>
                </a:rPr>
                <a:t>forecast</a:t>
              </a:r>
            </a:p>
          </p:txBody>
        </p:sp>
        <p:sp>
          <p:nvSpPr>
            <p:cNvPr id="17" name="TextBox 17"/>
            <p:cNvSpPr txBox="1"/>
            <p:nvPr/>
          </p:nvSpPr>
          <p:spPr>
            <a:xfrm>
              <a:off x="962025" y="5912644"/>
              <a:ext cx="6010805" cy="366712"/>
            </a:xfrm>
            <a:prstGeom prst="rect">
              <a:avLst/>
            </a:prstGeom>
            <a:noFill/>
            <a:ln>
              <a:noFill/>
            </a:ln>
          </p:spPr>
          <p:txBody>
            <a:bodyPr wrap="none" lIns="0" tIns="0" rIns="0" bIns="0" anchor="t" anchorCtr="0">
              <a:spAutoFit/>
            </a:bodyPr>
            <a:lstStyle/>
            <a:p>
              <a:pPr algn="l"/>
              <a:r>
                <a:rPr lang="en-US" sz="1880" dirty="0">
                  <a:solidFill>
                    <a:schemeClr val="accent3"/>
                  </a:solidFill>
                  <a:latin typeface="+mn-lt"/>
                  <a:ea typeface="+mn-ea"/>
                  <a:cs typeface="+mn-cs"/>
                </a:rPr>
                <a:t>3 students • 12 weeks • C++ + Verilog/SystemVerilog</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6357085"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A testable forecasting task</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02 / 15</a:t>
            </a:r>
          </a:p>
        </p:txBody>
      </p:sp>
      <p:grpSp>
        <p:nvGrpSpPr>
          <p:cNvPr id="17" name="input-output"/>
          <p:cNvGrpSpPr/>
          <p:nvPr/>
        </p:nvGrpSpPr>
        <p:grpSpPr>
          <a:xfrm>
            <a:off x="598170" y="1809750"/>
            <a:ext cx="10984230" cy="4130993"/>
            <a:chOff x="598170" y="1809750"/>
            <a:chExt cx="10984230" cy="4130993"/>
          </a:xfrm>
        </p:grpSpPr>
        <p:sp>
          <p:nvSpPr>
            <p:cNvPr id="7" name="Rectangle 7"/>
            <p:cNvSpPr/>
            <p:nvPr/>
          </p:nvSpPr>
          <p:spPr>
            <a:xfrm>
              <a:off x="609600" y="1809750"/>
              <a:ext cx="4572000" cy="3190875"/>
            </a:xfrm>
            <a:prstGeom prst="rect">
              <a:avLst/>
            </a:prstGeom>
            <a:solidFill>
              <a:schemeClr val="lt2"/>
            </a:solidFill>
            <a:ln>
              <a:noFill/>
            </a:ln>
          </p:spPr>
        </p:sp>
        <p:sp>
          <p:nvSpPr>
            <p:cNvPr id="8" name="Rectangle 8"/>
            <p:cNvSpPr/>
            <p:nvPr/>
          </p:nvSpPr>
          <p:spPr>
            <a:xfrm>
              <a:off x="7010400" y="1809750"/>
              <a:ext cx="4572000" cy="3190875"/>
            </a:xfrm>
            <a:prstGeom prst="rect">
              <a:avLst/>
            </a:prstGeom>
            <a:solidFill>
              <a:schemeClr val="lt2"/>
            </a:solidFill>
            <a:ln>
              <a:noFill/>
            </a:ln>
          </p:spPr>
        </p:sp>
        <p:sp>
          <p:nvSpPr>
            <p:cNvPr id="9" name="TextBox 9"/>
            <p:cNvSpPr txBox="1"/>
            <p:nvPr/>
          </p:nvSpPr>
          <p:spPr>
            <a:xfrm>
              <a:off x="884682" y="2106930"/>
              <a:ext cx="917448"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INPUT</a:t>
              </a:r>
            </a:p>
          </p:txBody>
        </p:sp>
        <p:sp>
          <p:nvSpPr>
            <p:cNvPr id="10" name="TextBox 10"/>
            <p:cNvSpPr txBox="1"/>
            <p:nvPr/>
          </p:nvSpPr>
          <p:spPr>
            <a:xfrm>
              <a:off x="7285482" y="2106930"/>
              <a:ext cx="1249248"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OUTPUT</a:t>
              </a:r>
            </a:p>
          </p:txBody>
        </p:sp>
        <p:sp>
          <p:nvSpPr>
            <p:cNvPr id="11" name="TextBox 11"/>
            <p:cNvSpPr txBox="1"/>
            <p:nvPr/>
          </p:nvSpPr>
          <p:spPr>
            <a:xfrm>
              <a:off x="880491" y="2856071"/>
              <a:ext cx="3203886" cy="1057846"/>
            </a:xfrm>
            <a:prstGeom prst="rect">
              <a:avLst/>
            </a:prstGeom>
            <a:noFill/>
            <a:ln>
              <a:noFill/>
            </a:ln>
          </p:spPr>
          <p:txBody>
            <a:bodyPr wrap="none" lIns="0" tIns="0" rIns="0" bIns="0" anchor="t" anchorCtr="0">
              <a:spAutoFit/>
            </a:bodyPr>
            <a:lstStyle/>
            <a:p>
              <a:pPr algn="l">
                <a:lnSpc>
                  <a:spcPts val="3825"/>
                </a:lnSpc>
              </a:pPr>
              <a:r>
                <a:rPr lang="en-US" sz="2920" dirty="0">
                  <a:solidFill>
                    <a:schemeClr val="dk1"/>
                  </a:solidFill>
                  <a:latin typeface="+mn-lt"/>
                  <a:ea typeface="+mn-ea"/>
                  <a:cs typeface="+mn-cs"/>
                </a:rPr>
                <a:t>Hourly temperature</a:t>
              </a:r>
              <a:br/>
              <a:r>
                <a:rPr lang="en-US" sz="2920" dirty="0">
                  <a:solidFill>
                    <a:schemeClr val="dk1"/>
                  </a:solidFill>
                  <a:latin typeface="+mn-lt"/>
                  <a:ea typeface="+mn-ea"/>
                  <a:cs typeface="+mn-cs"/>
                </a:rPr>
                <a:t>at one location</a:t>
              </a:r>
            </a:p>
          </p:txBody>
        </p:sp>
        <p:sp>
          <p:nvSpPr>
            <p:cNvPr id="12" name="TextBox 12"/>
            <p:cNvSpPr txBox="1"/>
            <p:nvPr/>
          </p:nvSpPr>
          <p:spPr>
            <a:xfrm>
              <a:off x="7281291" y="2856071"/>
              <a:ext cx="2833194" cy="1057846"/>
            </a:xfrm>
            <a:prstGeom prst="rect">
              <a:avLst/>
            </a:prstGeom>
            <a:noFill/>
            <a:ln>
              <a:noFill/>
            </a:ln>
          </p:spPr>
          <p:txBody>
            <a:bodyPr wrap="none" lIns="0" tIns="0" rIns="0" bIns="0" anchor="t" anchorCtr="0">
              <a:spAutoFit/>
            </a:bodyPr>
            <a:lstStyle/>
            <a:p>
              <a:pPr algn="l">
                <a:lnSpc>
                  <a:spcPts val="3825"/>
                </a:lnSpc>
              </a:pPr>
              <a:r>
                <a:rPr lang="en-US" sz="2920" dirty="0">
                  <a:solidFill>
                    <a:schemeClr val="dk1"/>
                  </a:solidFill>
                  <a:latin typeface="+mn-lt"/>
                  <a:ea typeface="+mn-ea"/>
                  <a:cs typeface="+mn-cs"/>
                </a:rPr>
                <a:t>One temperature</a:t>
              </a:r>
              <a:br/>
              <a:r>
                <a:rPr lang="en-US" sz="2920" dirty="0">
                  <a:solidFill>
                    <a:schemeClr val="dk1"/>
                  </a:solidFill>
                  <a:latin typeface="+mn-lt"/>
                  <a:ea typeface="+mn-ea"/>
                  <a:cs typeface="+mn-cs"/>
                </a:rPr>
                <a:t>3 hours ahead</a:t>
              </a:r>
            </a:p>
          </p:txBody>
        </p:sp>
        <p:sp>
          <p:nvSpPr>
            <p:cNvPr id="13" name="Line 13"/>
            <p:cNvSpPr/>
            <p:nvPr/>
          </p:nvSpPr>
          <p:spPr>
            <a:xfrm>
              <a:off x="5419725" y="3381375"/>
              <a:ext cx="1200150" cy="9525"/>
            </a:xfrm>
            <a:custGeom>
              <a:avLst/>
              <a:gdLst/>
              <a:ahLst/>
              <a:cxnLst/>
              <a:rect l="l" t="t" r="r" b="b"/>
              <a:pathLst>
                <a:path w="1200150" h="9525">
                  <a:moveTo>
                    <a:pt x="0" y="0"/>
                  </a:moveTo>
                  <a:lnTo>
                    <a:pt x="1200150" y="0"/>
                  </a:lnTo>
                </a:path>
              </a:pathLst>
            </a:custGeom>
            <a:noFill/>
            <a:ln w="38100">
              <a:solidFill>
                <a:schemeClr val="accent1"/>
              </a:solidFill>
            </a:ln>
          </p:spPr>
        </p:sp>
        <p:sp>
          <p:nvSpPr>
            <p:cNvPr id="14" name="Polygon 14"/>
            <p:cNvSpPr/>
            <p:nvPr/>
          </p:nvSpPr>
          <p:spPr>
            <a:xfrm>
              <a:off x="6619875" y="3295650"/>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5" name="TextBox 15"/>
            <p:cNvSpPr txBox="1"/>
            <p:nvPr/>
          </p:nvSpPr>
          <p:spPr>
            <a:xfrm>
              <a:off x="598170" y="5500688"/>
              <a:ext cx="2238449" cy="440055"/>
            </a:xfrm>
            <a:prstGeom prst="rect">
              <a:avLst/>
            </a:prstGeom>
            <a:noFill/>
            <a:ln>
              <a:noFill/>
            </a:ln>
          </p:spPr>
          <p:txBody>
            <a:bodyPr wrap="none" lIns="0" tIns="0" rIns="0" bIns="0" anchor="t" anchorCtr="0">
              <a:spAutoFit/>
            </a:bodyPr>
            <a:lstStyle/>
            <a:p>
              <a:pPr algn="l"/>
              <a:r>
                <a:rPr lang="en-US" sz="2250" dirty="0">
                  <a:solidFill>
                    <a:schemeClr val="accent3"/>
                  </a:solidFill>
                  <a:latin typeface="+mn-lt"/>
                  <a:ea typeface="+mn-ea"/>
                  <a:cs typeface="+mn-cs"/>
                </a:rPr>
                <a:t>Known through t</a:t>
              </a:r>
            </a:p>
          </p:txBody>
        </p:sp>
        <p:sp>
          <p:nvSpPr>
            <p:cNvPr id="16" name="TextBox 16"/>
            <p:cNvSpPr txBox="1"/>
            <p:nvPr/>
          </p:nvSpPr>
          <p:spPr>
            <a:xfrm>
              <a:off x="6998970" y="5500688"/>
              <a:ext cx="2753058"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Forecast for t + 3 h</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6682842"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C++ trains. FPGA forecasts.</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03 / 15</a:t>
            </a:r>
          </a:p>
        </p:txBody>
      </p:sp>
      <p:grpSp>
        <p:nvGrpSpPr>
          <p:cNvPr id="31" name="two-stage-system"/>
          <p:cNvGrpSpPr/>
          <p:nvPr/>
        </p:nvGrpSpPr>
        <p:grpSpPr>
          <a:xfrm>
            <a:off x="598932" y="1621155"/>
            <a:ext cx="10983468" cy="4652296"/>
            <a:chOff x="598932" y="1621155"/>
            <a:chExt cx="10983468" cy="4652296"/>
          </a:xfrm>
        </p:grpSpPr>
        <p:sp>
          <p:nvSpPr>
            <p:cNvPr id="7" name="TextBox 7"/>
            <p:cNvSpPr txBox="1"/>
            <p:nvPr/>
          </p:nvSpPr>
          <p:spPr>
            <a:xfrm>
              <a:off x="598932" y="1621155"/>
              <a:ext cx="2327928"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OFFLINE ON PC</a:t>
              </a:r>
            </a:p>
          </p:txBody>
        </p:sp>
        <p:sp>
          <p:nvSpPr>
            <p:cNvPr id="8" name="Rectangle 8"/>
            <p:cNvSpPr/>
            <p:nvPr/>
          </p:nvSpPr>
          <p:spPr>
            <a:xfrm>
              <a:off x="609600" y="2143125"/>
              <a:ext cx="2571750" cy="1104900"/>
            </a:xfrm>
            <a:prstGeom prst="rect">
              <a:avLst/>
            </a:prstGeom>
            <a:solidFill>
              <a:schemeClr val="lt2"/>
            </a:solidFill>
            <a:ln>
              <a:noFill/>
            </a:ln>
          </p:spPr>
        </p:sp>
        <p:sp>
          <p:nvSpPr>
            <p:cNvPr id="9" name="TextBox 9"/>
            <p:cNvSpPr txBox="1"/>
            <p:nvPr/>
          </p:nvSpPr>
          <p:spPr>
            <a:xfrm>
              <a:off x="825246" y="2534602"/>
              <a:ext cx="2953242"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Temperature CSV</a:t>
              </a:r>
            </a:p>
          </p:txBody>
        </p:sp>
        <p:sp>
          <p:nvSpPr>
            <p:cNvPr id="10" name="Rectangle 10"/>
            <p:cNvSpPr/>
            <p:nvPr/>
          </p:nvSpPr>
          <p:spPr>
            <a:xfrm>
              <a:off x="3857625" y="2143125"/>
              <a:ext cx="2857500" cy="1104900"/>
            </a:xfrm>
            <a:prstGeom prst="rect">
              <a:avLst/>
            </a:prstGeom>
            <a:solidFill>
              <a:schemeClr val="lt2"/>
            </a:solidFill>
            <a:ln>
              <a:noFill/>
            </a:ln>
          </p:spPr>
        </p:sp>
        <p:sp>
          <p:nvSpPr>
            <p:cNvPr id="11" name="TextBox 11"/>
            <p:cNvSpPr txBox="1"/>
            <p:nvPr/>
          </p:nvSpPr>
          <p:spPr>
            <a:xfrm>
              <a:off x="4073271" y="2534602"/>
              <a:ext cx="1735167"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C++ fitting</a:t>
              </a:r>
            </a:p>
          </p:txBody>
        </p:sp>
        <p:sp>
          <p:nvSpPr>
            <p:cNvPr id="12" name="Rectangle 12"/>
            <p:cNvSpPr/>
            <p:nvPr/>
          </p:nvSpPr>
          <p:spPr>
            <a:xfrm>
              <a:off x="7715250" y="2143125"/>
              <a:ext cx="3238500" cy="1104900"/>
            </a:xfrm>
            <a:prstGeom prst="rect">
              <a:avLst/>
            </a:prstGeom>
            <a:solidFill>
              <a:schemeClr val="lt2"/>
            </a:solidFill>
            <a:ln>
              <a:noFill/>
            </a:ln>
          </p:spPr>
        </p:sp>
        <p:sp>
          <p:nvSpPr>
            <p:cNvPr id="13" name="TextBox 13"/>
            <p:cNvSpPr txBox="1"/>
            <p:nvPr/>
          </p:nvSpPr>
          <p:spPr>
            <a:xfrm>
              <a:off x="7930896" y="2534602"/>
              <a:ext cx="998904"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a, b, c</a:t>
              </a:r>
            </a:p>
          </p:txBody>
        </p:sp>
        <p:sp>
          <p:nvSpPr>
            <p:cNvPr id="14" name="Line 14"/>
            <p:cNvSpPr/>
            <p:nvPr/>
          </p:nvSpPr>
          <p:spPr>
            <a:xfrm>
              <a:off x="3286125" y="2695575"/>
              <a:ext cx="304800" cy="9525"/>
            </a:xfrm>
            <a:custGeom>
              <a:avLst/>
              <a:gdLst/>
              <a:ahLst/>
              <a:cxnLst/>
              <a:rect l="l" t="t" r="r" b="b"/>
              <a:pathLst>
                <a:path w="304800" h="9525">
                  <a:moveTo>
                    <a:pt x="0" y="0"/>
                  </a:moveTo>
                  <a:lnTo>
                    <a:pt x="304800" y="0"/>
                  </a:lnTo>
                </a:path>
              </a:pathLst>
            </a:custGeom>
            <a:noFill/>
            <a:ln w="38100">
              <a:solidFill>
                <a:schemeClr val="accent1"/>
              </a:solidFill>
            </a:ln>
          </p:spPr>
        </p:sp>
        <p:sp>
          <p:nvSpPr>
            <p:cNvPr id="15" name="Polygon 15"/>
            <p:cNvSpPr/>
            <p:nvPr/>
          </p:nvSpPr>
          <p:spPr>
            <a:xfrm>
              <a:off x="3590925" y="2609850"/>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6" name="Line 16"/>
            <p:cNvSpPr/>
            <p:nvPr/>
          </p:nvSpPr>
          <p:spPr>
            <a:xfrm>
              <a:off x="6838950" y="2695575"/>
              <a:ext cx="609600" cy="9525"/>
            </a:xfrm>
            <a:custGeom>
              <a:avLst/>
              <a:gdLst/>
              <a:ahLst/>
              <a:cxnLst/>
              <a:rect l="l" t="t" r="r" b="b"/>
              <a:pathLst>
                <a:path w="609600" h="9525">
                  <a:moveTo>
                    <a:pt x="0" y="0"/>
                  </a:moveTo>
                  <a:lnTo>
                    <a:pt x="609600" y="0"/>
                  </a:lnTo>
                </a:path>
              </a:pathLst>
            </a:custGeom>
            <a:noFill/>
            <a:ln w="38100">
              <a:solidFill>
                <a:schemeClr val="accent1"/>
              </a:solidFill>
            </a:ln>
          </p:spPr>
        </p:sp>
        <p:sp>
          <p:nvSpPr>
            <p:cNvPr id="17" name="Polygon 17"/>
            <p:cNvSpPr/>
            <p:nvPr/>
          </p:nvSpPr>
          <p:spPr>
            <a:xfrm>
              <a:off x="7448550" y="2609850"/>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8" name="Line 18"/>
            <p:cNvSpPr/>
            <p:nvPr/>
          </p:nvSpPr>
          <p:spPr>
            <a:xfrm>
              <a:off x="609600" y="366712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19" name="TextBox 19"/>
            <p:cNvSpPr txBox="1"/>
            <p:nvPr/>
          </p:nvSpPr>
          <p:spPr>
            <a:xfrm>
              <a:off x="598932" y="3945255"/>
              <a:ext cx="2825748"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RUNTIME ON FPGA</a:t>
              </a:r>
            </a:p>
          </p:txBody>
        </p:sp>
        <p:sp>
          <p:nvSpPr>
            <p:cNvPr id="20" name="Rectangle 20"/>
            <p:cNvSpPr/>
            <p:nvPr/>
          </p:nvSpPr>
          <p:spPr>
            <a:xfrm>
              <a:off x="609600" y="4438650"/>
              <a:ext cx="2571750" cy="1104900"/>
            </a:xfrm>
            <a:prstGeom prst="rect">
              <a:avLst/>
            </a:prstGeom>
            <a:solidFill>
              <a:schemeClr val="lt2"/>
            </a:solidFill>
            <a:ln>
              <a:noFill/>
            </a:ln>
          </p:spPr>
        </p:sp>
        <p:sp>
          <p:nvSpPr>
            <p:cNvPr id="21" name="TextBox 21"/>
            <p:cNvSpPr txBox="1"/>
            <p:nvPr/>
          </p:nvSpPr>
          <p:spPr>
            <a:xfrm>
              <a:off x="825246" y="4839652"/>
              <a:ext cx="2022689"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New sample</a:t>
              </a:r>
            </a:p>
          </p:txBody>
        </p:sp>
        <p:sp>
          <p:nvSpPr>
            <p:cNvPr id="22" name="Rectangle 22"/>
            <p:cNvSpPr/>
            <p:nvPr/>
          </p:nvSpPr>
          <p:spPr>
            <a:xfrm>
              <a:off x="3857625" y="4438650"/>
              <a:ext cx="2857500" cy="1104900"/>
            </a:xfrm>
            <a:prstGeom prst="rect">
              <a:avLst/>
            </a:prstGeom>
            <a:solidFill>
              <a:schemeClr val="lt2"/>
            </a:solidFill>
            <a:ln>
              <a:noFill/>
            </a:ln>
          </p:spPr>
        </p:sp>
        <p:sp>
          <p:nvSpPr>
            <p:cNvPr id="23" name="TextBox 23"/>
            <p:cNvSpPr txBox="1"/>
            <p:nvPr/>
          </p:nvSpPr>
          <p:spPr>
            <a:xfrm>
              <a:off x="4073271" y="4839652"/>
              <a:ext cx="1850194"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FPGA core</a:t>
              </a:r>
            </a:p>
          </p:txBody>
        </p:sp>
        <p:sp>
          <p:nvSpPr>
            <p:cNvPr id="24" name="Rectangle 24"/>
            <p:cNvSpPr/>
            <p:nvPr/>
          </p:nvSpPr>
          <p:spPr>
            <a:xfrm>
              <a:off x="7715250" y="4438650"/>
              <a:ext cx="3238500" cy="1104900"/>
            </a:xfrm>
            <a:prstGeom prst="rect">
              <a:avLst/>
            </a:prstGeom>
            <a:solidFill>
              <a:schemeClr val="lt2"/>
            </a:solidFill>
            <a:ln>
              <a:noFill/>
            </a:ln>
          </p:spPr>
        </p:sp>
        <p:sp>
          <p:nvSpPr>
            <p:cNvPr id="25" name="TextBox 25"/>
            <p:cNvSpPr txBox="1"/>
            <p:nvPr/>
          </p:nvSpPr>
          <p:spPr>
            <a:xfrm>
              <a:off x="7930896" y="4839652"/>
              <a:ext cx="996648"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T̂(t+3)</a:t>
              </a:r>
            </a:p>
          </p:txBody>
        </p:sp>
        <p:sp>
          <p:nvSpPr>
            <p:cNvPr id="26" name="Line 26"/>
            <p:cNvSpPr/>
            <p:nvPr/>
          </p:nvSpPr>
          <p:spPr>
            <a:xfrm>
              <a:off x="3286125" y="4991100"/>
              <a:ext cx="304800" cy="9525"/>
            </a:xfrm>
            <a:custGeom>
              <a:avLst/>
              <a:gdLst/>
              <a:ahLst/>
              <a:cxnLst/>
              <a:rect l="l" t="t" r="r" b="b"/>
              <a:pathLst>
                <a:path w="304800" h="9525">
                  <a:moveTo>
                    <a:pt x="0" y="0"/>
                  </a:moveTo>
                  <a:lnTo>
                    <a:pt x="304800" y="0"/>
                  </a:lnTo>
                </a:path>
              </a:pathLst>
            </a:custGeom>
            <a:noFill/>
            <a:ln w="38100">
              <a:solidFill>
                <a:schemeClr val="accent1"/>
              </a:solidFill>
            </a:ln>
          </p:spPr>
        </p:sp>
        <p:sp>
          <p:nvSpPr>
            <p:cNvPr id="27" name="Polygon 27"/>
            <p:cNvSpPr/>
            <p:nvPr/>
          </p:nvSpPr>
          <p:spPr>
            <a:xfrm>
              <a:off x="3590925" y="490537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28" name="Line 28"/>
            <p:cNvSpPr/>
            <p:nvPr/>
          </p:nvSpPr>
          <p:spPr>
            <a:xfrm>
              <a:off x="6838950" y="4991100"/>
              <a:ext cx="609600" cy="9525"/>
            </a:xfrm>
            <a:custGeom>
              <a:avLst/>
              <a:gdLst/>
              <a:ahLst/>
              <a:cxnLst/>
              <a:rect l="l" t="t" r="r" b="b"/>
              <a:pathLst>
                <a:path w="609600" h="9525">
                  <a:moveTo>
                    <a:pt x="0" y="0"/>
                  </a:moveTo>
                  <a:lnTo>
                    <a:pt x="609600" y="0"/>
                  </a:lnTo>
                </a:path>
              </a:pathLst>
            </a:custGeom>
            <a:noFill/>
            <a:ln w="38100">
              <a:solidFill>
                <a:schemeClr val="accent1"/>
              </a:solidFill>
            </a:ln>
          </p:spPr>
        </p:sp>
        <p:sp>
          <p:nvSpPr>
            <p:cNvPr id="29" name="Polygon 29"/>
            <p:cNvSpPr/>
            <p:nvPr/>
          </p:nvSpPr>
          <p:spPr>
            <a:xfrm>
              <a:off x="7448550" y="490537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30" name="TextBox 30"/>
            <p:cNvSpPr txBox="1"/>
            <p:nvPr/>
          </p:nvSpPr>
          <p:spPr>
            <a:xfrm>
              <a:off x="599313" y="5877401"/>
              <a:ext cx="5835039"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The coefficients stay fixed while the FPGA runs.</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438329"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Four past values. One future target.</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04 / 15</a:t>
            </a:r>
          </a:p>
        </p:txBody>
      </p:sp>
      <p:grpSp>
        <p:nvGrpSpPr>
          <p:cNvPr id="21" name="sample-timeline"/>
          <p:cNvGrpSpPr/>
          <p:nvPr/>
        </p:nvGrpSpPr>
        <p:grpSpPr>
          <a:xfrm>
            <a:off x="599313" y="3124200"/>
            <a:ext cx="10983087" cy="3111151"/>
            <a:chOff x="599313" y="3124200"/>
            <a:chExt cx="10983087" cy="3111151"/>
          </a:xfrm>
        </p:grpSpPr>
        <p:sp>
          <p:nvSpPr>
            <p:cNvPr id="7" name="Line 7"/>
            <p:cNvSpPr/>
            <p:nvPr/>
          </p:nvSpPr>
          <p:spPr>
            <a:xfrm>
              <a:off x="933450" y="3238500"/>
              <a:ext cx="10325100" cy="9525"/>
            </a:xfrm>
            <a:custGeom>
              <a:avLst/>
              <a:gdLst/>
              <a:ahLst/>
              <a:cxnLst/>
              <a:rect l="l" t="t" r="r" b="b"/>
              <a:pathLst>
                <a:path w="10325100" h="9525">
                  <a:moveTo>
                    <a:pt x="0" y="0"/>
                  </a:moveTo>
                  <a:lnTo>
                    <a:pt x="10325100" y="0"/>
                  </a:lnTo>
                </a:path>
              </a:pathLst>
            </a:custGeom>
            <a:noFill/>
            <a:ln w="38100">
              <a:solidFill>
                <a:schemeClr val="accent3"/>
              </a:solidFill>
            </a:ln>
          </p:spPr>
        </p:sp>
        <p:sp>
          <p:nvSpPr>
            <p:cNvPr id="8" name="Ellipse 8"/>
            <p:cNvSpPr/>
            <p:nvPr/>
          </p:nvSpPr>
          <p:spPr>
            <a:xfrm>
              <a:off x="1028700" y="3124200"/>
              <a:ext cx="228600" cy="228600"/>
            </a:xfrm>
            <a:prstGeom prst="ellipse">
              <a:avLst/>
            </a:prstGeom>
            <a:solidFill>
              <a:schemeClr val="accent3"/>
            </a:solidFill>
            <a:ln>
              <a:noFill/>
            </a:ln>
          </p:spPr>
        </p:sp>
        <p:sp>
          <p:nvSpPr>
            <p:cNvPr id="9" name="TextBox 9"/>
            <p:cNvSpPr txBox="1"/>
            <p:nvPr/>
          </p:nvSpPr>
          <p:spPr>
            <a:xfrm>
              <a:off x="749158" y="3558064"/>
              <a:ext cx="787684" cy="542734"/>
            </a:xfrm>
            <a:prstGeom prst="rect">
              <a:avLst/>
            </a:prstGeom>
            <a:noFill/>
            <a:ln>
              <a:noFill/>
            </a:ln>
          </p:spPr>
          <p:txBody>
            <a:bodyPr wrap="none" lIns="0" tIns="0" rIns="0" bIns="0" anchor="t" anchorCtr="0">
              <a:spAutoFit/>
            </a:bodyPr>
            <a:lstStyle/>
            <a:p>
              <a:pPr algn="ctr"/>
              <a:r>
                <a:rPr lang="en-US" sz="2780" b="1" dirty="0">
                  <a:solidFill>
                    <a:schemeClr val="dk1"/>
                  </a:solidFill>
                  <a:latin typeface="+mn-lt"/>
                  <a:ea typeface="+mn-ea"/>
                  <a:cs typeface="+mn-cs"/>
                </a:rPr>
                <a:t>t−24</a:t>
              </a:r>
            </a:p>
          </p:txBody>
        </p:sp>
        <p:sp>
          <p:nvSpPr>
            <p:cNvPr id="10" name="Ellipse 10"/>
            <p:cNvSpPr/>
            <p:nvPr/>
          </p:nvSpPr>
          <p:spPr>
            <a:xfrm>
              <a:off x="3219450" y="3124200"/>
              <a:ext cx="228600" cy="228600"/>
            </a:xfrm>
            <a:prstGeom prst="ellipse">
              <a:avLst/>
            </a:prstGeom>
            <a:solidFill>
              <a:schemeClr val="accent3"/>
            </a:solidFill>
            <a:ln>
              <a:noFill/>
            </a:ln>
          </p:spPr>
        </p:sp>
        <p:sp>
          <p:nvSpPr>
            <p:cNvPr id="11" name="TextBox 11"/>
            <p:cNvSpPr txBox="1"/>
            <p:nvPr/>
          </p:nvSpPr>
          <p:spPr>
            <a:xfrm>
              <a:off x="2939908" y="3558064"/>
              <a:ext cx="787684" cy="542734"/>
            </a:xfrm>
            <a:prstGeom prst="rect">
              <a:avLst/>
            </a:prstGeom>
            <a:noFill/>
            <a:ln>
              <a:noFill/>
            </a:ln>
          </p:spPr>
          <p:txBody>
            <a:bodyPr wrap="none" lIns="0" tIns="0" rIns="0" bIns="0" anchor="t" anchorCtr="0">
              <a:spAutoFit/>
            </a:bodyPr>
            <a:lstStyle/>
            <a:p>
              <a:pPr algn="ctr"/>
              <a:r>
                <a:rPr lang="en-US" sz="2780" b="1" dirty="0">
                  <a:solidFill>
                    <a:schemeClr val="dk1"/>
                  </a:solidFill>
                  <a:latin typeface="+mn-lt"/>
                  <a:ea typeface="+mn-ea"/>
                  <a:cs typeface="+mn-cs"/>
                </a:rPr>
                <a:t>t−21</a:t>
              </a:r>
            </a:p>
          </p:txBody>
        </p:sp>
        <p:sp>
          <p:nvSpPr>
            <p:cNvPr id="12" name="Ellipse 12"/>
            <p:cNvSpPr/>
            <p:nvPr/>
          </p:nvSpPr>
          <p:spPr>
            <a:xfrm>
              <a:off x="5410200" y="3124200"/>
              <a:ext cx="228600" cy="228600"/>
            </a:xfrm>
            <a:prstGeom prst="ellipse">
              <a:avLst/>
            </a:prstGeom>
            <a:solidFill>
              <a:schemeClr val="accent3"/>
            </a:solidFill>
            <a:ln>
              <a:noFill/>
            </a:ln>
          </p:spPr>
        </p:sp>
        <p:sp>
          <p:nvSpPr>
            <p:cNvPr id="13" name="TextBox 13"/>
            <p:cNvSpPr txBox="1"/>
            <p:nvPr/>
          </p:nvSpPr>
          <p:spPr>
            <a:xfrm>
              <a:off x="5234735" y="3558064"/>
              <a:ext cx="579530" cy="542734"/>
            </a:xfrm>
            <a:prstGeom prst="rect">
              <a:avLst/>
            </a:prstGeom>
            <a:noFill/>
            <a:ln>
              <a:noFill/>
            </a:ln>
          </p:spPr>
          <p:txBody>
            <a:bodyPr wrap="none" lIns="0" tIns="0" rIns="0" bIns="0" anchor="t" anchorCtr="0">
              <a:spAutoFit/>
            </a:bodyPr>
            <a:lstStyle/>
            <a:p>
              <a:pPr algn="ctr"/>
              <a:r>
                <a:rPr lang="en-US" sz="2780" b="1" dirty="0">
                  <a:solidFill>
                    <a:schemeClr val="dk1"/>
                  </a:solidFill>
                  <a:latin typeface="+mn-lt"/>
                  <a:ea typeface="+mn-ea"/>
                  <a:cs typeface="+mn-cs"/>
                </a:rPr>
                <a:t>t−3</a:t>
              </a:r>
            </a:p>
          </p:txBody>
        </p:sp>
        <p:sp>
          <p:nvSpPr>
            <p:cNvPr id="14" name="Ellipse 14"/>
            <p:cNvSpPr/>
            <p:nvPr/>
          </p:nvSpPr>
          <p:spPr>
            <a:xfrm>
              <a:off x="7600950" y="3124200"/>
              <a:ext cx="228600" cy="228600"/>
            </a:xfrm>
            <a:prstGeom prst="ellipse">
              <a:avLst/>
            </a:prstGeom>
            <a:solidFill>
              <a:schemeClr val="accent1"/>
            </a:solidFill>
            <a:ln>
              <a:noFill/>
            </a:ln>
          </p:spPr>
        </p:sp>
        <p:sp>
          <p:nvSpPr>
            <p:cNvPr id="15" name="TextBox 15"/>
            <p:cNvSpPr txBox="1"/>
            <p:nvPr/>
          </p:nvSpPr>
          <p:spPr>
            <a:xfrm>
              <a:off x="7638841" y="3558064"/>
              <a:ext cx="152817" cy="542734"/>
            </a:xfrm>
            <a:prstGeom prst="rect">
              <a:avLst/>
            </a:prstGeom>
            <a:noFill/>
            <a:ln>
              <a:noFill/>
            </a:ln>
          </p:spPr>
          <p:txBody>
            <a:bodyPr wrap="none" lIns="0" tIns="0" rIns="0" bIns="0" anchor="t" anchorCtr="0">
              <a:spAutoFit/>
            </a:bodyPr>
            <a:lstStyle/>
            <a:p>
              <a:pPr algn="ctr"/>
              <a:r>
                <a:rPr lang="en-US" sz="2780" b="1" dirty="0">
                  <a:solidFill>
                    <a:schemeClr val="accent2"/>
                  </a:solidFill>
                  <a:latin typeface="+mn-lt"/>
                  <a:ea typeface="+mn-ea"/>
                  <a:cs typeface="+mn-cs"/>
                </a:rPr>
                <a:t>t</a:t>
              </a:r>
            </a:p>
          </p:txBody>
        </p:sp>
        <p:sp>
          <p:nvSpPr>
            <p:cNvPr id="16" name="Ellipse 16"/>
            <p:cNvSpPr/>
            <p:nvPr/>
          </p:nvSpPr>
          <p:spPr>
            <a:xfrm>
              <a:off x="10267950" y="3124200"/>
              <a:ext cx="228600" cy="228600"/>
            </a:xfrm>
            <a:prstGeom prst="ellipse">
              <a:avLst/>
            </a:prstGeom>
            <a:solidFill>
              <a:schemeClr val="accent1"/>
            </a:solidFill>
            <a:ln>
              <a:noFill/>
            </a:ln>
          </p:spPr>
        </p:sp>
        <p:sp>
          <p:nvSpPr>
            <p:cNvPr id="17" name="TextBox 17"/>
            <p:cNvSpPr txBox="1"/>
            <p:nvPr/>
          </p:nvSpPr>
          <p:spPr>
            <a:xfrm>
              <a:off x="10092485" y="3558064"/>
              <a:ext cx="579530" cy="542734"/>
            </a:xfrm>
            <a:prstGeom prst="rect">
              <a:avLst/>
            </a:prstGeom>
            <a:noFill/>
            <a:ln>
              <a:noFill/>
            </a:ln>
          </p:spPr>
          <p:txBody>
            <a:bodyPr wrap="none" lIns="0" tIns="0" rIns="0" bIns="0" anchor="t" anchorCtr="0">
              <a:spAutoFit/>
            </a:bodyPr>
            <a:lstStyle/>
            <a:p>
              <a:pPr algn="ctr"/>
              <a:r>
                <a:rPr lang="en-US" sz="2780" b="1" dirty="0">
                  <a:solidFill>
                    <a:schemeClr val="accent2"/>
                  </a:solidFill>
                  <a:latin typeface="+mn-lt"/>
                  <a:ea typeface="+mn-ea"/>
                  <a:cs typeface="+mn-cs"/>
                </a:rPr>
                <a:t>t+3</a:t>
              </a:r>
            </a:p>
          </p:txBody>
        </p:sp>
        <p:sp>
          <p:nvSpPr>
            <p:cNvPr id="18" name="Rectangle 18"/>
            <p:cNvSpPr/>
            <p:nvPr/>
          </p:nvSpPr>
          <p:spPr>
            <a:xfrm>
              <a:off x="609600" y="4667250"/>
              <a:ext cx="10972800" cy="971550"/>
            </a:xfrm>
            <a:prstGeom prst="rect">
              <a:avLst/>
            </a:prstGeom>
            <a:solidFill>
              <a:schemeClr val="lt2"/>
            </a:solidFill>
            <a:ln>
              <a:noFill/>
            </a:ln>
          </p:spPr>
        </p:sp>
        <p:sp>
          <p:nvSpPr>
            <p:cNvPr id="19" name="TextBox 19"/>
            <p:cNvSpPr txBox="1"/>
            <p:nvPr/>
          </p:nvSpPr>
          <p:spPr>
            <a:xfrm>
              <a:off x="869061" y="4901565"/>
              <a:ext cx="3589895"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mn-lt"/>
                  <a:ea typeface="+mn-ea"/>
                  <a:cs typeface="+mn-cs"/>
                </a:rPr>
                <a:t>t + 3 − 24 = t − 21</a:t>
              </a:r>
            </a:p>
          </p:txBody>
        </p:sp>
        <p:sp>
          <p:nvSpPr>
            <p:cNvPr id="20" name="TextBox 20"/>
            <p:cNvSpPr txBox="1"/>
            <p:nvPr/>
          </p:nvSpPr>
          <p:spPr>
            <a:xfrm>
              <a:off x="599313" y="5839301"/>
              <a:ext cx="8440363"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25 consecutive samples are stored; the future target is never an input.</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7542032"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A linear model from past values</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05 / 15</a:t>
            </a:r>
          </a:p>
        </p:txBody>
      </p:sp>
      <p:grpSp>
        <p:nvGrpSpPr>
          <p:cNvPr id="21" name="model-equation"/>
          <p:cNvGrpSpPr/>
          <p:nvPr/>
        </p:nvGrpSpPr>
        <p:grpSpPr>
          <a:xfrm>
            <a:off x="599313" y="1685925"/>
            <a:ext cx="10983087" cy="4320826"/>
            <a:chOff x="599313" y="1685925"/>
            <a:chExt cx="10983087" cy="4320826"/>
          </a:xfrm>
        </p:grpSpPr>
        <p:sp>
          <p:nvSpPr>
            <p:cNvPr id="7" name="Rectangle 7"/>
            <p:cNvSpPr/>
            <p:nvPr/>
          </p:nvSpPr>
          <p:spPr>
            <a:xfrm>
              <a:off x="609600" y="1685925"/>
              <a:ext cx="10972800" cy="2914650"/>
            </a:xfrm>
            <a:prstGeom prst="rect">
              <a:avLst/>
            </a:prstGeom>
            <a:solidFill>
              <a:schemeClr val="lt2"/>
            </a:solidFill>
            <a:ln>
              <a:noFill/>
            </a:ln>
          </p:spPr>
        </p:sp>
        <p:sp>
          <p:nvSpPr>
            <p:cNvPr id="8" name="TextBox 8"/>
            <p:cNvSpPr txBox="1"/>
            <p:nvPr/>
          </p:nvSpPr>
          <p:spPr>
            <a:xfrm>
              <a:off x="898017" y="2128361"/>
              <a:ext cx="3955318" cy="630746"/>
            </a:xfrm>
            <a:prstGeom prst="rect">
              <a:avLst/>
            </a:prstGeom>
            <a:noFill/>
            <a:ln>
              <a:noFill/>
            </a:ln>
          </p:spPr>
          <p:txBody>
            <a:bodyPr wrap="none" lIns="0" tIns="0" rIns="0" bIns="0" anchor="t" anchorCtr="0">
              <a:spAutoFit/>
            </a:bodyPr>
            <a:lstStyle/>
            <a:p>
              <a:pPr algn="l"/>
              <a:r>
                <a:rPr lang="en-US" sz="3220" b="1" dirty="0">
                  <a:solidFill>
                    <a:schemeClr val="dk1"/>
                  </a:solidFill>
                  <a:latin typeface="Consolas"/>
                  <a:ea typeface="Consolas"/>
                  <a:cs typeface="Consolas"/>
                </a:rPr>
                <a:t>T̂(t+3) = T(t−21)</a:t>
              </a:r>
            </a:p>
          </p:txBody>
        </p:sp>
        <p:sp>
          <p:nvSpPr>
            <p:cNvPr id="9" name="TextBox 9"/>
            <p:cNvSpPr txBox="1"/>
            <p:nvPr/>
          </p:nvSpPr>
          <p:spPr>
            <a:xfrm>
              <a:off x="898017" y="2947511"/>
              <a:ext cx="4177536" cy="630746"/>
            </a:xfrm>
            <a:prstGeom prst="rect">
              <a:avLst/>
            </a:prstGeom>
            <a:noFill/>
            <a:ln>
              <a:noFill/>
            </a:ln>
          </p:spPr>
          <p:txBody>
            <a:bodyPr wrap="none" lIns="0" tIns="0" rIns="0" bIns="0" anchor="t" anchorCtr="0">
              <a:spAutoFit/>
            </a:bodyPr>
            <a:lstStyle/>
            <a:p>
              <a:pPr algn="l"/>
              <a:r>
                <a:rPr lang="en-US" sz="3220" b="1" dirty="0">
                  <a:solidFill>
                    <a:schemeClr val="accent2"/>
                  </a:solidFill>
                  <a:latin typeface="Consolas"/>
                  <a:ea typeface="Consolas"/>
                  <a:cs typeface="Consolas"/>
                </a:rPr>
                <a:t>+ a[T(t)−T(t−24)]</a:t>
              </a:r>
            </a:p>
          </p:txBody>
        </p:sp>
        <p:sp>
          <p:nvSpPr>
            <p:cNvPr id="10" name="TextBox 10"/>
            <p:cNvSpPr txBox="1"/>
            <p:nvPr/>
          </p:nvSpPr>
          <p:spPr>
            <a:xfrm>
              <a:off x="898017" y="3766661"/>
              <a:ext cx="3933726" cy="630746"/>
            </a:xfrm>
            <a:prstGeom prst="rect">
              <a:avLst/>
            </a:prstGeom>
            <a:noFill/>
            <a:ln>
              <a:noFill/>
            </a:ln>
          </p:spPr>
          <p:txBody>
            <a:bodyPr wrap="none" lIns="0" tIns="0" rIns="0" bIns="0" anchor="t" anchorCtr="0">
              <a:spAutoFit/>
            </a:bodyPr>
            <a:lstStyle/>
            <a:p>
              <a:pPr algn="l"/>
              <a:r>
                <a:rPr lang="en-US" sz="3220" b="1" dirty="0">
                  <a:solidFill>
                    <a:schemeClr val="accent2"/>
                  </a:solidFill>
                  <a:latin typeface="Consolas"/>
                  <a:ea typeface="Consolas"/>
                  <a:cs typeface="Consolas"/>
                </a:rPr>
                <a:t>+ b[T(t)−T(t−3)]</a:t>
              </a:r>
            </a:p>
          </p:txBody>
        </p:sp>
        <p:sp>
          <p:nvSpPr>
            <p:cNvPr id="11" name="TextBox 11"/>
            <p:cNvSpPr txBox="1"/>
            <p:nvPr/>
          </p:nvSpPr>
          <p:spPr>
            <a:xfrm>
              <a:off x="7222617" y="3766661"/>
              <a:ext cx="748002" cy="630746"/>
            </a:xfrm>
            <a:prstGeom prst="rect">
              <a:avLst/>
            </a:prstGeom>
            <a:noFill/>
            <a:ln>
              <a:noFill/>
            </a:ln>
          </p:spPr>
          <p:txBody>
            <a:bodyPr wrap="none" lIns="0" tIns="0" rIns="0" bIns="0" anchor="t" anchorCtr="0">
              <a:spAutoFit/>
            </a:bodyPr>
            <a:lstStyle/>
            <a:p>
              <a:pPr algn="l"/>
              <a:r>
                <a:rPr lang="en-US" sz="3220" b="1" dirty="0">
                  <a:solidFill>
                    <a:schemeClr val="accent2"/>
                  </a:solidFill>
                  <a:latin typeface="Consolas"/>
                  <a:ea typeface="Consolas"/>
                  <a:cs typeface="Consolas"/>
                </a:rPr>
                <a:t>+ c</a:t>
              </a:r>
            </a:p>
          </p:txBody>
        </p:sp>
        <p:sp>
          <p:nvSpPr>
            <p:cNvPr id="12" name="Rectangle 12"/>
            <p:cNvSpPr/>
            <p:nvPr/>
          </p:nvSpPr>
          <p:spPr>
            <a:xfrm>
              <a:off x="609600" y="4981575"/>
              <a:ext cx="3219450" cy="76200"/>
            </a:xfrm>
            <a:prstGeom prst="rect">
              <a:avLst/>
            </a:prstGeom>
            <a:solidFill>
              <a:schemeClr val="accent1"/>
            </a:solidFill>
            <a:ln>
              <a:noFill/>
            </a:ln>
          </p:spPr>
        </p:sp>
        <p:sp>
          <p:nvSpPr>
            <p:cNvPr id="13" name="TextBox 13"/>
            <p:cNvSpPr txBox="1"/>
            <p:nvPr/>
          </p:nvSpPr>
          <p:spPr>
            <a:xfrm>
              <a:off x="599694" y="5218748"/>
              <a:ext cx="1237125"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ANCHOR</a:t>
              </a:r>
            </a:p>
          </p:txBody>
        </p:sp>
        <p:sp>
          <p:nvSpPr>
            <p:cNvPr id="14" name="TextBox 14"/>
            <p:cNvSpPr txBox="1"/>
            <p:nvPr/>
          </p:nvSpPr>
          <p:spPr>
            <a:xfrm>
              <a:off x="599313" y="5610701"/>
              <a:ext cx="2559933"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same hour yesterday</a:t>
              </a:r>
            </a:p>
          </p:txBody>
        </p:sp>
        <p:sp>
          <p:nvSpPr>
            <p:cNvPr id="15" name="Rectangle 15"/>
            <p:cNvSpPr/>
            <p:nvPr/>
          </p:nvSpPr>
          <p:spPr>
            <a:xfrm>
              <a:off x="4438650" y="4981575"/>
              <a:ext cx="3219450" cy="76200"/>
            </a:xfrm>
            <a:prstGeom prst="rect">
              <a:avLst/>
            </a:prstGeom>
            <a:solidFill>
              <a:schemeClr val="accent1"/>
            </a:solidFill>
            <a:ln>
              <a:noFill/>
            </a:ln>
          </p:spPr>
        </p:sp>
        <p:sp>
          <p:nvSpPr>
            <p:cNvPr id="16" name="TextBox 16"/>
            <p:cNvSpPr txBox="1"/>
            <p:nvPr/>
          </p:nvSpPr>
          <p:spPr>
            <a:xfrm>
              <a:off x="4428744" y="5218748"/>
              <a:ext cx="1760962"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DAY-TO-DAY</a:t>
              </a:r>
            </a:p>
          </p:txBody>
        </p:sp>
        <p:sp>
          <p:nvSpPr>
            <p:cNvPr id="17" name="TextBox 17"/>
            <p:cNvSpPr txBox="1"/>
            <p:nvPr/>
          </p:nvSpPr>
          <p:spPr>
            <a:xfrm>
              <a:off x="4428363" y="5610701"/>
              <a:ext cx="2544487"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current vs. yesterday</a:t>
              </a:r>
            </a:p>
          </p:txBody>
        </p:sp>
        <p:sp>
          <p:nvSpPr>
            <p:cNvPr id="18" name="Rectangle 18"/>
            <p:cNvSpPr/>
            <p:nvPr/>
          </p:nvSpPr>
          <p:spPr>
            <a:xfrm>
              <a:off x="8267700" y="4981575"/>
              <a:ext cx="3314700" cy="76200"/>
            </a:xfrm>
            <a:prstGeom prst="rect">
              <a:avLst/>
            </a:prstGeom>
            <a:solidFill>
              <a:schemeClr val="accent1"/>
            </a:solidFill>
            <a:ln>
              <a:noFill/>
            </a:ln>
          </p:spPr>
        </p:sp>
        <p:sp>
          <p:nvSpPr>
            <p:cNvPr id="19" name="TextBox 19"/>
            <p:cNvSpPr txBox="1"/>
            <p:nvPr/>
          </p:nvSpPr>
          <p:spPr>
            <a:xfrm>
              <a:off x="8257794" y="5218748"/>
              <a:ext cx="2439238"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RECENT CHANGE</a:t>
              </a:r>
            </a:p>
          </p:txBody>
        </p:sp>
        <p:sp>
          <p:nvSpPr>
            <p:cNvPr id="20" name="TextBox 20"/>
            <p:cNvSpPr txBox="1"/>
            <p:nvPr/>
          </p:nvSpPr>
          <p:spPr>
            <a:xfrm>
              <a:off x="8257413" y="5610701"/>
              <a:ext cx="1653147"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latest 3 hours</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7542100"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How is one forecast computed?</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06 / 15</a:t>
            </a:r>
          </a:p>
        </p:txBody>
      </p:sp>
      <p:grpSp>
        <p:nvGrpSpPr>
          <p:cNvPr id="28" name="worked-example"/>
          <p:cNvGrpSpPr/>
          <p:nvPr/>
        </p:nvGrpSpPr>
        <p:grpSpPr>
          <a:xfrm>
            <a:off x="593217" y="1685925"/>
            <a:ext cx="10989183" cy="4640104"/>
            <a:chOff x="593217" y="1685925"/>
            <a:chExt cx="10989183" cy="4640104"/>
          </a:xfrm>
        </p:grpSpPr>
        <p:sp>
          <p:nvSpPr>
            <p:cNvPr id="7" name="Rectangle 7"/>
            <p:cNvSpPr/>
            <p:nvPr/>
          </p:nvSpPr>
          <p:spPr>
            <a:xfrm>
              <a:off x="609600" y="1685925"/>
              <a:ext cx="10972800" cy="704850"/>
            </a:xfrm>
            <a:prstGeom prst="rect">
              <a:avLst/>
            </a:prstGeom>
            <a:solidFill>
              <a:schemeClr val="lt2"/>
            </a:solidFill>
            <a:ln>
              <a:noFill/>
            </a:ln>
          </p:spPr>
        </p:sp>
        <p:sp>
          <p:nvSpPr>
            <p:cNvPr id="8" name="TextBox 8"/>
            <p:cNvSpPr txBox="1"/>
            <p:nvPr/>
          </p:nvSpPr>
          <p:spPr>
            <a:xfrm>
              <a:off x="856107" y="1906905"/>
              <a:ext cx="7920623"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ILLUSTRATIVE VALUES — NOT A MEASURED RESULT</a:t>
              </a:r>
            </a:p>
          </p:txBody>
        </p:sp>
        <p:sp>
          <p:nvSpPr>
            <p:cNvPr id="9" name="TextBox 9"/>
            <p:cNvSpPr txBox="1"/>
            <p:nvPr/>
          </p:nvSpPr>
          <p:spPr>
            <a:xfrm>
              <a:off x="593598" y="2688908"/>
              <a:ext cx="1033185"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19°C</a:t>
              </a:r>
            </a:p>
          </p:txBody>
        </p:sp>
        <p:sp>
          <p:nvSpPr>
            <p:cNvPr id="10" name="TextBox 10"/>
            <p:cNvSpPr txBox="1"/>
            <p:nvPr/>
          </p:nvSpPr>
          <p:spPr>
            <a:xfrm>
              <a:off x="599313" y="3343751"/>
              <a:ext cx="557423"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t−24</a:t>
              </a:r>
            </a:p>
          </p:txBody>
        </p:sp>
        <p:sp>
          <p:nvSpPr>
            <p:cNvPr id="11" name="TextBox 11"/>
            <p:cNvSpPr txBox="1"/>
            <p:nvPr/>
          </p:nvSpPr>
          <p:spPr>
            <a:xfrm>
              <a:off x="2269998" y="2688908"/>
              <a:ext cx="1033185"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21°C</a:t>
              </a:r>
            </a:p>
          </p:txBody>
        </p:sp>
        <p:sp>
          <p:nvSpPr>
            <p:cNvPr id="12" name="TextBox 12"/>
            <p:cNvSpPr txBox="1"/>
            <p:nvPr/>
          </p:nvSpPr>
          <p:spPr>
            <a:xfrm>
              <a:off x="2275713" y="3343751"/>
              <a:ext cx="557423"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t−21</a:t>
              </a:r>
            </a:p>
          </p:txBody>
        </p:sp>
        <p:sp>
          <p:nvSpPr>
            <p:cNvPr id="13" name="TextBox 13"/>
            <p:cNvSpPr txBox="1"/>
            <p:nvPr/>
          </p:nvSpPr>
          <p:spPr>
            <a:xfrm>
              <a:off x="3946398" y="2688908"/>
              <a:ext cx="1033185"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18°C</a:t>
              </a:r>
            </a:p>
          </p:txBody>
        </p:sp>
        <p:sp>
          <p:nvSpPr>
            <p:cNvPr id="14" name="TextBox 14"/>
            <p:cNvSpPr txBox="1"/>
            <p:nvPr/>
          </p:nvSpPr>
          <p:spPr>
            <a:xfrm>
              <a:off x="3952113" y="3343751"/>
              <a:ext cx="406174"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t−3</a:t>
              </a:r>
            </a:p>
          </p:txBody>
        </p:sp>
        <p:sp>
          <p:nvSpPr>
            <p:cNvPr id="15" name="TextBox 15"/>
            <p:cNvSpPr txBox="1"/>
            <p:nvPr/>
          </p:nvSpPr>
          <p:spPr>
            <a:xfrm>
              <a:off x="5622798" y="2688908"/>
              <a:ext cx="1033185"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20°C</a:t>
              </a:r>
            </a:p>
          </p:txBody>
        </p:sp>
        <p:sp>
          <p:nvSpPr>
            <p:cNvPr id="16" name="TextBox 16"/>
            <p:cNvSpPr txBox="1"/>
            <p:nvPr/>
          </p:nvSpPr>
          <p:spPr>
            <a:xfrm>
              <a:off x="5628513" y="3343751"/>
              <a:ext cx="96117"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t</a:t>
              </a:r>
            </a:p>
          </p:txBody>
        </p:sp>
        <p:sp>
          <p:nvSpPr>
            <p:cNvPr id="17" name="TextBox 17"/>
            <p:cNvSpPr txBox="1"/>
            <p:nvPr/>
          </p:nvSpPr>
          <p:spPr>
            <a:xfrm>
              <a:off x="598932" y="3954780"/>
              <a:ext cx="1844707"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a = 0.5 b = 0.2</a:t>
              </a:r>
            </a:p>
          </p:txBody>
        </p:sp>
        <p:sp>
          <p:nvSpPr>
            <p:cNvPr id="18" name="TextBox 18"/>
            <p:cNvSpPr txBox="1"/>
            <p:nvPr/>
          </p:nvSpPr>
          <p:spPr>
            <a:xfrm>
              <a:off x="593217" y="4614386"/>
              <a:ext cx="876484" cy="630746"/>
            </a:xfrm>
            <a:prstGeom prst="rect">
              <a:avLst/>
            </a:prstGeom>
            <a:noFill/>
            <a:ln>
              <a:noFill/>
            </a:ln>
          </p:spPr>
          <p:txBody>
            <a:bodyPr wrap="none" lIns="0" tIns="0" rIns="0" bIns="0" anchor="t" anchorCtr="0">
              <a:spAutoFit/>
            </a:bodyPr>
            <a:lstStyle/>
            <a:p>
              <a:pPr algn="l"/>
              <a:r>
                <a:rPr lang="en-US" sz="3220" b="1" dirty="0">
                  <a:solidFill>
                    <a:schemeClr val="dk1"/>
                  </a:solidFill>
                  <a:latin typeface="+mn-lt"/>
                  <a:ea typeface="+mn-ea"/>
                  <a:cs typeface="+mn-cs"/>
                </a:rPr>
                <a:t>21.0</a:t>
              </a:r>
            </a:p>
          </p:txBody>
        </p:sp>
        <p:sp>
          <p:nvSpPr>
            <p:cNvPr id="19" name="TextBox 19"/>
            <p:cNvSpPr txBox="1"/>
            <p:nvPr/>
          </p:nvSpPr>
          <p:spPr>
            <a:xfrm>
              <a:off x="600075" y="5207794"/>
              <a:ext cx="792935" cy="366712"/>
            </a:xfrm>
            <a:prstGeom prst="rect">
              <a:avLst/>
            </a:prstGeom>
            <a:noFill/>
            <a:ln>
              <a:noFill/>
            </a:ln>
          </p:spPr>
          <p:txBody>
            <a:bodyPr wrap="none" lIns="0" tIns="0" rIns="0" bIns="0" anchor="t" anchorCtr="0">
              <a:spAutoFit/>
            </a:bodyPr>
            <a:lstStyle/>
            <a:p>
              <a:pPr algn="l"/>
              <a:r>
                <a:rPr lang="en-US" sz="1880" dirty="0">
                  <a:solidFill>
                    <a:schemeClr val="accent3"/>
                  </a:solidFill>
                  <a:latin typeface="+mn-lt"/>
                  <a:ea typeface="+mn-ea"/>
                  <a:cs typeface="+mn-cs"/>
                </a:rPr>
                <a:t>anchor</a:t>
              </a:r>
            </a:p>
          </p:txBody>
        </p:sp>
        <p:sp>
          <p:nvSpPr>
            <p:cNvPr id="20" name="TextBox 20"/>
            <p:cNvSpPr txBox="1"/>
            <p:nvPr/>
          </p:nvSpPr>
          <p:spPr>
            <a:xfrm>
              <a:off x="2383917" y="4614386"/>
              <a:ext cx="888535" cy="630746"/>
            </a:xfrm>
            <a:prstGeom prst="rect">
              <a:avLst/>
            </a:prstGeom>
            <a:noFill/>
            <a:ln>
              <a:noFill/>
            </a:ln>
          </p:spPr>
          <p:txBody>
            <a:bodyPr wrap="none" lIns="0" tIns="0" rIns="0" bIns="0" anchor="t" anchorCtr="0">
              <a:spAutoFit/>
            </a:bodyPr>
            <a:lstStyle/>
            <a:p>
              <a:pPr algn="l"/>
              <a:r>
                <a:rPr lang="en-US" sz="3220" b="1" dirty="0">
                  <a:solidFill>
                    <a:schemeClr val="dk1"/>
                  </a:solidFill>
                  <a:latin typeface="+mn-lt"/>
                  <a:ea typeface="+mn-ea"/>
                  <a:cs typeface="+mn-cs"/>
                </a:rPr>
                <a:t>+0.5</a:t>
              </a:r>
            </a:p>
          </p:txBody>
        </p:sp>
        <p:sp>
          <p:nvSpPr>
            <p:cNvPr id="21" name="TextBox 21"/>
            <p:cNvSpPr txBox="1"/>
            <p:nvPr/>
          </p:nvSpPr>
          <p:spPr>
            <a:xfrm>
              <a:off x="2390775" y="5207794"/>
              <a:ext cx="961591" cy="366712"/>
            </a:xfrm>
            <a:prstGeom prst="rect">
              <a:avLst/>
            </a:prstGeom>
            <a:noFill/>
            <a:ln>
              <a:noFill/>
            </a:ln>
          </p:spPr>
          <p:txBody>
            <a:bodyPr wrap="none" lIns="0" tIns="0" rIns="0" bIns="0" anchor="t" anchorCtr="0">
              <a:spAutoFit/>
            </a:bodyPr>
            <a:lstStyle/>
            <a:p>
              <a:pPr algn="l"/>
              <a:r>
                <a:rPr lang="en-US" sz="1880" dirty="0">
                  <a:solidFill>
                    <a:schemeClr val="accent3"/>
                  </a:solidFill>
                  <a:latin typeface="+mn-lt"/>
                  <a:ea typeface="+mn-ea"/>
                  <a:cs typeface="+mn-cs"/>
                </a:rPr>
                <a:t>day shift</a:t>
              </a:r>
            </a:p>
          </p:txBody>
        </p:sp>
        <p:sp>
          <p:nvSpPr>
            <p:cNvPr id="22" name="TextBox 22"/>
            <p:cNvSpPr txBox="1"/>
            <p:nvPr/>
          </p:nvSpPr>
          <p:spPr>
            <a:xfrm>
              <a:off x="4174617" y="4614386"/>
              <a:ext cx="888535" cy="630746"/>
            </a:xfrm>
            <a:prstGeom prst="rect">
              <a:avLst/>
            </a:prstGeom>
            <a:noFill/>
            <a:ln>
              <a:noFill/>
            </a:ln>
          </p:spPr>
          <p:txBody>
            <a:bodyPr wrap="none" lIns="0" tIns="0" rIns="0" bIns="0" anchor="t" anchorCtr="0">
              <a:spAutoFit/>
            </a:bodyPr>
            <a:lstStyle/>
            <a:p>
              <a:pPr algn="l"/>
              <a:r>
                <a:rPr lang="en-US" sz="3220" b="1" dirty="0">
                  <a:solidFill>
                    <a:schemeClr val="dk1"/>
                  </a:solidFill>
                  <a:latin typeface="+mn-lt"/>
                  <a:ea typeface="+mn-ea"/>
                  <a:cs typeface="+mn-cs"/>
                </a:rPr>
                <a:t>+0.4</a:t>
              </a:r>
            </a:p>
          </p:txBody>
        </p:sp>
        <p:sp>
          <p:nvSpPr>
            <p:cNvPr id="23" name="TextBox 23"/>
            <p:cNvSpPr txBox="1"/>
            <p:nvPr/>
          </p:nvSpPr>
          <p:spPr>
            <a:xfrm>
              <a:off x="4181475" y="5207794"/>
              <a:ext cx="1018080" cy="366712"/>
            </a:xfrm>
            <a:prstGeom prst="rect">
              <a:avLst/>
            </a:prstGeom>
            <a:noFill/>
            <a:ln>
              <a:noFill/>
            </a:ln>
          </p:spPr>
          <p:txBody>
            <a:bodyPr wrap="none" lIns="0" tIns="0" rIns="0" bIns="0" anchor="t" anchorCtr="0">
              <a:spAutoFit/>
            </a:bodyPr>
            <a:lstStyle/>
            <a:p>
              <a:pPr algn="l"/>
              <a:r>
                <a:rPr lang="en-US" sz="1880" dirty="0">
                  <a:solidFill>
                    <a:schemeClr val="accent3"/>
                  </a:solidFill>
                  <a:latin typeface="+mn-lt"/>
                  <a:ea typeface="+mn-ea"/>
                  <a:cs typeface="+mn-cs"/>
                </a:rPr>
                <a:t>3 h trend</a:t>
              </a:r>
            </a:p>
          </p:txBody>
        </p:sp>
        <p:sp>
          <p:nvSpPr>
            <p:cNvPr id="24" name="Line 24"/>
            <p:cNvSpPr/>
            <p:nvPr/>
          </p:nvSpPr>
          <p:spPr>
            <a:xfrm>
              <a:off x="6210300" y="4781550"/>
              <a:ext cx="1647825" cy="9525"/>
            </a:xfrm>
            <a:custGeom>
              <a:avLst/>
              <a:gdLst/>
              <a:ahLst/>
              <a:cxnLst/>
              <a:rect l="l" t="t" r="r" b="b"/>
              <a:pathLst>
                <a:path w="1647825" h="9525">
                  <a:moveTo>
                    <a:pt x="0" y="0"/>
                  </a:moveTo>
                  <a:lnTo>
                    <a:pt x="1647825" y="0"/>
                  </a:lnTo>
                </a:path>
              </a:pathLst>
            </a:custGeom>
            <a:noFill/>
            <a:ln w="38100">
              <a:solidFill>
                <a:schemeClr val="accent1"/>
              </a:solidFill>
            </a:ln>
          </p:spPr>
        </p:sp>
        <p:sp>
          <p:nvSpPr>
            <p:cNvPr id="25" name="Polygon 25"/>
            <p:cNvSpPr/>
            <p:nvPr/>
          </p:nvSpPr>
          <p:spPr>
            <a:xfrm>
              <a:off x="7858125" y="469582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26" name="TextBox 26"/>
            <p:cNvSpPr txBox="1"/>
            <p:nvPr/>
          </p:nvSpPr>
          <p:spPr>
            <a:xfrm>
              <a:off x="8220075" y="4407218"/>
              <a:ext cx="2591411" cy="1133475"/>
            </a:xfrm>
            <a:prstGeom prst="rect">
              <a:avLst/>
            </a:prstGeom>
            <a:noFill/>
            <a:ln>
              <a:noFill/>
            </a:ln>
          </p:spPr>
          <p:txBody>
            <a:bodyPr wrap="none" lIns="0" tIns="0" rIns="0" bIns="0" anchor="t" anchorCtr="0">
              <a:spAutoFit/>
            </a:bodyPr>
            <a:lstStyle/>
            <a:p>
              <a:pPr algn="l"/>
              <a:r>
                <a:rPr lang="en-US" sz="5850" b="1" dirty="0">
                  <a:solidFill>
                    <a:schemeClr val="accent2"/>
                  </a:solidFill>
                  <a:latin typeface="+mn-lt"/>
                  <a:ea typeface="+mn-ea"/>
                  <a:cs typeface="+mn-cs"/>
                </a:rPr>
                <a:t>21.9°C</a:t>
              </a:r>
            </a:p>
          </p:txBody>
        </p:sp>
        <p:sp>
          <p:nvSpPr>
            <p:cNvPr id="27" name="TextBox 27"/>
            <p:cNvSpPr txBox="1"/>
            <p:nvPr/>
          </p:nvSpPr>
          <p:spPr>
            <a:xfrm>
              <a:off x="596265" y="5812631"/>
              <a:ext cx="4162764" cy="513398"/>
            </a:xfrm>
            <a:prstGeom prst="rect">
              <a:avLst/>
            </a:prstGeom>
            <a:noFill/>
            <a:ln>
              <a:noFill/>
            </a:ln>
          </p:spPr>
          <p:txBody>
            <a:bodyPr wrap="none" lIns="0" tIns="0" rIns="0" bIns="0" anchor="t" anchorCtr="0">
              <a:spAutoFit/>
            </a:bodyPr>
            <a:lstStyle/>
            <a:p>
              <a:pPr algn="l"/>
              <a:r>
                <a:rPr lang="en-US" sz="2620" dirty="0">
                  <a:solidFill>
                    <a:schemeClr val="accent3"/>
                  </a:solidFill>
                  <a:latin typeface="+mn-lt"/>
                  <a:ea typeface="+mn-ea"/>
                  <a:cs typeface="+mn-cs"/>
                </a:rPr>
                <a:t>subtract → multiply → add</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657953"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Train on the past. Test on the future.</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07 / 15</a:t>
            </a:r>
          </a:p>
        </p:txBody>
      </p:sp>
      <p:grpSp>
        <p:nvGrpSpPr>
          <p:cNvPr id="25" name="regression"/>
          <p:cNvGrpSpPr/>
          <p:nvPr/>
        </p:nvGrpSpPr>
        <p:grpSpPr>
          <a:xfrm>
            <a:off x="599313" y="1676400"/>
            <a:ext cx="10983087" cy="4578001"/>
            <a:chOff x="599313" y="1676400"/>
            <a:chExt cx="10983087" cy="4578001"/>
          </a:xfrm>
        </p:grpSpPr>
        <p:sp>
          <p:nvSpPr>
            <p:cNvPr id="7" name="Rectangle 7"/>
            <p:cNvSpPr/>
            <p:nvPr/>
          </p:nvSpPr>
          <p:spPr>
            <a:xfrm>
              <a:off x="609600" y="1676400"/>
              <a:ext cx="10972800" cy="1743075"/>
            </a:xfrm>
            <a:prstGeom prst="rect">
              <a:avLst/>
            </a:prstGeom>
            <a:solidFill>
              <a:schemeClr val="lt2"/>
            </a:solidFill>
            <a:ln>
              <a:noFill/>
            </a:ln>
          </p:spPr>
        </p:sp>
        <p:sp>
          <p:nvSpPr>
            <p:cNvPr id="8" name="TextBox 8"/>
            <p:cNvSpPr txBox="1"/>
            <p:nvPr/>
          </p:nvSpPr>
          <p:spPr>
            <a:xfrm>
              <a:off x="853440" y="1955006"/>
              <a:ext cx="3795882" cy="513398"/>
            </a:xfrm>
            <a:prstGeom prst="rect">
              <a:avLst/>
            </a:prstGeom>
            <a:noFill/>
            <a:ln>
              <a:noFill/>
            </a:ln>
          </p:spPr>
          <p:txBody>
            <a:bodyPr wrap="none" lIns="0" tIns="0" rIns="0" bIns="0" anchor="t" anchorCtr="0">
              <a:spAutoFit/>
            </a:bodyPr>
            <a:lstStyle/>
            <a:p>
              <a:pPr algn="l"/>
              <a:r>
                <a:rPr lang="en-US" sz="2620" dirty="0">
                  <a:solidFill>
                    <a:schemeClr val="dk1"/>
                  </a:solidFill>
                  <a:latin typeface="Consolas"/>
                  <a:ea typeface="Consolas"/>
                  <a:cs typeface="Consolas"/>
                </a:rPr>
                <a:t>x1 = T(t) − T(t−24)</a:t>
              </a:r>
            </a:p>
          </p:txBody>
        </p:sp>
        <p:sp>
          <p:nvSpPr>
            <p:cNvPr id="9" name="TextBox 9"/>
            <p:cNvSpPr txBox="1"/>
            <p:nvPr/>
          </p:nvSpPr>
          <p:spPr>
            <a:xfrm>
              <a:off x="853440" y="2564606"/>
              <a:ext cx="3597503" cy="513398"/>
            </a:xfrm>
            <a:prstGeom prst="rect">
              <a:avLst/>
            </a:prstGeom>
            <a:noFill/>
            <a:ln>
              <a:noFill/>
            </a:ln>
          </p:spPr>
          <p:txBody>
            <a:bodyPr wrap="none" lIns="0" tIns="0" rIns="0" bIns="0" anchor="t" anchorCtr="0">
              <a:spAutoFit/>
            </a:bodyPr>
            <a:lstStyle/>
            <a:p>
              <a:pPr algn="l"/>
              <a:r>
                <a:rPr lang="en-US" sz="2620" dirty="0">
                  <a:solidFill>
                    <a:schemeClr val="dk1"/>
                  </a:solidFill>
                  <a:latin typeface="Consolas"/>
                  <a:ea typeface="Consolas"/>
                  <a:cs typeface="Consolas"/>
                </a:rPr>
                <a:t>x2 = T(t) − T(t−3)</a:t>
              </a:r>
            </a:p>
          </p:txBody>
        </p:sp>
        <p:sp>
          <p:nvSpPr>
            <p:cNvPr id="10" name="TextBox 10"/>
            <p:cNvSpPr txBox="1"/>
            <p:nvPr/>
          </p:nvSpPr>
          <p:spPr>
            <a:xfrm>
              <a:off x="6348603" y="2176939"/>
              <a:ext cx="3242572" cy="542734"/>
            </a:xfrm>
            <a:prstGeom prst="rect">
              <a:avLst/>
            </a:prstGeom>
            <a:noFill/>
            <a:ln>
              <a:noFill/>
            </a:ln>
          </p:spPr>
          <p:txBody>
            <a:bodyPr wrap="none" lIns="0" tIns="0" rIns="0" bIns="0" anchor="t" anchorCtr="0">
              <a:spAutoFit/>
            </a:bodyPr>
            <a:lstStyle/>
            <a:p>
              <a:pPr algn="l"/>
              <a:r>
                <a:rPr lang="en-US" sz="2780" b="1" dirty="0">
                  <a:solidFill>
                    <a:schemeClr val="accent2"/>
                  </a:solidFill>
                  <a:latin typeface="+mn-lt"/>
                  <a:ea typeface="+mn-ea"/>
                  <a:cs typeface="+mn-cs"/>
                </a:rPr>
                <a:t>y = a·x1 + b·x2 + c</a:t>
              </a:r>
            </a:p>
          </p:txBody>
        </p:sp>
        <p:sp>
          <p:nvSpPr>
            <p:cNvPr id="11" name="TextBox 11"/>
            <p:cNvSpPr txBox="1"/>
            <p:nvPr/>
          </p:nvSpPr>
          <p:spPr>
            <a:xfrm>
              <a:off x="6352413" y="2781776"/>
              <a:ext cx="3104015"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fit a, b, c by least squares</a:t>
              </a:r>
            </a:p>
          </p:txBody>
        </p:sp>
        <p:sp>
          <p:nvSpPr>
            <p:cNvPr id="12" name="Rectangle 12"/>
            <p:cNvSpPr/>
            <p:nvPr/>
          </p:nvSpPr>
          <p:spPr>
            <a:xfrm>
              <a:off x="609600" y="4029075"/>
              <a:ext cx="3219450" cy="1381125"/>
            </a:xfrm>
            <a:prstGeom prst="rect">
              <a:avLst/>
            </a:prstGeom>
            <a:solidFill>
              <a:schemeClr val="lt2"/>
            </a:solidFill>
            <a:ln>
              <a:noFill/>
            </a:ln>
          </p:spPr>
        </p:sp>
        <p:sp>
          <p:nvSpPr>
            <p:cNvPr id="13" name="Rectangle 13"/>
            <p:cNvSpPr/>
            <p:nvPr/>
          </p:nvSpPr>
          <p:spPr>
            <a:xfrm>
              <a:off x="609600" y="4029075"/>
              <a:ext cx="3219450" cy="66675"/>
            </a:xfrm>
            <a:prstGeom prst="rect">
              <a:avLst/>
            </a:prstGeom>
            <a:solidFill>
              <a:schemeClr val="accent1"/>
            </a:solidFill>
            <a:ln>
              <a:noFill/>
            </a:ln>
          </p:spPr>
        </p:sp>
        <p:sp>
          <p:nvSpPr>
            <p:cNvPr id="14" name="TextBox 14"/>
            <p:cNvSpPr txBox="1"/>
            <p:nvPr/>
          </p:nvSpPr>
          <p:spPr>
            <a:xfrm>
              <a:off x="788670" y="4357688"/>
              <a:ext cx="144556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01 TRAIN</a:t>
              </a:r>
            </a:p>
          </p:txBody>
        </p:sp>
        <p:sp>
          <p:nvSpPr>
            <p:cNvPr id="15" name="TextBox 15"/>
            <p:cNvSpPr txBox="1"/>
            <p:nvPr/>
          </p:nvSpPr>
          <p:spPr>
            <a:xfrm>
              <a:off x="789432" y="4850130"/>
              <a:ext cx="1734001"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fit coefficients</a:t>
              </a:r>
            </a:p>
          </p:txBody>
        </p:sp>
        <p:sp>
          <p:nvSpPr>
            <p:cNvPr id="16" name="Rectangle 16"/>
            <p:cNvSpPr/>
            <p:nvPr/>
          </p:nvSpPr>
          <p:spPr>
            <a:xfrm>
              <a:off x="4438650" y="4029075"/>
              <a:ext cx="3219450" cy="1381125"/>
            </a:xfrm>
            <a:prstGeom prst="rect">
              <a:avLst/>
            </a:prstGeom>
            <a:solidFill>
              <a:schemeClr val="lt2"/>
            </a:solidFill>
            <a:ln>
              <a:noFill/>
            </a:ln>
          </p:spPr>
        </p:sp>
        <p:sp>
          <p:nvSpPr>
            <p:cNvPr id="17" name="Rectangle 17"/>
            <p:cNvSpPr/>
            <p:nvPr/>
          </p:nvSpPr>
          <p:spPr>
            <a:xfrm>
              <a:off x="4438650" y="4029075"/>
              <a:ext cx="3219450" cy="66675"/>
            </a:xfrm>
            <a:prstGeom prst="rect">
              <a:avLst/>
            </a:prstGeom>
            <a:solidFill>
              <a:schemeClr val="accent3"/>
            </a:solidFill>
            <a:ln>
              <a:noFill/>
            </a:ln>
          </p:spPr>
        </p:sp>
        <p:sp>
          <p:nvSpPr>
            <p:cNvPr id="18" name="TextBox 18"/>
            <p:cNvSpPr txBox="1"/>
            <p:nvPr/>
          </p:nvSpPr>
          <p:spPr>
            <a:xfrm>
              <a:off x="4617720" y="4357688"/>
              <a:ext cx="20679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02 VALIDATE</a:t>
              </a:r>
            </a:p>
          </p:txBody>
        </p:sp>
        <p:sp>
          <p:nvSpPr>
            <p:cNvPr id="19" name="TextBox 19"/>
            <p:cNvSpPr txBox="1"/>
            <p:nvPr/>
          </p:nvSpPr>
          <p:spPr>
            <a:xfrm>
              <a:off x="4618482" y="4850130"/>
              <a:ext cx="1812705"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select settings</a:t>
              </a:r>
            </a:p>
          </p:txBody>
        </p:sp>
        <p:sp>
          <p:nvSpPr>
            <p:cNvPr id="20" name="Rectangle 20"/>
            <p:cNvSpPr/>
            <p:nvPr/>
          </p:nvSpPr>
          <p:spPr>
            <a:xfrm>
              <a:off x="8267700" y="4029075"/>
              <a:ext cx="3314700" cy="1381125"/>
            </a:xfrm>
            <a:prstGeom prst="rect">
              <a:avLst/>
            </a:prstGeom>
            <a:solidFill>
              <a:schemeClr val="lt2"/>
            </a:solidFill>
            <a:ln>
              <a:noFill/>
            </a:ln>
          </p:spPr>
        </p:sp>
        <p:sp>
          <p:nvSpPr>
            <p:cNvPr id="21" name="Rectangle 21"/>
            <p:cNvSpPr/>
            <p:nvPr/>
          </p:nvSpPr>
          <p:spPr>
            <a:xfrm>
              <a:off x="8267700" y="4029075"/>
              <a:ext cx="3314700" cy="66675"/>
            </a:xfrm>
            <a:prstGeom prst="rect">
              <a:avLst/>
            </a:prstGeom>
            <a:solidFill>
              <a:schemeClr val="accent1"/>
            </a:solidFill>
            <a:ln>
              <a:noFill/>
            </a:ln>
          </p:spPr>
        </p:sp>
        <p:sp>
          <p:nvSpPr>
            <p:cNvPr id="22" name="TextBox 22"/>
            <p:cNvSpPr txBox="1"/>
            <p:nvPr/>
          </p:nvSpPr>
          <p:spPr>
            <a:xfrm>
              <a:off x="8446770" y="4357688"/>
              <a:ext cx="128567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03 TEST</a:t>
              </a:r>
            </a:p>
          </p:txBody>
        </p:sp>
        <p:sp>
          <p:nvSpPr>
            <p:cNvPr id="23" name="TextBox 23"/>
            <p:cNvSpPr txBox="1"/>
            <p:nvPr/>
          </p:nvSpPr>
          <p:spPr>
            <a:xfrm>
              <a:off x="8447532" y="4850130"/>
              <a:ext cx="1781834"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evaluate once</a:t>
              </a:r>
            </a:p>
          </p:txBody>
        </p:sp>
        <p:sp>
          <p:nvSpPr>
            <p:cNvPr id="24" name="TextBox 24"/>
            <p:cNvSpPr txBox="1"/>
            <p:nvPr/>
          </p:nvSpPr>
          <p:spPr>
            <a:xfrm>
              <a:off x="599313" y="5858351"/>
              <a:ext cx="8265906"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Split chronologically; training labels must not cross into later periods.</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9249376"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Does the model beat simple forecasts?</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08 / 15</a:t>
            </a:r>
          </a:p>
        </p:txBody>
      </p:sp>
      <p:grpSp>
        <p:nvGrpSpPr>
          <p:cNvPr id="21" name="baseline-comparison"/>
          <p:cNvGrpSpPr/>
          <p:nvPr/>
        </p:nvGrpSpPr>
        <p:grpSpPr>
          <a:xfrm>
            <a:off x="609600" y="1809750"/>
            <a:ext cx="10972800" cy="4076700"/>
            <a:chOff x="609600" y="1809750"/>
            <a:chExt cx="10972800" cy="4076700"/>
          </a:xfrm>
        </p:grpSpPr>
        <p:sp>
          <p:nvSpPr>
            <p:cNvPr id="7" name="Rectangle 7"/>
            <p:cNvSpPr/>
            <p:nvPr/>
          </p:nvSpPr>
          <p:spPr>
            <a:xfrm>
              <a:off x="609600" y="1809750"/>
              <a:ext cx="3219450" cy="2476500"/>
            </a:xfrm>
            <a:prstGeom prst="rect">
              <a:avLst/>
            </a:prstGeom>
            <a:solidFill>
              <a:schemeClr val="lt2"/>
            </a:solidFill>
            <a:ln>
              <a:noFill/>
            </a:ln>
          </p:spPr>
        </p:sp>
        <p:sp>
          <p:nvSpPr>
            <p:cNvPr id="8" name="Rectangle 8"/>
            <p:cNvSpPr/>
            <p:nvPr/>
          </p:nvSpPr>
          <p:spPr>
            <a:xfrm>
              <a:off x="609600" y="1809750"/>
              <a:ext cx="3219450" cy="76200"/>
            </a:xfrm>
            <a:prstGeom prst="rect">
              <a:avLst/>
            </a:prstGeom>
            <a:solidFill>
              <a:srgbClr val="DDE1E6"/>
            </a:solidFill>
            <a:ln>
              <a:noFill/>
            </a:ln>
          </p:spPr>
        </p:sp>
        <p:sp>
          <p:nvSpPr>
            <p:cNvPr id="9" name="TextBox 9"/>
            <p:cNvSpPr txBox="1"/>
            <p:nvPr/>
          </p:nvSpPr>
          <p:spPr>
            <a:xfrm>
              <a:off x="809244" y="2237422"/>
              <a:ext cx="2392917"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CURRENT VALUE</a:t>
              </a:r>
            </a:p>
          </p:txBody>
        </p:sp>
        <p:sp>
          <p:nvSpPr>
            <p:cNvPr id="10" name="TextBox 10"/>
            <p:cNvSpPr txBox="1"/>
            <p:nvPr/>
          </p:nvSpPr>
          <p:spPr>
            <a:xfrm>
              <a:off x="802005" y="3150394"/>
              <a:ext cx="1063655" cy="660082"/>
            </a:xfrm>
            <a:prstGeom prst="rect">
              <a:avLst/>
            </a:prstGeom>
            <a:noFill/>
            <a:ln>
              <a:noFill/>
            </a:ln>
          </p:spPr>
          <p:txBody>
            <a:bodyPr wrap="none" lIns="0" tIns="0" rIns="0" bIns="0" anchor="t" anchorCtr="0">
              <a:spAutoFit/>
            </a:bodyPr>
            <a:lstStyle/>
            <a:p>
              <a:pPr algn="l"/>
              <a:r>
                <a:rPr lang="en-US" sz="3380" b="1" dirty="0">
                  <a:solidFill>
                    <a:schemeClr val="dk1"/>
                  </a:solidFill>
                  <a:latin typeface="Consolas"/>
                  <a:ea typeface="Consolas"/>
                  <a:cs typeface="Consolas"/>
                </a:rPr>
                <a:t>T(t)</a:t>
              </a:r>
            </a:p>
          </p:txBody>
        </p:sp>
        <p:sp>
          <p:nvSpPr>
            <p:cNvPr id="11" name="Rectangle 11"/>
            <p:cNvSpPr/>
            <p:nvPr/>
          </p:nvSpPr>
          <p:spPr>
            <a:xfrm>
              <a:off x="4438650" y="1809750"/>
              <a:ext cx="3219450" cy="2476500"/>
            </a:xfrm>
            <a:prstGeom prst="rect">
              <a:avLst/>
            </a:prstGeom>
            <a:solidFill>
              <a:schemeClr val="lt2"/>
            </a:solidFill>
            <a:ln>
              <a:noFill/>
            </a:ln>
          </p:spPr>
        </p:sp>
        <p:sp>
          <p:nvSpPr>
            <p:cNvPr id="12" name="Rectangle 12"/>
            <p:cNvSpPr/>
            <p:nvPr/>
          </p:nvSpPr>
          <p:spPr>
            <a:xfrm>
              <a:off x="4438650" y="1809750"/>
              <a:ext cx="3219450" cy="76200"/>
            </a:xfrm>
            <a:prstGeom prst="rect">
              <a:avLst/>
            </a:prstGeom>
            <a:solidFill>
              <a:srgbClr val="DDE1E6"/>
            </a:solidFill>
            <a:ln>
              <a:noFill/>
            </a:ln>
          </p:spPr>
        </p:sp>
        <p:sp>
          <p:nvSpPr>
            <p:cNvPr id="13" name="TextBox 13"/>
            <p:cNvSpPr txBox="1"/>
            <p:nvPr/>
          </p:nvSpPr>
          <p:spPr>
            <a:xfrm>
              <a:off x="4638294" y="2237422"/>
              <a:ext cx="3487356"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SAME HOUR YESTERDAY</a:t>
              </a:r>
            </a:p>
          </p:txBody>
        </p:sp>
        <p:sp>
          <p:nvSpPr>
            <p:cNvPr id="14" name="TextBox 14"/>
            <p:cNvSpPr txBox="1"/>
            <p:nvPr/>
          </p:nvSpPr>
          <p:spPr>
            <a:xfrm>
              <a:off x="4631055" y="3150394"/>
              <a:ext cx="1835680" cy="660082"/>
            </a:xfrm>
            <a:prstGeom prst="rect">
              <a:avLst/>
            </a:prstGeom>
            <a:noFill/>
            <a:ln>
              <a:noFill/>
            </a:ln>
          </p:spPr>
          <p:txBody>
            <a:bodyPr wrap="none" lIns="0" tIns="0" rIns="0" bIns="0" anchor="t" anchorCtr="0">
              <a:spAutoFit/>
            </a:bodyPr>
            <a:lstStyle/>
            <a:p>
              <a:pPr algn="l"/>
              <a:r>
                <a:rPr lang="en-US" sz="3380" b="1" dirty="0">
                  <a:solidFill>
                    <a:schemeClr val="dk1"/>
                  </a:solidFill>
                  <a:latin typeface="Consolas"/>
                  <a:ea typeface="Consolas"/>
                  <a:cs typeface="Consolas"/>
                </a:rPr>
                <a:t>T(t−21)</a:t>
              </a:r>
            </a:p>
          </p:txBody>
        </p:sp>
        <p:sp>
          <p:nvSpPr>
            <p:cNvPr id="15" name="Rectangle 15"/>
            <p:cNvSpPr/>
            <p:nvPr/>
          </p:nvSpPr>
          <p:spPr>
            <a:xfrm>
              <a:off x="8267700" y="1809750"/>
              <a:ext cx="3314700" cy="2476500"/>
            </a:xfrm>
            <a:prstGeom prst="rect">
              <a:avLst/>
            </a:prstGeom>
            <a:solidFill>
              <a:schemeClr val="lt2"/>
            </a:solidFill>
            <a:ln>
              <a:noFill/>
            </a:ln>
          </p:spPr>
        </p:sp>
        <p:sp>
          <p:nvSpPr>
            <p:cNvPr id="16" name="Rectangle 16"/>
            <p:cNvSpPr/>
            <p:nvPr/>
          </p:nvSpPr>
          <p:spPr>
            <a:xfrm>
              <a:off x="8267700" y="1809750"/>
              <a:ext cx="3314700" cy="76200"/>
            </a:xfrm>
            <a:prstGeom prst="rect">
              <a:avLst/>
            </a:prstGeom>
            <a:solidFill>
              <a:schemeClr val="accent1"/>
            </a:solidFill>
            <a:ln>
              <a:noFill/>
            </a:ln>
          </p:spPr>
        </p:sp>
        <p:sp>
          <p:nvSpPr>
            <p:cNvPr id="17" name="TextBox 17"/>
            <p:cNvSpPr txBox="1"/>
            <p:nvPr/>
          </p:nvSpPr>
          <p:spPr>
            <a:xfrm>
              <a:off x="8467344" y="2237422"/>
              <a:ext cx="2130804"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LINEAR MODEL</a:t>
              </a:r>
            </a:p>
          </p:txBody>
        </p:sp>
        <p:sp>
          <p:nvSpPr>
            <p:cNvPr id="18" name="TextBox 18"/>
            <p:cNvSpPr txBox="1"/>
            <p:nvPr/>
          </p:nvSpPr>
          <p:spPr>
            <a:xfrm>
              <a:off x="8460105" y="3150394"/>
              <a:ext cx="1578338" cy="660082"/>
            </a:xfrm>
            <a:prstGeom prst="rect">
              <a:avLst/>
            </a:prstGeom>
            <a:noFill/>
            <a:ln>
              <a:noFill/>
            </a:ln>
          </p:spPr>
          <p:txBody>
            <a:bodyPr wrap="none" lIns="0" tIns="0" rIns="0" bIns="0" anchor="t" anchorCtr="0">
              <a:spAutoFit/>
            </a:bodyPr>
            <a:lstStyle/>
            <a:p>
              <a:pPr algn="l"/>
              <a:r>
                <a:rPr lang="en-US" sz="3380" b="1" dirty="0">
                  <a:solidFill>
                    <a:schemeClr val="dk1"/>
                  </a:solidFill>
                  <a:latin typeface="Consolas"/>
                  <a:ea typeface="Consolas"/>
                  <a:cs typeface="Consolas"/>
                </a:rPr>
                <a:t>T̂(t+3)</a:t>
              </a:r>
            </a:p>
          </p:txBody>
        </p:sp>
        <p:sp>
          <p:nvSpPr>
            <p:cNvPr id="19" name="Rectangle 19"/>
            <p:cNvSpPr/>
            <p:nvPr/>
          </p:nvSpPr>
          <p:spPr>
            <a:xfrm>
              <a:off x="609600" y="4810125"/>
              <a:ext cx="10972800" cy="1076325"/>
            </a:xfrm>
            <a:prstGeom prst="rect">
              <a:avLst/>
            </a:prstGeom>
            <a:solidFill>
              <a:schemeClr val="lt1"/>
            </a:solidFill>
            <a:ln w="19050">
              <a:solidFill>
                <a:srgbClr val="DDE1E6"/>
              </a:solidFill>
            </a:ln>
          </p:spPr>
        </p:sp>
        <p:sp>
          <p:nvSpPr>
            <p:cNvPr id="20" name="TextBox 20"/>
            <p:cNvSpPr txBox="1"/>
            <p:nvPr/>
          </p:nvSpPr>
          <p:spPr>
            <a:xfrm>
              <a:off x="853440" y="5231606"/>
              <a:ext cx="9014080" cy="513398"/>
            </a:xfrm>
            <a:prstGeom prst="rect">
              <a:avLst/>
            </a:prstGeom>
            <a:noFill/>
            <a:ln>
              <a:noFill/>
            </a:ln>
          </p:spPr>
          <p:txBody>
            <a:bodyPr wrap="none" lIns="0" tIns="0" rIns="0" bIns="0" anchor="t" anchorCtr="0">
              <a:spAutoFit/>
            </a:bodyPr>
            <a:lstStyle/>
            <a:p>
              <a:pPr algn="l"/>
              <a:r>
                <a:rPr lang="en-US" sz="2620" b="1" dirty="0">
                  <a:solidFill>
                    <a:schemeClr val="accent2"/>
                  </a:solidFill>
                  <a:latin typeface="+mn-lt"/>
                  <a:ea typeface="+mn-ea"/>
                  <a:cs typeface="+mn-cs"/>
                </a:rPr>
                <a:t>Compare MAE on the same held-out test timestamps.</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943859"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Fixed-point needs an explicit contract</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09 / 15</a:t>
            </a:r>
          </a:p>
        </p:txBody>
      </p:sp>
      <p:grpSp>
        <p:nvGrpSpPr>
          <p:cNvPr id="27" name="fixed-point-contract"/>
          <p:cNvGrpSpPr/>
          <p:nvPr/>
        </p:nvGrpSpPr>
        <p:grpSpPr>
          <a:xfrm>
            <a:off x="596646" y="1828800"/>
            <a:ext cx="10985754" cy="4422648"/>
            <a:chOff x="596646" y="1828800"/>
            <a:chExt cx="10985754" cy="4422648"/>
          </a:xfrm>
        </p:grpSpPr>
        <p:sp>
          <p:nvSpPr>
            <p:cNvPr id="7" name="Rectangle 7"/>
            <p:cNvSpPr/>
            <p:nvPr/>
          </p:nvSpPr>
          <p:spPr>
            <a:xfrm>
              <a:off x="609600" y="1828800"/>
              <a:ext cx="2857500" cy="1381125"/>
            </a:xfrm>
            <a:prstGeom prst="rect">
              <a:avLst/>
            </a:prstGeom>
            <a:solidFill>
              <a:schemeClr val="lt2"/>
            </a:solidFill>
            <a:ln>
              <a:noFill/>
            </a:ln>
          </p:spPr>
        </p:sp>
        <p:sp>
          <p:nvSpPr>
            <p:cNvPr id="8" name="TextBox 8"/>
            <p:cNvSpPr txBox="1"/>
            <p:nvPr/>
          </p:nvSpPr>
          <p:spPr>
            <a:xfrm>
              <a:off x="835533" y="2360295"/>
              <a:ext cx="1902089"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C++ FLOAT</a:t>
              </a:r>
            </a:p>
          </p:txBody>
        </p:sp>
        <p:sp>
          <p:nvSpPr>
            <p:cNvPr id="9" name="Rectangle 9"/>
            <p:cNvSpPr/>
            <p:nvPr/>
          </p:nvSpPr>
          <p:spPr>
            <a:xfrm>
              <a:off x="4648200" y="1828800"/>
              <a:ext cx="2857500" cy="1381125"/>
            </a:xfrm>
            <a:prstGeom prst="rect">
              <a:avLst/>
            </a:prstGeom>
            <a:solidFill>
              <a:schemeClr val="lt2"/>
            </a:solidFill>
            <a:ln>
              <a:noFill/>
            </a:ln>
          </p:spPr>
        </p:sp>
        <p:sp>
          <p:nvSpPr>
            <p:cNvPr id="10" name="TextBox 10"/>
            <p:cNvSpPr txBox="1"/>
            <p:nvPr/>
          </p:nvSpPr>
          <p:spPr>
            <a:xfrm>
              <a:off x="4874133" y="2360295"/>
              <a:ext cx="1769771"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C++ FIXED</a:t>
              </a:r>
            </a:p>
          </p:txBody>
        </p:sp>
        <p:sp>
          <p:nvSpPr>
            <p:cNvPr id="11" name="Rectangle 11"/>
            <p:cNvSpPr/>
            <p:nvPr/>
          </p:nvSpPr>
          <p:spPr>
            <a:xfrm>
              <a:off x="8686800" y="1828800"/>
              <a:ext cx="2895600" cy="1381125"/>
            </a:xfrm>
            <a:prstGeom prst="rect">
              <a:avLst/>
            </a:prstGeom>
            <a:solidFill>
              <a:schemeClr val="lt2"/>
            </a:solidFill>
            <a:ln>
              <a:noFill/>
            </a:ln>
          </p:spPr>
        </p:sp>
        <p:sp>
          <p:nvSpPr>
            <p:cNvPr id="12" name="TextBox 12"/>
            <p:cNvSpPr txBox="1"/>
            <p:nvPr/>
          </p:nvSpPr>
          <p:spPr>
            <a:xfrm>
              <a:off x="8912733" y="2360295"/>
              <a:ext cx="687951"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RTL</a:t>
              </a:r>
            </a:p>
          </p:txBody>
        </p:sp>
        <p:sp>
          <p:nvSpPr>
            <p:cNvPr id="13" name="Line 13"/>
            <p:cNvSpPr/>
            <p:nvPr/>
          </p:nvSpPr>
          <p:spPr>
            <a:xfrm>
              <a:off x="3581400" y="2514600"/>
              <a:ext cx="781050" cy="9525"/>
            </a:xfrm>
            <a:custGeom>
              <a:avLst/>
              <a:gdLst/>
              <a:ahLst/>
              <a:cxnLst/>
              <a:rect l="l" t="t" r="r" b="b"/>
              <a:pathLst>
                <a:path w="781050" h="9525">
                  <a:moveTo>
                    <a:pt x="0" y="0"/>
                  </a:moveTo>
                  <a:lnTo>
                    <a:pt x="781050" y="0"/>
                  </a:lnTo>
                </a:path>
              </a:pathLst>
            </a:custGeom>
            <a:noFill/>
            <a:ln w="38100">
              <a:solidFill>
                <a:schemeClr val="accent1"/>
              </a:solidFill>
            </a:ln>
          </p:spPr>
        </p:sp>
        <p:sp>
          <p:nvSpPr>
            <p:cNvPr id="14" name="Polygon 14"/>
            <p:cNvSpPr/>
            <p:nvPr/>
          </p:nvSpPr>
          <p:spPr>
            <a:xfrm>
              <a:off x="4362450" y="242887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5" name="Line 15"/>
            <p:cNvSpPr/>
            <p:nvPr/>
          </p:nvSpPr>
          <p:spPr>
            <a:xfrm>
              <a:off x="7620000" y="2514600"/>
              <a:ext cx="781050" cy="9525"/>
            </a:xfrm>
            <a:custGeom>
              <a:avLst/>
              <a:gdLst/>
              <a:ahLst/>
              <a:cxnLst/>
              <a:rect l="l" t="t" r="r" b="b"/>
              <a:pathLst>
                <a:path w="781050" h="9525">
                  <a:moveTo>
                    <a:pt x="0" y="0"/>
                  </a:moveTo>
                  <a:lnTo>
                    <a:pt x="781050" y="0"/>
                  </a:lnTo>
                </a:path>
              </a:pathLst>
            </a:custGeom>
            <a:noFill/>
            <a:ln w="38100">
              <a:solidFill>
                <a:schemeClr val="accent1"/>
              </a:solidFill>
            </a:ln>
          </p:spPr>
        </p:sp>
        <p:sp>
          <p:nvSpPr>
            <p:cNvPr id="16" name="Polygon 16"/>
            <p:cNvSpPr/>
            <p:nvPr/>
          </p:nvSpPr>
          <p:spPr>
            <a:xfrm>
              <a:off x="8401050" y="242887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7" name="TextBox 17"/>
            <p:cNvSpPr txBox="1"/>
            <p:nvPr/>
          </p:nvSpPr>
          <p:spPr>
            <a:xfrm>
              <a:off x="596646" y="3763328"/>
              <a:ext cx="6707377" cy="498729"/>
            </a:xfrm>
            <a:prstGeom prst="rect">
              <a:avLst/>
            </a:prstGeom>
            <a:noFill/>
            <a:ln>
              <a:noFill/>
            </a:ln>
          </p:spPr>
          <p:txBody>
            <a:bodyPr wrap="none" lIns="0" tIns="0" rIns="0" bIns="0" anchor="t" anchorCtr="0">
              <a:spAutoFit/>
            </a:bodyPr>
            <a:lstStyle/>
            <a:p>
              <a:pPr algn="l"/>
              <a:r>
                <a:rPr lang="en-US" sz="2550" b="1" dirty="0">
                  <a:solidFill>
                    <a:schemeClr val="accent2"/>
                  </a:solidFill>
                  <a:latin typeface="+mn-lt"/>
                  <a:ea typeface="+mn-ea"/>
                  <a:cs typeface="+mn-cs"/>
                </a:rPr>
                <a:t>Define the arithmetic before coding RTL:</a:t>
              </a:r>
            </a:p>
          </p:txBody>
        </p:sp>
        <p:sp>
          <p:nvSpPr>
            <p:cNvPr id="18" name="Rectangle 18"/>
            <p:cNvSpPr/>
            <p:nvPr/>
          </p:nvSpPr>
          <p:spPr>
            <a:xfrm>
              <a:off x="609600" y="4429125"/>
              <a:ext cx="2438400" cy="895350"/>
            </a:xfrm>
            <a:prstGeom prst="rect">
              <a:avLst/>
            </a:prstGeom>
            <a:solidFill>
              <a:schemeClr val="lt2"/>
            </a:solidFill>
            <a:ln>
              <a:noFill/>
            </a:ln>
          </p:spPr>
        </p:sp>
        <p:sp>
          <p:nvSpPr>
            <p:cNvPr id="19" name="TextBox 19"/>
            <p:cNvSpPr txBox="1"/>
            <p:nvPr/>
          </p:nvSpPr>
          <p:spPr>
            <a:xfrm>
              <a:off x="788670" y="4738688"/>
              <a:ext cx="168938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signedness</a:t>
              </a:r>
            </a:p>
          </p:txBody>
        </p:sp>
        <p:sp>
          <p:nvSpPr>
            <p:cNvPr id="20" name="Rectangle 20"/>
            <p:cNvSpPr/>
            <p:nvPr/>
          </p:nvSpPr>
          <p:spPr>
            <a:xfrm>
              <a:off x="3381375" y="4429125"/>
              <a:ext cx="2438400" cy="895350"/>
            </a:xfrm>
            <a:prstGeom prst="rect">
              <a:avLst/>
            </a:prstGeom>
            <a:solidFill>
              <a:schemeClr val="lt2"/>
            </a:solidFill>
            <a:ln>
              <a:noFill/>
            </a:ln>
          </p:spPr>
        </p:sp>
        <p:sp>
          <p:nvSpPr>
            <p:cNvPr id="21" name="TextBox 21"/>
            <p:cNvSpPr txBox="1"/>
            <p:nvPr/>
          </p:nvSpPr>
          <p:spPr>
            <a:xfrm>
              <a:off x="3560445" y="4738688"/>
              <a:ext cx="143610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bit widths</a:t>
              </a:r>
            </a:p>
          </p:txBody>
        </p:sp>
        <p:sp>
          <p:nvSpPr>
            <p:cNvPr id="22" name="Rectangle 22"/>
            <p:cNvSpPr/>
            <p:nvPr/>
          </p:nvSpPr>
          <p:spPr>
            <a:xfrm>
              <a:off x="6153150" y="4429125"/>
              <a:ext cx="2438400" cy="895350"/>
            </a:xfrm>
            <a:prstGeom prst="rect">
              <a:avLst/>
            </a:prstGeom>
            <a:solidFill>
              <a:schemeClr val="lt2"/>
            </a:solidFill>
            <a:ln>
              <a:noFill/>
            </a:ln>
          </p:spPr>
        </p:sp>
        <p:sp>
          <p:nvSpPr>
            <p:cNvPr id="23" name="TextBox 23"/>
            <p:cNvSpPr txBox="1"/>
            <p:nvPr/>
          </p:nvSpPr>
          <p:spPr>
            <a:xfrm>
              <a:off x="6332220" y="4738688"/>
              <a:ext cx="133494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rounding</a:t>
              </a:r>
            </a:p>
          </p:txBody>
        </p:sp>
        <p:sp>
          <p:nvSpPr>
            <p:cNvPr id="24" name="Rectangle 24"/>
            <p:cNvSpPr/>
            <p:nvPr/>
          </p:nvSpPr>
          <p:spPr>
            <a:xfrm>
              <a:off x="8924925" y="4429125"/>
              <a:ext cx="2657475" cy="895350"/>
            </a:xfrm>
            <a:prstGeom prst="rect">
              <a:avLst/>
            </a:prstGeom>
            <a:solidFill>
              <a:schemeClr val="lt2"/>
            </a:solidFill>
            <a:ln>
              <a:noFill/>
            </a:ln>
          </p:spPr>
        </p:sp>
        <p:sp>
          <p:nvSpPr>
            <p:cNvPr id="25" name="TextBox 25"/>
            <p:cNvSpPr txBox="1"/>
            <p:nvPr/>
          </p:nvSpPr>
          <p:spPr>
            <a:xfrm>
              <a:off x="9103995" y="4738688"/>
              <a:ext cx="126830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overflow</a:t>
              </a:r>
            </a:p>
          </p:txBody>
        </p:sp>
        <p:sp>
          <p:nvSpPr>
            <p:cNvPr id="26" name="TextBox 26"/>
            <p:cNvSpPr txBox="1"/>
            <p:nvPr/>
          </p:nvSpPr>
          <p:spPr>
            <a:xfrm>
              <a:off x="598932" y="5840730"/>
              <a:ext cx="8247701"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Forecast error and quantization error are different measurements.</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036218"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From sample history to arithmetic</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10 / 15</a:t>
            </a:r>
          </a:p>
        </p:txBody>
      </p:sp>
      <p:grpSp>
        <p:nvGrpSpPr>
          <p:cNvPr id="30" name="rtl-datapath"/>
          <p:cNvGrpSpPr/>
          <p:nvPr/>
        </p:nvGrpSpPr>
        <p:grpSpPr>
          <a:xfrm>
            <a:off x="598932" y="1781175"/>
            <a:ext cx="10678935" cy="4298823"/>
            <a:chOff x="598932" y="1781175"/>
            <a:chExt cx="10678935" cy="4298823"/>
          </a:xfrm>
        </p:grpSpPr>
        <p:sp>
          <p:nvSpPr>
            <p:cNvPr id="7" name="Rectangle 7"/>
            <p:cNvSpPr/>
            <p:nvPr/>
          </p:nvSpPr>
          <p:spPr>
            <a:xfrm>
              <a:off x="609600" y="1781175"/>
              <a:ext cx="2476500" cy="3267075"/>
            </a:xfrm>
            <a:prstGeom prst="rect">
              <a:avLst/>
            </a:prstGeom>
            <a:solidFill>
              <a:schemeClr val="lt2"/>
            </a:solidFill>
            <a:ln>
              <a:noFill/>
            </a:ln>
          </p:spPr>
        </p:sp>
        <p:sp>
          <p:nvSpPr>
            <p:cNvPr id="8" name="TextBox 8"/>
            <p:cNvSpPr txBox="1"/>
            <p:nvPr/>
          </p:nvSpPr>
          <p:spPr>
            <a:xfrm>
              <a:off x="807339" y="2073116"/>
              <a:ext cx="1875696"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25-SAMPLE</a:t>
              </a:r>
            </a:p>
          </p:txBody>
        </p:sp>
        <p:sp>
          <p:nvSpPr>
            <p:cNvPr id="9" name="TextBox 9"/>
            <p:cNvSpPr txBox="1"/>
            <p:nvPr/>
          </p:nvSpPr>
          <p:spPr>
            <a:xfrm>
              <a:off x="807339" y="2454116"/>
              <a:ext cx="1361825"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BUFFER</a:t>
              </a:r>
            </a:p>
          </p:txBody>
        </p:sp>
        <p:sp>
          <p:nvSpPr>
            <p:cNvPr id="10" name="TextBox 10"/>
            <p:cNvSpPr txBox="1"/>
            <p:nvPr/>
          </p:nvSpPr>
          <p:spPr>
            <a:xfrm>
              <a:off x="809244" y="3170872"/>
              <a:ext cx="59733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t−24</a:t>
              </a:r>
            </a:p>
          </p:txBody>
        </p:sp>
        <p:sp>
          <p:nvSpPr>
            <p:cNvPr id="11" name="TextBox 11"/>
            <p:cNvSpPr txBox="1"/>
            <p:nvPr/>
          </p:nvSpPr>
          <p:spPr>
            <a:xfrm>
              <a:off x="1961769" y="3170872"/>
              <a:ext cx="59733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t−21</a:t>
              </a:r>
            </a:p>
          </p:txBody>
        </p:sp>
        <p:sp>
          <p:nvSpPr>
            <p:cNvPr id="12" name="TextBox 12"/>
            <p:cNvSpPr txBox="1"/>
            <p:nvPr/>
          </p:nvSpPr>
          <p:spPr>
            <a:xfrm>
              <a:off x="809244" y="3694748"/>
              <a:ext cx="45295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t−3</a:t>
              </a:r>
            </a:p>
          </p:txBody>
        </p:sp>
        <p:sp>
          <p:nvSpPr>
            <p:cNvPr id="13" name="TextBox 13"/>
            <p:cNvSpPr txBox="1"/>
            <p:nvPr/>
          </p:nvSpPr>
          <p:spPr>
            <a:xfrm>
              <a:off x="1961769" y="3694748"/>
              <a:ext cx="16419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a:t>
              </a:r>
            </a:p>
          </p:txBody>
        </p:sp>
        <p:sp>
          <p:nvSpPr>
            <p:cNvPr id="14" name="Rectangle 14"/>
            <p:cNvSpPr/>
            <p:nvPr/>
          </p:nvSpPr>
          <p:spPr>
            <a:xfrm>
              <a:off x="3943350" y="1895475"/>
              <a:ext cx="3305175" cy="1257300"/>
            </a:xfrm>
            <a:prstGeom prst="rect">
              <a:avLst/>
            </a:prstGeom>
            <a:solidFill>
              <a:schemeClr val="lt2"/>
            </a:solidFill>
            <a:ln>
              <a:noFill/>
            </a:ln>
          </p:spPr>
        </p:sp>
        <p:sp>
          <p:nvSpPr>
            <p:cNvPr id="15" name="TextBox 15"/>
            <p:cNvSpPr txBox="1"/>
            <p:nvPr/>
          </p:nvSpPr>
          <p:spPr>
            <a:xfrm>
              <a:off x="4150614" y="2177891"/>
              <a:ext cx="1881504" cy="454724"/>
            </a:xfrm>
            <a:prstGeom prst="rect">
              <a:avLst/>
            </a:prstGeom>
            <a:noFill/>
            <a:ln>
              <a:noFill/>
            </a:ln>
          </p:spPr>
          <p:txBody>
            <a:bodyPr wrap="none" lIns="0" tIns="0" rIns="0" bIns="0" anchor="t" anchorCtr="0">
              <a:spAutoFit/>
            </a:bodyPr>
            <a:lstStyle/>
            <a:p>
              <a:pPr algn="l"/>
              <a:r>
                <a:rPr lang="el-GR" sz="2320" b="1" dirty="0">
                  <a:solidFill>
                    <a:schemeClr val="dk1"/>
                  </a:solidFill>
                  <a:latin typeface="+mn-lt"/>
                  <a:ea typeface="+mn-ea"/>
                  <a:cs typeface="+mn-cs"/>
                </a:rPr>
                <a:t>day-to-day Δ</a:t>
              </a:r>
            </a:p>
          </p:txBody>
        </p:sp>
        <p:sp>
          <p:nvSpPr>
            <p:cNvPr id="16" name="TextBox 16"/>
            <p:cNvSpPr txBox="1"/>
            <p:nvPr/>
          </p:nvSpPr>
          <p:spPr>
            <a:xfrm>
              <a:off x="4149090" y="2602706"/>
              <a:ext cx="526805" cy="513398"/>
            </a:xfrm>
            <a:prstGeom prst="rect">
              <a:avLst/>
            </a:prstGeom>
            <a:noFill/>
            <a:ln>
              <a:noFill/>
            </a:ln>
          </p:spPr>
          <p:txBody>
            <a:bodyPr wrap="none" lIns="0" tIns="0" rIns="0" bIns="0" anchor="t" anchorCtr="0">
              <a:spAutoFit/>
            </a:bodyPr>
            <a:lstStyle/>
            <a:p>
              <a:pPr algn="l"/>
              <a:r>
                <a:rPr lang="en-US" sz="2620" b="1" dirty="0">
                  <a:solidFill>
                    <a:schemeClr val="accent2"/>
                  </a:solidFill>
                  <a:latin typeface="+mn-lt"/>
                  <a:ea typeface="+mn-ea"/>
                  <a:cs typeface="+mn-cs"/>
                </a:rPr>
                <a:t>× a</a:t>
              </a:r>
            </a:p>
          </p:txBody>
        </p:sp>
        <p:sp>
          <p:nvSpPr>
            <p:cNvPr id="17" name="Rectangle 17"/>
            <p:cNvSpPr/>
            <p:nvPr/>
          </p:nvSpPr>
          <p:spPr>
            <a:xfrm>
              <a:off x="3943350" y="3714750"/>
              <a:ext cx="3305175" cy="1257300"/>
            </a:xfrm>
            <a:prstGeom prst="rect">
              <a:avLst/>
            </a:prstGeom>
            <a:solidFill>
              <a:schemeClr val="lt2"/>
            </a:solidFill>
            <a:ln>
              <a:noFill/>
            </a:ln>
          </p:spPr>
        </p:sp>
        <p:sp>
          <p:nvSpPr>
            <p:cNvPr id="18" name="TextBox 18"/>
            <p:cNvSpPr txBox="1"/>
            <p:nvPr/>
          </p:nvSpPr>
          <p:spPr>
            <a:xfrm>
              <a:off x="4150614" y="3997166"/>
              <a:ext cx="1778532" cy="454724"/>
            </a:xfrm>
            <a:prstGeom prst="rect">
              <a:avLst/>
            </a:prstGeom>
            <a:noFill/>
            <a:ln>
              <a:noFill/>
            </a:ln>
          </p:spPr>
          <p:txBody>
            <a:bodyPr wrap="none" lIns="0" tIns="0" rIns="0" bIns="0" anchor="t" anchorCtr="0">
              <a:spAutoFit/>
            </a:bodyPr>
            <a:lstStyle/>
            <a:p>
              <a:pPr algn="l"/>
              <a:r>
                <a:rPr lang="el-GR" sz="2320" b="1" dirty="0">
                  <a:solidFill>
                    <a:schemeClr val="dk1"/>
                  </a:solidFill>
                  <a:latin typeface="+mn-lt"/>
                  <a:ea typeface="+mn-ea"/>
                  <a:cs typeface="+mn-cs"/>
                </a:rPr>
                <a:t>recent 3 h Δ</a:t>
              </a:r>
            </a:p>
          </p:txBody>
        </p:sp>
        <p:sp>
          <p:nvSpPr>
            <p:cNvPr id="19" name="TextBox 19"/>
            <p:cNvSpPr txBox="1"/>
            <p:nvPr/>
          </p:nvSpPr>
          <p:spPr>
            <a:xfrm>
              <a:off x="4149090" y="4421981"/>
              <a:ext cx="546062" cy="513398"/>
            </a:xfrm>
            <a:prstGeom prst="rect">
              <a:avLst/>
            </a:prstGeom>
            <a:noFill/>
            <a:ln>
              <a:noFill/>
            </a:ln>
          </p:spPr>
          <p:txBody>
            <a:bodyPr wrap="none" lIns="0" tIns="0" rIns="0" bIns="0" anchor="t" anchorCtr="0">
              <a:spAutoFit/>
            </a:bodyPr>
            <a:lstStyle/>
            <a:p>
              <a:pPr algn="l"/>
              <a:r>
                <a:rPr lang="en-US" sz="2620" b="1" dirty="0">
                  <a:solidFill>
                    <a:schemeClr val="accent2"/>
                  </a:solidFill>
                  <a:latin typeface="+mn-lt"/>
                  <a:ea typeface="+mn-ea"/>
                  <a:cs typeface="+mn-cs"/>
                </a:rPr>
                <a:t>× b</a:t>
              </a:r>
            </a:p>
          </p:txBody>
        </p:sp>
        <p:sp>
          <p:nvSpPr>
            <p:cNvPr id="20" name="Line 20"/>
            <p:cNvSpPr/>
            <p:nvPr/>
          </p:nvSpPr>
          <p:spPr>
            <a:xfrm>
              <a:off x="3238500" y="3381375"/>
              <a:ext cx="419100" cy="9525"/>
            </a:xfrm>
            <a:custGeom>
              <a:avLst/>
              <a:gdLst/>
              <a:ahLst/>
              <a:cxnLst/>
              <a:rect l="l" t="t" r="r" b="b"/>
              <a:pathLst>
                <a:path w="419100" h="9525">
                  <a:moveTo>
                    <a:pt x="0" y="0"/>
                  </a:moveTo>
                  <a:lnTo>
                    <a:pt x="419100" y="0"/>
                  </a:lnTo>
                </a:path>
              </a:pathLst>
            </a:custGeom>
            <a:noFill/>
            <a:ln w="38100">
              <a:solidFill>
                <a:schemeClr val="accent1"/>
              </a:solidFill>
            </a:ln>
          </p:spPr>
        </p:sp>
        <p:sp>
          <p:nvSpPr>
            <p:cNvPr id="21" name="Polygon 21"/>
            <p:cNvSpPr/>
            <p:nvPr/>
          </p:nvSpPr>
          <p:spPr>
            <a:xfrm>
              <a:off x="3657600" y="3295650"/>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22" name="Line 22"/>
            <p:cNvSpPr/>
            <p:nvPr/>
          </p:nvSpPr>
          <p:spPr>
            <a:xfrm>
              <a:off x="7391400" y="2524125"/>
              <a:ext cx="800100" cy="762000"/>
            </a:xfrm>
            <a:custGeom>
              <a:avLst/>
              <a:gdLst/>
              <a:ahLst/>
              <a:cxnLst/>
              <a:rect l="l" t="t" r="r" b="b"/>
              <a:pathLst>
                <a:path w="800100" h="762000">
                  <a:moveTo>
                    <a:pt x="0" y="0"/>
                  </a:moveTo>
                  <a:lnTo>
                    <a:pt x="800100" y="762000"/>
                  </a:lnTo>
                </a:path>
              </a:pathLst>
            </a:custGeom>
            <a:noFill/>
            <a:ln w="28575">
              <a:solidFill>
                <a:schemeClr val="accent1"/>
              </a:solidFill>
            </a:ln>
          </p:spPr>
        </p:sp>
        <p:sp>
          <p:nvSpPr>
            <p:cNvPr id="23" name="Line 23"/>
            <p:cNvSpPr/>
            <p:nvPr/>
          </p:nvSpPr>
          <p:spPr>
            <a:xfrm>
              <a:off x="7391400" y="3381375"/>
              <a:ext cx="800100" cy="952500"/>
            </a:xfrm>
            <a:custGeom>
              <a:avLst/>
              <a:gdLst/>
              <a:ahLst/>
              <a:cxnLst/>
              <a:rect l="l" t="t" r="r" b="b"/>
              <a:pathLst>
                <a:path w="800100" h="952500">
                  <a:moveTo>
                    <a:pt x="0" y="952500"/>
                  </a:moveTo>
                  <a:lnTo>
                    <a:pt x="800100" y="0"/>
                  </a:lnTo>
                </a:path>
              </a:pathLst>
            </a:custGeom>
            <a:noFill/>
            <a:ln w="28575">
              <a:solidFill>
                <a:schemeClr val="accent1"/>
              </a:solidFill>
            </a:ln>
          </p:spPr>
        </p:sp>
        <p:sp>
          <p:nvSpPr>
            <p:cNvPr id="24" name="Ellipse 24"/>
            <p:cNvSpPr/>
            <p:nvPr/>
          </p:nvSpPr>
          <p:spPr>
            <a:xfrm>
              <a:off x="7953375" y="2847975"/>
              <a:ext cx="990600" cy="990600"/>
            </a:xfrm>
            <a:prstGeom prst="ellipse">
              <a:avLst/>
            </a:prstGeom>
            <a:solidFill>
              <a:schemeClr val="lt1"/>
            </a:solidFill>
            <a:ln w="38100">
              <a:solidFill>
                <a:schemeClr val="accent1"/>
              </a:solidFill>
            </a:ln>
          </p:spPr>
        </p:sp>
        <p:sp>
          <p:nvSpPr>
            <p:cNvPr id="25" name="TextBox 25"/>
            <p:cNvSpPr txBox="1"/>
            <p:nvPr/>
          </p:nvSpPr>
          <p:spPr>
            <a:xfrm>
              <a:off x="8295533" y="3142298"/>
              <a:ext cx="306284" cy="674751"/>
            </a:xfrm>
            <a:prstGeom prst="rect">
              <a:avLst/>
            </a:prstGeom>
            <a:noFill/>
            <a:ln>
              <a:noFill/>
            </a:ln>
          </p:spPr>
          <p:txBody>
            <a:bodyPr wrap="none" lIns="0" tIns="0" rIns="0" bIns="0" anchor="t" anchorCtr="0">
              <a:spAutoFit/>
            </a:bodyPr>
            <a:lstStyle/>
            <a:p>
              <a:pPr algn="ctr"/>
              <a:r>
                <a:rPr lang="en-US" sz="3450" b="1" dirty="0">
                  <a:solidFill>
                    <a:schemeClr val="accent2"/>
                  </a:solidFill>
                  <a:latin typeface="+mn-lt"/>
                  <a:ea typeface="+mn-ea"/>
                  <a:cs typeface="+mn-cs"/>
                </a:rPr>
                <a:t>+</a:t>
              </a:r>
            </a:p>
          </p:txBody>
        </p:sp>
        <p:sp>
          <p:nvSpPr>
            <p:cNvPr id="26" name="Line 26"/>
            <p:cNvSpPr/>
            <p:nvPr/>
          </p:nvSpPr>
          <p:spPr>
            <a:xfrm>
              <a:off x="8991600" y="3343275"/>
              <a:ext cx="495300" cy="9525"/>
            </a:xfrm>
            <a:custGeom>
              <a:avLst/>
              <a:gdLst/>
              <a:ahLst/>
              <a:cxnLst/>
              <a:rect l="l" t="t" r="r" b="b"/>
              <a:pathLst>
                <a:path w="495300" h="9525">
                  <a:moveTo>
                    <a:pt x="0" y="0"/>
                  </a:moveTo>
                  <a:lnTo>
                    <a:pt x="495300" y="0"/>
                  </a:lnTo>
                </a:path>
              </a:pathLst>
            </a:custGeom>
            <a:noFill/>
            <a:ln w="38100">
              <a:solidFill>
                <a:schemeClr val="accent1"/>
              </a:solidFill>
            </a:ln>
          </p:spPr>
        </p:sp>
        <p:sp>
          <p:nvSpPr>
            <p:cNvPr id="27" name="Polygon 27"/>
            <p:cNvSpPr/>
            <p:nvPr/>
          </p:nvSpPr>
          <p:spPr>
            <a:xfrm>
              <a:off x="9486900" y="3257550"/>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28" name="TextBox 28"/>
            <p:cNvSpPr txBox="1"/>
            <p:nvPr/>
          </p:nvSpPr>
          <p:spPr>
            <a:xfrm>
              <a:off x="9736836" y="3158490"/>
              <a:ext cx="1541031"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Consolas"/>
                  <a:ea typeface="Consolas"/>
                  <a:cs typeface="Consolas"/>
                </a:rPr>
                <a:t>T̂(t+3)</a:t>
              </a:r>
            </a:p>
          </p:txBody>
        </p:sp>
        <p:sp>
          <p:nvSpPr>
            <p:cNvPr id="29" name="TextBox 29"/>
            <p:cNvSpPr txBox="1"/>
            <p:nvPr/>
          </p:nvSpPr>
          <p:spPr>
            <a:xfrm>
              <a:off x="598932" y="5669280"/>
              <a:ext cx="7777383"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Accept a sample on valid; output only after the buffer is ready.</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5751258"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Three verification layers</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11 / 15</a:t>
            </a:r>
          </a:p>
        </p:txBody>
      </p:sp>
      <p:grpSp>
        <p:nvGrpSpPr>
          <p:cNvPr id="26" name="verification-layers"/>
          <p:cNvGrpSpPr/>
          <p:nvPr/>
        </p:nvGrpSpPr>
        <p:grpSpPr>
          <a:xfrm>
            <a:off x="598932" y="1790700"/>
            <a:ext cx="10983468" cy="4451223"/>
            <a:chOff x="598932" y="1790700"/>
            <a:chExt cx="10983468" cy="4451223"/>
          </a:xfrm>
        </p:grpSpPr>
        <p:sp>
          <p:nvSpPr>
            <p:cNvPr id="7" name="Rectangle 7"/>
            <p:cNvSpPr/>
            <p:nvPr/>
          </p:nvSpPr>
          <p:spPr>
            <a:xfrm>
              <a:off x="609600" y="1790700"/>
              <a:ext cx="3219450" cy="3648075"/>
            </a:xfrm>
            <a:prstGeom prst="rect">
              <a:avLst/>
            </a:prstGeom>
            <a:solidFill>
              <a:schemeClr val="lt2"/>
            </a:solidFill>
            <a:ln>
              <a:noFill/>
            </a:ln>
          </p:spPr>
        </p:sp>
        <p:sp>
          <p:nvSpPr>
            <p:cNvPr id="8" name="TextBox 8"/>
            <p:cNvSpPr txBox="1"/>
            <p:nvPr/>
          </p:nvSpPr>
          <p:spPr>
            <a:xfrm>
              <a:off x="800100" y="2037874"/>
              <a:ext cx="634110" cy="776288"/>
            </a:xfrm>
            <a:prstGeom prst="rect">
              <a:avLst/>
            </a:prstGeom>
            <a:noFill/>
            <a:ln>
              <a:noFill/>
            </a:ln>
          </p:spPr>
          <p:txBody>
            <a:bodyPr wrap="none" lIns="0" tIns="0" rIns="0" bIns="0" anchor="t" anchorCtr="0">
              <a:spAutoFit/>
            </a:bodyPr>
            <a:lstStyle/>
            <a:p>
              <a:pPr algn="l"/>
              <a:r>
                <a:rPr lang="en-US" sz="3980" b="1" dirty="0">
                  <a:solidFill>
                    <a:schemeClr val="accent1"/>
                  </a:solidFill>
                  <a:latin typeface="+mn-lt"/>
                  <a:ea typeface="+mn-ea"/>
                  <a:cs typeface="+mn-cs"/>
                </a:rPr>
                <a:t>01</a:t>
              </a:r>
            </a:p>
          </p:txBody>
        </p:sp>
        <p:sp>
          <p:nvSpPr>
            <p:cNvPr id="9" name="TextBox 9"/>
            <p:cNvSpPr txBox="1"/>
            <p:nvPr/>
          </p:nvSpPr>
          <p:spPr>
            <a:xfrm>
              <a:off x="807720" y="2852738"/>
              <a:ext cx="62780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a:t>
              </a:r>
            </a:p>
          </p:txBody>
        </p:sp>
        <p:sp>
          <p:nvSpPr>
            <p:cNvPr id="10" name="TextBox 10"/>
            <p:cNvSpPr txBox="1"/>
            <p:nvPr/>
          </p:nvSpPr>
          <p:spPr>
            <a:xfrm>
              <a:off x="807720" y="3433762"/>
              <a:ext cx="1790555"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float vs. fixed</a:t>
              </a:r>
            </a:p>
          </p:txBody>
        </p:sp>
        <p:sp>
          <p:nvSpPr>
            <p:cNvPr id="11" name="Line 11"/>
            <p:cNvSpPr/>
            <p:nvPr/>
          </p:nvSpPr>
          <p:spPr>
            <a:xfrm>
              <a:off x="819150" y="4067175"/>
              <a:ext cx="2800350" cy="9525"/>
            </a:xfrm>
            <a:custGeom>
              <a:avLst/>
              <a:gdLst/>
              <a:ahLst/>
              <a:cxnLst/>
              <a:rect l="l" t="t" r="r" b="b"/>
              <a:pathLst>
                <a:path w="2800350" h="9525">
                  <a:moveTo>
                    <a:pt x="0" y="0"/>
                  </a:moveTo>
                  <a:lnTo>
                    <a:pt x="2800350" y="0"/>
                  </a:lnTo>
                </a:path>
              </a:pathLst>
            </a:custGeom>
            <a:noFill/>
            <a:ln w="19050">
              <a:solidFill>
                <a:srgbClr val="DDE1E6"/>
              </a:solidFill>
            </a:ln>
          </p:spPr>
        </p:sp>
        <p:sp>
          <p:nvSpPr>
            <p:cNvPr id="12" name="TextBox 12"/>
            <p:cNvSpPr txBox="1"/>
            <p:nvPr/>
          </p:nvSpPr>
          <p:spPr>
            <a:xfrm>
              <a:off x="808863" y="4448651"/>
              <a:ext cx="1487214"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quantization</a:t>
              </a:r>
            </a:p>
          </p:txBody>
        </p:sp>
        <p:sp>
          <p:nvSpPr>
            <p:cNvPr id="13" name="Rectangle 13"/>
            <p:cNvSpPr/>
            <p:nvPr/>
          </p:nvSpPr>
          <p:spPr>
            <a:xfrm>
              <a:off x="4438650" y="1790700"/>
              <a:ext cx="3219450" cy="3648075"/>
            </a:xfrm>
            <a:prstGeom prst="rect">
              <a:avLst/>
            </a:prstGeom>
            <a:solidFill>
              <a:schemeClr val="lt2"/>
            </a:solidFill>
            <a:ln>
              <a:noFill/>
            </a:ln>
          </p:spPr>
        </p:sp>
        <p:sp>
          <p:nvSpPr>
            <p:cNvPr id="14" name="TextBox 14"/>
            <p:cNvSpPr txBox="1"/>
            <p:nvPr/>
          </p:nvSpPr>
          <p:spPr>
            <a:xfrm>
              <a:off x="4629150" y="2037874"/>
              <a:ext cx="634110" cy="776288"/>
            </a:xfrm>
            <a:prstGeom prst="rect">
              <a:avLst/>
            </a:prstGeom>
            <a:noFill/>
            <a:ln>
              <a:noFill/>
            </a:ln>
          </p:spPr>
          <p:txBody>
            <a:bodyPr wrap="none" lIns="0" tIns="0" rIns="0" bIns="0" anchor="t" anchorCtr="0">
              <a:spAutoFit/>
            </a:bodyPr>
            <a:lstStyle/>
            <a:p>
              <a:pPr algn="l"/>
              <a:r>
                <a:rPr lang="en-US" sz="3980" b="1" dirty="0">
                  <a:solidFill>
                    <a:schemeClr val="accent1"/>
                  </a:solidFill>
                  <a:latin typeface="+mn-lt"/>
                  <a:ea typeface="+mn-ea"/>
                  <a:cs typeface="+mn-cs"/>
                </a:rPr>
                <a:t>02</a:t>
              </a:r>
            </a:p>
          </p:txBody>
        </p:sp>
        <p:sp>
          <p:nvSpPr>
            <p:cNvPr id="15" name="TextBox 15"/>
            <p:cNvSpPr txBox="1"/>
            <p:nvPr/>
          </p:nvSpPr>
          <p:spPr>
            <a:xfrm>
              <a:off x="4636770" y="2852738"/>
              <a:ext cx="197875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TESTBENCH</a:t>
              </a:r>
            </a:p>
          </p:txBody>
        </p:sp>
        <p:sp>
          <p:nvSpPr>
            <p:cNvPr id="16" name="TextBox 16"/>
            <p:cNvSpPr txBox="1"/>
            <p:nvPr/>
          </p:nvSpPr>
          <p:spPr>
            <a:xfrm>
              <a:off x="4636770" y="3433762"/>
              <a:ext cx="2459286"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RTL vs. reference</a:t>
              </a:r>
            </a:p>
          </p:txBody>
        </p:sp>
        <p:sp>
          <p:nvSpPr>
            <p:cNvPr id="17" name="Line 17"/>
            <p:cNvSpPr/>
            <p:nvPr/>
          </p:nvSpPr>
          <p:spPr>
            <a:xfrm>
              <a:off x="4648200" y="4067175"/>
              <a:ext cx="2800350" cy="9525"/>
            </a:xfrm>
            <a:custGeom>
              <a:avLst/>
              <a:gdLst/>
              <a:ahLst/>
              <a:cxnLst/>
              <a:rect l="l" t="t" r="r" b="b"/>
              <a:pathLst>
                <a:path w="2800350" h="9525">
                  <a:moveTo>
                    <a:pt x="0" y="0"/>
                  </a:moveTo>
                  <a:lnTo>
                    <a:pt x="2800350" y="0"/>
                  </a:lnTo>
                </a:path>
              </a:pathLst>
            </a:custGeom>
            <a:noFill/>
            <a:ln w="19050">
              <a:solidFill>
                <a:srgbClr val="DDE1E6"/>
              </a:solidFill>
            </a:ln>
          </p:spPr>
        </p:sp>
        <p:sp>
          <p:nvSpPr>
            <p:cNvPr id="18" name="TextBox 18"/>
            <p:cNvSpPr txBox="1"/>
            <p:nvPr/>
          </p:nvSpPr>
          <p:spPr>
            <a:xfrm>
              <a:off x="4637913" y="4448651"/>
              <a:ext cx="1879939"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bit-exact output</a:t>
              </a:r>
            </a:p>
          </p:txBody>
        </p:sp>
        <p:sp>
          <p:nvSpPr>
            <p:cNvPr id="19" name="Rectangle 19"/>
            <p:cNvSpPr/>
            <p:nvPr/>
          </p:nvSpPr>
          <p:spPr>
            <a:xfrm>
              <a:off x="8267700" y="1790700"/>
              <a:ext cx="3314700" cy="3648075"/>
            </a:xfrm>
            <a:prstGeom prst="rect">
              <a:avLst/>
            </a:prstGeom>
            <a:solidFill>
              <a:schemeClr val="lt2"/>
            </a:solidFill>
            <a:ln>
              <a:noFill/>
            </a:ln>
          </p:spPr>
        </p:sp>
        <p:sp>
          <p:nvSpPr>
            <p:cNvPr id="20" name="TextBox 20"/>
            <p:cNvSpPr txBox="1"/>
            <p:nvPr/>
          </p:nvSpPr>
          <p:spPr>
            <a:xfrm>
              <a:off x="8458200" y="2037874"/>
              <a:ext cx="634110" cy="776288"/>
            </a:xfrm>
            <a:prstGeom prst="rect">
              <a:avLst/>
            </a:prstGeom>
            <a:noFill/>
            <a:ln>
              <a:noFill/>
            </a:ln>
          </p:spPr>
          <p:txBody>
            <a:bodyPr wrap="none" lIns="0" tIns="0" rIns="0" bIns="0" anchor="t" anchorCtr="0">
              <a:spAutoFit/>
            </a:bodyPr>
            <a:lstStyle/>
            <a:p>
              <a:pPr algn="l"/>
              <a:r>
                <a:rPr lang="en-US" sz="3980" b="1" dirty="0">
                  <a:solidFill>
                    <a:schemeClr val="accent1"/>
                  </a:solidFill>
                  <a:latin typeface="+mn-lt"/>
                  <a:ea typeface="+mn-ea"/>
                  <a:cs typeface="+mn-cs"/>
                </a:rPr>
                <a:t>03</a:t>
              </a:r>
            </a:p>
          </p:txBody>
        </p:sp>
        <p:sp>
          <p:nvSpPr>
            <p:cNvPr id="21" name="TextBox 21"/>
            <p:cNvSpPr txBox="1"/>
            <p:nvPr/>
          </p:nvSpPr>
          <p:spPr>
            <a:xfrm>
              <a:off x="8465820" y="2852738"/>
              <a:ext cx="119631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BOARD</a:t>
              </a:r>
            </a:p>
          </p:txBody>
        </p:sp>
        <p:sp>
          <p:nvSpPr>
            <p:cNvPr id="22" name="TextBox 22"/>
            <p:cNvSpPr txBox="1"/>
            <p:nvPr/>
          </p:nvSpPr>
          <p:spPr>
            <a:xfrm>
              <a:off x="8465820" y="3433762"/>
              <a:ext cx="1892086"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integrated run</a:t>
              </a:r>
            </a:p>
          </p:txBody>
        </p:sp>
        <p:sp>
          <p:nvSpPr>
            <p:cNvPr id="23" name="Line 23"/>
            <p:cNvSpPr/>
            <p:nvPr/>
          </p:nvSpPr>
          <p:spPr>
            <a:xfrm>
              <a:off x="8477250" y="4067175"/>
              <a:ext cx="2895600" cy="9525"/>
            </a:xfrm>
            <a:custGeom>
              <a:avLst/>
              <a:gdLst/>
              <a:ahLst/>
              <a:cxnLst/>
              <a:rect l="l" t="t" r="r" b="b"/>
              <a:pathLst>
                <a:path w="2895600" h="9525">
                  <a:moveTo>
                    <a:pt x="0" y="0"/>
                  </a:moveTo>
                  <a:lnTo>
                    <a:pt x="2895600" y="0"/>
                  </a:lnTo>
                </a:path>
              </a:pathLst>
            </a:custGeom>
            <a:noFill/>
            <a:ln w="19050">
              <a:solidFill>
                <a:srgbClr val="DDE1E6"/>
              </a:solidFill>
            </a:ln>
          </p:spPr>
        </p:sp>
        <p:sp>
          <p:nvSpPr>
            <p:cNvPr id="24" name="TextBox 24"/>
            <p:cNvSpPr txBox="1"/>
            <p:nvPr/>
          </p:nvSpPr>
          <p:spPr>
            <a:xfrm>
              <a:off x="8466963" y="4448651"/>
              <a:ext cx="2593127"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I/O and sample order</a:t>
              </a:r>
            </a:p>
          </p:txBody>
        </p:sp>
        <p:sp>
          <p:nvSpPr>
            <p:cNvPr id="25" name="TextBox 25"/>
            <p:cNvSpPr txBox="1"/>
            <p:nvPr/>
          </p:nvSpPr>
          <p:spPr>
            <a:xfrm>
              <a:off x="598932" y="5831205"/>
              <a:ext cx="8200443"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All layers use the same input vectors and arithmetic specification.</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311463"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Replay historical data for the demo</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12 / 15</a:t>
            </a:r>
          </a:p>
        </p:txBody>
      </p:sp>
      <p:grpSp>
        <p:nvGrpSpPr>
          <p:cNvPr id="22" name="demo-flow"/>
          <p:cNvGrpSpPr/>
          <p:nvPr/>
        </p:nvGrpSpPr>
        <p:grpSpPr>
          <a:xfrm>
            <a:off x="609600" y="2009775"/>
            <a:ext cx="10972800" cy="3857625"/>
            <a:chOff x="609600" y="2009775"/>
            <a:chExt cx="10972800" cy="3857625"/>
          </a:xfrm>
        </p:grpSpPr>
        <p:sp>
          <p:nvSpPr>
            <p:cNvPr id="7" name="Rectangle 7"/>
            <p:cNvSpPr/>
            <p:nvPr/>
          </p:nvSpPr>
          <p:spPr>
            <a:xfrm>
              <a:off x="609600" y="2009775"/>
              <a:ext cx="2857500" cy="2295525"/>
            </a:xfrm>
            <a:prstGeom prst="rect">
              <a:avLst/>
            </a:prstGeom>
            <a:solidFill>
              <a:schemeClr val="lt2"/>
            </a:solidFill>
            <a:ln>
              <a:noFill/>
            </a:ln>
          </p:spPr>
        </p:sp>
        <p:sp>
          <p:nvSpPr>
            <p:cNvPr id="8" name="TextBox 8"/>
            <p:cNvSpPr txBox="1"/>
            <p:nvPr/>
          </p:nvSpPr>
          <p:spPr>
            <a:xfrm>
              <a:off x="787908" y="2493645"/>
              <a:ext cx="1485064"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PC / CSV</a:t>
              </a:r>
            </a:p>
          </p:txBody>
        </p:sp>
        <p:sp>
          <p:nvSpPr>
            <p:cNvPr id="9" name="TextBox 9"/>
            <p:cNvSpPr txBox="1"/>
            <p:nvPr/>
          </p:nvSpPr>
          <p:spPr>
            <a:xfrm>
              <a:off x="789051" y="3213259"/>
              <a:ext cx="2469123" cy="425386"/>
            </a:xfrm>
            <a:prstGeom prst="rect">
              <a:avLst/>
            </a:prstGeom>
            <a:noFill/>
            <a:ln>
              <a:noFill/>
            </a:ln>
          </p:spPr>
          <p:txBody>
            <a:bodyPr wrap="none" lIns="0" tIns="0" rIns="0" bIns="0" anchor="t" anchorCtr="0">
              <a:spAutoFit/>
            </a:bodyPr>
            <a:lstStyle/>
            <a:p>
              <a:pPr algn="l"/>
              <a:r>
                <a:rPr lang="en-US" sz="2180" dirty="0">
                  <a:solidFill>
                    <a:schemeClr val="accent3"/>
                  </a:solidFill>
                  <a:latin typeface="+mn-lt"/>
                  <a:ea typeface="+mn-ea"/>
                  <a:cs typeface="+mn-cs"/>
                </a:rPr>
                <a:t>send past samples</a:t>
              </a:r>
            </a:p>
          </p:txBody>
        </p:sp>
        <p:sp>
          <p:nvSpPr>
            <p:cNvPr id="10" name="Rectangle 10"/>
            <p:cNvSpPr/>
            <p:nvPr/>
          </p:nvSpPr>
          <p:spPr>
            <a:xfrm>
              <a:off x="4648200" y="2009775"/>
              <a:ext cx="2857500" cy="2295525"/>
            </a:xfrm>
            <a:prstGeom prst="rect">
              <a:avLst/>
            </a:prstGeom>
            <a:solidFill>
              <a:schemeClr val="lt2"/>
            </a:solidFill>
            <a:ln>
              <a:noFill/>
            </a:ln>
          </p:spPr>
        </p:sp>
        <p:sp>
          <p:nvSpPr>
            <p:cNvPr id="11" name="TextBox 11"/>
            <p:cNvSpPr txBox="1"/>
            <p:nvPr/>
          </p:nvSpPr>
          <p:spPr>
            <a:xfrm>
              <a:off x="4826508" y="2493645"/>
              <a:ext cx="972658"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FPGA</a:t>
              </a:r>
            </a:p>
          </p:txBody>
        </p:sp>
        <p:sp>
          <p:nvSpPr>
            <p:cNvPr id="12" name="TextBox 12"/>
            <p:cNvSpPr txBox="1"/>
            <p:nvPr/>
          </p:nvSpPr>
          <p:spPr>
            <a:xfrm>
              <a:off x="4827651" y="3213259"/>
              <a:ext cx="2273201" cy="425386"/>
            </a:xfrm>
            <a:prstGeom prst="rect">
              <a:avLst/>
            </a:prstGeom>
            <a:noFill/>
            <a:ln>
              <a:noFill/>
            </a:ln>
          </p:spPr>
          <p:txBody>
            <a:bodyPr wrap="none" lIns="0" tIns="0" rIns="0" bIns="0" anchor="t" anchorCtr="0">
              <a:spAutoFit/>
            </a:bodyPr>
            <a:lstStyle/>
            <a:p>
              <a:pPr algn="l"/>
              <a:r>
                <a:rPr lang="en-US" sz="2180" dirty="0">
                  <a:solidFill>
                    <a:schemeClr val="accent3"/>
                  </a:solidFill>
                  <a:latin typeface="+mn-lt"/>
                  <a:ea typeface="+mn-ea"/>
                  <a:cs typeface="+mn-cs"/>
                </a:rPr>
                <a:t>compute forecast</a:t>
              </a:r>
            </a:p>
          </p:txBody>
        </p:sp>
        <p:sp>
          <p:nvSpPr>
            <p:cNvPr id="13" name="Rectangle 13"/>
            <p:cNvSpPr/>
            <p:nvPr/>
          </p:nvSpPr>
          <p:spPr>
            <a:xfrm>
              <a:off x="8686800" y="2009775"/>
              <a:ext cx="2895600" cy="2295525"/>
            </a:xfrm>
            <a:prstGeom prst="rect">
              <a:avLst/>
            </a:prstGeom>
            <a:solidFill>
              <a:schemeClr val="lt2"/>
            </a:solidFill>
            <a:ln>
              <a:noFill/>
            </a:ln>
          </p:spPr>
        </p:sp>
        <p:sp>
          <p:nvSpPr>
            <p:cNvPr id="14" name="TextBox 14"/>
            <p:cNvSpPr txBox="1"/>
            <p:nvPr/>
          </p:nvSpPr>
          <p:spPr>
            <a:xfrm>
              <a:off x="8865108" y="2493645"/>
              <a:ext cx="1996991"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PC / CHECK</a:t>
              </a:r>
            </a:p>
          </p:txBody>
        </p:sp>
        <p:sp>
          <p:nvSpPr>
            <p:cNvPr id="15" name="TextBox 15"/>
            <p:cNvSpPr txBox="1"/>
            <p:nvPr/>
          </p:nvSpPr>
          <p:spPr>
            <a:xfrm>
              <a:off x="8866251" y="3213259"/>
              <a:ext cx="2436137" cy="425386"/>
            </a:xfrm>
            <a:prstGeom prst="rect">
              <a:avLst/>
            </a:prstGeom>
            <a:noFill/>
            <a:ln>
              <a:noFill/>
            </a:ln>
          </p:spPr>
          <p:txBody>
            <a:bodyPr wrap="none" lIns="0" tIns="0" rIns="0" bIns="0" anchor="t" anchorCtr="0">
              <a:spAutoFit/>
            </a:bodyPr>
            <a:lstStyle/>
            <a:p>
              <a:pPr algn="l"/>
              <a:r>
                <a:rPr lang="en-US" sz="2180" dirty="0">
                  <a:solidFill>
                    <a:schemeClr val="accent3"/>
                  </a:solidFill>
                  <a:latin typeface="+mn-lt"/>
                  <a:ea typeface="+mn-ea"/>
                  <a:cs typeface="+mn-cs"/>
                </a:rPr>
                <a:t>compare with truth</a:t>
              </a:r>
            </a:p>
          </p:txBody>
        </p:sp>
        <p:sp>
          <p:nvSpPr>
            <p:cNvPr id="16" name="Line 16"/>
            <p:cNvSpPr/>
            <p:nvPr/>
          </p:nvSpPr>
          <p:spPr>
            <a:xfrm>
              <a:off x="3581400" y="3143250"/>
              <a:ext cx="781050" cy="9525"/>
            </a:xfrm>
            <a:custGeom>
              <a:avLst/>
              <a:gdLst/>
              <a:ahLst/>
              <a:cxnLst/>
              <a:rect l="l" t="t" r="r" b="b"/>
              <a:pathLst>
                <a:path w="781050" h="9525">
                  <a:moveTo>
                    <a:pt x="0" y="0"/>
                  </a:moveTo>
                  <a:lnTo>
                    <a:pt x="781050" y="0"/>
                  </a:lnTo>
                </a:path>
              </a:pathLst>
            </a:custGeom>
            <a:noFill/>
            <a:ln w="38100">
              <a:solidFill>
                <a:schemeClr val="accent1"/>
              </a:solidFill>
            </a:ln>
          </p:spPr>
        </p:sp>
        <p:sp>
          <p:nvSpPr>
            <p:cNvPr id="17" name="Polygon 17"/>
            <p:cNvSpPr/>
            <p:nvPr/>
          </p:nvSpPr>
          <p:spPr>
            <a:xfrm>
              <a:off x="4362450" y="305752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18" name="Line 18"/>
            <p:cNvSpPr/>
            <p:nvPr/>
          </p:nvSpPr>
          <p:spPr>
            <a:xfrm>
              <a:off x="7620000" y="3143250"/>
              <a:ext cx="781050" cy="9525"/>
            </a:xfrm>
            <a:custGeom>
              <a:avLst/>
              <a:gdLst/>
              <a:ahLst/>
              <a:cxnLst/>
              <a:rect l="l" t="t" r="r" b="b"/>
              <a:pathLst>
                <a:path w="781050" h="9525">
                  <a:moveTo>
                    <a:pt x="0" y="0"/>
                  </a:moveTo>
                  <a:lnTo>
                    <a:pt x="781050" y="0"/>
                  </a:lnTo>
                </a:path>
              </a:pathLst>
            </a:custGeom>
            <a:noFill/>
            <a:ln w="38100">
              <a:solidFill>
                <a:schemeClr val="accent1"/>
              </a:solidFill>
            </a:ln>
          </p:spPr>
        </p:sp>
        <p:sp>
          <p:nvSpPr>
            <p:cNvPr id="19" name="Polygon 19"/>
            <p:cNvSpPr/>
            <p:nvPr/>
          </p:nvSpPr>
          <p:spPr>
            <a:xfrm>
              <a:off x="8401050" y="3057525"/>
              <a:ext cx="142875" cy="171450"/>
            </a:xfrm>
            <a:custGeom>
              <a:avLst/>
              <a:gdLst/>
              <a:ahLst/>
              <a:cxnLst/>
              <a:rect l="l" t="t" r="r" b="b"/>
              <a:pathLst>
                <a:path w="142875" h="171450">
                  <a:moveTo>
                    <a:pt x="0" y="0"/>
                  </a:moveTo>
                  <a:lnTo>
                    <a:pt x="142875" y="85725"/>
                  </a:lnTo>
                  <a:lnTo>
                    <a:pt x="0" y="171450"/>
                  </a:lnTo>
                  <a:close/>
                </a:path>
              </a:pathLst>
            </a:custGeom>
            <a:solidFill>
              <a:schemeClr val="accent1"/>
            </a:solidFill>
            <a:ln>
              <a:noFill/>
            </a:ln>
          </p:spPr>
        </p:sp>
        <p:sp>
          <p:nvSpPr>
            <p:cNvPr id="20" name="Rectangle 20"/>
            <p:cNvSpPr/>
            <p:nvPr/>
          </p:nvSpPr>
          <p:spPr>
            <a:xfrm>
              <a:off x="609600" y="4953000"/>
              <a:ext cx="10972800" cy="914400"/>
            </a:xfrm>
            <a:prstGeom prst="rect">
              <a:avLst/>
            </a:prstGeom>
            <a:solidFill>
              <a:schemeClr val="lt1"/>
            </a:solidFill>
            <a:ln w="28575">
              <a:solidFill>
                <a:schemeClr val="accent1"/>
              </a:solidFill>
            </a:ln>
          </p:spPr>
        </p:sp>
        <p:sp>
          <p:nvSpPr>
            <p:cNvPr id="21" name="TextBox 21"/>
            <p:cNvSpPr txBox="1"/>
            <p:nvPr/>
          </p:nvSpPr>
          <p:spPr>
            <a:xfrm>
              <a:off x="862203" y="5234464"/>
              <a:ext cx="7204571" cy="542734"/>
            </a:xfrm>
            <a:prstGeom prst="rect">
              <a:avLst/>
            </a:prstGeom>
            <a:noFill/>
            <a:ln>
              <a:noFill/>
            </a:ln>
          </p:spPr>
          <p:txBody>
            <a:bodyPr wrap="none" lIns="0" tIns="0" rIns="0" bIns="0" anchor="t" anchorCtr="0">
              <a:spAutoFit/>
            </a:bodyPr>
            <a:lstStyle/>
            <a:p>
              <a:pPr algn="l"/>
              <a:r>
                <a:rPr lang="en-US" sz="2780" b="1" dirty="0">
                  <a:solidFill>
                    <a:schemeClr val="accent2"/>
                  </a:solidFill>
                  <a:latin typeface="+mn-lt"/>
                  <a:ea typeface="+mn-ea"/>
                  <a:cs typeface="+mn-cs"/>
                </a:rPr>
                <a:t>Only samples through t enter the FPGA.</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10288258"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12 weeks. Prototype early. Evaluate deeply.</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13 / 15</a:t>
            </a:r>
          </a:p>
        </p:txBody>
      </p:sp>
      <p:grpSp>
        <p:nvGrpSpPr>
          <p:cNvPr id="28" name="milestones"/>
          <p:cNvGrpSpPr/>
          <p:nvPr/>
        </p:nvGrpSpPr>
        <p:grpSpPr>
          <a:xfrm>
            <a:off x="598170" y="1905000"/>
            <a:ext cx="10984230" cy="4264343"/>
            <a:chOff x="598170" y="1905000"/>
            <a:chExt cx="10984230" cy="4264343"/>
          </a:xfrm>
        </p:grpSpPr>
        <p:sp>
          <p:nvSpPr>
            <p:cNvPr id="7" name="Rectangle 7"/>
            <p:cNvSpPr/>
            <p:nvPr/>
          </p:nvSpPr>
          <p:spPr>
            <a:xfrm>
              <a:off x="609600" y="1905000"/>
              <a:ext cx="2438400" cy="3209925"/>
            </a:xfrm>
            <a:prstGeom prst="rect">
              <a:avLst/>
            </a:prstGeom>
            <a:solidFill>
              <a:schemeClr val="lt2"/>
            </a:solidFill>
            <a:ln>
              <a:noFill/>
            </a:ln>
          </p:spPr>
        </p:sp>
        <p:sp>
          <p:nvSpPr>
            <p:cNvPr id="8" name="Rectangle 8"/>
            <p:cNvSpPr/>
            <p:nvPr/>
          </p:nvSpPr>
          <p:spPr>
            <a:xfrm>
              <a:off x="609600" y="1905000"/>
              <a:ext cx="2438400" cy="85725"/>
            </a:xfrm>
            <a:prstGeom prst="rect">
              <a:avLst/>
            </a:prstGeom>
            <a:solidFill>
              <a:schemeClr val="accent1"/>
            </a:solidFill>
            <a:ln>
              <a:noFill/>
            </a:ln>
          </p:spPr>
        </p:sp>
        <p:sp>
          <p:nvSpPr>
            <p:cNvPr id="9" name="TextBox 9"/>
            <p:cNvSpPr txBox="1"/>
            <p:nvPr/>
          </p:nvSpPr>
          <p:spPr>
            <a:xfrm>
              <a:off x="769239" y="2311241"/>
              <a:ext cx="885706"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W1–3</a:t>
              </a:r>
            </a:p>
          </p:txBody>
        </p:sp>
        <p:sp>
          <p:nvSpPr>
            <p:cNvPr id="10" name="TextBox 10"/>
            <p:cNvSpPr txBox="1"/>
            <p:nvPr/>
          </p:nvSpPr>
          <p:spPr>
            <a:xfrm>
              <a:off x="770382" y="3011805"/>
              <a:ext cx="1863563"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PROTOTYPE</a:t>
              </a:r>
            </a:p>
          </p:txBody>
        </p:sp>
        <p:sp>
          <p:nvSpPr>
            <p:cNvPr id="11" name="TextBox 11"/>
            <p:cNvSpPr txBox="1"/>
            <p:nvPr/>
          </p:nvSpPr>
          <p:spPr>
            <a:xfrm>
              <a:off x="771144" y="3732848"/>
              <a:ext cx="1960447" cy="819531"/>
            </a:xfrm>
            <a:prstGeom prst="rect">
              <a:avLst/>
            </a:prstGeom>
            <a:noFill/>
            <a:ln>
              <a:noFill/>
            </a:ln>
          </p:spPr>
          <p:txBody>
            <a:bodyPr wrap="none" lIns="0" tIns="0" rIns="0" bIns="0" anchor="t" anchorCtr="0">
              <a:spAutoFit/>
            </a:bodyPr>
            <a:lstStyle/>
            <a:p>
              <a:pPr algn="l">
                <a:lnSpc>
                  <a:spcPts val="3450"/>
                </a:lnSpc>
              </a:pPr>
              <a:r>
                <a:rPr lang="en-US" sz="1950" dirty="0">
                  <a:solidFill>
                    <a:schemeClr val="accent3"/>
                  </a:solidFill>
                  <a:latin typeface="+mn-lt"/>
                  <a:ea typeface="+mn-ea"/>
                  <a:cs typeface="+mn-cs"/>
                </a:rPr>
                <a:t>data + C++</a:t>
              </a:r>
              <a:br/>
              <a:r>
                <a:rPr lang="en-US" sz="1950" dirty="0">
                  <a:solidFill>
                    <a:schemeClr val="accent3"/>
                  </a:solidFill>
                  <a:latin typeface="+mn-lt"/>
                  <a:ea typeface="+mn-ea"/>
                  <a:cs typeface="+mn-cs"/>
                </a:rPr>
                <a:t>working RTL core</a:t>
              </a:r>
            </a:p>
          </p:txBody>
        </p:sp>
        <p:sp>
          <p:nvSpPr>
            <p:cNvPr id="12" name="Rectangle 12"/>
            <p:cNvSpPr/>
            <p:nvPr/>
          </p:nvSpPr>
          <p:spPr>
            <a:xfrm>
              <a:off x="3381375" y="1905000"/>
              <a:ext cx="2438400" cy="3209925"/>
            </a:xfrm>
            <a:prstGeom prst="rect">
              <a:avLst/>
            </a:prstGeom>
            <a:solidFill>
              <a:schemeClr val="lt2"/>
            </a:solidFill>
            <a:ln>
              <a:noFill/>
            </a:ln>
          </p:spPr>
        </p:sp>
        <p:sp>
          <p:nvSpPr>
            <p:cNvPr id="13" name="Rectangle 13"/>
            <p:cNvSpPr/>
            <p:nvPr/>
          </p:nvSpPr>
          <p:spPr>
            <a:xfrm>
              <a:off x="3381375" y="1905000"/>
              <a:ext cx="2438400" cy="85725"/>
            </a:xfrm>
            <a:prstGeom prst="rect">
              <a:avLst/>
            </a:prstGeom>
            <a:solidFill>
              <a:schemeClr val="accent1"/>
            </a:solidFill>
            <a:ln>
              <a:noFill/>
            </a:ln>
          </p:spPr>
        </p:sp>
        <p:sp>
          <p:nvSpPr>
            <p:cNvPr id="14" name="TextBox 14"/>
            <p:cNvSpPr txBox="1"/>
            <p:nvPr/>
          </p:nvSpPr>
          <p:spPr>
            <a:xfrm>
              <a:off x="3541014" y="2311241"/>
              <a:ext cx="885706"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W4–6</a:t>
              </a:r>
            </a:p>
          </p:txBody>
        </p:sp>
        <p:sp>
          <p:nvSpPr>
            <p:cNvPr id="15" name="TextBox 15"/>
            <p:cNvSpPr txBox="1"/>
            <p:nvPr/>
          </p:nvSpPr>
          <p:spPr>
            <a:xfrm>
              <a:off x="3542157" y="3011805"/>
              <a:ext cx="151485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VALIDATE</a:t>
              </a:r>
            </a:p>
          </p:txBody>
        </p:sp>
        <p:sp>
          <p:nvSpPr>
            <p:cNvPr id="16" name="TextBox 16"/>
            <p:cNvSpPr txBox="1"/>
            <p:nvPr/>
          </p:nvSpPr>
          <p:spPr>
            <a:xfrm>
              <a:off x="3542919" y="3732848"/>
              <a:ext cx="2194823" cy="819531"/>
            </a:xfrm>
            <a:prstGeom prst="rect">
              <a:avLst/>
            </a:prstGeom>
            <a:noFill/>
            <a:ln>
              <a:noFill/>
            </a:ln>
          </p:spPr>
          <p:txBody>
            <a:bodyPr wrap="none" lIns="0" tIns="0" rIns="0" bIns="0" anchor="t" anchorCtr="0">
              <a:spAutoFit/>
            </a:bodyPr>
            <a:lstStyle/>
            <a:p>
              <a:pPr algn="l">
                <a:lnSpc>
                  <a:spcPts val="3450"/>
                </a:lnSpc>
              </a:pPr>
              <a:r>
                <a:rPr lang="en-US" sz="1950" dirty="0">
                  <a:solidFill>
                    <a:schemeClr val="accent3"/>
                  </a:solidFill>
                  <a:latin typeface="+mn-lt"/>
                  <a:ea typeface="+mn-ea"/>
                  <a:cs typeface="+mn-cs"/>
                </a:rPr>
                <a:t>model vs. baselines</a:t>
              </a:r>
              <a:br/>
              <a:r>
                <a:rPr lang="en-US" sz="1950" dirty="0">
                  <a:solidFill>
                    <a:schemeClr val="accent3"/>
                  </a:solidFill>
                  <a:latin typeface="+mn-lt"/>
                  <a:ea typeface="+mn-ea"/>
                  <a:cs typeface="+mn-cs"/>
                </a:rPr>
                <a:t>fixed-point sweep</a:t>
              </a:r>
            </a:p>
          </p:txBody>
        </p:sp>
        <p:sp>
          <p:nvSpPr>
            <p:cNvPr id="17" name="Rectangle 17"/>
            <p:cNvSpPr/>
            <p:nvPr/>
          </p:nvSpPr>
          <p:spPr>
            <a:xfrm>
              <a:off x="6153150" y="1905000"/>
              <a:ext cx="2438400" cy="3209925"/>
            </a:xfrm>
            <a:prstGeom prst="rect">
              <a:avLst/>
            </a:prstGeom>
            <a:solidFill>
              <a:schemeClr val="lt2"/>
            </a:solidFill>
            <a:ln>
              <a:noFill/>
            </a:ln>
          </p:spPr>
        </p:sp>
        <p:sp>
          <p:nvSpPr>
            <p:cNvPr id="18" name="Rectangle 18"/>
            <p:cNvSpPr/>
            <p:nvPr/>
          </p:nvSpPr>
          <p:spPr>
            <a:xfrm>
              <a:off x="6153150" y="1905000"/>
              <a:ext cx="2438400" cy="85725"/>
            </a:xfrm>
            <a:prstGeom prst="rect">
              <a:avLst/>
            </a:prstGeom>
            <a:solidFill>
              <a:schemeClr val="accent1"/>
            </a:solidFill>
            <a:ln>
              <a:noFill/>
            </a:ln>
          </p:spPr>
        </p:sp>
        <p:sp>
          <p:nvSpPr>
            <p:cNvPr id="19" name="TextBox 19"/>
            <p:cNvSpPr txBox="1"/>
            <p:nvPr/>
          </p:nvSpPr>
          <p:spPr>
            <a:xfrm>
              <a:off x="6312789" y="2311241"/>
              <a:ext cx="885706"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W7–9</a:t>
              </a:r>
            </a:p>
          </p:txBody>
        </p:sp>
        <p:sp>
          <p:nvSpPr>
            <p:cNvPr id="20" name="TextBox 20"/>
            <p:cNvSpPr txBox="1"/>
            <p:nvPr/>
          </p:nvSpPr>
          <p:spPr>
            <a:xfrm>
              <a:off x="6313932" y="3011805"/>
              <a:ext cx="129919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HARDEN</a:t>
              </a:r>
            </a:p>
          </p:txBody>
        </p:sp>
        <p:sp>
          <p:nvSpPr>
            <p:cNvPr id="21" name="TextBox 21"/>
            <p:cNvSpPr txBox="1"/>
            <p:nvPr/>
          </p:nvSpPr>
          <p:spPr>
            <a:xfrm>
              <a:off x="6314694" y="3732848"/>
              <a:ext cx="2098289" cy="819531"/>
            </a:xfrm>
            <a:prstGeom prst="rect">
              <a:avLst/>
            </a:prstGeom>
            <a:noFill/>
            <a:ln>
              <a:noFill/>
            </a:ln>
          </p:spPr>
          <p:txBody>
            <a:bodyPr wrap="none" lIns="0" tIns="0" rIns="0" bIns="0" anchor="t" anchorCtr="0">
              <a:spAutoFit/>
            </a:bodyPr>
            <a:lstStyle/>
            <a:p>
              <a:pPr algn="l">
                <a:lnSpc>
                  <a:spcPts val="3450"/>
                </a:lnSpc>
              </a:pPr>
              <a:r>
                <a:rPr lang="en-US" sz="1950" dirty="0">
                  <a:solidFill>
                    <a:schemeClr val="accent3"/>
                  </a:solidFill>
                  <a:latin typeface="+mn-lt"/>
                  <a:ea typeface="+mn-ea"/>
                  <a:cs typeface="+mn-cs"/>
                </a:rPr>
                <a:t>bit-exact tests</a:t>
              </a:r>
              <a:br/>
              <a:r>
                <a:rPr lang="en-US" sz="1950" dirty="0">
                  <a:solidFill>
                    <a:schemeClr val="accent3"/>
                  </a:solidFill>
                  <a:latin typeface="+mn-lt"/>
                  <a:ea typeface="+mn-ea"/>
                  <a:cs typeface="+mn-cs"/>
                </a:rPr>
                <a:t>resource trade-offs</a:t>
              </a:r>
            </a:p>
          </p:txBody>
        </p:sp>
        <p:sp>
          <p:nvSpPr>
            <p:cNvPr id="22" name="Rectangle 22"/>
            <p:cNvSpPr/>
            <p:nvPr/>
          </p:nvSpPr>
          <p:spPr>
            <a:xfrm>
              <a:off x="8924925" y="1905000"/>
              <a:ext cx="2657475" cy="3209925"/>
            </a:xfrm>
            <a:prstGeom prst="rect">
              <a:avLst/>
            </a:prstGeom>
            <a:solidFill>
              <a:schemeClr val="lt2"/>
            </a:solidFill>
            <a:ln>
              <a:noFill/>
            </a:ln>
          </p:spPr>
        </p:sp>
        <p:sp>
          <p:nvSpPr>
            <p:cNvPr id="23" name="Rectangle 23"/>
            <p:cNvSpPr/>
            <p:nvPr/>
          </p:nvSpPr>
          <p:spPr>
            <a:xfrm>
              <a:off x="8924925" y="1905000"/>
              <a:ext cx="2657475" cy="85725"/>
            </a:xfrm>
            <a:prstGeom prst="rect">
              <a:avLst/>
            </a:prstGeom>
            <a:solidFill>
              <a:schemeClr val="accent1"/>
            </a:solidFill>
            <a:ln>
              <a:noFill/>
            </a:ln>
          </p:spPr>
        </p:sp>
        <p:sp>
          <p:nvSpPr>
            <p:cNvPr id="24" name="TextBox 24"/>
            <p:cNvSpPr txBox="1"/>
            <p:nvPr/>
          </p:nvSpPr>
          <p:spPr>
            <a:xfrm>
              <a:off x="9084564" y="2311241"/>
              <a:ext cx="1252794" cy="454724"/>
            </a:xfrm>
            <a:prstGeom prst="rect">
              <a:avLst/>
            </a:prstGeom>
            <a:noFill/>
            <a:ln>
              <a:noFill/>
            </a:ln>
          </p:spPr>
          <p:txBody>
            <a:bodyPr wrap="none" lIns="0" tIns="0" rIns="0" bIns="0" anchor="t" anchorCtr="0">
              <a:spAutoFit/>
            </a:bodyPr>
            <a:lstStyle/>
            <a:p>
              <a:pPr algn="l"/>
              <a:r>
                <a:rPr lang="en-US" sz="2320" b="1" dirty="0">
                  <a:solidFill>
                    <a:schemeClr val="accent2"/>
                  </a:solidFill>
                  <a:latin typeface="+mn-lt"/>
                  <a:ea typeface="+mn-ea"/>
                  <a:cs typeface="+mn-cs"/>
                </a:rPr>
                <a:t>W10–12</a:t>
              </a:r>
            </a:p>
          </p:txBody>
        </p:sp>
        <p:sp>
          <p:nvSpPr>
            <p:cNvPr id="25" name="TextBox 25"/>
            <p:cNvSpPr txBox="1"/>
            <p:nvPr/>
          </p:nvSpPr>
          <p:spPr>
            <a:xfrm>
              <a:off x="9085707" y="3011805"/>
              <a:ext cx="91744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DEMO</a:t>
              </a:r>
            </a:p>
          </p:txBody>
        </p:sp>
        <p:sp>
          <p:nvSpPr>
            <p:cNvPr id="26" name="TextBox 26"/>
            <p:cNvSpPr txBox="1"/>
            <p:nvPr/>
          </p:nvSpPr>
          <p:spPr>
            <a:xfrm>
              <a:off x="9086469" y="3732848"/>
              <a:ext cx="1878623" cy="819531"/>
            </a:xfrm>
            <a:prstGeom prst="rect">
              <a:avLst/>
            </a:prstGeom>
            <a:noFill/>
            <a:ln>
              <a:noFill/>
            </a:ln>
          </p:spPr>
          <p:txBody>
            <a:bodyPr wrap="none" lIns="0" tIns="0" rIns="0" bIns="0" anchor="t" anchorCtr="0">
              <a:spAutoFit/>
            </a:bodyPr>
            <a:lstStyle/>
            <a:p>
              <a:pPr algn="l">
                <a:lnSpc>
                  <a:spcPts val="3450"/>
                </a:lnSpc>
              </a:pPr>
              <a:r>
                <a:rPr lang="en-US" sz="1950" dirty="0">
                  <a:solidFill>
                    <a:schemeClr val="accent3"/>
                  </a:solidFill>
                  <a:latin typeface="+mn-lt"/>
                  <a:ea typeface="+mn-ea"/>
                  <a:cs typeface="+mn-cs"/>
                </a:rPr>
                <a:t>board integration</a:t>
              </a:r>
              <a:br/>
              <a:r>
                <a:rPr lang="en-US" sz="1950" dirty="0">
                  <a:solidFill>
                    <a:schemeClr val="accent3"/>
                  </a:solidFill>
                  <a:latin typeface="+mn-lt"/>
                  <a:ea typeface="+mn-ea"/>
                  <a:cs typeface="+mn-cs"/>
                </a:rPr>
                <a:t>final test + report</a:t>
              </a:r>
            </a:p>
          </p:txBody>
        </p:sp>
        <p:sp>
          <p:nvSpPr>
            <p:cNvPr id="27" name="TextBox 27"/>
            <p:cNvSpPr txBox="1"/>
            <p:nvPr/>
          </p:nvSpPr>
          <p:spPr>
            <a:xfrm>
              <a:off x="598170" y="5729288"/>
              <a:ext cx="6968798"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Each phase ends with a measurable deliverable.</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7888150"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Three students. Clear ownership.</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14 / 15</a:t>
            </a:r>
          </a:p>
        </p:txBody>
      </p:sp>
      <p:grpSp>
        <p:nvGrpSpPr>
          <p:cNvPr id="26" name="team-roles"/>
          <p:cNvGrpSpPr/>
          <p:nvPr/>
        </p:nvGrpSpPr>
        <p:grpSpPr>
          <a:xfrm>
            <a:off x="599313" y="1819275"/>
            <a:ext cx="10983087" cy="4406551"/>
            <a:chOff x="599313" y="1819275"/>
            <a:chExt cx="10983087" cy="4406551"/>
          </a:xfrm>
        </p:grpSpPr>
        <p:sp>
          <p:nvSpPr>
            <p:cNvPr id="7" name="Rectangle 7"/>
            <p:cNvSpPr/>
            <p:nvPr/>
          </p:nvSpPr>
          <p:spPr>
            <a:xfrm>
              <a:off x="609600" y="1819275"/>
              <a:ext cx="3219450" cy="3629025"/>
            </a:xfrm>
            <a:prstGeom prst="rect">
              <a:avLst/>
            </a:prstGeom>
            <a:solidFill>
              <a:schemeClr val="lt2"/>
            </a:solidFill>
            <a:ln>
              <a:noFill/>
            </a:ln>
          </p:spPr>
        </p:sp>
        <p:sp>
          <p:nvSpPr>
            <p:cNvPr id="8" name="TextBox 8"/>
            <p:cNvSpPr txBox="1"/>
            <p:nvPr/>
          </p:nvSpPr>
          <p:spPr>
            <a:xfrm>
              <a:off x="789432" y="2154555"/>
              <a:ext cx="16809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STUDENT 1</a:t>
              </a:r>
            </a:p>
          </p:txBody>
        </p:sp>
        <p:sp>
          <p:nvSpPr>
            <p:cNvPr id="9" name="TextBox 9"/>
            <p:cNvSpPr txBox="1"/>
            <p:nvPr/>
          </p:nvSpPr>
          <p:spPr>
            <a:xfrm>
              <a:off x="788670" y="2776538"/>
              <a:ext cx="188139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DATA + C++</a:t>
              </a:r>
            </a:p>
          </p:txBody>
        </p:sp>
        <p:sp>
          <p:nvSpPr>
            <p:cNvPr id="10" name="TextBox 10"/>
            <p:cNvSpPr txBox="1"/>
            <p:nvPr/>
          </p:nvSpPr>
          <p:spPr>
            <a:xfrm>
              <a:off x="789813" y="3400901"/>
              <a:ext cx="1710403" cy="796100"/>
            </a:xfrm>
            <a:prstGeom prst="rect">
              <a:avLst/>
            </a:prstGeom>
            <a:noFill/>
            <a:ln>
              <a:noFill/>
            </a:ln>
          </p:spPr>
          <p:txBody>
            <a:bodyPr wrap="none" lIns="0" tIns="0" rIns="0" bIns="0" anchor="t" anchorCtr="0">
              <a:spAutoFit/>
            </a:bodyPr>
            <a:lstStyle/>
            <a:p>
              <a:pPr algn="l">
                <a:lnSpc>
                  <a:spcPts val="3150"/>
                </a:lnSpc>
              </a:pPr>
              <a:r>
                <a:rPr lang="en-US" sz="2020" dirty="0">
                  <a:solidFill>
                    <a:schemeClr val="accent3"/>
                  </a:solidFill>
                  <a:latin typeface="+mn-lt"/>
                  <a:ea typeface="+mn-ea"/>
                  <a:cs typeface="+mn-cs"/>
                </a:rPr>
                <a:t>dataset + MAE</a:t>
              </a:r>
              <a:br/>
              <a:r>
                <a:rPr lang="en-US" sz="2020" dirty="0">
                  <a:solidFill>
                    <a:schemeClr val="accent3"/>
                  </a:solidFill>
                  <a:latin typeface="+mn-lt"/>
                  <a:ea typeface="+mn-ea"/>
                  <a:cs typeface="+mn-cs"/>
                </a:rPr>
                <a:t>coefficients</a:t>
              </a:r>
            </a:p>
          </p:txBody>
        </p:sp>
        <p:sp>
          <p:nvSpPr>
            <p:cNvPr id="11" name="Line 11"/>
            <p:cNvSpPr/>
            <p:nvPr/>
          </p:nvSpPr>
          <p:spPr>
            <a:xfrm>
              <a:off x="800100" y="4495800"/>
              <a:ext cx="2838450" cy="9525"/>
            </a:xfrm>
            <a:custGeom>
              <a:avLst/>
              <a:gdLst/>
              <a:ahLst/>
              <a:cxnLst/>
              <a:rect l="l" t="t" r="r" b="b"/>
              <a:pathLst>
                <a:path w="2838450" h="9525">
                  <a:moveTo>
                    <a:pt x="0" y="0"/>
                  </a:moveTo>
                  <a:lnTo>
                    <a:pt x="2838450" y="0"/>
                  </a:lnTo>
                </a:path>
              </a:pathLst>
            </a:custGeom>
            <a:noFill/>
            <a:ln w="19050">
              <a:solidFill>
                <a:srgbClr val="DDE1E6"/>
              </a:solidFill>
            </a:ln>
          </p:spPr>
        </p:sp>
        <p:sp>
          <p:nvSpPr>
            <p:cNvPr id="12" name="TextBox 12"/>
            <p:cNvSpPr txBox="1"/>
            <p:nvPr/>
          </p:nvSpPr>
          <p:spPr>
            <a:xfrm>
              <a:off x="789813" y="4791551"/>
              <a:ext cx="1698179"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missing hours</a:t>
              </a:r>
            </a:p>
          </p:txBody>
        </p:sp>
        <p:sp>
          <p:nvSpPr>
            <p:cNvPr id="13" name="Rectangle 13"/>
            <p:cNvSpPr/>
            <p:nvPr/>
          </p:nvSpPr>
          <p:spPr>
            <a:xfrm>
              <a:off x="4438650" y="1819275"/>
              <a:ext cx="3219450" cy="3629025"/>
            </a:xfrm>
            <a:prstGeom prst="rect">
              <a:avLst/>
            </a:prstGeom>
            <a:solidFill>
              <a:schemeClr val="lt2"/>
            </a:solidFill>
            <a:ln>
              <a:noFill/>
            </a:ln>
          </p:spPr>
        </p:sp>
        <p:sp>
          <p:nvSpPr>
            <p:cNvPr id="14" name="TextBox 14"/>
            <p:cNvSpPr txBox="1"/>
            <p:nvPr/>
          </p:nvSpPr>
          <p:spPr>
            <a:xfrm>
              <a:off x="4618482" y="2154555"/>
              <a:ext cx="16809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STUDENT 2</a:t>
              </a:r>
            </a:p>
          </p:txBody>
        </p:sp>
        <p:sp>
          <p:nvSpPr>
            <p:cNvPr id="15" name="TextBox 15"/>
            <p:cNvSpPr txBox="1"/>
            <p:nvPr/>
          </p:nvSpPr>
          <p:spPr>
            <a:xfrm>
              <a:off x="4617720" y="2776538"/>
              <a:ext cx="195212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FIXED + RTL</a:t>
              </a:r>
            </a:p>
          </p:txBody>
        </p:sp>
        <p:sp>
          <p:nvSpPr>
            <p:cNvPr id="16" name="TextBox 16"/>
            <p:cNvSpPr txBox="1"/>
            <p:nvPr/>
          </p:nvSpPr>
          <p:spPr>
            <a:xfrm>
              <a:off x="4618863" y="3400901"/>
              <a:ext cx="1089987" cy="796100"/>
            </a:xfrm>
            <a:prstGeom prst="rect">
              <a:avLst/>
            </a:prstGeom>
            <a:noFill/>
            <a:ln>
              <a:noFill/>
            </a:ln>
          </p:spPr>
          <p:txBody>
            <a:bodyPr wrap="none" lIns="0" tIns="0" rIns="0" bIns="0" anchor="t" anchorCtr="0">
              <a:spAutoFit/>
            </a:bodyPr>
            <a:lstStyle/>
            <a:p>
              <a:pPr algn="l">
                <a:lnSpc>
                  <a:spcPts val="3150"/>
                </a:lnSpc>
              </a:pPr>
              <a:r>
                <a:rPr lang="en-US" sz="2020" dirty="0">
                  <a:solidFill>
                    <a:schemeClr val="accent3"/>
                  </a:solidFill>
                  <a:latin typeface="+mn-lt"/>
                  <a:ea typeface="+mn-ea"/>
                  <a:cs typeface="+mn-cs"/>
                </a:rPr>
                <a:t>RTL core</a:t>
              </a:r>
              <a:br/>
              <a:r>
                <a:rPr lang="en-US" sz="2020" dirty="0">
                  <a:solidFill>
                    <a:schemeClr val="accent3"/>
                  </a:solidFill>
                  <a:latin typeface="+mn-lt"/>
                  <a:ea typeface="+mn-ea"/>
                  <a:cs typeface="+mn-cs"/>
                </a:rPr>
                <a:t>synthesis</a:t>
              </a:r>
            </a:p>
          </p:txBody>
        </p:sp>
        <p:sp>
          <p:nvSpPr>
            <p:cNvPr id="17" name="Line 17"/>
            <p:cNvSpPr/>
            <p:nvPr/>
          </p:nvSpPr>
          <p:spPr>
            <a:xfrm>
              <a:off x="4629150" y="4495800"/>
              <a:ext cx="2838450" cy="9525"/>
            </a:xfrm>
            <a:custGeom>
              <a:avLst/>
              <a:gdLst/>
              <a:ahLst/>
              <a:cxnLst/>
              <a:rect l="l" t="t" r="r" b="b"/>
              <a:pathLst>
                <a:path w="2838450" h="9525">
                  <a:moveTo>
                    <a:pt x="0" y="0"/>
                  </a:moveTo>
                  <a:lnTo>
                    <a:pt x="2838450" y="0"/>
                  </a:lnTo>
                </a:path>
              </a:pathLst>
            </a:custGeom>
            <a:noFill/>
            <a:ln w="19050">
              <a:solidFill>
                <a:srgbClr val="DDE1E6"/>
              </a:solidFill>
            </a:ln>
          </p:spPr>
        </p:sp>
        <p:sp>
          <p:nvSpPr>
            <p:cNvPr id="18" name="TextBox 18"/>
            <p:cNvSpPr txBox="1"/>
            <p:nvPr/>
          </p:nvSpPr>
          <p:spPr>
            <a:xfrm>
              <a:off x="4618863" y="4791551"/>
              <a:ext cx="1363442"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board TBD</a:t>
              </a:r>
            </a:p>
          </p:txBody>
        </p:sp>
        <p:sp>
          <p:nvSpPr>
            <p:cNvPr id="19" name="Rectangle 19"/>
            <p:cNvSpPr/>
            <p:nvPr/>
          </p:nvSpPr>
          <p:spPr>
            <a:xfrm>
              <a:off x="8267700" y="1819275"/>
              <a:ext cx="3314700" cy="3629025"/>
            </a:xfrm>
            <a:prstGeom prst="rect">
              <a:avLst/>
            </a:prstGeom>
            <a:solidFill>
              <a:schemeClr val="lt2"/>
            </a:solidFill>
            <a:ln>
              <a:noFill/>
            </a:ln>
          </p:spPr>
        </p:sp>
        <p:sp>
          <p:nvSpPr>
            <p:cNvPr id="20" name="TextBox 20"/>
            <p:cNvSpPr txBox="1"/>
            <p:nvPr/>
          </p:nvSpPr>
          <p:spPr>
            <a:xfrm>
              <a:off x="8447532" y="2154555"/>
              <a:ext cx="16809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STUDENT 3</a:t>
              </a:r>
            </a:p>
          </p:txBody>
        </p:sp>
        <p:sp>
          <p:nvSpPr>
            <p:cNvPr id="21" name="TextBox 21"/>
            <p:cNvSpPr txBox="1"/>
            <p:nvPr/>
          </p:nvSpPr>
          <p:spPr>
            <a:xfrm>
              <a:off x="8446770" y="2776538"/>
              <a:ext cx="250361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VERIFY + DEMO</a:t>
              </a:r>
            </a:p>
          </p:txBody>
        </p:sp>
        <p:sp>
          <p:nvSpPr>
            <p:cNvPr id="22" name="TextBox 22"/>
            <p:cNvSpPr txBox="1"/>
            <p:nvPr/>
          </p:nvSpPr>
          <p:spPr>
            <a:xfrm>
              <a:off x="8447913" y="3400901"/>
              <a:ext cx="1767560" cy="796100"/>
            </a:xfrm>
            <a:prstGeom prst="rect">
              <a:avLst/>
            </a:prstGeom>
            <a:noFill/>
            <a:ln>
              <a:noFill/>
            </a:ln>
          </p:spPr>
          <p:txBody>
            <a:bodyPr wrap="none" lIns="0" tIns="0" rIns="0" bIns="0" anchor="t" anchorCtr="0">
              <a:spAutoFit/>
            </a:bodyPr>
            <a:lstStyle/>
            <a:p>
              <a:pPr algn="l">
                <a:lnSpc>
                  <a:spcPts val="3150"/>
                </a:lnSpc>
              </a:pPr>
              <a:r>
                <a:rPr lang="en-US" sz="2020" dirty="0">
                  <a:solidFill>
                    <a:schemeClr val="accent3"/>
                  </a:solidFill>
                  <a:latin typeface="+mn-lt"/>
                  <a:ea typeface="+mn-ea"/>
                  <a:cs typeface="+mn-cs"/>
                </a:rPr>
                <a:t>test vectors</a:t>
              </a:r>
              <a:br/>
              <a:r>
                <a:rPr lang="en-US" sz="2020" dirty="0">
                  <a:solidFill>
                    <a:schemeClr val="accent3"/>
                  </a:solidFill>
                  <a:latin typeface="+mn-lt"/>
                  <a:ea typeface="+mn-ea"/>
                  <a:cs typeface="+mn-cs"/>
                </a:rPr>
                <a:t>interface + logs</a:t>
              </a:r>
            </a:p>
          </p:txBody>
        </p:sp>
        <p:sp>
          <p:nvSpPr>
            <p:cNvPr id="23" name="Line 23"/>
            <p:cNvSpPr/>
            <p:nvPr/>
          </p:nvSpPr>
          <p:spPr>
            <a:xfrm>
              <a:off x="8458200" y="4495800"/>
              <a:ext cx="2933700" cy="9525"/>
            </a:xfrm>
            <a:custGeom>
              <a:avLst/>
              <a:gdLst/>
              <a:ahLst/>
              <a:cxnLst/>
              <a:rect l="l" t="t" r="r" b="b"/>
              <a:pathLst>
                <a:path w="2933700" h="9525">
                  <a:moveTo>
                    <a:pt x="0" y="0"/>
                  </a:moveTo>
                  <a:lnTo>
                    <a:pt x="2933700" y="0"/>
                  </a:lnTo>
                </a:path>
              </a:pathLst>
            </a:custGeom>
            <a:noFill/>
            <a:ln w="19050">
              <a:solidFill>
                <a:srgbClr val="DDE1E6"/>
              </a:solidFill>
            </a:ln>
          </p:spPr>
        </p:sp>
        <p:sp>
          <p:nvSpPr>
            <p:cNvPr id="24" name="TextBox 24"/>
            <p:cNvSpPr txBox="1"/>
            <p:nvPr/>
          </p:nvSpPr>
          <p:spPr>
            <a:xfrm>
              <a:off x="8447913" y="4791551"/>
              <a:ext cx="1184445"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high error</a:t>
              </a:r>
            </a:p>
          </p:txBody>
        </p:sp>
        <p:sp>
          <p:nvSpPr>
            <p:cNvPr id="25" name="TextBox 25"/>
            <p:cNvSpPr txBox="1"/>
            <p:nvPr/>
          </p:nvSpPr>
          <p:spPr>
            <a:xfrm>
              <a:off x="599313" y="5829776"/>
              <a:ext cx="8884241" cy="396050"/>
            </a:xfrm>
            <a:prstGeom prst="rect">
              <a:avLst/>
            </a:prstGeom>
            <a:noFill/>
            <a:ln>
              <a:noFill/>
            </a:ln>
          </p:spPr>
          <p:txBody>
            <a:bodyPr wrap="none" lIns="0" tIns="0" rIns="0" bIns="0" anchor="t" anchorCtr="0">
              <a:spAutoFit/>
            </a:bodyPr>
            <a:lstStyle/>
            <a:p>
              <a:pPr algn="l"/>
              <a:r>
                <a:rPr lang="en-US" sz="2020" b="1" dirty="0">
                  <a:solidFill>
                    <a:schemeClr val="accent2"/>
                  </a:solidFill>
                  <a:latin typeface="+mn-lt"/>
                  <a:ea typeface="+mn-ea"/>
                  <a:cs typeface="+mn-cs"/>
                </a:rPr>
                <a:t>One shared contract: data, coefficients, rounding, valid, and latency.</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0931" y="489109"/>
            <a:ext cx="10991469" cy="768191"/>
            <a:chOff x="590931" y="489109"/>
            <a:chExt cx="10991469" cy="768191"/>
          </a:xfrm>
        </p:grpSpPr>
        <p:sp>
          <p:nvSpPr>
            <p:cNvPr id="2" name="TextBox 2"/>
            <p:cNvSpPr txBox="1"/>
            <p:nvPr/>
          </p:nvSpPr>
          <p:spPr>
            <a:xfrm>
              <a:off x="590931" y="489109"/>
              <a:ext cx="8218874" cy="718756"/>
            </a:xfrm>
            <a:prstGeom prst="rect">
              <a:avLst/>
            </a:prstGeom>
            <a:noFill/>
            <a:ln>
              <a:noFill/>
            </a:ln>
          </p:spPr>
          <p:txBody>
            <a:bodyPr wrap="none" lIns="0" tIns="0" rIns="0" bIns="0" anchor="t" anchorCtr="0">
              <a:spAutoFit/>
            </a:bodyPr>
            <a:lstStyle/>
            <a:p>
              <a:pPr algn="l"/>
              <a:r>
                <a:rPr lang="en-US" sz="3680" b="1" dirty="0">
                  <a:solidFill>
                    <a:schemeClr val="dk1"/>
                  </a:solidFill>
                  <a:latin typeface="+mn-lt"/>
                  <a:ea typeface="+mn-ea"/>
                  <a:cs typeface="+mn-cs"/>
                </a:rPr>
                <a:t>One forecast. Two things to prove.</a:t>
              </a:r>
            </a:p>
          </p:txBody>
        </p:sp>
        <p:sp>
          <p:nvSpPr>
            <p:cNvPr id="3" name="Line 3"/>
            <p:cNvSpPr/>
            <p:nvPr/>
          </p:nvSpPr>
          <p:spPr>
            <a:xfrm>
              <a:off x="609600" y="1209675"/>
              <a:ext cx="10972800" cy="9525"/>
            </a:xfrm>
            <a:custGeom>
              <a:avLst/>
              <a:gdLst/>
              <a:ahLst/>
              <a:cxnLst/>
              <a:rect l="l" t="t" r="r" b="b"/>
              <a:pathLst>
                <a:path w="10972800" h="9525">
                  <a:moveTo>
                    <a:pt x="0" y="0"/>
                  </a:moveTo>
                  <a:lnTo>
                    <a:pt x="10972800" y="0"/>
                  </a:lnTo>
                </a:path>
              </a:pathLst>
            </a:custGeom>
            <a:noFill/>
            <a:ln w="19050">
              <a:solidFill>
                <a:srgbClr val="DDE1E6"/>
              </a:solidFill>
            </a:ln>
          </p:spPr>
        </p:sp>
        <p:sp>
          <p:nvSpPr>
            <p:cNvPr id="4" name="Rectangle 4"/>
            <p:cNvSpPr/>
            <p:nvPr/>
          </p:nvSpPr>
          <p:spPr>
            <a:xfrm>
              <a:off x="609600" y="1209675"/>
              <a:ext cx="819150" cy="47625"/>
            </a:xfrm>
            <a:prstGeom prst="rect">
              <a:avLst/>
            </a:prstGeom>
            <a:solidFill>
              <a:schemeClr val="accent1"/>
            </a:solidFill>
            <a:ln>
              <a:noFill/>
            </a:ln>
          </p:spPr>
        </p:sp>
      </p:grpSp>
      <p:sp>
        <p:nvSpPr>
          <p:cNvPr id="6" name="TextBox 6"/>
          <p:cNvSpPr txBox="1"/>
          <p:nvPr/>
        </p:nvSpPr>
        <p:spPr>
          <a:xfrm>
            <a:off x="10990554" y="6342221"/>
            <a:ext cx="599085" cy="278702"/>
          </a:xfrm>
          <a:prstGeom prst="rect">
            <a:avLst/>
          </a:prstGeom>
          <a:noFill/>
          <a:ln>
            <a:noFill/>
          </a:ln>
        </p:spPr>
        <p:txBody>
          <a:bodyPr wrap="none" lIns="0" tIns="0" rIns="0" bIns="0" anchor="t" anchorCtr="0">
            <a:spAutoFit/>
          </a:bodyPr>
          <a:lstStyle/>
          <a:p>
            <a:pPr algn="r"/>
            <a:r>
              <a:rPr lang="en-US" sz="1420" dirty="0">
                <a:solidFill>
                  <a:schemeClr val="accent3"/>
                </a:solidFill>
                <a:latin typeface="+mn-lt"/>
                <a:ea typeface="+mn-ea"/>
                <a:cs typeface="+mn-cs"/>
              </a:rPr>
              <a:t>15 / 15</a:t>
            </a:r>
          </a:p>
        </p:txBody>
      </p:sp>
      <p:grpSp>
        <p:nvGrpSpPr>
          <p:cNvPr id="18" name="closing-proof"/>
          <p:cNvGrpSpPr/>
          <p:nvPr/>
        </p:nvGrpSpPr>
        <p:grpSpPr>
          <a:xfrm>
            <a:off x="609600" y="1704975"/>
            <a:ext cx="10972800" cy="4152900"/>
            <a:chOff x="609600" y="1704975"/>
            <a:chExt cx="10972800" cy="4152900"/>
          </a:xfrm>
        </p:grpSpPr>
        <p:sp>
          <p:nvSpPr>
            <p:cNvPr id="7" name="Rectangle 7"/>
            <p:cNvSpPr/>
            <p:nvPr/>
          </p:nvSpPr>
          <p:spPr>
            <a:xfrm>
              <a:off x="609600" y="1704975"/>
              <a:ext cx="5219700" cy="2428875"/>
            </a:xfrm>
            <a:prstGeom prst="rect">
              <a:avLst/>
            </a:prstGeom>
            <a:solidFill>
              <a:schemeClr val="lt2"/>
            </a:solidFill>
            <a:ln>
              <a:noFill/>
            </a:ln>
          </p:spPr>
        </p:sp>
        <p:sp>
          <p:nvSpPr>
            <p:cNvPr id="8" name="Rectangle 8"/>
            <p:cNvSpPr/>
            <p:nvPr/>
          </p:nvSpPr>
          <p:spPr>
            <a:xfrm>
              <a:off x="6362700" y="1704975"/>
              <a:ext cx="5219700" cy="2428875"/>
            </a:xfrm>
            <a:prstGeom prst="rect">
              <a:avLst/>
            </a:prstGeom>
            <a:solidFill>
              <a:schemeClr val="lt2"/>
            </a:solidFill>
            <a:ln>
              <a:noFill/>
            </a:ln>
          </p:spPr>
        </p:sp>
        <p:sp>
          <p:nvSpPr>
            <p:cNvPr id="9" name="TextBox 9"/>
            <p:cNvSpPr txBox="1"/>
            <p:nvPr/>
          </p:nvSpPr>
          <p:spPr>
            <a:xfrm>
              <a:off x="883158" y="2131695"/>
              <a:ext cx="2376533" cy="469392"/>
            </a:xfrm>
            <a:prstGeom prst="rect">
              <a:avLst/>
            </a:prstGeom>
            <a:noFill/>
            <a:ln>
              <a:noFill/>
            </a:ln>
          </p:spPr>
          <p:txBody>
            <a:bodyPr wrap="none" lIns="0" tIns="0" rIns="0" bIns="0" anchor="t" anchorCtr="0">
              <a:spAutoFit/>
            </a:bodyPr>
            <a:lstStyle/>
            <a:p>
              <a:pPr algn="l"/>
              <a:r>
                <a:rPr lang="en-US" sz="2400" b="1" dirty="0">
                  <a:solidFill>
                    <a:schemeClr val="accent2"/>
                  </a:solidFill>
                  <a:latin typeface="+mn-lt"/>
                  <a:ea typeface="+mn-ea"/>
                  <a:cs typeface="+mn-cs"/>
                </a:rPr>
                <a:t>01 FORECAST</a:t>
              </a:r>
            </a:p>
          </p:txBody>
        </p:sp>
        <p:sp>
          <p:nvSpPr>
            <p:cNvPr id="10" name="TextBox 10"/>
            <p:cNvSpPr txBox="1"/>
            <p:nvPr/>
          </p:nvSpPr>
          <p:spPr>
            <a:xfrm>
              <a:off x="883158" y="2626995"/>
              <a:ext cx="1522547" cy="469392"/>
            </a:xfrm>
            <a:prstGeom prst="rect">
              <a:avLst/>
            </a:prstGeom>
            <a:noFill/>
            <a:ln>
              <a:noFill/>
            </a:ln>
          </p:spPr>
          <p:txBody>
            <a:bodyPr wrap="none" lIns="0" tIns="0" rIns="0" bIns="0" anchor="t" anchorCtr="0">
              <a:spAutoFit/>
            </a:bodyPr>
            <a:lstStyle/>
            <a:p>
              <a:pPr algn="l"/>
              <a:r>
                <a:rPr lang="en-US" sz="2400" b="1" dirty="0">
                  <a:solidFill>
                    <a:schemeClr val="accent2"/>
                  </a:solidFill>
                  <a:latin typeface="+mn-lt"/>
                  <a:ea typeface="+mn-ea"/>
                  <a:cs typeface="+mn-cs"/>
                </a:rPr>
                <a:t>QUALITY</a:t>
              </a:r>
            </a:p>
          </p:txBody>
        </p:sp>
        <p:sp>
          <p:nvSpPr>
            <p:cNvPr id="11" name="TextBox 11"/>
            <p:cNvSpPr txBox="1"/>
            <p:nvPr/>
          </p:nvSpPr>
          <p:spPr>
            <a:xfrm>
              <a:off x="883539" y="3273266"/>
              <a:ext cx="2448038" cy="864298"/>
            </a:xfrm>
            <a:prstGeom prst="rect">
              <a:avLst/>
            </a:prstGeom>
            <a:noFill/>
            <a:ln>
              <a:noFill/>
            </a:ln>
          </p:spPr>
          <p:txBody>
            <a:bodyPr wrap="none" lIns="0" tIns="0" rIns="0" bIns="0" anchor="t" anchorCtr="0">
              <a:spAutoFit/>
            </a:bodyPr>
            <a:lstStyle/>
            <a:p>
              <a:pPr algn="l">
                <a:lnSpc>
                  <a:spcPts val="3225"/>
                </a:lnSpc>
              </a:pPr>
              <a:r>
                <a:rPr lang="en-US" sz="2320" dirty="0">
                  <a:solidFill>
                    <a:schemeClr val="dk1"/>
                  </a:solidFill>
                  <a:latin typeface="+mn-lt"/>
                  <a:ea typeface="+mn-ea"/>
                  <a:cs typeface="+mn-cs"/>
                </a:rPr>
                <a:t>Beat the baselines</a:t>
              </a:r>
              <a:br/>
              <a:r>
                <a:rPr lang="en-US" sz="2320" dirty="0">
                  <a:solidFill>
                    <a:schemeClr val="dk1"/>
                  </a:solidFill>
                  <a:latin typeface="+mn-lt"/>
                  <a:ea typeface="+mn-ea"/>
                  <a:cs typeface="+mn-cs"/>
                </a:rPr>
                <a:t>on unseen data</a:t>
              </a:r>
            </a:p>
          </p:txBody>
        </p:sp>
        <p:sp>
          <p:nvSpPr>
            <p:cNvPr id="12" name="TextBox 12"/>
            <p:cNvSpPr txBox="1"/>
            <p:nvPr/>
          </p:nvSpPr>
          <p:spPr>
            <a:xfrm>
              <a:off x="6636258" y="2131695"/>
              <a:ext cx="2528104" cy="469392"/>
            </a:xfrm>
            <a:prstGeom prst="rect">
              <a:avLst/>
            </a:prstGeom>
            <a:noFill/>
            <a:ln>
              <a:noFill/>
            </a:ln>
          </p:spPr>
          <p:txBody>
            <a:bodyPr wrap="none" lIns="0" tIns="0" rIns="0" bIns="0" anchor="t" anchorCtr="0">
              <a:spAutoFit/>
            </a:bodyPr>
            <a:lstStyle/>
            <a:p>
              <a:pPr algn="l"/>
              <a:r>
                <a:rPr lang="en-US" sz="2400" b="1" dirty="0">
                  <a:solidFill>
                    <a:schemeClr val="accent2"/>
                  </a:solidFill>
                  <a:latin typeface="+mn-lt"/>
                  <a:ea typeface="+mn-ea"/>
                  <a:cs typeface="+mn-cs"/>
                </a:rPr>
                <a:t>02 HARDWARE</a:t>
              </a:r>
            </a:p>
          </p:txBody>
        </p:sp>
        <p:sp>
          <p:nvSpPr>
            <p:cNvPr id="13" name="TextBox 13"/>
            <p:cNvSpPr txBox="1"/>
            <p:nvPr/>
          </p:nvSpPr>
          <p:spPr>
            <a:xfrm>
              <a:off x="6636258" y="2626995"/>
              <a:ext cx="2641919" cy="469392"/>
            </a:xfrm>
            <a:prstGeom prst="rect">
              <a:avLst/>
            </a:prstGeom>
            <a:noFill/>
            <a:ln>
              <a:noFill/>
            </a:ln>
          </p:spPr>
          <p:txBody>
            <a:bodyPr wrap="none" lIns="0" tIns="0" rIns="0" bIns="0" anchor="t" anchorCtr="0">
              <a:spAutoFit/>
            </a:bodyPr>
            <a:lstStyle/>
            <a:p>
              <a:pPr algn="l"/>
              <a:r>
                <a:rPr lang="en-US" sz="2400" b="1" dirty="0">
                  <a:solidFill>
                    <a:schemeClr val="accent2"/>
                  </a:solidFill>
                  <a:latin typeface="+mn-lt"/>
                  <a:ea typeface="+mn-ea"/>
                  <a:cs typeface="+mn-cs"/>
                </a:rPr>
                <a:t>CORRECTNESS</a:t>
              </a:r>
            </a:p>
          </p:txBody>
        </p:sp>
        <p:sp>
          <p:nvSpPr>
            <p:cNvPr id="14" name="TextBox 14"/>
            <p:cNvSpPr txBox="1"/>
            <p:nvPr/>
          </p:nvSpPr>
          <p:spPr>
            <a:xfrm>
              <a:off x="6636639" y="3273266"/>
              <a:ext cx="2758588" cy="864298"/>
            </a:xfrm>
            <a:prstGeom prst="rect">
              <a:avLst/>
            </a:prstGeom>
            <a:noFill/>
            <a:ln>
              <a:noFill/>
            </a:ln>
          </p:spPr>
          <p:txBody>
            <a:bodyPr wrap="none" lIns="0" tIns="0" rIns="0" bIns="0" anchor="t" anchorCtr="0">
              <a:spAutoFit/>
            </a:bodyPr>
            <a:lstStyle/>
            <a:p>
              <a:pPr algn="l">
                <a:lnSpc>
                  <a:spcPts val="3225"/>
                </a:lnSpc>
              </a:pPr>
              <a:r>
                <a:rPr lang="en-US" sz="2320" dirty="0">
                  <a:solidFill>
                    <a:schemeClr val="dk1"/>
                  </a:solidFill>
                  <a:latin typeface="+mn-lt"/>
                  <a:ea typeface="+mn-ea"/>
                  <a:cs typeface="+mn-cs"/>
                </a:rPr>
                <a:t>Match the C++ fixed-</a:t>
              </a:r>
              <a:br/>
              <a:r>
                <a:rPr lang="en-US" sz="2320" dirty="0">
                  <a:solidFill>
                    <a:schemeClr val="dk1"/>
                  </a:solidFill>
                  <a:latin typeface="+mn-lt"/>
                  <a:ea typeface="+mn-ea"/>
                  <a:cs typeface="+mn-cs"/>
                </a:rPr>
                <a:t>point reference</a:t>
              </a:r>
            </a:p>
          </p:txBody>
        </p:sp>
        <p:sp>
          <p:nvSpPr>
            <p:cNvPr id="15" name="Rectangle 15"/>
            <p:cNvSpPr/>
            <p:nvPr/>
          </p:nvSpPr>
          <p:spPr>
            <a:xfrm>
              <a:off x="609600" y="4724400"/>
              <a:ext cx="10972800" cy="1133475"/>
            </a:xfrm>
            <a:prstGeom prst="rect">
              <a:avLst/>
            </a:prstGeom>
            <a:solidFill>
              <a:schemeClr val="lt1"/>
            </a:solidFill>
            <a:ln w="28575">
              <a:solidFill>
                <a:schemeClr val="accent1"/>
              </a:solidFill>
            </a:ln>
          </p:spPr>
        </p:sp>
        <p:sp>
          <p:nvSpPr>
            <p:cNvPr id="16" name="TextBox 16"/>
            <p:cNvSpPr txBox="1"/>
            <p:nvPr/>
          </p:nvSpPr>
          <p:spPr>
            <a:xfrm>
              <a:off x="865251" y="4994434"/>
              <a:ext cx="2593049" cy="425386"/>
            </a:xfrm>
            <a:prstGeom prst="rect">
              <a:avLst/>
            </a:prstGeom>
            <a:noFill/>
            <a:ln>
              <a:noFill/>
            </a:ln>
          </p:spPr>
          <p:txBody>
            <a:bodyPr wrap="none" lIns="0" tIns="0" rIns="0" bIns="0" anchor="t" anchorCtr="0">
              <a:spAutoFit/>
            </a:bodyPr>
            <a:lstStyle/>
            <a:p>
              <a:pPr algn="l"/>
              <a:r>
                <a:rPr lang="en-US" sz="2180" b="1" dirty="0">
                  <a:solidFill>
                    <a:schemeClr val="accent2"/>
                  </a:solidFill>
                  <a:latin typeface="+mn-lt"/>
                  <a:ea typeface="+mn-ea"/>
                  <a:cs typeface="+mn-cs"/>
                </a:rPr>
                <a:t>Feedback needed:</a:t>
              </a:r>
            </a:p>
          </p:txBody>
        </p:sp>
        <p:sp>
          <p:nvSpPr>
            <p:cNvPr id="17" name="TextBox 17"/>
            <p:cNvSpPr txBox="1"/>
            <p:nvPr/>
          </p:nvSpPr>
          <p:spPr>
            <a:xfrm>
              <a:off x="864489" y="5378291"/>
              <a:ext cx="6085405" cy="454724"/>
            </a:xfrm>
            <a:prstGeom prst="rect">
              <a:avLst/>
            </a:prstGeom>
            <a:noFill/>
            <a:ln>
              <a:noFill/>
            </a:ln>
          </p:spPr>
          <p:txBody>
            <a:bodyPr wrap="none" lIns="0" tIns="0" rIns="0" bIns="0" anchor="t" anchorCtr="0">
              <a:spAutoFit/>
            </a:bodyPr>
            <a:lstStyle/>
            <a:p>
              <a:pPr algn="l"/>
              <a:r>
                <a:rPr lang="en-US" sz="2320" dirty="0">
                  <a:solidFill>
                    <a:schemeClr val="dk1"/>
                  </a:solidFill>
                  <a:latin typeface="+mn-lt"/>
                  <a:ea typeface="+mn-ea"/>
                  <a:cs typeface="+mn-cs"/>
                </a:rPr>
                <a:t>scope • FPGA board/tools • minimum demo</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e436_temperature_forecast_proposal_en_redesign">
  <a:themeElements>
    <a:clrScheme name="ce436_temperature_forecast_proposal_en_redesign">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ce436_temperature_forecast_proposal_en_re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436_temperature_forecast_proposal_en_r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e436_temperature_forecast_proposal_en_redesign">
  <a:themeElements>
    <a:clrScheme name="ce436_temperature_forecast_proposal_en_redesign">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ce436_temperature_forecast_proposal_en_re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436_temperature_forecast_proposal_en_r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2026-09-24T11:48:50Z</dcterms:created>
  <dcterms:modified xsi:type="dcterms:W3CDTF">2026-09-24T11:48:50Z</dcterms:modified>
  <cp:category/>
  <cp:contentStatus/>
</cp:coreProperties>
</file>