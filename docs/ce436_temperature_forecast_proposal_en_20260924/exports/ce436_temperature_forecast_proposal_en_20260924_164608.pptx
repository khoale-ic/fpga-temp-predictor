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professor and classmates. Our group proposes a three-hour-ahead temperature forecast on an FPGA using a linear model built from past values. This is a focused version of the assigned weather forecasting topic. Today we present the proposed method and twelve-week plan; we do not yet have fitted coefficients, accuracy results, or a board demonstration.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narrow the broad weather forecasting topic to hourly temperature at one location. At time t, the model uses observations available up to t and outputs a forecast for t plus three hours, in degrees Celsius. A linear model gives us clear arithmetic that we can reproduce in C++ and RTL within three months. FPGA speedup is not our claim for data that arrives only once an hour; our objective is the complete model-to-hardware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has an offline stage and an FPGA runtime stage. C++ checks the CSV data, builds simple baselines, fits coefficients a, b, and c, and creates a fixed-point reference and test vectors. The FPGA receives temperature samples, stores the required history, and computes the forecast with coefficients fixed at runtime. Our deliverables are the C++ program, RTL, testbench, board demo, and an evaluation report.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plan to use hourly NASA POWER T2M data, which is gridded data for a selected coordinate rather than a sensor reading at an exact point. We will confirm the coordinate, date range, time convention, units, and any missing or duplicate hours before creating samples. The value at t minus twenty-one hours is the same hour on the previous day relative to the target at t plus three hours. A buffer of twenty-five consecutive samples covers t minus twenty-four through t; the future target is used only as a training or evaluation label.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forecast starts from the temperature at the same hour on the previous day relative to the target. One correction uses the difference between the current hour and the same hour a day earlier; another uses the change over the latest three hours. C++ will estimate the two weights and constant offset from historical data, and the FPGA will use those fixed values. The model is a hypothesis that still needs comparison against baselines on unseen data.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an invented arithmetic example, not an experimental result. With past temperatures of nineteen, twenty-one, eighteen, and twenty degrees Celsius and example coefficients a equal to zero point five, b equal to zero point two, and c equal to zero, the forecast is twenty-one point nine degrees Celsius. The hardware therefore needs subtraction, multiplication by coefficients, and addition. A correct computation does not by itself establish forecast accuracy.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rewrite the model as a small linear regression problem: x one is the day-to-day difference, x two is the recent three-hour difference, and y is the target temperature minus the same-hour anchor. C++ fits a, b, and c by least squares on training data. We divide data chronologically into training, validation, and test periods; training labels must not extend into later periods. Previously observed history may still be used as input when forecasting in a later period.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first question is whether the forecast improves on simple alternatives: the current temperature and the same-hour value from the previous day. We will compare all methods on the same test timestamps using mean absolute error in degrees Celsius. Our second question is whether the hardware follows its specification: we compare floating point with fixed point, then require RTL to match the fixed-point reference bit for bit at the correct valid cycle. LUT, flip-flop, DSP, and latency figures will come from synthesis rather than estimates.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will start with a floating-point C++ model and inspect the ranges of temperatures, fitted coefficients, products, and sums before choosing a fixed-point format. The specification must include signedness, fractional bits, intermediate widths, shifts, rounding, and overflow behavior. A C++ fixed-point reference will mirror the RTL operation by operation, including width reductions. Forecast error against measured temperature and fixed-point error against the floating-point model are different quantities.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FPGA accepts a new sample only when valid is asserted. It stores twenty-five samples so it can read the four required time indices, forms two differences, multiplies them by the fixed coefficients, and adds the anchor and offset. The diagram describes functions, not a final choice between shared and parallel multipliers. A delay of one sample represents one hour in the data sequence, whereas hardware latency is measured in clock cycles; the circuit does not wait three real hours to forecast.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propose three layers of verification using the same input vectors. C++ compares floating-point and fixed-point calculations, especially at negative values and numeric limits. The testbench checks bit-exact RTL outputs at the expected valid cycle and covers reset, overflow, buffer warm-up, and gaps between accepted samples. The board run checks sample order, data encoding, interface behavior, and output logs against the reference.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proposed demonstration replays historical data from a PC into the FPGA in chronological order, faster than real time. UART is one possible interface, depending on the available board. The PC logs the returned forecasts and compares each one with the target temperature in the CSV. At each forecast step, only samples through time t enter the FPGA; the future label remains on the PC for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divide twelve weeks into four stages with a working deliverable at each milestone. Weeks one to three cover foundations, clean data, and two baselines; weeks four to six cover C++ training, validation, and initial fixed-point analysis. Weeks seven to nine cover RTL and bit-exact testbench checks, while preparing board integration. The final three weeks cover the demo, held-out test evaluation, synthesis figures, and limitations.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One student leads data and C++, another leads fixed-point RTL, and the third leads verification and the demonstration. The group must agree early on data formats, coefficient encoding, signed arithmetic, rounding, overflow, valid, and latency. Missing or misaligned hours are checked before sample creation; if the board is undecided, we can still complete and simulate a standalone core. If forecast error is high, we will analyze it on validation and report the held-out test result honestly.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proposed outcome is a three-hour-ahead temperature forecast from past hourly values, with coefficients trained in C++ and fixed-point inference on an FPGA. We will provide two kinds of evidence: forecast quality against baselines on unseen data, and RTL correctness against the fixed-point reference. We would welcome feedback on the three-hour scope, the FPGA board and tools, and the minimum expected board demonstration. Humidity or pressure would be added only after the core work is complete.</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accent Layout"/>
          <p:cNvSpPr/>
          <p:nvPr/>
        </p:nvSpPr>
        <p:spPr>
          <a:xfrm>
            <a:off x="609600" y="1866900"/>
            <a:ext cx="76200" cy="2305050"/>
          </a:xfrm>
          <a:prstGeom prst="rect">
            <a:avLst/>
          </a:prstGeom>
          <a:solidFill>
            <a:schemeClr val="accent1"/>
          </a:solidFill>
          <a:ln>
            <a:noFill/>
          </a:ln>
        </p:spPr>
      </p:sp>
      <p:sp>
        <p:nvSpPr>
          <p:cNvPr id="3" name="cover-title Placeholder"/>
          <p:cNvSpPr>
            <a:spLocks noGrp="1"/>
          </p:cNvSpPr>
          <p:nvPr>
            <p:ph type="title"/>
          </p:nvPr>
        </p:nvSpPr>
        <p:spPr>
          <a:xfrm>
            <a:off x="1066800" y="1866900"/>
            <a:ext cx="10058400" cy="13716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cover-subtitle Placeholder"/>
          <p:cNvSpPr>
            <a:spLocks noGrp="1"/>
          </p:cNvSpPr>
          <p:nvPr>
            <p:ph type="subTitle" idx="1"/>
          </p:nvPr>
        </p:nvSpPr>
        <p:spPr>
          <a:xfrm>
            <a:off x="1066800" y="3333750"/>
            <a:ext cx="10058400" cy="685800"/>
          </a:xfrm>
          <a:prstGeom prst="rect">
            <a:avLst/>
          </a:prstGeom>
          <a:noFill/>
          <a:ln>
            <a:noFill/>
          </a:ln>
        </p:spPr>
        <p:txBody>
          <a:bodyPr wrap="square" lIns="0" tIns="0" rIns="0" bIns="0" anchor="ctr" anchorCtr="0">
            <a:noAutofit/>
          </a:bodyPr>
          <a:lstStyle>
            <a:lvl1pPr marL="0" indent="0">
              <a:buNone/>
              <a:defRPr sz="2550" lang="en-US"/>
            </a:lvl1pPr>
          </a:lstStyle>
          <a:p>
            <a:pPr algn="l" marL="0" indent="0">
              <a:buNone/>
            </a:pPr>
            <a:r>
              <a:rPr lang="en-US" sz="2550" dirty="0">
                <a:solidFill>
                  <a:schemeClr val="accent3"/>
                </a:solidFill>
                <a:latin typeface="+mn-lt"/>
                <a:ea typeface="+mn-ea"/>
                <a:cs typeface="+mn-cs"/>
              </a:rPr>
              <a:t>Click to add subtitle</a:t>
            </a:r>
            <a:endParaRPr lang="en-US"/>
          </a:p>
        </p:txBody>
      </p:sp>
      <p:sp>
        <p:nvSpPr>
          <p:cNvPr id="5"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153DC44E-9EF9-44DC-B5FD-BB93FCA3DBBC}" type="slidenum">
              <a:rPr lang="en-US" sz="1200" dirty="0">
                <a:solidFill>
                  <a:schemeClr val="accent3"/>
                </a:solidFill>
                <a:latin typeface="+mn-lt"/>
                <a:ea typeface="+mn-ea"/>
                <a:cs typeface="+mn-cs"/>
              </a:rPr>
              <a:t>‹#›</a:t>
            </a:fld>
            <a:endParaRPr lang="en-US"/>
          </a:p>
        </p:txBody>
      </p:sp>
    </p:spTree>
    <p:extLst>
      <p:ext uri="{BB962C8B-B14F-4D97-AF65-F5344CB8AC3E}">
        <p14:creationId val="1849976485"/>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9CB21E0F-8E56-4F6B-AE9F-CB89D663BDF8}" type="slidenum">
              <a:rPr lang="en-US" sz="1200" dirty="0">
                <a:solidFill>
                  <a:schemeClr val="accent3"/>
                </a:solidFill>
                <a:latin typeface="+mn-lt"/>
                <a:ea typeface="+mn-ea"/>
                <a:cs typeface="+mn-cs"/>
              </a:rPr>
              <a:t>‹#›</a:t>
            </a:fld>
            <a:endParaRPr lang="en-US"/>
          </a:p>
        </p:txBody>
      </p:sp>
    </p:spTree>
    <p:extLst>
      <p:ext uri="{BB962C8B-B14F-4D97-AF65-F5344CB8AC3E}">
        <p14:creationId val="642412875"/>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2250" lang="en-US"/>
            </a:lvl1pPr>
          </a:lstStyle>
          <a:p>
            <a:pPr algn="l" marL="0" indent="0">
              <a:buNone/>
            </a:pPr>
            <a:r>
              <a:rPr lang="en-US" sz="2250" b="1" dirty="0">
                <a:solidFill>
                  <a:schemeClr val="accent2"/>
                </a:solidFill>
                <a:latin typeface="+mn-lt"/>
                <a:ea typeface="+mn-ea"/>
                <a:cs typeface="+mn-cs"/>
              </a:rPr>
              <a:t>Click to add text</a:t>
            </a:r>
            <a:endParaRPr lang="en-US"/>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2250" lang="en-US"/>
            </a:lvl1pPr>
          </a:lstStyle>
          <a:p>
            <a:pPr algn="l" marL="0" indent="0">
              <a:buNone/>
            </a:pPr>
            <a:r>
              <a:rPr lang="en-US" sz="2250" b="1" dirty="0">
                <a:solidFill>
                  <a:schemeClr val="accent2"/>
                </a:solidFill>
                <a:latin typeface="+mn-lt"/>
                <a:ea typeface="+mn-ea"/>
                <a:cs typeface="+mn-cs"/>
              </a:rPr>
              <a:t>Click to add text</a:t>
            </a:r>
            <a:endParaRPr lang="en-US"/>
          </a:p>
        </p:txBody>
      </p:sp>
      <p:sp>
        <p:nvSpPr>
          <p:cNvPr id="8" name="comparison-left-content-slot Placeholder"/>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a:t>Click to add content</a:t>
            </a:r>
            <a:endParaRPr lang="en-US"/>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a:t>Click to add content</a:t>
            </a:r>
            <a:endParaRPr lang="en-US"/>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13A7BDEF-D1A7-4AD5-982E-ADA13944DC78}" type="slidenum">
              <a:rPr lang="en-US" sz="1200" dirty="0">
                <a:solidFill>
                  <a:schemeClr val="accent3"/>
                </a:solidFill>
                <a:latin typeface="+mn-lt"/>
                <a:ea typeface="+mn-ea"/>
                <a:cs typeface="+mn-cs"/>
              </a:rPr>
              <a:t>‹#›</a:t>
            </a:fld>
            <a:endParaRPr lang="en-US"/>
          </a:p>
        </p:txBody>
      </p:sp>
    </p:spTree>
    <p:extLst>
      <p:ext uri="{BB962C8B-B14F-4D97-AF65-F5344CB8AC3E}">
        <p14:creationId val="333594934"/>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1087"/>
            </a:avLst>
          </a:prstGeom>
          <a:solidFill>
            <a:schemeClr val="lt2"/>
          </a:solidFill>
          <a:ln>
            <a:noFill/>
          </a:ln>
        </p:spPr>
      </p:sp>
      <p:sp>
        <p:nvSpPr>
          <p:cNvPr id="3" name="three-card-panel-two Layout"/>
          <p:cNvSpPr/>
          <p:nvPr/>
        </p:nvSpPr>
        <p:spPr>
          <a:xfrm>
            <a:off x="4343400" y="1600200"/>
            <a:ext cx="3505200" cy="4495800"/>
          </a:xfrm>
          <a:prstGeom prst="roundRect">
            <a:avLst>
              <a:gd name="adj" fmla="val 1087"/>
            </a:avLst>
          </a:prstGeom>
          <a:solidFill>
            <a:schemeClr val="lt2"/>
          </a:solidFill>
          <a:ln>
            <a:noFill/>
          </a:ln>
        </p:spPr>
      </p:sp>
      <p:sp>
        <p:nvSpPr>
          <p:cNvPr id="4" name="three-card-panel-three Layout"/>
          <p:cNvSpPr/>
          <p:nvPr/>
        </p:nvSpPr>
        <p:spPr>
          <a:xfrm>
            <a:off x="8077200" y="1600200"/>
            <a:ext cx="3505200" cy="44958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8ADC1B04-9F21-4B1E-84E4-DF506A3FB557}" type="slidenum">
              <a:rPr lang="en-US" sz="1200" dirty="0">
                <a:solidFill>
                  <a:schemeClr val="accent3"/>
                </a:solidFill>
                <a:latin typeface="+mn-lt"/>
                <a:ea typeface="+mn-ea"/>
                <a:cs typeface="+mn-cs"/>
              </a:rPr>
              <a:t>‹#›</a:t>
            </a:fld>
            <a:endParaRPr lang="en-US"/>
          </a:p>
        </p:txBody>
      </p:sp>
    </p:spTree>
    <p:extLst>
      <p:ext uri="{BB962C8B-B14F-4D97-AF65-F5344CB8AC3E}">
        <p14:creationId val="983159466"/>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650" lang="en-US"/>
            </a:lvl1pPr>
          </a:lstStyle>
          <a:p>
            <a:pPr algn="l" marL="0" indent="0">
              <a:buNone/>
            </a:pPr>
            <a:r>
              <a:rPr lang="en-US" sz="1650" dirty="0">
                <a:solidFill>
                  <a:schemeClr val="dk1"/>
                </a:solidFill>
                <a:latin typeface="+mn-lt"/>
                <a:ea typeface="+mn-ea"/>
                <a:cs typeface="+mn-cs"/>
              </a:rPr>
              <a:t>Click to add text</a:t>
            </a:r>
            <a:endParaRPr lang="en-US"/>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8529A1EF-0BC4-426D-AC64-B86B8D2C7812}" type="slidenum">
              <a:rPr lang="en-US" sz="1200" dirty="0">
                <a:solidFill>
                  <a:schemeClr val="accent3"/>
                </a:solidFill>
                <a:latin typeface="+mn-lt"/>
                <a:ea typeface="+mn-ea"/>
                <a:cs typeface="+mn-cs"/>
              </a:rPr>
              <a:t>‹#›</a:t>
            </a:fld>
            <a:endParaRPr lang="en-US"/>
          </a:p>
        </p:txBody>
      </p:sp>
    </p:spTree>
    <p:extLst>
      <p:ext uri="{BB962C8B-B14F-4D97-AF65-F5344CB8AC3E}">
        <p14:creationId val="3127794353"/>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a:t>Click to add content</a:t>
            </a:r>
            <a:endParaRPr lang="en-US"/>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2100" lang="en-US"/>
            </a:lvl1pPr>
          </a:lstStyle>
          <a:p>
            <a:pPr algn="l" marL="0" indent="0">
              <a:lnSpc>
                <a:spcPts val="3150"/>
              </a:lnSpc>
              <a:buNone/>
            </a:pPr>
            <a:r>
              <a:rPr lang="en-US" sz="2100" dirty="0">
                <a:solidFill>
                  <a:schemeClr val="dk1"/>
                </a:solidFill>
                <a:latin typeface="+mn-lt"/>
                <a:ea typeface="+mn-ea"/>
                <a:cs typeface="+mn-cs"/>
              </a:rPr>
              <a:t>Click to add text</a:t>
            </a:r>
            <a:endParaRPr lang="en-US"/>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10ABFBF9-E26D-47FB-A084-5BB48D7FDB06}" type="slidenum">
              <a:rPr lang="en-US" sz="1200" dirty="0">
                <a:solidFill>
                  <a:schemeClr val="accent3"/>
                </a:solidFill>
                <a:latin typeface="+mn-lt"/>
                <a:ea typeface="+mn-ea"/>
                <a:cs typeface="+mn-cs"/>
              </a:rPr>
              <a:t>‹#›</a:t>
            </a:fld>
            <a:endParaRPr lang="en-US"/>
          </a:p>
        </p:txBody>
      </p:sp>
    </p:spTree>
    <p:extLst>
      <p:ext uri="{BB962C8B-B14F-4D97-AF65-F5344CB8AC3E}">
        <p14:creationId val="941298667"/>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hyperlink" Target="https://otexts.com/fpp3/simple-methods.html" TargetMode="Externa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title Placeholder Carrier"/>
          <p:cNvSpPr txBox="1"/>
          <p:nvPr>
            <p:ph type="title"/>
          </p:nvPr>
        </p:nvSpPr>
        <p:spPr>
          <a:xfrm>
            <a:off x="1047750" y="1976438"/>
            <a:ext cx="717989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TEMPERATURE FORECAST</a:t>
            </a:r>
          </a:p>
        </p:txBody>
      </p:sp>
      <p:sp>
        <p:nvSpPr>
          <p:cNvPr id="5" name="cover-subtitle Placeholder Carrier"/>
          <p:cNvSpPr txBox="1"/>
          <p:nvPr>
            <p:ph type="subTitle" idx="1"/>
          </p:nvPr>
        </p:nvSpPr>
        <p:spPr>
          <a:xfrm>
            <a:off x="1053846" y="3439478"/>
            <a:ext cx="4721868" cy="498729"/>
          </a:xfrm>
          <a:prstGeom prst="rect">
            <a:avLst/>
          </a:prstGeom>
          <a:noFill/>
          <a:ln>
            <a:noFill/>
          </a:ln>
        </p:spPr>
        <p:txBody>
          <a:bodyPr wrap="none" lIns="0" tIns="0" rIns="0" bIns="0" anchor="t" anchorCtr="0">
            <a:spAutoFit/>
          </a:bodyPr>
          <a:lstStyle/>
          <a:p>
            <a:pPr algn="l" marL="0" indent="0">
              <a:buNone/>
            </a:pPr>
            <a:r>
              <a:rPr lang="en-US" sz="2550" dirty="0">
                <a:solidFill>
                  <a:schemeClr val="accent3"/>
                </a:solidFill>
                <a:latin typeface="+mn-lt"/>
                <a:ea typeface="+mn-ea"/>
                <a:cs typeface="+mn-cs"/>
              </a:rPr>
              <a:t>3 HOURS AHEAD ON FPGA</a:t>
            </a:r>
          </a:p>
        </p:txBody>
      </p:sp>
      <p:sp>
        <p:nvSpPr>
          <p:cNvPr id="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01 / 15</a:t>
            </a:r>
          </a:p>
        </p:txBody>
      </p:sp>
      <p:grpSp>
        <p:nvGrpSpPr>
          <p:cNvPr id="8" name="cover-model"/>
          <p:cNvGrpSpPr/>
          <p:nvPr/>
        </p:nvGrpSpPr>
        <p:grpSpPr>
          <a:xfrm>
            <a:off x="1056513" y="4220051"/>
            <a:ext cx="3837769" cy="396050"/>
            <a:chOff x="1056513" y="4220051"/>
            <a:chExt cx="3837769" cy="396050"/>
          </a:xfrm>
        </p:grpSpPr>
        <p:sp>
          <p:nvSpPr>
            <p:cNvPr id="7" name="TextBox 7"/>
            <p:cNvSpPr txBox="1"/>
            <p:nvPr/>
          </p:nvSpPr>
          <p:spPr>
            <a:xfrm>
              <a:off x="1056513" y="4220051"/>
              <a:ext cx="383776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A linear model from past values</a:t>
              </a:r>
            </a:p>
          </p:txBody>
        </p:sp>
      </p:grpSp>
      <p:grpSp>
        <p:nvGrpSpPr>
          <p:cNvPr id="10" name="course"/>
          <p:cNvGrpSpPr/>
          <p:nvPr/>
        </p:nvGrpSpPr>
        <p:grpSpPr>
          <a:xfrm>
            <a:off x="1058418" y="812482"/>
            <a:ext cx="4816579" cy="322707"/>
            <a:chOff x="1058418" y="812482"/>
            <a:chExt cx="4816579" cy="322707"/>
          </a:xfrm>
        </p:grpSpPr>
        <p:sp>
          <p:nvSpPr>
            <p:cNvPr id="9" name="TextBox 9"/>
            <p:cNvSpPr txBox="1"/>
            <p:nvPr/>
          </p:nvSpPr>
          <p:spPr>
            <a:xfrm>
              <a:off x="1058418" y="812482"/>
              <a:ext cx="481657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CE436 / PROJECT PROPOSAL / SESSION 1</a:t>
              </a:r>
            </a:p>
          </p:txBody>
        </p:sp>
      </p:grpSp>
      <p:grpSp>
        <p:nvGrpSpPr>
          <p:cNvPr id="19" name="forecast-hook"/>
          <p:cNvGrpSpPr/>
          <p:nvPr/>
        </p:nvGrpSpPr>
        <p:grpSpPr>
          <a:xfrm>
            <a:off x="1056132" y="4914900"/>
            <a:ext cx="9611868" cy="906971"/>
            <a:chOff x="1056132" y="4914900"/>
            <a:chExt cx="9611868" cy="906971"/>
          </a:xfrm>
        </p:grpSpPr>
        <p:sp>
          <p:nvSpPr>
            <p:cNvPr id="11" name="Line 11"/>
            <p:cNvSpPr/>
            <p:nvPr/>
          </p:nvSpPr>
          <p:spPr>
            <a:xfrm>
              <a:off x="1238250" y="5048250"/>
              <a:ext cx="9429750" cy="9525"/>
            </a:xfrm>
            <a:custGeom>
              <a:avLst/>
              <a:gdLst/>
              <a:ahLst/>
              <a:cxnLst/>
              <a:rect l="l" t="t" r="r" b="b"/>
              <a:pathLst>
                <a:path w="9429750" h="9525">
                  <a:moveTo>
                    <a:pt x="0" y="0"/>
                  </a:moveTo>
                  <a:lnTo>
                    <a:pt x="9429750" y="0"/>
                  </a:lnTo>
                </a:path>
              </a:pathLst>
            </a:custGeom>
            <a:noFill/>
            <a:ln w="28575">
              <a:solidFill>
                <a:schemeClr val="accent6"/>
              </a:solidFill>
            </a:ln>
          </p:spPr>
        </p:sp>
        <p:sp>
          <p:nvSpPr>
            <p:cNvPr id="12" name="Ellipse 12"/>
            <p:cNvSpPr/>
            <p:nvPr/>
          </p:nvSpPr>
          <p:spPr>
            <a:xfrm>
              <a:off x="1447800" y="4972050"/>
              <a:ext cx="152400" cy="152400"/>
            </a:xfrm>
            <a:prstGeom prst="ellipse">
              <a:avLst/>
            </a:prstGeom>
            <a:solidFill>
              <a:schemeClr val="accent3"/>
            </a:solidFill>
            <a:ln>
              <a:noFill/>
            </a:ln>
          </p:spPr>
        </p:sp>
        <p:sp>
          <p:nvSpPr>
            <p:cNvPr id="13" name="Ellipse 13"/>
            <p:cNvSpPr/>
            <p:nvPr/>
          </p:nvSpPr>
          <p:spPr>
            <a:xfrm>
              <a:off x="4019550" y="4972050"/>
              <a:ext cx="152400" cy="152400"/>
            </a:xfrm>
            <a:prstGeom prst="ellipse">
              <a:avLst/>
            </a:prstGeom>
            <a:solidFill>
              <a:schemeClr val="accent3"/>
            </a:solidFill>
            <a:ln>
              <a:noFill/>
            </a:ln>
          </p:spPr>
        </p:sp>
        <p:sp>
          <p:nvSpPr>
            <p:cNvPr id="14" name="Ellipse 14"/>
            <p:cNvSpPr/>
            <p:nvPr/>
          </p:nvSpPr>
          <p:spPr>
            <a:xfrm>
              <a:off x="6591300" y="4972050"/>
              <a:ext cx="152400" cy="152400"/>
            </a:xfrm>
            <a:prstGeom prst="ellipse">
              <a:avLst/>
            </a:prstGeom>
            <a:solidFill>
              <a:schemeClr val="accent3"/>
            </a:solidFill>
            <a:ln>
              <a:noFill/>
            </a:ln>
          </p:spPr>
        </p:sp>
        <p:sp>
          <p:nvSpPr>
            <p:cNvPr id="15" name="Ellipse 15"/>
            <p:cNvSpPr/>
            <p:nvPr/>
          </p:nvSpPr>
          <p:spPr>
            <a:xfrm>
              <a:off x="10153650" y="4914900"/>
              <a:ext cx="266700" cy="266700"/>
            </a:xfrm>
            <a:prstGeom prst="ellipse">
              <a:avLst/>
            </a:prstGeom>
            <a:solidFill>
              <a:schemeClr val="accent1"/>
            </a:solidFill>
            <a:ln>
              <a:noFill/>
            </a:ln>
          </p:spPr>
        </p:sp>
        <p:sp>
          <p:nvSpPr>
            <p:cNvPr id="16" name="TextBox 16"/>
            <p:cNvSpPr txBox="1"/>
            <p:nvPr/>
          </p:nvSpPr>
          <p:spPr>
            <a:xfrm>
              <a:off x="1056132" y="5345430"/>
              <a:ext cx="1224260"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Past data</a:t>
              </a:r>
            </a:p>
          </p:txBody>
        </p:sp>
        <p:sp>
          <p:nvSpPr>
            <p:cNvPr id="17" name="TextBox 17"/>
            <p:cNvSpPr txBox="1"/>
            <p:nvPr/>
          </p:nvSpPr>
          <p:spPr>
            <a:xfrm>
              <a:off x="6104382" y="5345430"/>
              <a:ext cx="59758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Now</a:t>
              </a:r>
            </a:p>
          </p:txBody>
        </p:sp>
        <p:sp>
          <p:nvSpPr>
            <p:cNvPr id="18" name="TextBox 18"/>
            <p:cNvSpPr txBox="1"/>
            <p:nvPr/>
          </p:nvSpPr>
          <p:spPr>
            <a:xfrm>
              <a:off x="9605772" y="5264468"/>
              <a:ext cx="807340"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+3 h</a:t>
              </a:r>
            </a:p>
          </p:txBody>
        </p:sp>
      </p:grpSp>
      <p:grpSp>
        <p:nvGrpSpPr>
          <p:cNvPr id="21" name="project-meta"/>
          <p:cNvGrpSpPr/>
          <p:nvPr/>
        </p:nvGrpSpPr>
        <p:grpSpPr>
          <a:xfrm>
            <a:off x="1058418" y="6194108"/>
            <a:ext cx="5267838" cy="322707"/>
            <a:chOff x="1058418" y="6194108"/>
            <a:chExt cx="5267838" cy="322707"/>
          </a:xfrm>
        </p:grpSpPr>
        <p:sp>
          <p:nvSpPr>
            <p:cNvPr id="20" name="TextBox 20"/>
            <p:cNvSpPr txBox="1"/>
            <p:nvPr/>
          </p:nvSpPr>
          <p:spPr>
            <a:xfrm>
              <a:off x="1058418" y="6194108"/>
              <a:ext cx="526783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3 students · 12 weeks · C++ + Verilog/SystemVerilog</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647806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A testable forecasting task</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02 / 15</a:t>
            </a:r>
          </a:p>
        </p:txBody>
      </p:sp>
      <p:grpSp>
        <p:nvGrpSpPr>
          <p:cNvPr id="8" name="original-topic"/>
          <p:cNvGrpSpPr/>
          <p:nvPr/>
        </p:nvGrpSpPr>
        <p:grpSpPr>
          <a:xfrm>
            <a:off x="598932" y="1498282"/>
            <a:ext cx="8436237" cy="743141"/>
            <a:chOff x="598932" y="1498282"/>
            <a:chExt cx="8436237" cy="743141"/>
          </a:xfrm>
        </p:grpSpPr>
        <p:sp>
          <p:nvSpPr>
            <p:cNvPr id="6" name="TextBox 6"/>
            <p:cNvSpPr txBox="1"/>
            <p:nvPr/>
          </p:nvSpPr>
          <p:spPr>
            <a:xfrm>
              <a:off x="601218" y="1498282"/>
              <a:ext cx="201200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ASSIGNED TOPIC</a:t>
              </a:r>
            </a:p>
          </p:txBody>
        </p:sp>
        <p:sp>
          <p:nvSpPr>
            <p:cNvPr id="7" name="TextBox 7"/>
            <p:cNvSpPr txBox="1"/>
            <p:nvPr/>
          </p:nvSpPr>
          <p:spPr>
            <a:xfrm>
              <a:off x="598932" y="1830705"/>
              <a:ext cx="8436237"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Weather Pattern Forecasting on FPGA using Time Series Analysis</a:t>
              </a:r>
            </a:p>
          </p:txBody>
        </p:sp>
      </p:grpSp>
      <p:grpSp>
        <p:nvGrpSpPr>
          <p:cNvPr id="18" name="input"/>
          <p:cNvGrpSpPr/>
          <p:nvPr/>
        </p:nvGrpSpPr>
        <p:grpSpPr>
          <a:xfrm>
            <a:off x="609600" y="2514600"/>
            <a:ext cx="4857750" cy="1924050"/>
            <a:chOff x="609600" y="2514600"/>
            <a:chExt cx="4857750" cy="1924050"/>
          </a:xfrm>
        </p:grpSpPr>
        <p:sp>
          <p:nvSpPr>
            <p:cNvPr id="9" name="Rectangle 9"/>
            <p:cNvSpPr/>
            <p:nvPr/>
          </p:nvSpPr>
          <p:spPr>
            <a:xfrm>
              <a:off x="609600" y="2514600"/>
              <a:ext cx="4857750" cy="1924050"/>
            </a:xfrm>
            <a:prstGeom prst="rect">
              <a:avLst/>
            </a:prstGeom>
            <a:solidFill>
              <a:schemeClr val="lt2"/>
            </a:solidFill>
            <a:ln>
              <a:noFill/>
            </a:ln>
          </p:spPr>
        </p:sp>
        <p:grpSp>
          <p:nvGrpSpPr>
            <p:cNvPr id="15" name="Group 15"/>
            <p:cNvGrpSpPr/>
            <p:nvPr/>
          </p:nvGrpSpPr>
          <p:grpSpPr>
            <a:xfrm>
              <a:off x="901700" y="2809421"/>
              <a:ext cx="251279" cy="251280"/>
              <a:chOff x="901700" y="2809421"/>
              <a:chExt cx="251279" cy="251280"/>
            </a:xfrm>
          </p:grpSpPr>
          <p:sp>
            <p:nvSpPr>
              <p:cNvPr id="10" name="Freeform 10"/>
              <p:cNvSpPr/>
              <p:nvPr/>
            </p:nvSpPr>
            <p:spPr>
              <a:xfrm>
                <a:off x="949325" y="28094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chemeClr val="accent1"/>
                </a:solidFill>
              </a:ln>
            </p:spPr>
          </p:sp>
          <p:sp>
            <p:nvSpPr>
              <p:cNvPr id="11" name="Freeform 11"/>
              <p:cNvSpPr/>
              <p:nvPr/>
            </p:nvSpPr>
            <p:spPr>
              <a:xfrm>
                <a:off x="1068388" y="28305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1020763" y="28781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73138" y="29257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4" name="Freeform 14"/>
              <p:cNvSpPr/>
              <p:nvPr/>
            </p:nvSpPr>
            <p:spPr>
              <a:xfrm>
                <a:off x="901700" y="3013076"/>
                <a:ext cx="47625" cy="47625"/>
              </a:xfrm>
              <a:custGeom>
                <a:avLst/>
                <a:gdLst/>
                <a:ahLst/>
                <a:cxnLst/>
                <a:rect l="l" t="t" r="r" b="b"/>
                <a:pathLst>
                  <a:path w="47625" h="47625">
                    <a:moveTo>
                      <a:pt x="47625" y="0"/>
                    </a:moveTo>
                    <a:lnTo>
                      <a:pt x="0" y="47625"/>
                    </a:lnTo>
                  </a:path>
                </a:pathLst>
              </a:custGeom>
              <a:noFill/>
              <a:ln w="31750">
                <a:solidFill>
                  <a:schemeClr val="accent1"/>
                </a:solidFill>
              </a:ln>
            </p:spPr>
          </p:sp>
        </p:grpSp>
        <p:sp>
          <p:nvSpPr>
            <p:cNvPr id="16" name="TextBox 16"/>
            <p:cNvSpPr txBox="1"/>
            <p:nvPr/>
          </p:nvSpPr>
          <p:spPr>
            <a:xfrm>
              <a:off x="1398270" y="2795588"/>
              <a:ext cx="9829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INPUT</a:t>
              </a:r>
            </a:p>
          </p:txBody>
        </p:sp>
        <p:sp>
          <p:nvSpPr>
            <p:cNvPr id="17" name="TextBox 17"/>
            <p:cNvSpPr txBox="1"/>
            <p:nvPr/>
          </p:nvSpPr>
          <p:spPr>
            <a:xfrm>
              <a:off x="827532" y="3364230"/>
              <a:ext cx="3223763"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Hourly temperature</a:t>
              </a:r>
              <a:br/>
              <a:r>
                <a:rPr lang="en-US" sz="2100" dirty="0">
                  <a:solidFill>
                    <a:schemeClr val="dk1"/>
                  </a:solidFill>
                  <a:latin typeface="+mn-lt"/>
                  <a:ea typeface="+mn-ea"/>
                  <a:cs typeface="+mn-cs"/>
                </a:rPr>
                <a:t>at one location, up to time t</a:t>
              </a:r>
            </a:p>
          </p:txBody>
        </p:sp>
      </p:grpSp>
      <p:grpSp>
        <p:nvGrpSpPr>
          <p:cNvPr id="23" name="output"/>
          <p:cNvGrpSpPr/>
          <p:nvPr/>
        </p:nvGrpSpPr>
        <p:grpSpPr>
          <a:xfrm>
            <a:off x="5619750" y="2514600"/>
            <a:ext cx="5962650" cy="1924050"/>
            <a:chOff x="5619750" y="2514600"/>
            <a:chExt cx="5962650" cy="1924050"/>
          </a:xfrm>
        </p:grpSpPr>
        <p:sp>
          <p:nvSpPr>
            <p:cNvPr id="19" name="Rectangle 19"/>
            <p:cNvSpPr/>
            <p:nvPr/>
          </p:nvSpPr>
          <p:spPr>
            <a:xfrm>
              <a:off x="6324600" y="2514600"/>
              <a:ext cx="5257800" cy="1924050"/>
            </a:xfrm>
            <a:prstGeom prst="rect">
              <a:avLst/>
            </a:prstGeom>
            <a:solidFill>
              <a:schemeClr val="lt2"/>
            </a:solidFill>
            <a:ln>
              <a:noFill/>
            </a:ln>
          </p:spPr>
        </p:sp>
        <p:sp>
          <p:nvSpPr>
            <p:cNvPr id="20" name="TextBox 20"/>
            <p:cNvSpPr txBox="1"/>
            <p:nvPr/>
          </p:nvSpPr>
          <p:spPr>
            <a:xfrm>
              <a:off x="6579870" y="2795588"/>
              <a:ext cx="13384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OUTPUT</a:t>
              </a:r>
            </a:p>
          </p:txBody>
        </p:sp>
        <p:sp>
          <p:nvSpPr>
            <p:cNvPr id="21" name="TextBox 21"/>
            <p:cNvSpPr txBox="1"/>
            <p:nvPr/>
          </p:nvSpPr>
          <p:spPr>
            <a:xfrm>
              <a:off x="6580632" y="3364230"/>
              <a:ext cx="4179722"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One temperature forecast at t + 3 h</a:t>
              </a:r>
              <a:br/>
              <a:r>
                <a:rPr lang="en-US" sz="2100" dirty="0">
                  <a:solidFill>
                    <a:schemeClr val="dk1"/>
                  </a:solidFill>
                  <a:latin typeface="+mn-lt"/>
                  <a:ea typeface="+mn-ea"/>
                  <a:cs typeface="+mn-cs"/>
                </a:rPr>
                <a:t>Unit: °C</a:t>
              </a:r>
            </a:p>
          </p:txBody>
        </p:sp>
        <p:sp>
          <p:nvSpPr>
            <p:cNvPr id="22" name="Line 22"/>
            <p:cNvSpPr/>
            <p:nvPr/>
          </p:nvSpPr>
          <p:spPr>
            <a:xfrm>
              <a:off x="5619750" y="3467100"/>
              <a:ext cx="514350" cy="9525"/>
            </a:xfrm>
            <a:custGeom>
              <a:avLst/>
              <a:gdLst/>
              <a:ahLst/>
              <a:cxnLst/>
              <a:rect l="l" t="t" r="r" b="b"/>
              <a:pathLst>
                <a:path w="514350" h="9525">
                  <a:moveTo>
                    <a:pt x="0" y="0"/>
                  </a:moveTo>
                  <a:lnTo>
                    <a:pt x="514350" y="0"/>
                  </a:lnTo>
                </a:path>
              </a:pathLst>
            </a:custGeom>
            <a:noFill/>
            <a:ln w="28575">
              <a:solidFill>
                <a:schemeClr val="accent1"/>
              </a:solidFill>
            </a:ln>
          </p:spPr>
        </p:sp>
      </p:grpSp>
      <p:grpSp>
        <p:nvGrpSpPr>
          <p:cNvPr id="26" name="why"/>
          <p:cNvGrpSpPr/>
          <p:nvPr/>
        </p:nvGrpSpPr>
        <p:grpSpPr>
          <a:xfrm>
            <a:off x="598170" y="4786312"/>
            <a:ext cx="8289789" cy="826961"/>
            <a:chOff x="598170" y="4786312"/>
            <a:chExt cx="8289789" cy="826961"/>
          </a:xfrm>
        </p:grpSpPr>
        <p:sp>
          <p:nvSpPr>
            <p:cNvPr id="24" name="TextBox 24"/>
            <p:cNvSpPr txBox="1"/>
            <p:nvPr/>
          </p:nvSpPr>
          <p:spPr>
            <a:xfrm>
              <a:off x="598170" y="4786312"/>
              <a:ext cx="297932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Why a linear model?</a:t>
              </a:r>
            </a:p>
          </p:txBody>
        </p:sp>
        <p:sp>
          <p:nvSpPr>
            <p:cNvPr id="25" name="TextBox 25"/>
            <p:cNvSpPr txBox="1"/>
            <p:nvPr/>
          </p:nvSpPr>
          <p:spPr>
            <a:xfrm>
              <a:off x="598932" y="5202555"/>
              <a:ext cx="828902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Clear arithmetic; C++ and RTL can be compared within 3 months.</a:t>
              </a:r>
            </a:p>
          </p:txBody>
        </p:sp>
      </p:grpSp>
      <p:grpSp>
        <p:nvGrpSpPr>
          <p:cNvPr id="28" name="scope-caveat"/>
          <p:cNvGrpSpPr/>
          <p:nvPr/>
        </p:nvGrpSpPr>
        <p:grpSpPr>
          <a:xfrm>
            <a:off x="601218" y="5851208"/>
            <a:ext cx="7354618" cy="589407"/>
            <a:chOff x="601218" y="5851208"/>
            <a:chExt cx="7354618" cy="589407"/>
          </a:xfrm>
        </p:grpSpPr>
        <p:sp>
          <p:nvSpPr>
            <p:cNvPr id="27" name="TextBox 27"/>
            <p:cNvSpPr txBox="1"/>
            <p:nvPr/>
          </p:nvSpPr>
          <p:spPr>
            <a:xfrm>
              <a:off x="601218" y="5851208"/>
              <a:ext cx="7354618"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Core: one variable, fixed coefficients. Add humidity/pressure only if time allows.</a:t>
              </a:r>
              <a:br/>
              <a:r>
                <a:rPr lang="en-US" sz="1650" dirty="0">
                  <a:solidFill>
                    <a:schemeClr val="accent3"/>
                  </a:solidFill>
                  <a:latin typeface="+mn-lt"/>
                  <a:ea typeface="+mn-ea"/>
                  <a:cs typeface="+mn-cs"/>
                </a:rPr>
                <a:t>FPGA is for DSP/RTL practice; no speedup claim for hourly data.</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669604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C++ trains; FPGA forecasts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03 / 15</a:t>
            </a:r>
          </a:p>
        </p:txBody>
      </p:sp>
      <p:grpSp>
        <p:nvGrpSpPr>
          <p:cNvPr id="18" name="offline-flow"/>
          <p:cNvGrpSpPr/>
          <p:nvPr/>
        </p:nvGrpSpPr>
        <p:grpSpPr>
          <a:xfrm>
            <a:off x="609600" y="1504950"/>
            <a:ext cx="10972800" cy="2133600"/>
            <a:chOff x="609600" y="1504950"/>
            <a:chExt cx="10972800" cy="2133600"/>
          </a:xfrm>
        </p:grpSpPr>
        <p:sp>
          <p:nvSpPr>
            <p:cNvPr id="6" name="Rectangle 6"/>
            <p:cNvSpPr/>
            <p:nvPr/>
          </p:nvSpPr>
          <p:spPr>
            <a:xfrm>
              <a:off x="609600" y="1504950"/>
              <a:ext cx="10972800" cy="2133600"/>
            </a:xfrm>
            <a:prstGeom prst="rect">
              <a:avLst/>
            </a:prstGeom>
            <a:solidFill>
              <a:schemeClr val="lt2"/>
            </a:solidFill>
            <a:ln>
              <a:noFill/>
            </a:ln>
          </p:spPr>
        </p:sp>
        <p:sp>
          <p:nvSpPr>
            <p:cNvPr id="7" name="TextBox 7"/>
            <p:cNvSpPr txBox="1"/>
            <p:nvPr/>
          </p:nvSpPr>
          <p:spPr>
            <a:xfrm>
              <a:off x="829818" y="1679258"/>
              <a:ext cx="1529427"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OFFLINE / PC</a:t>
              </a:r>
            </a:p>
          </p:txBody>
        </p:sp>
        <p:grpSp>
          <p:nvGrpSpPr>
            <p:cNvPr id="11" name="Group 11"/>
            <p:cNvGrpSpPr/>
            <p:nvPr/>
          </p:nvGrpSpPr>
          <p:grpSpPr>
            <a:xfrm>
              <a:off x="962025" y="2307431"/>
              <a:ext cx="266700" cy="300038"/>
              <a:chOff x="962025" y="2307431"/>
              <a:chExt cx="266700" cy="300038"/>
            </a:xfrm>
          </p:grpSpPr>
          <p:sp>
            <p:nvSpPr>
              <p:cNvPr id="8" name="Freeform 8"/>
              <p:cNvSpPr/>
              <p:nvPr/>
            </p:nvSpPr>
            <p:spPr>
              <a:xfrm>
                <a:off x="962025" y="230743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1"/>
                </a:solidFill>
              </a:ln>
            </p:spPr>
          </p:sp>
          <p:sp>
            <p:nvSpPr>
              <p:cNvPr id="9" name="Freeform 9"/>
              <p:cNvSpPr/>
              <p:nvPr/>
            </p:nvSpPr>
            <p:spPr>
              <a:xfrm>
                <a:off x="962025" y="235743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sp>
            <p:nvSpPr>
              <p:cNvPr id="10" name="Freeform 10"/>
              <p:cNvSpPr/>
              <p:nvPr/>
            </p:nvSpPr>
            <p:spPr>
              <a:xfrm>
                <a:off x="962025" y="245745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grpSp>
        <p:sp>
          <p:nvSpPr>
            <p:cNvPr id="12" name="TextBox 12"/>
            <p:cNvSpPr txBox="1"/>
            <p:nvPr/>
          </p:nvSpPr>
          <p:spPr>
            <a:xfrm>
              <a:off x="1437132" y="2306955"/>
              <a:ext cx="243208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Temperature CSV</a:t>
              </a:r>
            </a:p>
          </p:txBody>
        </p:sp>
        <p:sp>
          <p:nvSpPr>
            <p:cNvPr id="13" name="Line 13"/>
            <p:cNvSpPr/>
            <p:nvPr/>
          </p:nvSpPr>
          <p:spPr>
            <a:xfrm>
              <a:off x="3276600" y="2419350"/>
              <a:ext cx="742950" cy="1"/>
            </a:xfrm>
            <a:prstGeom prst="line">
              <a:avLst/>
            </a:prstGeom>
            <a:noFill/>
            <a:ln w="19050">
              <a:solidFill>
                <a:schemeClr val="accent1"/>
              </a:solidFill>
              <a:tailEnd type="triangle" w="lg" len="lg"/>
            </a:ln>
          </p:spPr>
        </p:sp>
        <p:sp>
          <p:nvSpPr>
            <p:cNvPr id="14" name="TextBox 14"/>
            <p:cNvSpPr txBox="1"/>
            <p:nvPr/>
          </p:nvSpPr>
          <p:spPr>
            <a:xfrm>
              <a:off x="4294632" y="2306955"/>
              <a:ext cx="168110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 training</a:t>
              </a:r>
            </a:p>
          </p:txBody>
        </p:sp>
        <p:sp>
          <p:nvSpPr>
            <p:cNvPr id="15" name="Line 15"/>
            <p:cNvSpPr/>
            <p:nvPr/>
          </p:nvSpPr>
          <p:spPr>
            <a:xfrm>
              <a:off x="6572250" y="2419350"/>
              <a:ext cx="742950" cy="1"/>
            </a:xfrm>
            <a:prstGeom prst="line">
              <a:avLst/>
            </a:prstGeom>
            <a:noFill/>
            <a:ln w="19050">
              <a:solidFill>
                <a:schemeClr val="accent1"/>
              </a:solidFill>
              <a:tailEnd type="triangle" w="lg" len="lg"/>
            </a:ln>
          </p:spPr>
        </p:sp>
        <p:sp>
          <p:nvSpPr>
            <p:cNvPr id="16" name="TextBox 16"/>
            <p:cNvSpPr txBox="1"/>
            <p:nvPr/>
          </p:nvSpPr>
          <p:spPr>
            <a:xfrm>
              <a:off x="7590282" y="2306955"/>
              <a:ext cx="2528547"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Coefficients a, b, c</a:t>
              </a:r>
            </a:p>
          </p:txBody>
        </p:sp>
        <p:sp>
          <p:nvSpPr>
            <p:cNvPr id="17" name="TextBox 17"/>
            <p:cNvSpPr txBox="1"/>
            <p:nvPr/>
          </p:nvSpPr>
          <p:spPr>
            <a:xfrm>
              <a:off x="829818" y="2984182"/>
              <a:ext cx="7338825"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Clean → baselines → fit coefficients → fixed-point reference + test vectors</a:t>
              </a:r>
            </a:p>
          </p:txBody>
        </p:sp>
      </p:grpSp>
      <p:grpSp>
        <p:nvGrpSpPr>
          <p:cNvPr id="37" name="online-flow"/>
          <p:cNvGrpSpPr/>
          <p:nvPr/>
        </p:nvGrpSpPr>
        <p:grpSpPr>
          <a:xfrm>
            <a:off x="601218" y="4012882"/>
            <a:ext cx="9296341" cy="1427607"/>
            <a:chOff x="601218" y="4012882"/>
            <a:chExt cx="9296341" cy="1427607"/>
          </a:xfrm>
        </p:grpSpPr>
        <p:sp>
          <p:nvSpPr>
            <p:cNvPr id="19" name="TextBox 19"/>
            <p:cNvSpPr txBox="1"/>
            <p:nvPr/>
          </p:nvSpPr>
          <p:spPr>
            <a:xfrm>
              <a:off x="601218" y="4012882"/>
              <a:ext cx="375889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RUNTIME / COEFFICIENTS FIXED</a:t>
              </a:r>
            </a:p>
          </p:txBody>
        </p:sp>
        <p:sp>
          <p:nvSpPr>
            <p:cNvPr id="20" name="TextBox 20"/>
            <p:cNvSpPr txBox="1"/>
            <p:nvPr/>
          </p:nvSpPr>
          <p:spPr>
            <a:xfrm>
              <a:off x="827532" y="4631055"/>
              <a:ext cx="151884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Sample T(t)</a:t>
              </a:r>
            </a:p>
          </p:txBody>
        </p:sp>
        <p:sp>
          <p:nvSpPr>
            <p:cNvPr id="21" name="Line 21"/>
            <p:cNvSpPr/>
            <p:nvPr/>
          </p:nvSpPr>
          <p:spPr>
            <a:xfrm>
              <a:off x="2343150" y="4743450"/>
              <a:ext cx="1619250" cy="1"/>
            </a:xfrm>
            <a:prstGeom prst="line">
              <a:avLst/>
            </a:prstGeom>
            <a:noFill/>
            <a:ln w="19050">
              <a:solidFill>
                <a:schemeClr val="accent1"/>
              </a:solidFill>
              <a:tailEnd type="triangle" w="lg" len="lg"/>
            </a:ln>
          </p:spPr>
        </p:sp>
        <p:grpSp>
          <p:nvGrpSpPr>
            <p:cNvPr id="32" name="Group 32"/>
            <p:cNvGrpSpPr/>
            <p:nvPr/>
          </p:nvGrpSpPr>
          <p:grpSpPr>
            <a:xfrm>
              <a:off x="4395787" y="4567237"/>
              <a:ext cx="314325" cy="314325"/>
              <a:chOff x="4395787" y="4567237"/>
              <a:chExt cx="314325" cy="314325"/>
            </a:xfrm>
          </p:grpSpPr>
          <p:sp>
            <p:nvSpPr>
              <p:cNvPr id="22" name="Freeform 22"/>
              <p:cNvSpPr/>
              <p:nvPr/>
            </p:nvSpPr>
            <p:spPr>
              <a:xfrm>
                <a:off x="4430712" y="4602162"/>
                <a:ext cx="244475" cy="244475"/>
              </a:xfrm>
              <a:custGeom>
                <a:avLst/>
                <a:gdLst/>
                <a:ahLst/>
                <a:cxnLst/>
                <a:rect l="l" t="t" r="r" b="b"/>
                <a:pathLst>
                  <a:path w="244475" h="244475">
                    <a:moveTo>
                      <a:pt x="0" y="17462"/>
                    </a:moveTo>
                    <a:cubicBezTo>
                      <a:pt x="0" y="7818"/>
                      <a:pt x="7818" y="0"/>
                      <a:pt x="17462" y="0"/>
                    </a:cubicBezTo>
                    <a:lnTo>
                      <a:pt x="227012" y="0"/>
                    </a:lnTo>
                    <a:cubicBezTo>
                      <a:pt x="236656" y="0"/>
                      <a:pt x="244475" y="7818"/>
                      <a:pt x="244475" y="17462"/>
                    </a:cubicBezTo>
                    <a:lnTo>
                      <a:pt x="244475" y="227012"/>
                    </a:lnTo>
                    <a:cubicBezTo>
                      <a:pt x="244475" y="236656"/>
                      <a:pt x="236656" y="244475"/>
                      <a:pt x="227012" y="244475"/>
                    </a:cubicBezTo>
                    <a:lnTo>
                      <a:pt x="17462" y="244475"/>
                    </a:lnTo>
                    <a:cubicBezTo>
                      <a:pt x="7818" y="244475"/>
                      <a:pt x="0" y="236656"/>
                      <a:pt x="0" y="227012"/>
                    </a:cubicBezTo>
                    <a:lnTo>
                      <a:pt x="0" y="17462"/>
                    </a:lnTo>
                  </a:path>
                </a:pathLst>
              </a:custGeom>
              <a:noFill/>
              <a:ln w="34925">
                <a:solidFill>
                  <a:schemeClr val="accent1"/>
                </a:solidFill>
              </a:ln>
            </p:spPr>
          </p:sp>
          <p:sp>
            <p:nvSpPr>
              <p:cNvPr id="23" name="Freeform 23"/>
              <p:cNvSpPr/>
              <p:nvPr/>
            </p:nvSpPr>
            <p:spPr>
              <a:xfrm>
                <a:off x="4500562" y="4672012"/>
                <a:ext cx="104775" cy="104775"/>
              </a:xfrm>
              <a:custGeom>
                <a:avLst/>
                <a:gdLst/>
                <a:ahLst/>
                <a:cxnLst/>
                <a:rect l="l" t="t" r="r" b="b"/>
                <a:pathLst>
                  <a:path w="104775" h="104775">
                    <a:moveTo>
                      <a:pt x="0" y="0"/>
                    </a:moveTo>
                    <a:lnTo>
                      <a:pt x="104775" y="0"/>
                    </a:lnTo>
                    <a:lnTo>
                      <a:pt x="104775" y="104775"/>
                    </a:lnTo>
                    <a:lnTo>
                      <a:pt x="0" y="104775"/>
                    </a:lnTo>
                    <a:lnTo>
                      <a:pt x="0" y="0"/>
                    </a:lnTo>
                  </a:path>
                </a:pathLst>
              </a:custGeom>
              <a:noFill/>
              <a:ln w="34925">
                <a:solidFill>
                  <a:schemeClr val="accent1"/>
                </a:solidFill>
              </a:ln>
            </p:spPr>
          </p:sp>
          <p:sp>
            <p:nvSpPr>
              <p:cNvPr id="24" name="Freeform 24"/>
              <p:cNvSpPr/>
              <p:nvPr/>
            </p:nvSpPr>
            <p:spPr>
              <a:xfrm>
                <a:off x="4395787" y="468947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5" name="Freeform 25"/>
              <p:cNvSpPr/>
              <p:nvPr/>
            </p:nvSpPr>
            <p:spPr>
              <a:xfrm>
                <a:off x="4395787" y="475932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6" name="Freeform 26"/>
              <p:cNvSpPr/>
              <p:nvPr/>
            </p:nvSpPr>
            <p:spPr>
              <a:xfrm>
                <a:off x="451802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7" name="Freeform 27"/>
              <p:cNvSpPr/>
              <p:nvPr/>
            </p:nvSpPr>
            <p:spPr>
              <a:xfrm>
                <a:off x="458787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8" name="Freeform 28"/>
              <p:cNvSpPr/>
              <p:nvPr/>
            </p:nvSpPr>
            <p:spPr>
              <a:xfrm>
                <a:off x="4675187" y="468947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29" name="Freeform 29"/>
              <p:cNvSpPr/>
              <p:nvPr/>
            </p:nvSpPr>
            <p:spPr>
              <a:xfrm>
                <a:off x="4675187" y="475932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0" name="Freeform 30"/>
              <p:cNvSpPr/>
              <p:nvPr/>
            </p:nvSpPr>
            <p:spPr>
              <a:xfrm>
                <a:off x="4587875" y="4846637"/>
                <a:ext cx="9525" cy="34925"/>
              </a:xfrm>
              <a:custGeom>
                <a:avLst/>
                <a:gdLst/>
                <a:ahLst/>
                <a:cxnLst/>
                <a:rect l="l" t="t" r="r" b="b"/>
                <a:pathLst>
                  <a:path w="9525" h="34925">
                    <a:moveTo>
                      <a:pt x="0" y="34925"/>
                    </a:moveTo>
                    <a:lnTo>
                      <a:pt x="0" y="0"/>
                    </a:lnTo>
                  </a:path>
                </a:pathLst>
              </a:custGeom>
              <a:noFill/>
              <a:ln w="34925">
                <a:solidFill>
                  <a:schemeClr val="accent1"/>
                </a:solidFill>
              </a:ln>
            </p:spPr>
          </p:sp>
          <p:sp>
            <p:nvSpPr>
              <p:cNvPr id="31" name="Freeform 31"/>
              <p:cNvSpPr/>
              <p:nvPr/>
            </p:nvSpPr>
            <p:spPr>
              <a:xfrm>
                <a:off x="4518025" y="4846637"/>
                <a:ext cx="9525" cy="34925"/>
              </a:xfrm>
              <a:custGeom>
                <a:avLst/>
                <a:gdLst/>
                <a:ahLst/>
                <a:cxnLst/>
                <a:rect l="l" t="t" r="r" b="b"/>
                <a:pathLst>
                  <a:path w="9525" h="34925">
                    <a:moveTo>
                      <a:pt x="0" y="34925"/>
                    </a:moveTo>
                    <a:lnTo>
                      <a:pt x="0" y="0"/>
                    </a:lnTo>
                  </a:path>
                </a:pathLst>
              </a:custGeom>
              <a:noFill/>
              <a:ln w="34925">
                <a:solidFill>
                  <a:schemeClr val="accent1"/>
                </a:solidFill>
              </a:ln>
            </p:spPr>
          </p:sp>
        </p:grpSp>
        <p:sp>
          <p:nvSpPr>
            <p:cNvPr id="33" name="TextBox 33"/>
            <p:cNvSpPr txBox="1"/>
            <p:nvPr/>
          </p:nvSpPr>
          <p:spPr>
            <a:xfrm>
              <a:off x="4980432" y="4631055"/>
              <a:ext cx="85107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FPGA</a:t>
              </a:r>
            </a:p>
          </p:txBody>
        </p:sp>
        <p:sp>
          <p:nvSpPr>
            <p:cNvPr id="34" name="Line 34"/>
            <p:cNvSpPr/>
            <p:nvPr/>
          </p:nvSpPr>
          <p:spPr>
            <a:xfrm>
              <a:off x="6286500" y="4743450"/>
              <a:ext cx="1314450" cy="1"/>
            </a:xfrm>
            <a:prstGeom prst="line">
              <a:avLst/>
            </a:prstGeom>
            <a:noFill/>
            <a:ln w="19050">
              <a:solidFill>
                <a:schemeClr val="accent1"/>
              </a:solidFill>
              <a:tailEnd type="triangle" w="lg" len="lg"/>
            </a:ln>
          </p:spPr>
        </p:sp>
        <p:sp>
          <p:nvSpPr>
            <p:cNvPr id="35" name="TextBox 35"/>
            <p:cNvSpPr txBox="1"/>
            <p:nvPr/>
          </p:nvSpPr>
          <p:spPr>
            <a:xfrm>
              <a:off x="7914132" y="4631055"/>
              <a:ext cx="198342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Forecast T̂(t+3)</a:t>
              </a:r>
            </a:p>
          </p:txBody>
        </p:sp>
        <p:sp>
          <p:nvSpPr>
            <p:cNvPr id="36" name="TextBox 36"/>
            <p:cNvSpPr txBox="1"/>
            <p:nvPr/>
          </p:nvSpPr>
          <p:spPr>
            <a:xfrm>
              <a:off x="4277868" y="5117782"/>
              <a:ext cx="3134996"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Store history · compute · output</a:t>
              </a:r>
            </a:p>
          </p:txBody>
        </p:sp>
      </p:grpSp>
      <p:grpSp>
        <p:nvGrpSpPr>
          <p:cNvPr id="40" name="deliverables"/>
          <p:cNvGrpSpPr/>
          <p:nvPr/>
        </p:nvGrpSpPr>
        <p:grpSpPr>
          <a:xfrm>
            <a:off x="601218" y="5772150"/>
            <a:ext cx="10981182" cy="544639"/>
            <a:chOff x="601218" y="5772150"/>
            <a:chExt cx="10981182" cy="544639"/>
          </a:xfrm>
        </p:grpSpPr>
        <p:sp>
          <p:nvSpPr>
            <p:cNvPr id="38" name="Line 38"/>
            <p:cNvSpPr/>
            <p:nvPr/>
          </p:nvSpPr>
          <p:spPr>
            <a:xfrm>
              <a:off x="609600" y="5772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601218" y="5994082"/>
              <a:ext cx="775154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DELIVERABLES: C++ · RTL · testbench · board demo · error/resource report</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953702"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Four past values, one +3 h target</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04 / 15</a:t>
            </a:r>
          </a:p>
        </p:txBody>
      </p:sp>
      <p:grpSp>
        <p:nvGrpSpPr>
          <p:cNvPr id="8" name="data-source"/>
          <p:cNvGrpSpPr/>
          <p:nvPr/>
        </p:nvGrpSpPr>
        <p:grpSpPr>
          <a:xfrm>
            <a:off x="598932" y="1583055"/>
            <a:ext cx="9599263" cy="790384"/>
            <a:chOff x="598932" y="1583055"/>
            <a:chExt cx="9599263" cy="790384"/>
          </a:xfrm>
        </p:grpSpPr>
        <p:sp>
          <p:nvSpPr>
            <p:cNvPr id="6" name="TextBox 6"/>
            <p:cNvSpPr txBox="1"/>
            <p:nvPr/>
          </p:nvSpPr>
          <p:spPr>
            <a:xfrm>
              <a:off x="598932" y="1583055"/>
              <a:ext cx="599964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Planned source: </a:t>
              </a:r>
              <a:r>
                <a:rPr lang="en-US" sz="2100" b="1" dirty="0">
                  <a:solidFill>
                    <a:schemeClr val="dk1"/>
                  </a:solidFill>
                  <a:latin typeface="+mn-lt"/>
                  <a:ea typeface="+mn-ea"/>
                  <a:cs typeface="+mn-cs"/>
                </a:rPr>
                <a:t>NASA POWER • hourly T2M</a:t>
              </a:r>
            </a:p>
          </p:txBody>
        </p:sp>
        <p:sp>
          <p:nvSpPr>
            <p:cNvPr id="7" name="TextBox 7"/>
            <p:cNvSpPr txBox="1"/>
            <p:nvPr/>
          </p:nvSpPr>
          <p:spPr>
            <a:xfrm>
              <a:off x="601218" y="2050732"/>
              <a:ext cx="9596977"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Gridded data; location and date range TBD. Check missing/duplicate hours, time zone, and units.</a:t>
              </a:r>
            </a:p>
          </p:txBody>
        </p:sp>
      </p:grpSp>
      <p:grpSp>
        <p:nvGrpSpPr>
          <p:cNvPr id="21" name="time-stops"/>
          <p:cNvGrpSpPr/>
          <p:nvPr/>
        </p:nvGrpSpPr>
        <p:grpSpPr>
          <a:xfrm>
            <a:off x="609600" y="2667000"/>
            <a:ext cx="10439400" cy="1504950"/>
            <a:chOff x="609600" y="2667000"/>
            <a:chExt cx="10439400" cy="1504950"/>
          </a:xfrm>
        </p:grpSpPr>
        <p:sp>
          <p:nvSpPr>
            <p:cNvPr id="9" name="Rectangle 9"/>
            <p:cNvSpPr/>
            <p:nvPr/>
          </p:nvSpPr>
          <p:spPr>
            <a:xfrm>
              <a:off x="609600" y="2667000"/>
              <a:ext cx="8096250" cy="1504950"/>
            </a:xfrm>
            <a:prstGeom prst="rect">
              <a:avLst/>
            </a:prstGeom>
            <a:solidFill>
              <a:schemeClr val="lt2"/>
            </a:solidFill>
            <a:ln>
              <a:noFill/>
            </a:ln>
          </p:spPr>
        </p:sp>
        <p:sp>
          <p:nvSpPr>
            <p:cNvPr id="10" name="Line 10"/>
            <p:cNvSpPr/>
            <p:nvPr/>
          </p:nvSpPr>
          <p:spPr>
            <a:xfrm>
              <a:off x="1143000" y="3219450"/>
              <a:ext cx="9906000" cy="9525"/>
            </a:xfrm>
            <a:custGeom>
              <a:avLst/>
              <a:gdLst/>
              <a:ahLst/>
              <a:cxnLst/>
              <a:rect l="l" t="t" r="r" b="b"/>
              <a:pathLst>
                <a:path w="9906000" h="9525">
                  <a:moveTo>
                    <a:pt x="0" y="0"/>
                  </a:moveTo>
                  <a:lnTo>
                    <a:pt x="9906000" y="0"/>
                  </a:lnTo>
                </a:path>
              </a:pathLst>
            </a:custGeom>
            <a:noFill/>
            <a:ln w="19050">
              <a:solidFill>
                <a:schemeClr val="accent3"/>
              </a:solidFill>
            </a:ln>
          </p:spPr>
        </p:sp>
        <p:sp>
          <p:nvSpPr>
            <p:cNvPr id="11" name="Ellipse 11"/>
            <p:cNvSpPr/>
            <p:nvPr/>
          </p:nvSpPr>
          <p:spPr>
            <a:xfrm>
              <a:off x="1219200" y="3143250"/>
              <a:ext cx="152400" cy="152400"/>
            </a:xfrm>
            <a:prstGeom prst="ellipse">
              <a:avLst/>
            </a:prstGeom>
            <a:solidFill>
              <a:schemeClr val="accent3"/>
            </a:solidFill>
            <a:ln>
              <a:noFill/>
            </a:ln>
          </p:spPr>
        </p:sp>
        <p:sp>
          <p:nvSpPr>
            <p:cNvPr id="12" name="Ellipse 12"/>
            <p:cNvSpPr/>
            <p:nvPr/>
          </p:nvSpPr>
          <p:spPr>
            <a:xfrm>
              <a:off x="3238500" y="3143250"/>
              <a:ext cx="152400" cy="152400"/>
            </a:xfrm>
            <a:prstGeom prst="ellipse">
              <a:avLst/>
            </a:prstGeom>
            <a:solidFill>
              <a:schemeClr val="accent3"/>
            </a:solidFill>
            <a:ln>
              <a:noFill/>
            </a:ln>
          </p:spPr>
        </p:sp>
        <p:sp>
          <p:nvSpPr>
            <p:cNvPr id="13" name="Ellipse 13"/>
            <p:cNvSpPr/>
            <p:nvPr/>
          </p:nvSpPr>
          <p:spPr>
            <a:xfrm>
              <a:off x="5257800" y="3143250"/>
              <a:ext cx="152400" cy="152400"/>
            </a:xfrm>
            <a:prstGeom prst="ellipse">
              <a:avLst/>
            </a:prstGeom>
            <a:solidFill>
              <a:schemeClr val="accent3"/>
            </a:solidFill>
            <a:ln>
              <a:noFill/>
            </a:ln>
          </p:spPr>
        </p:sp>
        <p:sp>
          <p:nvSpPr>
            <p:cNvPr id="14" name="Ellipse 14"/>
            <p:cNvSpPr/>
            <p:nvPr/>
          </p:nvSpPr>
          <p:spPr>
            <a:xfrm>
              <a:off x="7581900" y="3105150"/>
              <a:ext cx="228600" cy="228600"/>
            </a:xfrm>
            <a:prstGeom prst="ellipse">
              <a:avLst/>
            </a:prstGeom>
            <a:solidFill>
              <a:schemeClr val="accent1"/>
            </a:solidFill>
            <a:ln>
              <a:noFill/>
            </a:ln>
          </p:spPr>
        </p:sp>
        <p:sp>
          <p:nvSpPr>
            <p:cNvPr id="15" name="Ellipse 15"/>
            <p:cNvSpPr/>
            <p:nvPr/>
          </p:nvSpPr>
          <p:spPr>
            <a:xfrm>
              <a:off x="10363200" y="3105150"/>
              <a:ext cx="228600" cy="228600"/>
            </a:xfrm>
            <a:prstGeom prst="ellipse">
              <a:avLst/>
            </a:prstGeom>
            <a:solidFill>
              <a:schemeClr val="lt1"/>
            </a:solidFill>
            <a:ln w="28575">
              <a:solidFill>
                <a:schemeClr val="accent1"/>
              </a:solidFill>
            </a:ln>
          </p:spPr>
        </p:sp>
        <p:sp>
          <p:nvSpPr>
            <p:cNvPr id="16" name="TextBox 16"/>
            <p:cNvSpPr txBox="1"/>
            <p:nvPr/>
          </p:nvSpPr>
          <p:spPr>
            <a:xfrm>
              <a:off x="996734" y="3570922"/>
              <a:ext cx="59733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t−24</a:t>
              </a:r>
            </a:p>
          </p:txBody>
        </p:sp>
        <p:sp>
          <p:nvSpPr>
            <p:cNvPr id="17" name="TextBox 17"/>
            <p:cNvSpPr txBox="1"/>
            <p:nvPr/>
          </p:nvSpPr>
          <p:spPr>
            <a:xfrm>
              <a:off x="3016034" y="3570922"/>
              <a:ext cx="59733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t−21</a:t>
              </a:r>
            </a:p>
          </p:txBody>
        </p:sp>
        <p:sp>
          <p:nvSpPr>
            <p:cNvPr id="18" name="TextBox 18"/>
            <p:cNvSpPr txBox="1"/>
            <p:nvPr/>
          </p:nvSpPr>
          <p:spPr>
            <a:xfrm>
              <a:off x="5107524" y="3570922"/>
              <a:ext cx="45295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t−3</a:t>
              </a:r>
            </a:p>
          </p:txBody>
        </p:sp>
        <p:sp>
          <p:nvSpPr>
            <p:cNvPr id="19" name="TextBox 19"/>
            <p:cNvSpPr txBox="1"/>
            <p:nvPr/>
          </p:nvSpPr>
          <p:spPr>
            <a:xfrm>
              <a:off x="7614104" y="3570922"/>
              <a:ext cx="164192" cy="381381"/>
            </a:xfrm>
            <a:prstGeom prst="rect">
              <a:avLst/>
            </a:prstGeom>
            <a:noFill/>
            <a:ln>
              <a:noFill/>
            </a:ln>
          </p:spPr>
          <p:txBody>
            <a:bodyPr wrap="none" lIns="0" tIns="0" rIns="0" bIns="0" anchor="t" anchorCtr="0">
              <a:spAutoFit/>
            </a:bodyPr>
            <a:lstStyle/>
            <a:p>
              <a:pPr algn="ctr"/>
              <a:r>
                <a:rPr lang="en-US" sz="1950" dirty="0">
                  <a:solidFill>
                    <a:schemeClr val="accent2"/>
                  </a:solidFill>
                  <a:latin typeface="Consolas"/>
                  <a:ea typeface="Consolas"/>
                  <a:cs typeface="Consolas"/>
                </a:rPr>
                <a:t>t</a:t>
              </a:r>
            </a:p>
          </p:txBody>
        </p:sp>
        <p:sp>
          <p:nvSpPr>
            <p:cNvPr id="20" name="TextBox 20"/>
            <p:cNvSpPr txBox="1"/>
            <p:nvPr/>
          </p:nvSpPr>
          <p:spPr>
            <a:xfrm>
              <a:off x="10251024" y="3570922"/>
              <a:ext cx="452952" cy="381381"/>
            </a:xfrm>
            <a:prstGeom prst="rect">
              <a:avLst/>
            </a:prstGeom>
            <a:noFill/>
            <a:ln>
              <a:noFill/>
            </a:ln>
          </p:spPr>
          <p:txBody>
            <a:bodyPr wrap="none" lIns="0" tIns="0" rIns="0" bIns="0" anchor="t" anchorCtr="0">
              <a:spAutoFit/>
            </a:bodyPr>
            <a:lstStyle/>
            <a:p>
              <a:pPr algn="ctr"/>
              <a:r>
                <a:rPr lang="en-US" sz="1950" dirty="0">
                  <a:solidFill>
                    <a:schemeClr val="accent2"/>
                  </a:solidFill>
                  <a:latin typeface="Consolas"/>
                  <a:ea typeface="Consolas"/>
                  <a:cs typeface="Consolas"/>
                </a:rPr>
                <a:t>t+3</a:t>
              </a:r>
            </a:p>
          </p:txBody>
        </p:sp>
      </p:grpSp>
      <p:grpSp>
        <p:nvGrpSpPr>
          <p:cNvPr id="24" name="same-hour"/>
          <p:cNvGrpSpPr/>
          <p:nvPr/>
        </p:nvGrpSpPr>
        <p:grpSpPr>
          <a:xfrm>
            <a:off x="595122" y="4416742"/>
            <a:ext cx="6382379" cy="967931"/>
            <a:chOff x="595122" y="4416742"/>
            <a:chExt cx="6382379" cy="967931"/>
          </a:xfrm>
        </p:grpSpPr>
        <p:sp>
          <p:nvSpPr>
            <p:cNvPr id="22" name="TextBox 22"/>
            <p:cNvSpPr txBox="1"/>
            <p:nvPr/>
          </p:nvSpPr>
          <p:spPr>
            <a:xfrm>
              <a:off x="595122" y="4416742"/>
              <a:ext cx="3100364"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t + 3 − 24 = t − 21</a:t>
              </a:r>
            </a:p>
          </p:txBody>
        </p:sp>
        <p:sp>
          <p:nvSpPr>
            <p:cNvPr id="23" name="TextBox 23"/>
            <p:cNvSpPr txBox="1"/>
            <p:nvPr/>
          </p:nvSpPr>
          <p:spPr>
            <a:xfrm>
              <a:off x="598932" y="4973955"/>
              <a:ext cx="637856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t−21 is the same hour on the day before the target.</a:t>
              </a:r>
            </a:p>
          </p:txBody>
        </p:sp>
      </p:grpSp>
      <p:grpSp>
        <p:nvGrpSpPr>
          <p:cNvPr id="26" name="causality"/>
          <p:cNvGrpSpPr/>
          <p:nvPr/>
        </p:nvGrpSpPr>
        <p:grpSpPr>
          <a:xfrm>
            <a:off x="601218" y="5603558"/>
            <a:ext cx="7605450" cy="589407"/>
            <a:chOff x="601218" y="5603558"/>
            <a:chExt cx="7605450" cy="589407"/>
          </a:xfrm>
        </p:grpSpPr>
        <p:sp>
          <p:nvSpPr>
            <p:cNvPr id="25" name="TextBox 25"/>
            <p:cNvSpPr txBox="1"/>
            <p:nvPr/>
          </p:nvSpPr>
          <p:spPr>
            <a:xfrm>
              <a:off x="601218" y="5603558"/>
              <a:ext cx="7605450"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Keep 25 consecutive samples. FPGA sees data through t; T(t+3) is for evaluation.</a:t>
              </a:r>
              <a:br/>
              <a:r>
                <a:rPr lang="en-US" sz="1650" dirty="0">
                  <a:solidFill>
                    <a:schemeClr val="accent3"/>
                  </a:solidFill>
                  <a:latin typeface="+mn-lt"/>
                  <a:ea typeface="+mn-ea"/>
                  <a:cs typeface="+mn-cs"/>
                </a:rPr>
                <a:t>Timeline shows order, not time intervals to scale.</a:t>
              </a:r>
            </a:p>
          </p:txBody>
        </p:sp>
      </p:grpSp>
      <p:grpSp>
        <p:nvGrpSpPr>
          <p:cNvPr id="28" name="source-link"/>
          <p:cNvGrpSpPr/>
          <p:nvPr/>
        </p:nvGrpSpPr>
        <p:grpSpPr>
          <a:xfrm>
            <a:off x="603504" y="6337935"/>
            <a:ext cx="4494653" cy="234696"/>
            <a:chOff x="603504" y="6337935"/>
            <a:chExt cx="4494653" cy="234696"/>
          </a:xfrm>
        </p:grpSpPr>
        <p:sp>
          <p:nvSpPr>
            <p:cNvPr id="27" name="TextBox 27">
              <a:hlinkClick r:id="rId2"/>
            </p:cNvPr>
            <p:cNvSpPr txBox="1"/>
            <p:nvPr/>
          </p:nvSpPr>
          <p:spPr>
            <a:xfrm>
              <a:off x="603504" y="6337935"/>
              <a:ext cx="4494653"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Planned source: NASA POWER — hourly API documentation</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8554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A linear model from past values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05 / 15</a:t>
            </a:r>
          </a:p>
        </p:txBody>
      </p:sp>
      <p:grpSp>
        <p:nvGrpSpPr>
          <p:cNvPr id="9" name="forecast-equation"/>
          <p:cNvGrpSpPr/>
          <p:nvPr/>
        </p:nvGrpSpPr>
        <p:grpSpPr>
          <a:xfrm>
            <a:off x="609600" y="1485900"/>
            <a:ext cx="10972800" cy="1600200"/>
            <a:chOff x="609600" y="1485900"/>
            <a:chExt cx="10972800" cy="1600200"/>
          </a:xfrm>
        </p:grpSpPr>
        <p:sp>
          <p:nvSpPr>
            <p:cNvPr id="6" name="Rectangle 6"/>
            <p:cNvSpPr/>
            <p:nvPr/>
          </p:nvSpPr>
          <p:spPr>
            <a:xfrm>
              <a:off x="609600" y="1485900"/>
              <a:ext cx="10972800" cy="1600200"/>
            </a:xfrm>
            <a:prstGeom prst="rect">
              <a:avLst/>
            </a:prstGeom>
            <a:solidFill>
              <a:schemeClr val="lt2"/>
            </a:solidFill>
            <a:ln>
              <a:noFill/>
            </a:ln>
          </p:spPr>
        </p:sp>
        <p:sp>
          <p:nvSpPr>
            <p:cNvPr id="7" name="TextBox 7"/>
            <p:cNvSpPr txBox="1"/>
            <p:nvPr/>
          </p:nvSpPr>
          <p:spPr>
            <a:xfrm>
              <a:off x="861822" y="1749742"/>
              <a:ext cx="5951396"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T̂(t+3) = T(t−21) + a[T(t)−T(t−24)]</a:t>
              </a:r>
            </a:p>
          </p:txBody>
        </p:sp>
        <p:sp>
          <p:nvSpPr>
            <p:cNvPr id="8" name="TextBox 8"/>
            <p:cNvSpPr txBox="1"/>
            <p:nvPr/>
          </p:nvSpPr>
          <p:spPr>
            <a:xfrm>
              <a:off x="2662047" y="2359342"/>
              <a:ext cx="3460407"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 b[T(t)−T(t−3)] + c</a:t>
              </a:r>
            </a:p>
          </p:txBody>
        </p:sp>
      </p:grpSp>
      <p:grpSp>
        <p:nvGrpSpPr>
          <p:cNvPr id="13" name="seasonal-base"/>
          <p:cNvGrpSpPr/>
          <p:nvPr/>
        </p:nvGrpSpPr>
        <p:grpSpPr>
          <a:xfrm>
            <a:off x="598170" y="3467100"/>
            <a:ext cx="3211830" cy="1498473"/>
            <a:chOff x="598170" y="3467100"/>
            <a:chExt cx="3211830" cy="1498473"/>
          </a:xfrm>
        </p:grpSpPr>
        <p:sp>
          <p:nvSpPr>
            <p:cNvPr id="10" name="Line 10"/>
            <p:cNvSpPr/>
            <p:nvPr/>
          </p:nvSpPr>
          <p:spPr>
            <a:xfrm>
              <a:off x="6096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1" name="TextBox 11"/>
            <p:cNvSpPr txBox="1"/>
            <p:nvPr/>
          </p:nvSpPr>
          <p:spPr>
            <a:xfrm>
              <a:off x="598170" y="3690938"/>
              <a:ext cx="105263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T(t−21)</a:t>
              </a:r>
            </a:p>
          </p:txBody>
        </p:sp>
        <p:sp>
          <p:nvSpPr>
            <p:cNvPr id="12" name="TextBox 12"/>
            <p:cNvSpPr txBox="1"/>
            <p:nvPr/>
          </p:nvSpPr>
          <p:spPr>
            <a:xfrm>
              <a:off x="598932" y="4192905"/>
              <a:ext cx="234920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Same-hour anchor</a:t>
              </a:r>
              <a:br/>
              <a:r>
                <a:rPr lang="en-US" sz="2100" dirty="0">
                  <a:solidFill>
                    <a:schemeClr val="dk1"/>
                  </a:solidFill>
                  <a:latin typeface="+mn-lt"/>
                  <a:ea typeface="+mn-ea"/>
                  <a:cs typeface="+mn-cs"/>
                </a:rPr>
                <a:t>on the previous day</a:t>
              </a:r>
            </a:p>
          </p:txBody>
        </p:sp>
      </p:grpSp>
      <p:grpSp>
        <p:nvGrpSpPr>
          <p:cNvPr id="17" name="day-difference"/>
          <p:cNvGrpSpPr/>
          <p:nvPr/>
        </p:nvGrpSpPr>
        <p:grpSpPr>
          <a:xfrm>
            <a:off x="4255770" y="3467100"/>
            <a:ext cx="3211830" cy="1498473"/>
            <a:chOff x="4255770" y="3467100"/>
            <a:chExt cx="3211830" cy="1498473"/>
          </a:xfrm>
        </p:grpSpPr>
        <p:sp>
          <p:nvSpPr>
            <p:cNvPr id="14" name="Line 14"/>
            <p:cNvSpPr/>
            <p:nvPr/>
          </p:nvSpPr>
          <p:spPr>
            <a:xfrm>
              <a:off x="42672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5" name="TextBox 15"/>
            <p:cNvSpPr txBox="1"/>
            <p:nvPr/>
          </p:nvSpPr>
          <p:spPr>
            <a:xfrm>
              <a:off x="4255770" y="3690938"/>
              <a:ext cx="210508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a[T(t)−T(t−24)]</a:t>
              </a:r>
            </a:p>
          </p:txBody>
        </p:sp>
        <p:sp>
          <p:nvSpPr>
            <p:cNvPr id="16" name="TextBox 16"/>
            <p:cNvSpPr txBox="1"/>
            <p:nvPr/>
          </p:nvSpPr>
          <p:spPr>
            <a:xfrm>
              <a:off x="4256532" y="4192905"/>
              <a:ext cx="297114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Correction for day-to-day</a:t>
              </a:r>
              <a:br/>
              <a:r>
                <a:rPr lang="en-US" sz="2100" dirty="0">
                  <a:solidFill>
                    <a:schemeClr val="dk1"/>
                  </a:solidFill>
                  <a:latin typeface="+mn-lt"/>
                  <a:ea typeface="+mn-ea"/>
                  <a:cs typeface="+mn-cs"/>
                </a:rPr>
                <a:t>difference</a:t>
              </a:r>
            </a:p>
          </p:txBody>
        </p:sp>
      </p:grpSp>
      <p:grpSp>
        <p:nvGrpSpPr>
          <p:cNvPr id="21" name="recent-trend"/>
          <p:cNvGrpSpPr/>
          <p:nvPr/>
        </p:nvGrpSpPr>
        <p:grpSpPr>
          <a:xfrm>
            <a:off x="7913370" y="3467100"/>
            <a:ext cx="3669030" cy="1498473"/>
            <a:chOff x="7913370" y="3467100"/>
            <a:chExt cx="3669030" cy="1498473"/>
          </a:xfrm>
        </p:grpSpPr>
        <p:sp>
          <p:nvSpPr>
            <p:cNvPr id="18" name="Line 18"/>
            <p:cNvSpPr/>
            <p:nvPr/>
          </p:nvSpPr>
          <p:spPr>
            <a:xfrm>
              <a:off x="7924800" y="3467100"/>
              <a:ext cx="3657600" cy="9525"/>
            </a:xfrm>
            <a:custGeom>
              <a:avLst/>
              <a:gdLst/>
              <a:ahLst/>
              <a:cxnLst/>
              <a:rect l="l" t="t" r="r" b="b"/>
              <a:pathLst>
                <a:path w="3657600" h="9525">
                  <a:moveTo>
                    <a:pt x="0" y="0"/>
                  </a:moveTo>
                  <a:lnTo>
                    <a:pt x="3657600" y="0"/>
                  </a:lnTo>
                </a:path>
              </a:pathLst>
            </a:custGeom>
            <a:noFill/>
            <a:ln w="28575">
              <a:solidFill>
                <a:schemeClr val="accent1"/>
              </a:solidFill>
            </a:ln>
          </p:spPr>
        </p:sp>
        <p:sp>
          <p:nvSpPr>
            <p:cNvPr id="19" name="TextBox 19"/>
            <p:cNvSpPr txBox="1"/>
            <p:nvPr/>
          </p:nvSpPr>
          <p:spPr>
            <a:xfrm>
              <a:off x="7913370" y="3690938"/>
              <a:ext cx="194971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b[T(t)−T(t−3)]</a:t>
              </a:r>
            </a:p>
          </p:txBody>
        </p:sp>
        <p:sp>
          <p:nvSpPr>
            <p:cNvPr id="20" name="TextBox 20"/>
            <p:cNvSpPr txBox="1"/>
            <p:nvPr/>
          </p:nvSpPr>
          <p:spPr>
            <a:xfrm>
              <a:off x="7914132" y="4192905"/>
              <a:ext cx="2452306"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Correction for recent</a:t>
              </a:r>
              <a:br/>
              <a:r>
                <a:rPr lang="en-US" sz="2100" dirty="0">
                  <a:solidFill>
                    <a:schemeClr val="dk1"/>
                  </a:solidFill>
                  <a:latin typeface="+mn-lt"/>
                  <a:ea typeface="+mn-ea"/>
                  <a:cs typeface="+mn-cs"/>
                </a:rPr>
                <a:t>3-hour change</a:t>
              </a:r>
            </a:p>
          </p:txBody>
        </p:sp>
      </p:grpSp>
      <p:grpSp>
        <p:nvGrpSpPr>
          <p:cNvPr id="23" name="coefficient-contract"/>
          <p:cNvGrpSpPr/>
          <p:nvPr/>
        </p:nvGrpSpPr>
        <p:grpSpPr>
          <a:xfrm>
            <a:off x="601218" y="5708332"/>
            <a:ext cx="6877347" cy="627507"/>
            <a:chOff x="601218" y="5708332"/>
            <a:chExt cx="6877347" cy="627507"/>
          </a:xfrm>
        </p:grpSpPr>
        <p:sp>
          <p:nvSpPr>
            <p:cNvPr id="22" name="TextBox 22"/>
            <p:cNvSpPr txBox="1"/>
            <p:nvPr/>
          </p:nvSpPr>
          <p:spPr>
            <a:xfrm>
              <a:off x="601218" y="5708332"/>
              <a:ext cx="68773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 is a constant offset. C++ fits a, b, c offline; FPGA uses them unchanged.</a:t>
              </a:r>
              <a:br/>
              <a:r>
                <a:rPr lang="en-US" sz="1650" dirty="0">
                  <a:solidFill>
                    <a:schemeClr val="accent3"/>
                  </a:solidFill>
                  <a:latin typeface="+mn-lt"/>
                  <a:ea typeface="+mn-ea"/>
                  <a:cs typeface="+mn-cs"/>
                </a:rPr>
                <a:t>Proposed model only; no fitted coefficients or measured results yet.</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85615"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How is one forecast computed?</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06 / 15</a:t>
            </a:r>
          </a:p>
        </p:txBody>
      </p:sp>
      <p:grpSp>
        <p:nvGrpSpPr>
          <p:cNvPr id="7" name="scenario-notice"/>
          <p:cNvGrpSpPr/>
          <p:nvPr/>
        </p:nvGrpSpPr>
        <p:grpSpPr>
          <a:xfrm>
            <a:off x="601218" y="1612582"/>
            <a:ext cx="7038302" cy="322707"/>
            <a:chOff x="601218" y="1612582"/>
            <a:chExt cx="7038302" cy="322707"/>
          </a:xfrm>
        </p:grpSpPr>
        <p:sp>
          <p:nvSpPr>
            <p:cNvPr id="6" name="TextBox 6"/>
            <p:cNvSpPr txBox="1"/>
            <p:nvPr/>
          </p:nvSpPr>
          <p:spPr>
            <a:xfrm>
              <a:off x="601218" y="1612582"/>
              <a:ext cx="703830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ILLUSTRATIVE EXAMPLE — values below are not measured results.</a:t>
              </a:r>
            </a:p>
          </p:txBody>
        </p:sp>
      </p:grpSp>
      <p:grpSp>
        <p:nvGrpSpPr>
          <p:cNvPr id="11" name="given-values"/>
          <p:cNvGrpSpPr/>
          <p:nvPr/>
        </p:nvGrpSpPr>
        <p:grpSpPr>
          <a:xfrm>
            <a:off x="609600" y="2190750"/>
            <a:ext cx="10972800" cy="1257300"/>
            <a:chOff x="609600" y="2190750"/>
            <a:chExt cx="10972800" cy="1257300"/>
          </a:xfrm>
        </p:grpSpPr>
        <p:sp>
          <p:nvSpPr>
            <p:cNvPr id="8" name="Rectangle 8"/>
            <p:cNvSpPr/>
            <p:nvPr/>
          </p:nvSpPr>
          <p:spPr>
            <a:xfrm>
              <a:off x="609600" y="2190750"/>
              <a:ext cx="10972800" cy="1257300"/>
            </a:xfrm>
            <a:prstGeom prst="rect">
              <a:avLst/>
            </a:prstGeom>
            <a:solidFill>
              <a:schemeClr val="lt2"/>
            </a:solidFill>
            <a:ln>
              <a:noFill/>
            </a:ln>
          </p:spPr>
        </p:sp>
        <p:sp>
          <p:nvSpPr>
            <p:cNvPr id="9" name="TextBox 9"/>
            <p:cNvSpPr txBox="1"/>
            <p:nvPr/>
          </p:nvSpPr>
          <p:spPr>
            <a:xfrm>
              <a:off x="866394" y="2456498"/>
              <a:ext cx="7061740"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T(t−24)=19°C T(t−21)=21°C T(t−3)=18°C T(t)=20°C</a:t>
              </a:r>
            </a:p>
          </p:txBody>
        </p:sp>
        <p:sp>
          <p:nvSpPr>
            <p:cNvPr id="10" name="TextBox 10"/>
            <p:cNvSpPr txBox="1"/>
            <p:nvPr/>
          </p:nvSpPr>
          <p:spPr>
            <a:xfrm>
              <a:off x="865632" y="2916555"/>
              <a:ext cx="5796360"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Example coefficients: a = 0.5; b = 0.2; c = 0°C</a:t>
              </a:r>
            </a:p>
          </p:txBody>
        </p:sp>
      </p:grpSp>
      <p:grpSp>
        <p:nvGrpSpPr>
          <p:cNvPr id="15" name="forecast-equation"/>
          <p:cNvGrpSpPr/>
          <p:nvPr/>
        </p:nvGrpSpPr>
        <p:grpSpPr>
          <a:xfrm>
            <a:off x="595122" y="3826192"/>
            <a:ext cx="9267481" cy="1734503"/>
            <a:chOff x="595122" y="3826192"/>
            <a:chExt cx="9267481" cy="1734503"/>
          </a:xfrm>
        </p:grpSpPr>
        <p:sp>
          <p:nvSpPr>
            <p:cNvPr id="12" name="TextBox 12"/>
            <p:cNvSpPr txBox="1"/>
            <p:nvPr/>
          </p:nvSpPr>
          <p:spPr>
            <a:xfrm>
              <a:off x="595122" y="3826192"/>
              <a:ext cx="5937735" cy="557403"/>
            </a:xfrm>
            <a:prstGeom prst="rect">
              <a:avLst/>
            </a:prstGeom>
            <a:noFill/>
            <a:ln>
              <a:noFill/>
            </a:ln>
          </p:spPr>
          <p:txBody>
            <a:bodyPr wrap="none" lIns="0" tIns="0" rIns="0" bIns="0" anchor="t" anchorCtr="0">
              <a:spAutoFit/>
            </a:bodyPr>
            <a:lstStyle/>
            <a:p>
              <a:pPr algn="l"/>
              <a:r>
                <a:rPr lang="en-US" sz="2850" dirty="0">
                  <a:solidFill>
                    <a:schemeClr val="dk1"/>
                  </a:solidFill>
                  <a:latin typeface="+mn-lt"/>
                  <a:ea typeface="+mn-ea"/>
                  <a:cs typeface="+mn-cs"/>
                </a:rPr>
                <a:t>21 + 0.5 × (20−19) + 0.2 × (20−18)</a:t>
              </a:r>
            </a:p>
          </p:txBody>
        </p:sp>
        <p:sp>
          <p:nvSpPr>
            <p:cNvPr id="13" name="TextBox 13"/>
            <p:cNvSpPr txBox="1"/>
            <p:nvPr/>
          </p:nvSpPr>
          <p:spPr>
            <a:xfrm>
              <a:off x="595122" y="4645342"/>
              <a:ext cx="2727593" cy="557403"/>
            </a:xfrm>
            <a:prstGeom prst="rect">
              <a:avLst/>
            </a:prstGeom>
            <a:noFill/>
            <a:ln>
              <a:noFill/>
            </a:ln>
          </p:spPr>
          <p:txBody>
            <a:bodyPr wrap="none" lIns="0" tIns="0" rIns="0" bIns="0" anchor="t" anchorCtr="0">
              <a:spAutoFit/>
            </a:bodyPr>
            <a:lstStyle/>
            <a:p>
              <a:pPr algn="l"/>
              <a:r>
                <a:rPr lang="en-US" sz="2850" dirty="0">
                  <a:solidFill>
                    <a:schemeClr val="dk1"/>
                  </a:solidFill>
                  <a:latin typeface="+mn-lt"/>
                  <a:ea typeface="+mn-ea"/>
                  <a:cs typeface="+mn-cs"/>
                </a:rPr>
                <a:t>= 21 + 0.5 + 0.4</a:t>
              </a:r>
            </a:p>
          </p:txBody>
        </p:sp>
        <p:sp>
          <p:nvSpPr>
            <p:cNvPr id="14" name="TextBox 14"/>
            <p:cNvSpPr txBox="1"/>
            <p:nvPr/>
          </p:nvSpPr>
          <p:spPr>
            <a:xfrm>
              <a:off x="7467600" y="4512945"/>
              <a:ext cx="2395003" cy="1047750"/>
            </a:xfrm>
            <a:prstGeom prst="rect">
              <a:avLst/>
            </a:prstGeom>
            <a:noFill/>
            <a:ln>
              <a:noFill/>
            </a:ln>
          </p:spPr>
          <p:txBody>
            <a:bodyPr wrap="none" lIns="0" tIns="0" rIns="0" bIns="0" anchor="t" anchorCtr="0">
              <a:spAutoFit/>
            </a:bodyPr>
            <a:lstStyle/>
            <a:p>
              <a:pPr algn="l"/>
              <a:r>
                <a:rPr lang="en-US" sz="5400" b="1" dirty="0">
                  <a:solidFill>
                    <a:schemeClr val="accent2"/>
                  </a:solidFill>
                  <a:latin typeface="+mn-lt"/>
                  <a:ea typeface="+mn-ea"/>
                  <a:cs typeface="+mn-cs"/>
                </a:rPr>
                <a:t>21.9°C</a:t>
              </a:r>
            </a:p>
          </p:txBody>
        </p:sp>
      </p:grpSp>
      <p:grpSp>
        <p:nvGrpSpPr>
          <p:cNvPr id="17" name="operation-takeaway"/>
          <p:cNvGrpSpPr/>
          <p:nvPr/>
        </p:nvGrpSpPr>
        <p:grpSpPr>
          <a:xfrm>
            <a:off x="598170" y="5881688"/>
            <a:ext cx="6849368" cy="440055"/>
            <a:chOff x="598170" y="5881688"/>
            <a:chExt cx="6849368" cy="440055"/>
          </a:xfrm>
        </p:grpSpPr>
        <p:sp>
          <p:nvSpPr>
            <p:cNvPr id="16" name="TextBox 16"/>
            <p:cNvSpPr txBox="1"/>
            <p:nvPr/>
          </p:nvSpPr>
          <p:spPr>
            <a:xfrm>
              <a:off x="598170" y="5881688"/>
              <a:ext cx="6849368"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 xml:space="preserve">Hardware operations: </a:t>
              </a:r>
              <a:r>
                <a:rPr lang="en-US" sz="2250" b="1" dirty="0">
                  <a:solidFill>
                    <a:schemeClr val="dk1"/>
                  </a:solidFill>
                  <a:latin typeface="+mn-lt"/>
                  <a:ea typeface="+mn-ea"/>
                  <a:cs typeface="+mn-cs"/>
                </a:rPr>
                <a:t>subtract → multiply → add</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524586"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Train on the past, test on the future</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07 / 15</a:t>
            </a:r>
          </a:p>
        </p:txBody>
      </p:sp>
      <p:grpSp>
        <p:nvGrpSpPr>
          <p:cNvPr id="17" name="regression-inputs"/>
          <p:cNvGrpSpPr/>
          <p:nvPr/>
        </p:nvGrpSpPr>
        <p:grpSpPr>
          <a:xfrm>
            <a:off x="609600" y="1447800"/>
            <a:ext cx="10972800" cy="1581150"/>
            <a:chOff x="609600" y="1447800"/>
            <a:chExt cx="10972800" cy="1581150"/>
          </a:xfrm>
        </p:grpSpPr>
        <p:sp>
          <p:nvSpPr>
            <p:cNvPr id="6" name="Rectangle 6"/>
            <p:cNvSpPr/>
            <p:nvPr/>
          </p:nvSpPr>
          <p:spPr>
            <a:xfrm>
              <a:off x="609600" y="1447800"/>
              <a:ext cx="10972800" cy="1581150"/>
            </a:xfrm>
            <a:prstGeom prst="rect">
              <a:avLst/>
            </a:prstGeom>
            <a:solidFill>
              <a:schemeClr val="lt2"/>
            </a:solidFill>
            <a:ln>
              <a:noFill/>
            </a:ln>
          </p:spPr>
        </p:sp>
        <p:sp>
          <p:nvSpPr>
            <p:cNvPr id="7" name="TextBox 7"/>
            <p:cNvSpPr txBox="1"/>
            <p:nvPr/>
          </p:nvSpPr>
          <p:spPr>
            <a:xfrm>
              <a:off x="828294" y="1646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x₁ =</a:t>
              </a:r>
            </a:p>
          </p:txBody>
        </p:sp>
        <p:sp>
          <p:nvSpPr>
            <p:cNvPr id="8" name="TextBox 8"/>
            <p:cNvSpPr txBox="1"/>
            <p:nvPr/>
          </p:nvSpPr>
          <p:spPr>
            <a:xfrm>
              <a:off x="1609344" y="1646872"/>
              <a:ext cx="1801406"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T(t)−T(t−24)</a:t>
              </a:r>
            </a:p>
          </p:txBody>
        </p:sp>
        <p:sp>
          <p:nvSpPr>
            <p:cNvPr id="9" name="TextBox 9"/>
            <p:cNvSpPr txBox="1"/>
            <p:nvPr/>
          </p:nvSpPr>
          <p:spPr>
            <a:xfrm>
              <a:off x="6181344" y="1646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x₂ =</a:t>
              </a:r>
            </a:p>
          </p:txBody>
        </p:sp>
        <p:sp>
          <p:nvSpPr>
            <p:cNvPr id="10" name="TextBox 10"/>
            <p:cNvSpPr txBox="1"/>
            <p:nvPr/>
          </p:nvSpPr>
          <p:spPr>
            <a:xfrm>
              <a:off x="6962394" y="1646872"/>
              <a:ext cx="1652940"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T(t)−T(t−3)</a:t>
              </a:r>
            </a:p>
          </p:txBody>
        </p:sp>
        <p:sp>
          <p:nvSpPr>
            <p:cNvPr id="11" name="TextBox 11"/>
            <p:cNvSpPr txBox="1"/>
            <p:nvPr/>
          </p:nvSpPr>
          <p:spPr>
            <a:xfrm>
              <a:off x="828294" y="2170748"/>
              <a:ext cx="45295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y =</a:t>
              </a:r>
            </a:p>
          </p:txBody>
        </p:sp>
        <p:sp>
          <p:nvSpPr>
            <p:cNvPr id="12" name="TextBox 12"/>
            <p:cNvSpPr txBox="1"/>
            <p:nvPr/>
          </p:nvSpPr>
          <p:spPr>
            <a:xfrm>
              <a:off x="1609344" y="2170748"/>
              <a:ext cx="2098338"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T(t+3)−T(t−21)</a:t>
              </a:r>
            </a:p>
          </p:txBody>
        </p:sp>
        <p:sp>
          <p:nvSpPr>
            <p:cNvPr id="13" name="TextBox 13"/>
            <p:cNvSpPr txBox="1"/>
            <p:nvPr/>
          </p:nvSpPr>
          <p:spPr>
            <a:xfrm>
              <a:off x="6182106" y="2186940"/>
              <a:ext cx="68465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Consolas"/>
                  <a:ea typeface="Consolas"/>
                  <a:cs typeface="Consolas"/>
                </a:rPr>
                <a:t>y≈ax₁</a:t>
              </a:r>
            </a:p>
          </p:txBody>
        </p:sp>
        <p:sp>
          <p:nvSpPr>
            <p:cNvPr id="14" name="TextBox 14"/>
            <p:cNvSpPr txBox="1"/>
            <p:nvPr/>
          </p:nvSpPr>
          <p:spPr>
            <a:xfrm>
              <a:off x="7277481" y="2186940"/>
              <a:ext cx="55138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Consolas"/>
                  <a:ea typeface="Consolas"/>
                  <a:cs typeface="Consolas"/>
                </a:rPr>
                <a:t>+bx₂</a:t>
              </a:r>
            </a:p>
          </p:txBody>
        </p:sp>
        <p:sp>
          <p:nvSpPr>
            <p:cNvPr id="15" name="TextBox 15"/>
            <p:cNvSpPr txBox="1"/>
            <p:nvPr/>
          </p:nvSpPr>
          <p:spPr>
            <a:xfrm>
              <a:off x="8277606" y="2186940"/>
              <a:ext cx="28483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Consolas"/>
                  <a:ea typeface="Consolas"/>
                  <a:cs typeface="Consolas"/>
                </a:rPr>
                <a:t>+c</a:t>
              </a:r>
            </a:p>
          </p:txBody>
        </p:sp>
        <p:sp>
          <p:nvSpPr>
            <p:cNvPr id="16" name="TextBox 16"/>
            <p:cNvSpPr txBox="1"/>
            <p:nvPr/>
          </p:nvSpPr>
          <p:spPr>
            <a:xfrm>
              <a:off x="827532" y="2602230"/>
              <a:ext cx="407006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 fits a, b, c by least squares.</a:t>
              </a:r>
            </a:p>
          </p:txBody>
        </p:sp>
      </p:grpSp>
      <p:grpSp>
        <p:nvGrpSpPr>
          <p:cNvPr id="21" name="train-stage"/>
          <p:cNvGrpSpPr/>
          <p:nvPr/>
        </p:nvGrpSpPr>
        <p:grpSpPr>
          <a:xfrm>
            <a:off x="598170" y="3390900"/>
            <a:ext cx="3307080" cy="1469898"/>
            <a:chOff x="598170" y="3390900"/>
            <a:chExt cx="3307080" cy="1469898"/>
          </a:xfrm>
        </p:grpSpPr>
        <p:sp>
          <p:nvSpPr>
            <p:cNvPr id="18" name="Line 18"/>
            <p:cNvSpPr/>
            <p:nvPr/>
          </p:nvSpPr>
          <p:spPr>
            <a:xfrm>
              <a:off x="609600" y="3390900"/>
              <a:ext cx="3295650" cy="9525"/>
            </a:xfrm>
            <a:custGeom>
              <a:avLst/>
              <a:gdLst/>
              <a:ahLst/>
              <a:cxnLst/>
              <a:rect l="l" t="t" r="r" b="b"/>
              <a:pathLst>
                <a:path w="3295650" h="9525">
                  <a:moveTo>
                    <a:pt x="0" y="0"/>
                  </a:moveTo>
                  <a:lnTo>
                    <a:pt x="3295650" y="0"/>
                  </a:lnTo>
                </a:path>
              </a:pathLst>
            </a:custGeom>
            <a:noFill/>
            <a:ln w="38100">
              <a:solidFill>
                <a:schemeClr val="accent1"/>
              </a:solidFill>
            </a:ln>
          </p:spPr>
        </p:sp>
        <p:sp>
          <p:nvSpPr>
            <p:cNvPr id="19" name="TextBox 19"/>
            <p:cNvSpPr txBox="1"/>
            <p:nvPr/>
          </p:nvSpPr>
          <p:spPr>
            <a:xfrm>
              <a:off x="598170" y="3586162"/>
              <a:ext cx="144556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TRAIN</a:t>
              </a:r>
            </a:p>
          </p:txBody>
        </p:sp>
        <p:sp>
          <p:nvSpPr>
            <p:cNvPr id="20" name="TextBox 20"/>
            <p:cNvSpPr txBox="1"/>
            <p:nvPr/>
          </p:nvSpPr>
          <p:spPr>
            <a:xfrm>
              <a:off x="598932" y="4088130"/>
              <a:ext cx="1726456"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Fit coefficients</a:t>
              </a:r>
              <a:br/>
              <a:r>
                <a:rPr lang="en-US" sz="2100" dirty="0">
                  <a:solidFill>
                    <a:schemeClr val="dk1"/>
                  </a:solidFill>
                  <a:latin typeface="+mn-lt"/>
                  <a:ea typeface="+mn-ea"/>
                  <a:cs typeface="+mn-cs"/>
                </a:rPr>
                <a:t>on earlier data</a:t>
              </a:r>
            </a:p>
          </p:txBody>
        </p:sp>
      </p:grpSp>
      <p:grpSp>
        <p:nvGrpSpPr>
          <p:cNvPr id="25" name="validation-stage"/>
          <p:cNvGrpSpPr/>
          <p:nvPr/>
        </p:nvGrpSpPr>
        <p:grpSpPr>
          <a:xfrm>
            <a:off x="4408170" y="3390900"/>
            <a:ext cx="3307080" cy="1469898"/>
            <a:chOff x="4408170" y="3390900"/>
            <a:chExt cx="3307080" cy="1469898"/>
          </a:xfrm>
        </p:grpSpPr>
        <p:sp>
          <p:nvSpPr>
            <p:cNvPr id="22" name="Line 22"/>
            <p:cNvSpPr/>
            <p:nvPr/>
          </p:nvSpPr>
          <p:spPr>
            <a:xfrm>
              <a:off x="4419600" y="3390900"/>
              <a:ext cx="3295650" cy="9525"/>
            </a:xfrm>
            <a:custGeom>
              <a:avLst/>
              <a:gdLst/>
              <a:ahLst/>
              <a:cxnLst/>
              <a:rect l="l" t="t" r="r" b="b"/>
              <a:pathLst>
                <a:path w="3295650" h="9525">
                  <a:moveTo>
                    <a:pt x="0" y="0"/>
                  </a:moveTo>
                  <a:lnTo>
                    <a:pt x="3295650" y="0"/>
                  </a:lnTo>
                </a:path>
              </a:pathLst>
            </a:custGeom>
            <a:noFill/>
            <a:ln w="38100">
              <a:solidFill>
                <a:schemeClr val="accent3"/>
              </a:solidFill>
            </a:ln>
          </p:spPr>
        </p:sp>
        <p:sp>
          <p:nvSpPr>
            <p:cNvPr id="23" name="TextBox 23"/>
            <p:cNvSpPr txBox="1"/>
            <p:nvPr/>
          </p:nvSpPr>
          <p:spPr>
            <a:xfrm>
              <a:off x="4408170" y="3586162"/>
              <a:ext cx="24234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VALIDATION</a:t>
              </a:r>
            </a:p>
          </p:txBody>
        </p:sp>
        <p:sp>
          <p:nvSpPr>
            <p:cNvPr id="24" name="TextBox 24"/>
            <p:cNvSpPr txBox="1"/>
            <p:nvPr/>
          </p:nvSpPr>
          <p:spPr>
            <a:xfrm>
              <a:off x="4408932" y="4088130"/>
              <a:ext cx="180038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Select features</a:t>
              </a:r>
              <a:br/>
              <a:r>
                <a:rPr lang="en-US" sz="2100" dirty="0">
                  <a:solidFill>
                    <a:schemeClr val="dk1"/>
                  </a:solidFill>
                  <a:latin typeface="+mn-lt"/>
                  <a:ea typeface="+mn-ea"/>
                  <a:cs typeface="+mn-cs"/>
                </a:rPr>
                <a:t>and settings</a:t>
              </a:r>
            </a:p>
          </p:txBody>
        </p:sp>
      </p:grpSp>
      <p:grpSp>
        <p:nvGrpSpPr>
          <p:cNvPr id="29" name="test-stage"/>
          <p:cNvGrpSpPr/>
          <p:nvPr/>
        </p:nvGrpSpPr>
        <p:grpSpPr>
          <a:xfrm>
            <a:off x="8218170" y="3390900"/>
            <a:ext cx="3364230" cy="1469898"/>
            <a:chOff x="8218170" y="3390900"/>
            <a:chExt cx="3364230" cy="1469898"/>
          </a:xfrm>
        </p:grpSpPr>
        <p:sp>
          <p:nvSpPr>
            <p:cNvPr id="26" name="Line 26"/>
            <p:cNvSpPr/>
            <p:nvPr/>
          </p:nvSpPr>
          <p:spPr>
            <a:xfrm>
              <a:off x="8229600" y="3390900"/>
              <a:ext cx="3352800" cy="9525"/>
            </a:xfrm>
            <a:custGeom>
              <a:avLst/>
              <a:gdLst/>
              <a:ahLst/>
              <a:cxnLst/>
              <a:rect l="l" t="t" r="r" b="b"/>
              <a:pathLst>
                <a:path w="3352800" h="9525">
                  <a:moveTo>
                    <a:pt x="0" y="0"/>
                  </a:moveTo>
                  <a:lnTo>
                    <a:pt x="3352800" y="0"/>
                  </a:lnTo>
                </a:path>
              </a:pathLst>
            </a:custGeom>
            <a:noFill/>
            <a:ln w="38100">
              <a:solidFill>
                <a:schemeClr val="accent2"/>
              </a:solidFill>
            </a:ln>
          </p:spPr>
        </p:sp>
        <p:sp>
          <p:nvSpPr>
            <p:cNvPr id="27" name="TextBox 27"/>
            <p:cNvSpPr txBox="1"/>
            <p:nvPr/>
          </p:nvSpPr>
          <p:spPr>
            <a:xfrm>
              <a:off x="8218170" y="3586162"/>
              <a:ext cx="128567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03 TEST</a:t>
              </a:r>
            </a:p>
          </p:txBody>
        </p:sp>
        <p:sp>
          <p:nvSpPr>
            <p:cNvPr id="28" name="TextBox 28"/>
            <p:cNvSpPr txBox="1"/>
            <p:nvPr/>
          </p:nvSpPr>
          <p:spPr>
            <a:xfrm>
              <a:off x="8218932" y="4088130"/>
              <a:ext cx="1889516"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Final evaluation</a:t>
              </a:r>
              <a:br/>
              <a:r>
                <a:rPr lang="en-US" sz="2100" dirty="0">
                  <a:solidFill>
                    <a:schemeClr val="dk1"/>
                  </a:solidFill>
                  <a:latin typeface="+mn-lt"/>
                  <a:ea typeface="+mn-ea"/>
                  <a:cs typeface="+mn-cs"/>
                </a:rPr>
                <a:t>on later data</a:t>
              </a:r>
            </a:p>
          </p:txBody>
        </p:sp>
      </p:grpSp>
      <p:grpSp>
        <p:nvGrpSpPr>
          <p:cNvPr id="31" name="split-contract"/>
          <p:cNvGrpSpPr/>
          <p:nvPr/>
        </p:nvGrpSpPr>
        <p:grpSpPr>
          <a:xfrm>
            <a:off x="601218" y="5289232"/>
            <a:ext cx="7553062" cy="646557"/>
            <a:chOff x="601218" y="5289232"/>
            <a:chExt cx="7553062" cy="646557"/>
          </a:xfrm>
        </p:grpSpPr>
        <p:sp>
          <p:nvSpPr>
            <p:cNvPr id="30" name="TextBox 30"/>
            <p:cNvSpPr txBox="1"/>
            <p:nvPr/>
          </p:nvSpPr>
          <p:spPr>
            <a:xfrm>
              <a:off x="601218" y="5289232"/>
              <a:ext cx="7553062" cy="646557"/>
            </a:xfrm>
            <a:prstGeom prst="rect">
              <a:avLst/>
            </a:prstGeom>
            <a:noFill/>
            <a:ln>
              <a:noFill/>
            </a:ln>
          </p:spPr>
          <p:txBody>
            <a:bodyPr wrap="none" lIns="0" tIns="0" rIns="0" bIns="0" anchor="t" anchorCtr="0">
              <a:spAutoFit/>
            </a:bodyPr>
            <a:lstStyle/>
            <a:p>
              <a:pPr algn="l">
                <a:lnSpc>
                  <a:spcPts val="2550"/>
                </a:lnSpc>
              </a:pPr>
              <a:r>
                <a:rPr lang="en-US" sz="1650" dirty="0">
                  <a:solidFill>
                    <a:schemeClr val="accent3"/>
                  </a:solidFill>
                  <a:latin typeface="+mn-lt"/>
                  <a:ea typeface="+mn-ea"/>
                  <a:cs typeface="+mn-cs"/>
                </a:rPr>
                <a:t>Training labels cannot cross into validation/test; observed history remains usable.</a:t>
              </a:r>
              <a:br/>
              <a:r>
                <a:rPr lang="en-US" sz="1650" dirty="0">
                  <a:solidFill>
                    <a:schemeClr val="accent3"/>
                  </a:solidFill>
                  <a:latin typeface="+mn-lt"/>
                  <a:ea typeface="+mn-ea"/>
                  <a:cs typeface="+mn-cs"/>
                </a:rPr>
                <a:t>Split chronologically; ratios TBD. C++ may use Eigen for least squares.</a:t>
              </a:r>
            </a:p>
          </p:txBody>
        </p:sp>
      </p:grpSp>
      <p:grpSp>
        <p:nvGrpSpPr>
          <p:cNvPr id="33" name="training-source"/>
          <p:cNvGrpSpPr/>
          <p:nvPr/>
        </p:nvGrpSpPr>
        <p:grpSpPr>
          <a:xfrm>
            <a:off x="603504" y="6356985"/>
            <a:ext cx="5225909" cy="234696"/>
            <a:chOff x="603504" y="6356985"/>
            <a:chExt cx="5225909" cy="234696"/>
          </a:xfrm>
        </p:grpSpPr>
        <p:sp>
          <p:nvSpPr>
            <p:cNvPr id="32" name="TextBox 32">
              <a:hlinkClick r:id="rId2"/>
            </p:cNvPr>
            <p:cNvSpPr txBox="1"/>
            <p:nvPr/>
          </p:nvSpPr>
          <p:spPr>
            <a:xfrm>
              <a:off x="603504" y="6356985"/>
              <a:ext cx="5225909"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Implementation reference: Eigen — Solving linear least squares systems</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765569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Two evaluations, two questions</a:t>
            </a:r>
          </a:p>
        </p:txBody>
      </p:sp>
      <p:sp>
        <p:nvSpPr>
          <p:cNvPr id="7" name="comparison-left-title-slot Placeholder Carrier"/>
          <p:cNvSpPr txBox="1"/>
          <p:nvPr>
            <p:ph type="body" idx="1"/>
          </p:nvPr>
        </p:nvSpPr>
        <p:spPr>
          <a:xfrm>
            <a:off x="826770" y="1795462"/>
            <a:ext cx="4467896" cy="440055"/>
          </a:xfrm>
          <a:prstGeom prst="rect">
            <a:avLst/>
          </a:prstGeom>
          <a:noFill/>
          <a:ln>
            <a:noFill/>
          </a:ln>
        </p:spPr>
        <p:txBody>
          <a:bodyPr wrap="none" lIns="0" tIns="0" rIns="0" bIns="0" anchor="t" anchorCtr="0">
            <a:spAutoFit/>
          </a:bodyPr>
          <a:lstStyle/>
          <a:p>
            <a:pPr algn="l" marL="0" indent="0">
              <a:buNone/>
            </a:pPr>
            <a:r>
              <a:rPr lang="en-US" sz="2250" b="1" dirty="0">
                <a:solidFill>
                  <a:schemeClr val="accent2"/>
                </a:solidFill>
                <a:latin typeface="+mn-lt"/>
                <a:ea typeface="+mn-ea"/>
                <a:cs typeface="+mn-cs"/>
              </a:rPr>
              <a:t>IS THE FORECAST USEFUL?</a:t>
            </a:r>
          </a:p>
        </p:txBody>
      </p:sp>
      <p:sp>
        <p:nvSpPr>
          <p:cNvPr id="8" name="comparison-right-title-slot Placeholder Carrier"/>
          <p:cNvSpPr txBox="1"/>
          <p:nvPr>
            <p:ph type="body" idx="3"/>
          </p:nvPr>
        </p:nvSpPr>
        <p:spPr>
          <a:xfrm>
            <a:off x="6541770" y="1795462"/>
            <a:ext cx="3791971" cy="440055"/>
          </a:xfrm>
          <a:prstGeom prst="rect">
            <a:avLst/>
          </a:prstGeom>
          <a:noFill/>
          <a:ln>
            <a:noFill/>
          </a:ln>
        </p:spPr>
        <p:txBody>
          <a:bodyPr wrap="none" lIns="0" tIns="0" rIns="0" bIns="0" anchor="t" anchorCtr="0">
            <a:spAutoFit/>
          </a:bodyPr>
          <a:lstStyle/>
          <a:p>
            <a:pPr algn="l" marL="0" indent="0">
              <a:buNone/>
            </a:pPr>
            <a:r>
              <a:rPr lang="en-US" sz="2250" b="1" dirty="0">
                <a:solidFill>
                  <a:schemeClr val="accent2"/>
                </a:solidFill>
                <a:latin typeface="+mn-lt"/>
                <a:ea typeface="+mn-ea"/>
                <a:cs typeface="+mn-cs"/>
              </a:rPr>
              <a:t>HARDWARE CORRECT?</a:t>
            </a:r>
          </a:p>
        </p:txBody>
      </p:sp>
      <p:grpSp>
        <p:nvGrpSpPr>
          <p:cNvPr id="17" name="comparison-left-content-slot Proxy Content"/>
          <p:cNvGrpSpPr/>
          <p:nvPr/>
        </p:nvGrpSpPr>
        <p:grpSpPr>
          <a:xfrm>
            <a:off x="826770" y="2459355"/>
            <a:ext cx="4735830" cy="3457384"/>
            <a:chOff x="826770" y="2459355"/>
            <a:chExt cx="4735830" cy="3457384"/>
          </a:xfrm>
        </p:grpSpPr>
        <p:sp>
          <p:nvSpPr>
            <p:cNvPr id="9" name="TextBox 9"/>
            <p:cNvSpPr txBox="1"/>
            <p:nvPr/>
          </p:nvSpPr>
          <p:spPr>
            <a:xfrm>
              <a:off x="827532" y="2459355"/>
              <a:ext cx="414755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Compare on the same test set:</a:t>
              </a:r>
            </a:p>
          </p:txBody>
        </p:sp>
        <p:sp>
          <p:nvSpPr>
            <p:cNvPr id="10" name="TextBox 10"/>
            <p:cNvSpPr txBox="1"/>
            <p:nvPr/>
          </p:nvSpPr>
          <p:spPr>
            <a:xfrm>
              <a:off x="827532" y="2907030"/>
              <a:ext cx="233355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Current value: T(t)</a:t>
              </a:r>
            </a:p>
          </p:txBody>
        </p:sp>
        <p:sp>
          <p:nvSpPr>
            <p:cNvPr id="11" name="TextBox 11"/>
            <p:cNvSpPr txBox="1"/>
            <p:nvPr/>
          </p:nvSpPr>
          <p:spPr>
            <a:xfrm>
              <a:off x="827532" y="3326130"/>
              <a:ext cx="3807031"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Same hour yesterday: T(t−21)</a:t>
              </a:r>
            </a:p>
          </p:txBody>
        </p:sp>
        <p:sp>
          <p:nvSpPr>
            <p:cNvPr id="12" name="TextBox 12"/>
            <p:cNvSpPr txBox="1"/>
            <p:nvPr/>
          </p:nvSpPr>
          <p:spPr>
            <a:xfrm>
              <a:off x="827532" y="3745230"/>
              <a:ext cx="208910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Proposed model</a:t>
              </a:r>
            </a:p>
          </p:txBody>
        </p:sp>
        <p:sp>
          <p:nvSpPr>
            <p:cNvPr id="13" name="Line 13"/>
            <p:cNvSpPr/>
            <p:nvPr/>
          </p:nvSpPr>
          <p:spPr>
            <a:xfrm>
              <a:off x="838200" y="42576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4" name="TextBox 14"/>
            <p:cNvSpPr txBox="1"/>
            <p:nvPr/>
          </p:nvSpPr>
          <p:spPr>
            <a:xfrm>
              <a:off x="826770" y="4386262"/>
              <a:ext cx="139522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MAE (°C)</a:t>
              </a:r>
            </a:p>
          </p:txBody>
        </p:sp>
        <p:sp>
          <p:nvSpPr>
            <p:cNvPr id="15" name="TextBox 15"/>
            <p:cNvSpPr txBox="1"/>
            <p:nvPr/>
          </p:nvSpPr>
          <p:spPr>
            <a:xfrm>
              <a:off x="829818" y="4832032"/>
              <a:ext cx="219512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Mean absolute forecast</a:t>
              </a:r>
              <a:br/>
              <a:r>
                <a:rPr lang="en-US" sz="1650" dirty="0">
                  <a:solidFill>
                    <a:schemeClr val="accent3"/>
                  </a:solidFill>
                  <a:latin typeface="+mn-lt"/>
                  <a:ea typeface="+mn-ea"/>
                  <a:cs typeface="+mn-cs"/>
                </a:rPr>
                <a:t>error.</a:t>
              </a:r>
            </a:p>
          </p:txBody>
        </p:sp>
        <p:sp>
          <p:nvSpPr>
            <p:cNvPr id="16" name="TextBox 16"/>
            <p:cNvSpPr txBox="1"/>
            <p:nvPr/>
          </p:nvSpPr>
          <p:spPr>
            <a:xfrm>
              <a:off x="829818" y="5594032"/>
              <a:ext cx="1443093"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No results yet.</a:t>
              </a:r>
            </a:p>
          </p:txBody>
        </p:sp>
      </p:grpSp>
      <p:grpSp>
        <p:nvGrpSpPr>
          <p:cNvPr id="25" name="comparison-right-content-slot Proxy Content"/>
          <p:cNvGrpSpPr/>
          <p:nvPr/>
        </p:nvGrpSpPr>
        <p:grpSpPr>
          <a:xfrm>
            <a:off x="6542532" y="2459355"/>
            <a:ext cx="3273922" cy="3447859"/>
            <a:chOff x="6542532" y="2459355"/>
            <a:chExt cx="3273922" cy="3447859"/>
          </a:xfrm>
        </p:grpSpPr>
        <p:sp>
          <p:nvSpPr>
            <p:cNvPr id="18" name="TextBox 18"/>
            <p:cNvSpPr txBox="1"/>
            <p:nvPr/>
          </p:nvSpPr>
          <p:spPr>
            <a:xfrm>
              <a:off x="6542532" y="2459355"/>
              <a:ext cx="180624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Float ↔ fixed</a:t>
              </a:r>
            </a:p>
          </p:txBody>
        </p:sp>
        <p:sp>
          <p:nvSpPr>
            <p:cNvPr id="19" name="TextBox 19"/>
            <p:cNvSpPr txBox="1"/>
            <p:nvPr/>
          </p:nvSpPr>
          <p:spPr>
            <a:xfrm>
              <a:off x="6544818" y="2879408"/>
              <a:ext cx="2739513"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Measure quantization error.</a:t>
              </a:r>
            </a:p>
          </p:txBody>
        </p:sp>
        <p:sp>
          <p:nvSpPr>
            <p:cNvPr id="20" name="TextBox 20"/>
            <p:cNvSpPr txBox="1"/>
            <p:nvPr/>
          </p:nvSpPr>
          <p:spPr>
            <a:xfrm>
              <a:off x="6542532" y="3402330"/>
              <a:ext cx="305202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RTL ↔ fixed reference</a:t>
              </a:r>
            </a:p>
          </p:txBody>
        </p:sp>
        <p:sp>
          <p:nvSpPr>
            <p:cNvPr id="21" name="TextBox 21"/>
            <p:cNvSpPr txBox="1"/>
            <p:nvPr/>
          </p:nvSpPr>
          <p:spPr>
            <a:xfrm>
              <a:off x="6544818" y="3822382"/>
              <a:ext cx="312223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Bit-exact with valid and latency.</a:t>
              </a:r>
            </a:p>
          </p:txBody>
        </p:sp>
        <p:sp>
          <p:nvSpPr>
            <p:cNvPr id="22" name="TextBox 22"/>
            <p:cNvSpPr txBox="1"/>
            <p:nvPr/>
          </p:nvSpPr>
          <p:spPr>
            <a:xfrm>
              <a:off x="6542532" y="4345305"/>
              <a:ext cx="327392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LUT / FF / DSP / latency</a:t>
              </a:r>
            </a:p>
          </p:txBody>
        </p:sp>
        <p:sp>
          <p:nvSpPr>
            <p:cNvPr id="23" name="TextBox 23"/>
            <p:cNvSpPr txBox="1"/>
            <p:nvPr/>
          </p:nvSpPr>
          <p:spPr>
            <a:xfrm>
              <a:off x="6544818" y="4765358"/>
              <a:ext cx="230674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From synthesis results.</a:t>
              </a:r>
            </a:p>
          </p:txBody>
        </p:sp>
        <p:sp>
          <p:nvSpPr>
            <p:cNvPr id="24" name="TextBox 24"/>
            <p:cNvSpPr txBox="1"/>
            <p:nvPr/>
          </p:nvSpPr>
          <p:spPr>
            <a:xfrm>
              <a:off x="6544818" y="5308282"/>
              <a:ext cx="2031671" cy="598932"/>
            </a:xfrm>
            <a:prstGeom prst="rect">
              <a:avLst/>
            </a:prstGeom>
            <a:noFill/>
            <a:ln>
              <a:noFill/>
            </a:ln>
          </p:spPr>
          <p:txBody>
            <a:bodyPr wrap="none" lIns="0" tIns="0" rIns="0" bIns="0" anchor="t" anchorCtr="0">
              <a:spAutoFit/>
            </a:bodyPr>
            <a:lstStyle/>
            <a:p>
              <a:pPr algn="l">
                <a:lnSpc>
                  <a:spcPts val="2175"/>
                </a:lnSpc>
              </a:pPr>
              <a:r>
                <a:rPr lang="en-US" sz="1650" dirty="0">
                  <a:solidFill>
                    <a:schemeClr val="accent3"/>
                  </a:solidFill>
                  <a:latin typeface="+mn-lt"/>
                  <a:ea typeface="+mn-ea"/>
                  <a:cs typeface="+mn-cs"/>
                </a:rPr>
                <a:t>Error limits will be</a:t>
              </a:r>
              <a:br/>
              <a:r>
                <a:rPr lang="en-US" sz="1650" dirty="0">
                  <a:solidFill>
                    <a:schemeClr val="accent3"/>
                  </a:solidFill>
                  <a:latin typeface="+mn-lt"/>
                  <a:ea typeface="+mn-ea"/>
                  <a:cs typeface="+mn-cs"/>
                </a:rPr>
                <a:t>set after experiments.</a:t>
              </a:r>
            </a:p>
          </p:txBody>
        </p:sp>
      </p:grpSp>
      <p:sp>
        <p:nvSpPr>
          <p:cNvPr id="2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08 / 15</a:t>
            </a:r>
          </a:p>
        </p:txBody>
      </p:sp>
      <p:grpSp>
        <p:nvGrpSpPr>
          <p:cNvPr id="28" name="baseline-source"/>
          <p:cNvGrpSpPr/>
          <p:nvPr/>
        </p:nvGrpSpPr>
        <p:grpSpPr>
          <a:xfrm>
            <a:off x="603504" y="6356985"/>
            <a:ext cx="6294994" cy="234696"/>
            <a:chOff x="603504" y="6356985"/>
            <a:chExt cx="6294994" cy="234696"/>
          </a:xfrm>
        </p:grpSpPr>
        <p:sp>
          <p:nvSpPr>
            <p:cNvPr id="27" name="TextBox 27">
              <a:hlinkClick r:id="rId2"/>
            </p:cNvPr>
            <p:cNvSpPr txBox="1"/>
            <p:nvPr/>
          </p:nvSpPr>
          <p:spPr>
            <a:xfrm>
              <a:off x="603504" y="6356985"/>
              <a:ext cx="6294994"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Baseline reference: Forecasting: Principles and Practice — Simple forecasting methods</a:t>
              </a:r>
            </a:p>
          </p:txBody>
        </p:sp>
      </p:grpSp>
      <p:sp>
        <p:nvSpPr>
          <p:cNvPr id="29" name="Placeholder Binding obj 2" hidden="1"/>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4" hidden="1"/>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665634"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Fixed-point starts with value ranges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09 / 15</a:t>
            </a:r>
          </a:p>
        </p:txBody>
      </p:sp>
      <p:grpSp>
        <p:nvGrpSpPr>
          <p:cNvPr id="9" name="float-anchor"/>
          <p:cNvGrpSpPr/>
          <p:nvPr/>
        </p:nvGrpSpPr>
        <p:grpSpPr>
          <a:xfrm>
            <a:off x="609600" y="1581150"/>
            <a:ext cx="3162300" cy="1543050"/>
            <a:chOff x="609600" y="1581150"/>
            <a:chExt cx="3162300" cy="1543050"/>
          </a:xfrm>
        </p:grpSpPr>
        <p:sp>
          <p:nvSpPr>
            <p:cNvPr id="6" name="Rectangle 6"/>
            <p:cNvSpPr/>
            <p:nvPr/>
          </p:nvSpPr>
          <p:spPr>
            <a:xfrm>
              <a:off x="609600" y="1581150"/>
              <a:ext cx="3162300" cy="1543050"/>
            </a:xfrm>
            <a:prstGeom prst="rect">
              <a:avLst/>
            </a:prstGeom>
            <a:solidFill>
              <a:schemeClr val="lt2"/>
            </a:solidFill>
            <a:ln>
              <a:noFill/>
            </a:ln>
          </p:spPr>
        </p:sp>
        <p:sp>
          <p:nvSpPr>
            <p:cNvPr id="7" name="TextBox 7"/>
            <p:cNvSpPr txBox="1"/>
            <p:nvPr/>
          </p:nvSpPr>
          <p:spPr>
            <a:xfrm>
              <a:off x="826770" y="1766888"/>
              <a:ext cx="178320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 FLOAT</a:t>
              </a:r>
            </a:p>
          </p:txBody>
        </p:sp>
        <p:sp>
          <p:nvSpPr>
            <p:cNvPr id="8" name="TextBox 8"/>
            <p:cNvSpPr txBox="1"/>
            <p:nvPr/>
          </p:nvSpPr>
          <p:spPr>
            <a:xfrm>
              <a:off x="827532" y="2259330"/>
              <a:ext cx="114809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Model's</a:t>
              </a:r>
              <a:br/>
              <a:r>
                <a:rPr lang="en-US" sz="2100" dirty="0">
                  <a:solidFill>
                    <a:schemeClr val="dk1"/>
                  </a:solidFill>
                  <a:latin typeface="+mn-lt"/>
                  <a:ea typeface="+mn-ea"/>
                  <a:cs typeface="+mn-cs"/>
                </a:rPr>
                <a:t>reference</a:t>
              </a:r>
            </a:p>
          </p:txBody>
        </p:sp>
      </p:grpSp>
      <p:grpSp>
        <p:nvGrpSpPr>
          <p:cNvPr id="13" name="range-decision"/>
          <p:cNvGrpSpPr/>
          <p:nvPr/>
        </p:nvGrpSpPr>
        <p:grpSpPr>
          <a:xfrm>
            <a:off x="4179570" y="1766888"/>
            <a:ext cx="5922907" cy="1282827"/>
            <a:chOff x="4179570" y="1766888"/>
            <a:chExt cx="5922907" cy="1282827"/>
          </a:xfrm>
        </p:grpSpPr>
        <p:sp>
          <p:nvSpPr>
            <p:cNvPr id="10" name="TextBox 10"/>
            <p:cNvSpPr txBox="1"/>
            <p:nvPr/>
          </p:nvSpPr>
          <p:spPr>
            <a:xfrm>
              <a:off x="4179570" y="1766888"/>
              <a:ext cx="560602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ANALYZE BEFORE CHOOSING BITS</a:t>
              </a:r>
            </a:p>
          </p:txBody>
        </p:sp>
        <p:sp>
          <p:nvSpPr>
            <p:cNvPr id="11" name="TextBox 11"/>
            <p:cNvSpPr txBox="1"/>
            <p:nvPr/>
          </p:nvSpPr>
          <p:spPr>
            <a:xfrm>
              <a:off x="4180332" y="2259330"/>
              <a:ext cx="5922145"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Temperature · coefficient · intermediate ranges</a:t>
              </a:r>
            </a:p>
          </p:txBody>
        </p:sp>
        <p:sp>
          <p:nvSpPr>
            <p:cNvPr id="12" name="TextBox 12"/>
            <p:cNvSpPr txBox="1"/>
            <p:nvPr/>
          </p:nvSpPr>
          <p:spPr>
            <a:xfrm>
              <a:off x="4182618" y="2727008"/>
              <a:ext cx="513089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Q format TBD until data and coefficients are known.</a:t>
              </a:r>
            </a:p>
          </p:txBody>
        </p:sp>
      </p:grpSp>
      <p:grpSp>
        <p:nvGrpSpPr>
          <p:cNvPr id="19" name="arithmetic-contract"/>
          <p:cNvGrpSpPr/>
          <p:nvPr/>
        </p:nvGrpSpPr>
        <p:grpSpPr>
          <a:xfrm>
            <a:off x="609600" y="3429000"/>
            <a:ext cx="10972800" cy="2057400"/>
            <a:chOff x="609600" y="3429000"/>
            <a:chExt cx="10972800" cy="2057400"/>
          </a:xfrm>
        </p:grpSpPr>
        <p:sp>
          <p:nvSpPr>
            <p:cNvPr id="14" name="Rectangle 14"/>
            <p:cNvSpPr/>
            <p:nvPr/>
          </p:nvSpPr>
          <p:spPr>
            <a:xfrm>
              <a:off x="609600" y="3429000"/>
              <a:ext cx="10972800" cy="2057400"/>
            </a:xfrm>
            <a:prstGeom prst="rect">
              <a:avLst/>
            </a:prstGeom>
            <a:solidFill>
              <a:schemeClr val="lt2"/>
            </a:solidFill>
            <a:ln>
              <a:noFill/>
            </a:ln>
          </p:spPr>
        </p:sp>
        <p:sp>
          <p:nvSpPr>
            <p:cNvPr id="15" name="TextBox 15"/>
            <p:cNvSpPr txBox="1"/>
            <p:nvPr/>
          </p:nvSpPr>
          <p:spPr>
            <a:xfrm>
              <a:off x="826770" y="3662362"/>
              <a:ext cx="6370597"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C++ FIXED AND RTL FOLLOW ONE SPEC</a:t>
              </a:r>
            </a:p>
          </p:txBody>
        </p:sp>
        <p:sp>
          <p:nvSpPr>
            <p:cNvPr id="16" name="TextBox 16"/>
            <p:cNvSpPr txBox="1"/>
            <p:nvPr/>
          </p:nvSpPr>
          <p:spPr>
            <a:xfrm>
              <a:off x="827532" y="4192905"/>
              <a:ext cx="66613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Signedness · fractional bits · product and sum widths</a:t>
              </a:r>
            </a:p>
          </p:txBody>
        </p:sp>
        <p:sp>
          <p:nvSpPr>
            <p:cNvPr id="17" name="TextBox 17"/>
            <p:cNvSpPr txBox="1"/>
            <p:nvPr/>
          </p:nvSpPr>
          <p:spPr>
            <a:xfrm>
              <a:off x="827532" y="4669155"/>
              <a:ext cx="5812393"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Shifts · rounding · overflow: saturation or wrap</a:t>
              </a:r>
            </a:p>
          </p:txBody>
        </p:sp>
        <p:sp>
          <p:nvSpPr>
            <p:cNvPr id="18" name="TextBox 18"/>
            <p:cNvSpPr txBox="1"/>
            <p:nvPr/>
          </p:nvSpPr>
          <p:spPr>
            <a:xfrm>
              <a:off x="829818" y="5098732"/>
              <a:ext cx="481027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 reference mirrors each RTL arithmetic step.</a:t>
              </a:r>
            </a:p>
          </p:txBody>
        </p:sp>
      </p:grpSp>
      <p:grpSp>
        <p:nvGrpSpPr>
          <p:cNvPr id="21" name="fixed-boundaries"/>
          <p:cNvGrpSpPr/>
          <p:nvPr/>
        </p:nvGrpSpPr>
        <p:grpSpPr>
          <a:xfrm>
            <a:off x="601218" y="5784532"/>
            <a:ext cx="5583753" cy="608457"/>
            <a:chOff x="601218" y="5784532"/>
            <a:chExt cx="5583753" cy="608457"/>
          </a:xfrm>
        </p:grpSpPr>
        <p:sp>
          <p:nvSpPr>
            <p:cNvPr id="20" name="TextBox 20"/>
            <p:cNvSpPr txBox="1"/>
            <p:nvPr/>
          </p:nvSpPr>
          <p:spPr>
            <a:xfrm>
              <a:off x="601218" y="5784532"/>
              <a:ext cx="558375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Test negative temperatures, numeric limits, and overflow.</a:t>
              </a:r>
              <a:br/>
              <a:r>
                <a:rPr lang="en-US" sz="1650" dirty="0">
                  <a:solidFill>
                    <a:schemeClr val="accent3"/>
                  </a:solidFill>
                  <a:latin typeface="+mn-lt"/>
                  <a:ea typeface="+mn-ea"/>
                  <a:cs typeface="+mn-cs"/>
                </a:rPr>
                <a:t>Forecast error vs. truth and fixed-vs-float error are separate.</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89133"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From sample history to arithmetic</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10 / 15</a:t>
            </a:r>
          </a:p>
        </p:txBody>
      </p:sp>
      <p:grpSp>
        <p:nvGrpSpPr>
          <p:cNvPr id="13" name="sample-buffer"/>
          <p:cNvGrpSpPr/>
          <p:nvPr/>
        </p:nvGrpSpPr>
        <p:grpSpPr>
          <a:xfrm>
            <a:off x="598170" y="1709738"/>
            <a:ext cx="2964180" cy="3090862"/>
            <a:chOff x="598170" y="1709738"/>
            <a:chExt cx="2964180" cy="3090862"/>
          </a:xfrm>
        </p:grpSpPr>
        <p:sp>
          <p:nvSpPr>
            <p:cNvPr id="6" name="TextBox 6"/>
            <p:cNvSpPr txBox="1"/>
            <p:nvPr/>
          </p:nvSpPr>
          <p:spPr>
            <a:xfrm>
              <a:off x="598170" y="1709738"/>
              <a:ext cx="176144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Receive T(t)</a:t>
              </a:r>
            </a:p>
          </p:txBody>
        </p:sp>
        <p:sp>
          <p:nvSpPr>
            <p:cNvPr id="7" name="Rectangle 7"/>
            <p:cNvSpPr/>
            <p:nvPr/>
          </p:nvSpPr>
          <p:spPr>
            <a:xfrm>
              <a:off x="609600" y="2247900"/>
              <a:ext cx="2952750" cy="2552700"/>
            </a:xfrm>
            <a:prstGeom prst="rect">
              <a:avLst/>
            </a:prstGeom>
            <a:solidFill>
              <a:schemeClr val="lt2"/>
            </a:solidFill>
            <a:ln>
              <a:noFill/>
            </a:ln>
          </p:spPr>
        </p:sp>
        <p:sp>
          <p:nvSpPr>
            <p:cNvPr id="8" name="TextBox 8"/>
            <p:cNvSpPr txBox="1"/>
            <p:nvPr/>
          </p:nvSpPr>
          <p:spPr>
            <a:xfrm>
              <a:off x="826770" y="2443162"/>
              <a:ext cx="201485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25 SAMPLES</a:t>
              </a:r>
            </a:p>
          </p:txBody>
        </p:sp>
        <p:sp>
          <p:nvSpPr>
            <p:cNvPr id="9" name="TextBox 9"/>
            <p:cNvSpPr txBox="1"/>
            <p:nvPr/>
          </p:nvSpPr>
          <p:spPr>
            <a:xfrm>
              <a:off x="828294" y="2951798"/>
              <a:ext cx="1801406"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T(t−24)…T(t)</a:t>
              </a:r>
            </a:p>
          </p:txBody>
        </p:sp>
        <p:sp>
          <p:nvSpPr>
            <p:cNvPr id="10" name="TextBox 10"/>
            <p:cNvSpPr txBox="1"/>
            <p:nvPr/>
          </p:nvSpPr>
          <p:spPr>
            <a:xfrm>
              <a:off x="829818" y="3603308"/>
              <a:ext cx="146831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Required taps:</a:t>
              </a:r>
            </a:p>
          </p:txBody>
        </p:sp>
        <p:sp>
          <p:nvSpPr>
            <p:cNvPr id="11" name="TextBox 11"/>
            <p:cNvSpPr txBox="1"/>
            <p:nvPr/>
          </p:nvSpPr>
          <p:spPr>
            <a:xfrm>
              <a:off x="828294" y="4009072"/>
              <a:ext cx="146361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t−24, t−21</a:t>
              </a:r>
            </a:p>
          </p:txBody>
        </p:sp>
        <p:sp>
          <p:nvSpPr>
            <p:cNvPr id="12" name="TextBox 12"/>
            <p:cNvSpPr txBox="1"/>
            <p:nvPr/>
          </p:nvSpPr>
          <p:spPr>
            <a:xfrm>
              <a:off x="828294" y="4380548"/>
              <a:ext cx="88609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t−3, t</a:t>
              </a:r>
            </a:p>
          </p:txBody>
        </p:sp>
      </p:grpSp>
      <p:grpSp>
        <p:nvGrpSpPr>
          <p:cNvPr id="29" name="arithmetic-path"/>
          <p:cNvGrpSpPr/>
          <p:nvPr/>
        </p:nvGrpSpPr>
        <p:grpSpPr>
          <a:xfrm>
            <a:off x="3810000" y="1732598"/>
            <a:ext cx="6963966" cy="3098291"/>
            <a:chOff x="3810000" y="1732598"/>
            <a:chExt cx="6963966" cy="3098291"/>
          </a:xfrm>
        </p:grpSpPr>
        <p:sp>
          <p:nvSpPr>
            <p:cNvPr id="14" name="Line 14"/>
            <p:cNvSpPr/>
            <p:nvPr/>
          </p:nvSpPr>
          <p:spPr>
            <a:xfrm>
              <a:off x="3810000" y="2571750"/>
              <a:ext cx="342900" cy="1"/>
            </a:xfrm>
            <a:prstGeom prst="line">
              <a:avLst/>
            </a:prstGeom>
            <a:noFill/>
            <a:ln w="19050">
              <a:solidFill>
                <a:schemeClr val="accent1"/>
              </a:solidFill>
              <a:tailEnd type="triangle" w="lg" len="lg"/>
            </a:ln>
          </p:spPr>
        </p:sp>
        <p:sp>
          <p:nvSpPr>
            <p:cNvPr id="15" name="Line 15"/>
            <p:cNvSpPr/>
            <p:nvPr/>
          </p:nvSpPr>
          <p:spPr>
            <a:xfrm>
              <a:off x="3810000" y="3733800"/>
              <a:ext cx="342900" cy="1"/>
            </a:xfrm>
            <a:prstGeom prst="line">
              <a:avLst/>
            </a:prstGeom>
            <a:noFill/>
            <a:ln w="19050">
              <a:solidFill>
                <a:schemeClr val="accent1"/>
              </a:solidFill>
              <a:tailEnd type="triangle" w="lg" len="lg"/>
            </a:ln>
          </p:spPr>
        </p:sp>
        <p:sp>
          <p:nvSpPr>
            <p:cNvPr id="16" name="Rectangle 16"/>
            <p:cNvSpPr/>
            <p:nvPr/>
          </p:nvSpPr>
          <p:spPr>
            <a:xfrm>
              <a:off x="4305300" y="2209800"/>
              <a:ext cx="3105150" cy="723900"/>
            </a:xfrm>
            <a:prstGeom prst="rect">
              <a:avLst/>
            </a:prstGeom>
            <a:solidFill>
              <a:schemeClr val="lt2"/>
            </a:solidFill>
            <a:ln>
              <a:noFill/>
            </a:ln>
          </p:spPr>
        </p:sp>
        <p:sp>
          <p:nvSpPr>
            <p:cNvPr id="17" name="Rectangle 17"/>
            <p:cNvSpPr/>
            <p:nvPr/>
          </p:nvSpPr>
          <p:spPr>
            <a:xfrm>
              <a:off x="4305300" y="3371850"/>
              <a:ext cx="3105150" cy="723900"/>
            </a:xfrm>
            <a:prstGeom prst="rect">
              <a:avLst/>
            </a:prstGeom>
            <a:solidFill>
              <a:schemeClr val="lt2"/>
            </a:solidFill>
            <a:ln>
              <a:noFill/>
            </a:ln>
          </p:spPr>
        </p:sp>
        <p:sp>
          <p:nvSpPr>
            <p:cNvPr id="18" name="TextBox 18"/>
            <p:cNvSpPr txBox="1"/>
            <p:nvPr/>
          </p:nvSpPr>
          <p:spPr>
            <a:xfrm>
              <a:off x="4485894" y="2437448"/>
              <a:ext cx="1187928"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a × Δday</a:t>
              </a:r>
            </a:p>
          </p:txBody>
        </p:sp>
        <p:sp>
          <p:nvSpPr>
            <p:cNvPr id="19" name="TextBox 19"/>
            <p:cNvSpPr txBox="1"/>
            <p:nvPr/>
          </p:nvSpPr>
          <p:spPr>
            <a:xfrm>
              <a:off x="4485894" y="3599498"/>
              <a:ext cx="1049541"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b × Δ3h</a:t>
              </a:r>
            </a:p>
          </p:txBody>
        </p:sp>
        <p:sp>
          <p:nvSpPr>
            <p:cNvPr id="20" name="Line 20"/>
            <p:cNvSpPr/>
            <p:nvPr/>
          </p:nvSpPr>
          <p:spPr>
            <a:xfrm>
              <a:off x="7562850" y="2571750"/>
              <a:ext cx="876300" cy="409575"/>
            </a:xfrm>
            <a:prstGeom prst="line">
              <a:avLst/>
            </a:prstGeom>
            <a:noFill/>
            <a:ln w="19050">
              <a:solidFill>
                <a:schemeClr val="accent1"/>
              </a:solidFill>
              <a:tailEnd type="triangle" w="lg" len="lg"/>
            </a:ln>
          </p:spPr>
        </p:sp>
        <p:sp>
          <p:nvSpPr>
            <p:cNvPr id="21" name="Line 21"/>
            <p:cNvSpPr/>
            <p:nvPr/>
          </p:nvSpPr>
          <p:spPr>
            <a:xfrm flipV="1">
              <a:off x="7562850" y="3324225"/>
              <a:ext cx="876300" cy="409575"/>
            </a:xfrm>
            <a:prstGeom prst="line">
              <a:avLst/>
            </a:prstGeom>
            <a:noFill/>
            <a:ln w="19050">
              <a:solidFill>
                <a:schemeClr val="accent1"/>
              </a:solidFill>
              <a:tailEnd type="triangle" w="lg" len="lg"/>
            </a:ln>
          </p:spPr>
        </p:sp>
        <p:sp>
          <p:nvSpPr>
            <p:cNvPr id="22" name="Ellipse 22"/>
            <p:cNvSpPr/>
            <p:nvPr/>
          </p:nvSpPr>
          <p:spPr>
            <a:xfrm>
              <a:off x="8477250" y="2828925"/>
              <a:ext cx="647700" cy="647700"/>
            </a:xfrm>
            <a:prstGeom prst="ellipse">
              <a:avLst/>
            </a:prstGeom>
            <a:solidFill>
              <a:schemeClr val="lt1"/>
            </a:solidFill>
            <a:ln w="19050">
              <a:solidFill>
                <a:schemeClr val="accent1"/>
              </a:solidFill>
            </a:ln>
          </p:spPr>
        </p:sp>
        <p:sp>
          <p:nvSpPr>
            <p:cNvPr id="23" name="TextBox 23"/>
            <p:cNvSpPr txBox="1"/>
            <p:nvPr/>
          </p:nvSpPr>
          <p:spPr>
            <a:xfrm>
              <a:off x="8674591" y="2968942"/>
              <a:ext cx="253018" cy="557403"/>
            </a:xfrm>
            <a:prstGeom prst="rect">
              <a:avLst/>
            </a:prstGeom>
            <a:noFill/>
            <a:ln>
              <a:noFill/>
            </a:ln>
          </p:spPr>
          <p:txBody>
            <a:bodyPr wrap="none" lIns="0" tIns="0" rIns="0" bIns="0" anchor="t" anchorCtr="0">
              <a:spAutoFit/>
            </a:bodyPr>
            <a:lstStyle/>
            <a:p>
              <a:pPr algn="ctr"/>
              <a:r>
                <a:rPr lang="en-US" sz="2850" dirty="0">
                  <a:solidFill>
                    <a:schemeClr val="dk1"/>
                  </a:solidFill>
                  <a:latin typeface="+mn-lt"/>
                  <a:ea typeface="+mn-ea"/>
                  <a:cs typeface="+mn-cs"/>
                </a:rPr>
                <a:t>+</a:t>
              </a:r>
            </a:p>
          </p:txBody>
        </p:sp>
        <p:sp>
          <p:nvSpPr>
            <p:cNvPr id="24" name="TextBox 24"/>
            <p:cNvSpPr txBox="1"/>
            <p:nvPr/>
          </p:nvSpPr>
          <p:spPr>
            <a:xfrm>
              <a:off x="8333994" y="1732598"/>
              <a:ext cx="1490853"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T(t−21), c</a:t>
              </a:r>
            </a:p>
          </p:txBody>
        </p:sp>
        <p:sp>
          <p:nvSpPr>
            <p:cNvPr id="25" name="Line 25"/>
            <p:cNvSpPr/>
            <p:nvPr/>
          </p:nvSpPr>
          <p:spPr>
            <a:xfrm>
              <a:off x="8801100" y="2095500"/>
              <a:ext cx="1" cy="609600"/>
            </a:xfrm>
            <a:prstGeom prst="line">
              <a:avLst/>
            </a:prstGeom>
            <a:noFill/>
            <a:ln w="19050">
              <a:solidFill>
                <a:schemeClr val="accent1"/>
              </a:solidFill>
              <a:tailEnd type="triangle" w="lg" len="lg"/>
            </a:ln>
          </p:spPr>
        </p:sp>
        <p:sp>
          <p:nvSpPr>
            <p:cNvPr id="26" name="Line 26"/>
            <p:cNvSpPr/>
            <p:nvPr/>
          </p:nvSpPr>
          <p:spPr>
            <a:xfrm>
              <a:off x="9201150" y="3152775"/>
              <a:ext cx="533400" cy="1"/>
            </a:xfrm>
            <a:prstGeom prst="line">
              <a:avLst/>
            </a:prstGeom>
            <a:noFill/>
            <a:ln w="19050">
              <a:solidFill>
                <a:schemeClr val="accent1"/>
              </a:solidFill>
              <a:tailEnd type="triangle" w="lg" len="lg"/>
            </a:ln>
          </p:spPr>
        </p:sp>
        <p:sp>
          <p:nvSpPr>
            <p:cNvPr id="27" name="TextBox 27"/>
            <p:cNvSpPr txBox="1"/>
            <p:nvPr/>
          </p:nvSpPr>
          <p:spPr>
            <a:xfrm>
              <a:off x="9894570" y="3014662"/>
              <a:ext cx="87939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T̂(t+3)</a:t>
              </a:r>
            </a:p>
          </p:txBody>
        </p:sp>
        <p:sp>
          <p:nvSpPr>
            <p:cNvPr id="28" name="TextBox 28"/>
            <p:cNvSpPr txBox="1"/>
            <p:nvPr/>
          </p:nvSpPr>
          <p:spPr>
            <a:xfrm>
              <a:off x="4296918" y="4508182"/>
              <a:ext cx="416610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Functional diagram; multiplier layout TBD.</a:t>
              </a:r>
            </a:p>
          </p:txBody>
        </p:sp>
      </p:grpSp>
      <p:grpSp>
        <p:nvGrpSpPr>
          <p:cNvPr id="31" name="control-contract"/>
          <p:cNvGrpSpPr/>
          <p:nvPr/>
        </p:nvGrpSpPr>
        <p:grpSpPr>
          <a:xfrm>
            <a:off x="601218" y="5346382"/>
            <a:ext cx="7582064" cy="932307"/>
            <a:chOff x="601218" y="5346382"/>
            <a:chExt cx="7582064" cy="932307"/>
          </a:xfrm>
        </p:grpSpPr>
        <p:sp>
          <p:nvSpPr>
            <p:cNvPr id="30" name="TextBox 30"/>
            <p:cNvSpPr txBox="1"/>
            <p:nvPr/>
          </p:nvSpPr>
          <p:spPr>
            <a:xfrm>
              <a:off x="601218" y="5346382"/>
              <a:ext cx="7582064"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Clock + valid accept samples. Forecast only after 25 valid samples.</a:t>
              </a:r>
              <a:br/>
              <a:r>
                <a:rPr lang="en-US" sz="1650" dirty="0">
                  <a:solidFill>
                    <a:schemeClr val="accent3"/>
                  </a:solidFill>
                  <a:latin typeface="+mn-lt"/>
                  <a:ea typeface="+mn-ea"/>
                  <a:cs typeface="+mn-cs"/>
                </a:rPr>
                <a:t>Coefficients stay fixed; choose shared or parallel multipliers after board selection.</a:t>
              </a:r>
              <a:br/>
              <a:r>
                <a:rPr lang="en-US" sz="1650" dirty="0">
                  <a:solidFill>
                    <a:schemeClr val="accent3"/>
                  </a:solidFill>
                  <a:latin typeface="+mn-lt"/>
                  <a:ea typeface="+mn-ea"/>
                  <a:cs typeface="+mn-cs"/>
                </a:rPr>
                <a:t>One sample delay = 1 data hour. Hardware latency is in clock cycles, not 3 hours.</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586070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verification layers</a:t>
            </a:r>
          </a:p>
        </p:txBody>
      </p:sp>
      <p:grpSp>
        <p:nvGrpSpPr>
          <p:cNvPr id="12" name="three-card-one-slot Proxy Content"/>
          <p:cNvGrpSpPr/>
          <p:nvPr/>
        </p:nvGrpSpPr>
        <p:grpSpPr>
          <a:xfrm>
            <a:off x="823722" y="1968818"/>
            <a:ext cx="3062478" cy="3319271"/>
            <a:chOff x="823722" y="1968818"/>
            <a:chExt cx="3062478" cy="3319271"/>
          </a:xfrm>
        </p:grpSpPr>
        <p:sp>
          <p:nvSpPr>
            <p:cNvPr id="7" name="TextBox 7"/>
            <p:cNvSpPr txBox="1"/>
            <p:nvPr/>
          </p:nvSpPr>
          <p:spPr>
            <a:xfrm>
              <a:off x="823722" y="1968818"/>
              <a:ext cx="1584009"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01 / C++</a:t>
              </a:r>
            </a:p>
          </p:txBody>
        </p:sp>
        <p:sp>
          <p:nvSpPr>
            <p:cNvPr id="8" name="TextBox 8"/>
            <p:cNvSpPr txBox="1"/>
            <p:nvPr/>
          </p:nvSpPr>
          <p:spPr>
            <a:xfrm>
              <a:off x="826770" y="2614612"/>
              <a:ext cx="252966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FLOAT ↔ FIXED</a:t>
              </a:r>
            </a:p>
          </p:txBody>
        </p:sp>
        <p:sp>
          <p:nvSpPr>
            <p:cNvPr id="9" name="TextBox 9"/>
            <p:cNvSpPr txBox="1"/>
            <p:nvPr/>
          </p:nvSpPr>
          <p:spPr>
            <a:xfrm>
              <a:off x="827532" y="3183255"/>
              <a:ext cx="206724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Measure error</a:t>
              </a:r>
              <a:br/>
              <a:r>
                <a:rPr lang="en-US" sz="2100" dirty="0">
                  <a:solidFill>
                    <a:schemeClr val="dk1"/>
                  </a:solidFill>
                  <a:latin typeface="+mn-lt"/>
                  <a:ea typeface="+mn-ea"/>
                  <a:cs typeface="+mn-cs"/>
                </a:rPr>
                <a:t>from quantization</a:t>
              </a:r>
            </a:p>
          </p:txBody>
        </p:sp>
        <p:sp>
          <p:nvSpPr>
            <p:cNvPr id="10" name="Line 10"/>
            <p:cNvSpPr/>
            <p:nvPr/>
          </p:nvSpPr>
          <p:spPr>
            <a:xfrm>
              <a:off x="8382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393882"/>
              <a:ext cx="2089800"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Test:</a:t>
              </a:r>
              <a:br/>
              <a:r>
                <a:rPr lang="en-US" sz="1650" dirty="0">
                  <a:solidFill>
                    <a:schemeClr val="accent3"/>
                  </a:solidFill>
                  <a:latin typeface="+mn-lt"/>
                  <a:ea typeface="+mn-ea"/>
                  <a:cs typeface="+mn-cs"/>
                </a:rPr>
                <a:t>negative temps, limits,</a:t>
              </a:r>
              <a:br/>
              <a:r>
                <a:rPr lang="en-US" sz="1650" dirty="0">
                  <a:solidFill>
                    <a:schemeClr val="accent3"/>
                  </a:solidFill>
                  <a:latin typeface="+mn-lt"/>
                  <a:ea typeface="+mn-ea"/>
                  <a:cs typeface="+mn-cs"/>
                </a:rPr>
                <a:t>rapid changes.</a:t>
              </a:r>
            </a:p>
          </p:txBody>
        </p:sp>
      </p:grpSp>
      <p:grpSp>
        <p:nvGrpSpPr>
          <p:cNvPr id="18" name="three-card-two-slot Proxy Content"/>
          <p:cNvGrpSpPr/>
          <p:nvPr/>
        </p:nvGrpSpPr>
        <p:grpSpPr>
          <a:xfrm>
            <a:off x="4557522" y="1968818"/>
            <a:ext cx="3062478" cy="3319271"/>
            <a:chOff x="4557522" y="1968818"/>
            <a:chExt cx="3062478" cy="3319271"/>
          </a:xfrm>
        </p:grpSpPr>
        <p:sp>
          <p:nvSpPr>
            <p:cNvPr id="13" name="TextBox 13"/>
            <p:cNvSpPr txBox="1"/>
            <p:nvPr/>
          </p:nvSpPr>
          <p:spPr>
            <a:xfrm>
              <a:off x="4557522" y="1968818"/>
              <a:ext cx="455747"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02</a:t>
              </a:r>
            </a:p>
          </p:txBody>
        </p:sp>
        <p:sp>
          <p:nvSpPr>
            <p:cNvPr id="14" name="TextBox 14"/>
            <p:cNvSpPr txBox="1"/>
            <p:nvPr/>
          </p:nvSpPr>
          <p:spPr>
            <a:xfrm>
              <a:off x="4560570" y="2614612"/>
              <a:ext cx="15694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TB ↔ RTL</a:t>
              </a:r>
            </a:p>
          </p:txBody>
        </p:sp>
        <p:sp>
          <p:nvSpPr>
            <p:cNvPr id="15" name="TextBox 15"/>
            <p:cNvSpPr txBox="1"/>
            <p:nvPr/>
          </p:nvSpPr>
          <p:spPr>
            <a:xfrm>
              <a:off x="4561332" y="3183255"/>
              <a:ext cx="258635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Compare each output</a:t>
              </a:r>
              <a:br/>
              <a:r>
                <a:rPr lang="en-US" sz="2100" dirty="0">
                  <a:solidFill>
                    <a:schemeClr val="dk1"/>
                  </a:solidFill>
                  <a:latin typeface="+mn-lt"/>
                  <a:ea typeface="+mn-ea"/>
                  <a:cs typeface="+mn-cs"/>
                </a:rPr>
                <a:t>with valid and latency</a:t>
              </a:r>
            </a:p>
          </p:txBody>
        </p:sp>
        <p:sp>
          <p:nvSpPr>
            <p:cNvPr id="16" name="Line 16"/>
            <p:cNvSpPr/>
            <p:nvPr/>
          </p:nvSpPr>
          <p:spPr>
            <a:xfrm>
              <a:off x="45720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7" name="TextBox 17"/>
            <p:cNvSpPr txBox="1"/>
            <p:nvPr/>
          </p:nvSpPr>
          <p:spPr>
            <a:xfrm>
              <a:off x="4563618" y="4393882"/>
              <a:ext cx="1950156"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Target: bit-exact.</a:t>
              </a:r>
              <a:br/>
              <a:r>
                <a:rPr lang="en-US" sz="1650" dirty="0">
                  <a:solidFill>
                    <a:schemeClr val="accent3"/>
                  </a:solidFill>
                  <a:latin typeface="+mn-lt"/>
                  <a:ea typeface="+mn-ea"/>
                  <a:cs typeface="+mn-cs"/>
                </a:rPr>
                <a:t>Test reset, overflow,</a:t>
              </a:r>
              <a:br/>
              <a:r>
                <a:rPr lang="en-US" sz="1650" dirty="0">
                  <a:solidFill>
                    <a:schemeClr val="accent3"/>
                  </a:solidFill>
                  <a:latin typeface="+mn-lt"/>
                  <a:ea typeface="+mn-ea"/>
                  <a:cs typeface="+mn-cs"/>
                </a:rPr>
                <a:t>warm-up, valid gaps.</a:t>
              </a:r>
            </a:p>
          </p:txBody>
        </p:sp>
      </p:grpSp>
      <p:grpSp>
        <p:nvGrpSpPr>
          <p:cNvPr id="24" name="three-card-three-slot Proxy Content"/>
          <p:cNvGrpSpPr/>
          <p:nvPr/>
        </p:nvGrpSpPr>
        <p:grpSpPr>
          <a:xfrm>
            <a:off x="8291322" y="1968818"/>
            <a:ext cx="3062478" cy="3319271"/>
            <a:chOff x="8291322" y="1968818"/>
            <a:chExt cx="3062478" cy="3319271"/>
          </a:xfrm>
        </p:grpSpPr>
        <p:sp>
          <p:nvSpPr>
            <p:cNvPr id="19" name="TextBox 19"/>
            <p:cNvSpPr txBox="1"/>
            <p:nvPr/>
          </p:nvSpPr>
          <p:spPr>
            <a:xfrm>
              <a:off x="8291322" y="1968818"/>
              <a:ext cx="455747"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03</a:t>
              </a:r>
            </a:p>
          </p:txBody>
        </p:sp>
        <p:sp>
          <p:nvSpPr>
            <p:cNvPr id="20" name="TextBox 20"/>
            <p:cNvSpPr txBox="1"/>
            <p:nvPr/>
          </p:nvSpPr>
          <p:spPr>
            <a:xfrm>
              <a:off x="8294370" y="2614612"/>
              <a:ext cx="242316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BOARD ↔ REF.</a:t>
              </a:r>
            </a:p>
          </p:txBody>
        </p:sp>
        <p:sp>
          <p:nvSpPr>
            <p:cNvPr id="21" name="TextBox 21"/>
            <p:cNvSpPr txBox="1"/>
            <p:nvPr/>
          </p:nvSpPr>
          <p:spPr>
            <a:xfrm>
              <a:off x="8295132" y="3183255"/>
              <a:ext cx="2542344"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Check interfaces</a:t>
              </a:r>
              <a:br/>
              <a:r>
                <a:rPr lang="en-US" sz="2100" dirty="0">
                  <a:solidFill>
                    <a:schemeClr val="dk1"/>
                  </a:solidFill>
                  <a:latin typeface="+mn-lt"/>
                  <a:ea typeface="+mn-ea"/>
                  <a:cs typeface="+mn-cs"/>
                </a:rPr>
                <a:t>and integrated output</a:t>
              </a:r>
            </a:p>
          </p:txBody>
        </p:sp>
        <p:sp>
          <p:nvSpPr>
            <p:cNvPr id="22" name="Line 22"/>
            <p:cNvSpPr/>
            <p:nvPr/>
          </p:nvSpPr>
          <p:spPr>
            <a:xfrm>
              <a:off x="83058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3" name="TextBox 23"/>
            <p:cNvSpPr txBox="1"/>
            <p:nvPr/>
          </p:nvSpPr>
          <p:spPr>
            <a:xfrm>
              <a:off x="8297418" y="4393882"/>
              <a:ext cx="2101451"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Use the same vectors;</a:t>
              </a:r>
              <a:br/>
              <a:r>
                <a:rPr lang="en-US" sz="1650" dirty="0">
                  <a:solidFill>
                    <a:schemeClr val="accent3"/>
                  </a:solidFill>
                  <a:latin typeface="+mn-lt"/>
                  <a:ea typeface="+mn-ea"/>
                  <a:cs typeface="+mn-cs"/>
                </a:rPr>
                <a:t>check sample order,</a:t>
              </a:r>
              <a:br/>
              <a:r>
                <a:rPr lang="en-US" sz="1650" dirty="0">
                  <a:solidFill>
                    <a:schemeClr val="accent3"/>
                  </a:solidFill>
                  <a:latin typeface="+mn-lt"/>
                  <a:ea typeface="+mn-ea"/>
                  <a:cs typeface="+mn-cs"/>
                </a:rPr>
                <a:t>input and output logs.</a:t>
              </a:r>
            </a:p>
          </p:txBody>
        </p:sp>
      </p:grpSp>
      <p:sp>
        <p:nvSpPr>
          <p:cNvPr id="2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11 / 15</a:t>
            </a:r>
          </a:p>
        </p:txBody>
      </p:sp>
      <p:grpSp>
        <p:nvGrpSpPr>
          <p:cNvPr id="27" name="reference-principle"/>
          <p:cNvGrpSpPr/>
          <p:nvPr/>
        </p:nvGrpSpPr>
        <p:grpSpPr>
          <a:xfrm>
            <a:off x="601218" y="6298882"/>
            <a:ext cx="7147814" cy="322707"/>
            <a:chOff x="601218" y="6298882"/>
            <a:chExt cx="7147814" cy="322707"/>
          </a:xfrm>
        </p:grpSpPr>
        <p:sp>
          <p:nvSpPr>
            <p:cNvPr id="26" name="TextBox 26"/>
            <p:cNvSpPr txBox="1"/>
            <p:nvPr/>
          </p:nvSpPr>
          <p:spPr>
            <a:xfrm>
              <a:off x="601218" y="6298882"/>
              <a:ext cx="7147814"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Same data and arithmetic rules; each layer answers a different question.</a:t>
              </a:r>
            </a:p>
          </p:txBody>
        </p:sp>
      </p:grpSp>
      <p:sp>
        <p:nvSpPr>
          <p:cNvPr id="28"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33291"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Demo by replaying historical data</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12 / 15</a:t>
            </a:r>
          </a:p>
        </p:txBody>
      </p:sp>
      <p:grpSp>
        <p:nvGrpSpPr>
          <p:cNvPr id="8" name="demo-principle"/>
          <p:cNvGrpSpPr/>
          <p:nvPr/>
        </p:nvGrpSpPr>
        <p:grpSpPr>
          <a:xfrm>
            <a:off x="598170" y="1604962"/>
            <a:ext cx="5789278" cy="758953"/>
            <a:chOff x="598170" y="1604962"/>
            <a:chExt cx="5789278" cy="758953"/>
          </a:xfrm>
        </p:grpSpPr>
        <p:sp>
          <p:nvSpPr>
            <p:cNvPr id="6" name="TextBox 6"/>
            <p:cNvSpPr txBox="1"/>
            <p:nvPr/>
          </p:nvSpPr>
          <p:spPr>
            <a:xfrm>
              <a:off x="598170" y="1604962"/>
              <a:ext cx="5789278"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Replay quickly while preserving time order.</a:t>
              </a:r>
            </a:p>
          </p:txBody>
        </p:sp>
        <p:sp>
          <p:nvSpPr>
            <p:cNvPr id="7" name="TextBox 7"/>
            <p:cNvSpPr txBox="1"/>
            <p:nvPr/>
          </p:nvSpPr>
          <p:spPr>
            <a:xfrm>
              <a:off x="601218" y="2041208"/>
              <a:ext cx="496279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Proposed demo; no board run or live interface yet.</a:t>
              </a:r>
            </a:p>
          </p:txBody>
        </p:sp>
      </p:grpSp>
      <p:grpSp>
        <p:nvGrpSpPr>
          <p:cNvPr id="13" name="pc-source"/>
          <p:cNvGrpSpPr/>
          <p:nvPr/>
        </p:nvGrpSpPr>
        <p:grpSpPr>
          <a:xfrm>
            <a:off x="609600" y="2628900"/>
            <a:ext cx="3086100" cy="2400300"/>
            <a:chOff x="609600" y="2628900"/>
            <a:chExt cx="3086100" cy="2400300"/>
          </a:xfrm>
        </p:grpSpPr>
        <p:sp>
          <p:nvSpPr>
            <p:cNvPr id="9" name="Rectangle 9"/>
            <p:cNvSpPr/>
            <p:nvPr/>
          </p:nvSpPr>
          <p:spPr>
            <a:xfrm>
              <a:off x="609600" y="2628900"/>
              <a:ext cx="3086100" cy="2400300"/>
            </a:xfrm>
            <a:prstGeom prst="rect">
              <a:avLst/>
            </a:prstGeom>
            <a:solidFill>
              <a:schemeClr val="lt2"/>
            </a:solidFill>
            <a:ln>
              <a:noFill/>
            </a:ln>
          </p:spPr>
        </p:sp>
        <p:sp>
          <p:nvSpPr>
            <p:cNvPr id="10" name="TextBox 10"/>
            <p:cNvSpPr txBox="1"/>
            <p:nvPr/>
          </p:nvSpPr>
          <p:spPr>
            <a:xfrm>
              <a:off x="826770" y="2852738"/>
              <a:ext cx="13922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PC / CSV</a:t>
              </a:r>
            </a:p>
          </p:txBody>
        </p:sp>
        <p:sp>
          <p:nvSpPr>
            <p:cNvPr id="11" name="TextBox 11"/>
            <p:cNvSpPr txBox="1"/>
            <p:nvPr/>
          </p:nvSpPr>
          <p:spPr>
            <a:xfrm>
              <a:off x="827532" y="3459480"/>
              <a:ext cx="1711467"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Send samples</a:t>
              </a:r>
              <a:br/>
              <a:r>
                <a:rPr lang="en-US" sz="2100" dirty="0">
                  <a:solidFill>
                    <a:schemeClr val="dk1"/>
                  </a:solidFill>
                  <a:latin typeface="+mn-lt"/>
                  <a:ea typeface="+mn-ea"/>
                  <a:cs typeface="+mn-cs"/>
                </a:rPr>
                <a:t>through t</a:t>
              </a:r>
            </a:p>
          </p:txBody>
        </p:sp>
        <p:sp>
          <p:nvSpPr>
            <p:cNvPr id="12" name="TextBox 12"/>
            <p:cNvSpPr txBox="1"/>
            <p:nvPr/>
          </p:nvSpPr>
          <p:spPr>
            <a:xfrm>
              <a:off x="829818" y="4479608"/>
              <a:ext cx="224159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UART if board permits</a:t>
              </a:r>
            </a:p>
          </p:txBody>
        </p:sp>
      </p:grpSp>
      <p:grpSp>
        <p:nvGrpSpPr>
          <p:cNvPr id="18" name="fpga-demo"/>
          <p:cNvGrpSpPr/>
          <p:nvPr/>
        </p:nvGrpSpPr>
        <p:grpSpPr>
          <a:xfrm>
            <a:off x="4552950" y="2628900"/>
            <a:ext cx="3086100" cy="2400300"/>
            <a:chOff x="4552950" y="2628900"/>
            <a:chExt cx="3086100" cy="2400300"/>
          </a:xfrm>
        </p:grpSpPr>
        <p:sp>
          <p:nvSpPr>
            <p:cNvPr id="14" name="Rectangle 14"/>
            <p:cNvSpPr/>
            <p:nvPr/>
          </p:nvSpPr>
          <p:spPr>
            <a:xfrm>
              <a:off x="4552950" y="2628900"/>
              <a:ext cx="3086100" cy="2400300"/>
            </a:xfrm>
            <a:prstGeom prst="rect">
              <a:avLst/>
            </a:prstGeom>
            <a:solidFill>
              <a:schemeClr val="lt2"/>
            </a:solidFill>
            <a:ln>
              <a:noFill/>
            </a:ln>
          </p:spPr>
        </p:sp>
        <p:sp>
          <p:nvSpPr>
            <p:cNvPr id="15" name="TextBox 15"/>
            <p:cNvSpPr txBox="1"/>
            <p:nvPr/>
          </p:nvSpPr>
          <p:spPr>
            <a:xfrm>
              <a:off x="4770120" y="2852738"/>
              <a:ext cx="91186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FPGA</a:t>
              </a:r>
            </a:p>
          </p:txBody>
        </p:sp>
        <p:sp>
          <p:nvSpPr>
            <p:cNvPr id="16" name="TextBox 16"/>
            <p:cNvSpPr txBox="1"/>
            <p:nvPr/>
          </p:nvSpPr>
          <p:spPr>
            <a:xfrm>
              <a:off x="4770882" y="3459480"/>
              <a:ext cx="205215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Receive samples</a:t>
              </a:r>
              <a:br/>
              <a:r>
                <a:rPr lang="en-US" sz="2100" dirty="0">
                  <a:solidFill>
                    <a:schemeClr val="dk1"/>
                  </a:solidFill>
                  <a:latin typeface="+mn-lt"/>
                  <a:ea typeface="+mn-ea"/>
                  <a:cs typeface="+mn-cs"/>
                </a:rPr>
                <a:t>Compute T̂(t+3)</a:t>
              </a:r>
            </a:p>
          </p:txBody>
        </p:sp>
        <p:sp>
          <p:nvSpPr>
            <p:cNvPr id="17" name="TextBox 17"/>
            <p:cNvSpPr txBox="1"/>
            <p:nvPr/>
          </p:nvSpPr>
          <p:spPr>
            <a:xfrm>
              <a:off x="4773168" y="4479608"/>
              <a:ext cx="1925656"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Return result to PC</a:t>
              </a:r>
            </a:p>
          </p:txBody>
        </p:sp>
      </p:grpSp>
      <p:grpSp>
        <p:nvGrpSpPr>
          <p:cNvPr id="23" name="pc-compare"/>
          <p:cNvGrpSpPr/>
          <p:nvPr/>
        </p:nvGrpSpPr>
        <p:grpSpPr>
          <a:xfrm>
            <a:off x="8496300" y="2628900"/>
            <a:ext cx="3086100" cy="2400300"/>
            <a:chOff x="8496300" y="2628900"/>
            <a:chExt cx="3086100" cy="2400300"/>
          </a:xfrm>
        </p:grpSpPr>
        <p:sp>
          <p:nvSpPr>
            <p:cNvPr id="19" name="Rectangle 19"/>
            <p:cNvSpPr/>
            <p:nvPr/>
          </p:nvSpPr>
          <p:spPr>
            <a:xfrm>
              <a:off x="8496300" y="2628900"/>
              <a:ext cx="3086100" cy="2400300"/>
            </a:xfrm>
            <a:prstGeom prst="rect">
              <a:avLst/>
            </a:prstGeom>
            <a:solidFill>
              <a:schemeClr val="lt2"/>
            </a:solidFill>
            <a:ln>
              <a:noFill/>
            </a:ln>
          </p:spPr>
        </p:sp>
        <p:sp>
          <p:nvSpPr>
            <p:cNvPr id="20" name="TextBox 20"/>
            <p:cNvSpPr txBox="1"/>
            <p:nvPr/>
          </p:nvSpPr>
          <p:spPr>
            <a:xfrm>
              <a:off x="8713470" y="2852738"/>
              <a:ext cx="237003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PC / COMPARE</a:t>
              </a:r>
            </a:p>
          </p:txBody>
        </p:sp>
        <p:sp>
          <p:nvSpPr>
            <p:cNvPr id="21" name="TextBox 21"/>
            <p:cNvSpPr txBox="1"/>
            <p:nvPr/>
          </p:nvSpPr>
          <p:spPr>
            <a:xfrm>
              <a:off x="8714232" y="3459480"/>
              <a:ext cx="1977901"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Compare results</a:t>
              </a:r>
              <a:br/>
              <a:r>
                <a:rPr lang="en-US" sz="2100" dirty="0">
                  <a:solidFill>
                    <a:schemeClr val="dk1"/>
                  </a:solidFill>
                  <a:latin typeface="+mn-lt"/>
                  <a:ea typeface="+mn-ea"/>
                  <a:cs typeface="+mn-cs"/>
                </a:rPr>
                <a:t>by hour</a:t>
              </a:r>
            </a:p>
          </p:txBody>
        </p:sp>
        <p:sp>
          <p:nvSpPr>
            <p:cNvPr id="22" name="TextBox 22"/>
            <p:cNvSpPr txBox="1"/>
            <p:nvPr/>
          </p:nvSpPr>
          <p:spPr>
            <a:xfrm>
              <a:off x="8716518" y="4479608"/>
              <a:ext cx="157968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Log and display</a:t>
              </a:r>
            </a:p>
          </p:txBody>
        </p:sp>
      </p:grpSp>
      <p:grpSp>
        <p:nvGrpSpPr>
          <p:cNvPr id="25" name="demo-link-input"/>
          <p:cNvGrpSpPr/>
          <p:nvPr/>
        </p:nvGrpSpPr>
        <p:grpSpPr>
          <a:xfrm>
            <a:off x="3848100" y="3743325"/>
            <a:ext cx="495300" cy="1"/>
            <a:chOff x="3848100" y="3743325"/>
            <a:chExt cx="495300" cy="1"/>
          </a:xfrm>
        </p:grpSpPr>
        <p:sp>
          <p:nvSpPr>
            <p:cNvPr id="24" name="Line 24"/>
            <p:cNvSpPr/>
            <p:nvPr/>
          </p:nvSpPr>
          <p:spPr>
            <a:xfrm>
              <a:off x="3848100" y="3743325"/>
              <a:ext cx="495300" cy="1"/>
            </a:xfrm>
            <a:prstGeom prst="line">
              <a:avLst/>
            </a:prstGeom>
            <a:noFill/>
            <a:ln w="19050">
              <a:solidFill>
                <a:schemeClr val="accent1"/>
              </a:solidFill>
              <a:tailEnd type="triangle" w="lg" len="lg"/>
            </a:ln>
          </p:spPr>
        </p:sp>
      </p:grpSp>
      <p:grpSp>
        <p:nvGrpSpPr>
          <p:cNvPr id="27" name="demo-link-output"/>
          <p:cNvGrpSpPr/>
          <p:nvPr/>
        </p:nvGrpSpPr>
        <p:grpSpPr>
          <a:xfrm>
            <a:off x="7791450" y="3743325"/>
            <a:ext cx="495300" cy="1"/>
            <a:chOff x="7791450" y="3743325"/>
            <a:chExt cx="495300" cy="1"/>
          </a:xfrm>
        </p:grpSpPr>
        <p:sp>
          <p:nvSpPr>
            <p:cNvPr id="26" name="Line 26"/>
            <p:cNvSpPr/>
            <p:nvPr/>
          </p:nvSpPr>
          <p:spPr>
            <a:xfrm>
              <a:off x="7791450" y="3743325"/>
              <a:ext cx="495300" cy="1"/>
            </a:xfrm>
            <a:prstGeom prst="line">
              <a:avLst/>
            </a:prstGeom>
            <a:noFill/>
            <a:ln w="19050">
              <a:solidFill>
                <a:schemeClr val="accent1"/>
              </a:solidFill>
              <a:tailEnd type="triangle" w="lg" len="lg"/>
            </a:ln>
          </p:spPr>
        </p:sp>
      </p:grpSp>
      <p:grpSp>
        <p:nvGrpSpPr>
          <p:cNvPr id="29" name="future-boundary"/>
          <p:cNvGrpSpPr/>
          <p:nvPr/>
        </p:nvGrpSpPr>
        <p:grpSpPr>
          <a:xfrm>
            <a:off x="601218" y="5603558"/>
            <a:ext cx="6085416" cy="627507"/>
            <a:chOff x="601218" y="5603558"/>
            <a:chExt cx="6085416" cy="627507"/>
          </a:xfrm>
        </p:grpSpPr>
        <p:sp>
          <p:nvSpPr>
            <p:cNvPr id="28" name="TextBox 28"/>
            <p:cNvSpPr txBox="1"/>
            <p:nvPr/>
          </p:nvSpPr>
          <p:spPr>
            <a:xfrm>
              <a:off x="601218" y="5603558"/>
              <a:ext cx="6085416"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PC holds T(t+3) for evaluation; future labels never enter FPGA.</a:t>
              </a:r>
              <a:br/>
              <a:r>
                <a:rPr lang="en-US" sz="1650" dirty="0">
                  <a:solidFill>
                    <a:schemeClr val="accent3"/>
                  </a:solidFill>
                  <a:latin typeface="+mn-lt"/>
                  <a:ea typeface="+mn-ea"/>
                  <a:cs typeface="+mn-cs"/>
                </a:rPr>
                <a:t>Board, interface, and minimum demo scope need instructor input.</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6295002"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12 weeks, four milestones</a:t>
            </a:r>
          </a:p>
        </p:txBody>
      </p:sp>
      <p:grpSp>
        <p:nvGrpSpPr>
          <p:cNvPr id="13" name="process-timeline-one-slot Proxy Content"/>
          <p:cNvGrpSpPr/>
          <p:nvPr/>
        </p:nvGrpSpPr>
        <p:grpSpPr>
          <a:xfrm>
            <a:off x="750570" y="1776412"/>
            <a:ext cx="1819373" cy="2673477"/>
            <a:chOff x="750570" y="1776412"/>
            <a:chExt cx="1819373" cy="2673477"/>
          </a:xfrm>
        </p:grpSpPr>
        <p:sp>
          <p:nvSpPr>
            <p:cNvPr id="10" name="TextBox 10"/>
            <p:cNvSpPr txBox="1"/>
            <p:nvPr/>
          </p:nvSpPr>
          <p:spPr>
            <a:xfrm>
              <a:off x="750570" y="1776412"/>
              <a:ext cx="181937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1–3</a:t>
              </a:r>
            </a:p>
          </p:txBody>
        </p:sp>
        <p:sp>
          <p:nvSpPr>
            <p:cNvPr id="11" name="TextBox 11"/>
            <p:cNvSpPr txBox="1"/>
            <p:nvPr/>
          </p:nvSpPr>
          <p:spPr>
            <a:xfrm>
              <a:off x="751332" y="2964180"/>
              <a:ext cx="64279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Data</a:t>
              </a:r>
            </a:p>
          </p:txBody>
        </p:sp>
        <p:sp>
          <p:nvSpPr>
            <p:cNvPr id="12" name="TextBox 12"/>
            <p:cNvSpPr txBox="1"/>
            <p:nvPr/>
          </p:nvSpPr>
          <p:spPr>
            <a:xfrm>
              <a:off x="753618" y="3517582"/>
              <a:ext cx="1356291"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Learn basics</a:t>
              </a:r>
              <a:br/>
              <a:r>
                <a:rPr lang="en-US" sz="1650" dirty="0">
                  <a:solidFill>
                    <a:schemeClr val="accent3"/>
                  </a:solidFill>
                  <a:latin typeface="+mn-lt"/>
                  <a:ea typeface="+mn-ea"/>
                  <a:cs typeface="+mn-cs"/>
                </a:rPr>
                <a:t>Clean CSV</a:t>
              </a:r>
              <a:br/>
              <a:r>
                <a:rPr lang="en-US" sz="1650" dirty="0">
                  <a:solidFill>
                    <a:schemeClr val="accent3"/>
                  </a:solidFill>
                  <a:latin typeface="+mn-lt"/>
                  <a:ea typeface="+mn-ea"/>
                  <a:cs typeface="+mn-cs"/>
                </a:rPr>
                <a:t>Two baselines</a:t>
              </a:r>
            </a:p>
          </p:txBody>
        </p:sp>
      </p:grpSp>
      <p:grpSp>
        <p:nvGrpSpPr>
          <p:cNvPr id="17" name="process-timeline-two-slot Proxy Content"/>
          <p:cNvGrpSpPr/>
          <p:nvPr/>
        </p:nvGrpSpPr>
        <p:grpSpPr>
          <a:xfrm>
            <a:off x="3569970" y="1776412"/>
            <a:ext cx="1819373" cy="2673477"/>
            <a:chOff x="3569970" y="1776412"/>
            <a:chExt cx="1819373" cy="2673477"/>
          </a:xfrm>
        </p:grpSpPr>
        <p:sp>
          <p:nvSpPr>
            <p:cNvPr id="14" name="TextBox 14"/>
            <p:cNvSpPr txBox="1"/>
            <p:nvPr/>
          </p:nvSpPr>
          <p:spPr>
            <a:xfrm>
              <a:off x="3569970" y="1776412"/>
              <a:ext cx="181937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4–6</a:t>
              </a:r>
            </a:p>
          </p:txBody>
        </p:sp>
        <p:sp>
          <p:nvSpPr>
            <p:cNvPr id="15" name="TextBox 15"/>
            <p:cNvSpPr txBox="1"/>
            <p:nvPr/>
          </p:nvSpPr>
          <p:spPr>
            <a:xfrm>
              <a:off x="3570732" y="2964180"/>
              <a:ext cx="1480371"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 model</a:t>
              </a:r>
            </a:p>
          </p:txBody>
        </p:sp>
        <p:sp>
          <p:nvSpPr>
            <p:cNvPr id="16" name="TextBox 16"/>
            <p:cNvSpPr txBox="1"/>
            <p:nvPr/>
          </p:nvSpPr>
          <p:spPr>
            <a:xfrm>
              <a:off x="3573018" y="3517582"/>
              <a:ext cx="1484368"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Fit + validate</a:t>
              </a:r>
              <a:br/>
              <a:r>
                <a:rPr lang="en-US" sz="1650" dirty="0">
                  <a:solidFill>
                    <a:schemeClr val="accent3"/>
                  </a:solidFill>
                  <a:latin typeface="+mn-lt"/>
                  <a:ea typeface="+mn-ea"/>
                  <a:cs typeface="+mn-cs"/>
                </a:rPr>
                <a:t>Select features</a:t>
              </a:r>
              <a:br/>
              <a:r>
                <a:rPr lang="en-US" sz="1650" dirty="0">
                  <a:solidFill>
                    <a:schemeClr val="accent3"/>
                  </a:solidFill>
                  <a:latin typeface="+mn-lt"/>
                  <a:ea typeface="+mn-ea"/>
                  <a:cs typeface="+mn-cs"/>
                </a:rPr>
                <a:t>Start fixed-point</a:t>
              </a:r>
            </a:p>
          </p:txBody>
        </p:sp>
      </p:grpSp>
      <p:grpSp>
        <p:nvGrpSpPr>
          <p:cNvPr id="21" name="process-timeline-three-slot Proxy Content"/>
          <p:cNvGrpSpPr/>
          <p:nvPr/>
        </p:nvGrpSpPr>
        <p:grpSpPr>
          <a:xfrm>
            <a:off x="6389370" y="1776412"/>
            <a:ext cx="2099638" cy="2673477"/>
            <a:chOff x="6389370" y="1776412"/>
            <a:chExt cx="2099638" cy="2673477"/>
          </a:xfrm>
        </p:grpSpPr>
        <p:sp>
          <p:nvSpPr>
            <p:cNvPr id="18" name="TextBox 18"/>
            <p:cNvSpPr txBox="1"/>
            <p:nvPr/>
          </p:nvSpPr>
          <p:spPr>
            <a:xfrm>
              <a:off x="6389370" y="1776412"/>
              <a:ext cx="181937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7–9</a:t>
              </a:r>
            </a:p>
          </p:txBody>
        </p:sp>
        <p:sp>
          <p:nvSpPr>
            <p:cNvPr id="19" name="TextBox 19"/>
            <p:cNvSpPr txBox="1"/>
            <p:nvPr/>
          </p:nvSpPr>
          <p:spPr>
            <a:xfrm>
              <a:off x="6390894" y="2980372"/>
              <a:ext cx="2098114"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RTL + testbench</a:t>
              </a:r>
            </a:p>
          </p:txBody>
        </p:sp>
        <p:sp>
          <p:nvSpPr>
            <p:cNvPr id="20" name="TextBox 20"/>
            <p:cNvSpPr txBox="1"/>
            <p:nvPr/>
          </p:nvSpPr>
          <p:spPr>
            <a:xfrm>
              <a:off x="6392418" y="3517582"/>
              <a:ext cx="1799154"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Arithmetic core</a:t>
              </a:r>
              <a:br/>
              <a:r>
                <a:rPr lang="en-US" sz="1650" dirty="0">
                  <a:solidFill>
                    <a:schemeClr val="accent3"/>
                  </a:solidFill>
                  <a:latin typeface="+mn-lt"/>
                  <a:ea typeface="+mn-ea"/>
                  <a:cs typeface="+mn-cs"/>
                </a:rPr>
                <a:t>Bit comparison</a:t>
              </a:r>
              <a:br/>
              <a:r>
                <a:rPr lang="en-US" sz="1650" dirty="0">
                  <a:solidFill>
                    <a:schemeClr val="accent3"/>
                  </a:solidFill>
                  <a:latin typeface="+mn-lt"/>
                  <a:ea typeface="+mn-ea"/>
                  <a:cs typeface="+mn-cs"/>
                </a:rPr>
                <a:t>Prepare integration</a:t>
              </a:r>
            </a:p>
          </p:txBody>
        </p:sp>
      </p:grpSp>
      <p:grpSp>
        <p:nvGrpSpPr>
          <p:cNvPr id="25" name="process-timeline-four-slot Proxy Content"/>
          <p:cNvGrpSpPr/>
          <p:nvPr/>
        </p:nvGrpSpPr>
        <p:grpSpPr>
          <a:xfrm>
            <a:off x="9208770" y="1776412"/>
            <a:ext cx="2175385" cy="2673477"/>
            <a:chOff x="9208770" y="1776412"/>
            <a:chExt cx="2175385" cy="2673477"/>
          </a:xfrm>
        </p:grpSpPr>
        <p:sp>
          <p:nvSpPr>
            <p:cNvPr id="22" name="TextBox 22"/>
            <p:cNvSpPr txBox="1"/>
            <p:nvPr/>
          </p:nvSpPr>
          <p:spPr>
            <a:xfrm>
              <a:off x="9208770" y="1776412"/>
              <a:ext cx="2175385"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10–12</a:t>
              </a:r>
            </a:p>
          </p:txBody>
        </p:sp>
        <p:sp>
          <p:nvSpPr>
            <p:cNvPr id="23" name="TextBox 23"/>
            <p:cNvSpPr txBox="1"/>
            <p:nvPr/>
          </p:nvSpPr>
          <p:spPr>
            <a:xfrm>
              <a:off x="9209532" y="2964180"/>
              <a:ext cx="198713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Board + report</a:t>
              </a:r>
            </a:p>
          </p:txBody>
        </p:sp>
        <p:sp>
          <p:nvSpPr>
            <p:cNvPr id="24" name="TextBox 24"/>
            <p:cNvSpPr txBox="1"/>
            <p:nvPr/>
          </p:nvSpPr>
          <p:spPr>
            <a:xfrm>
              <a:off x="9211818" y="3517582"/>
              <a:ext cx="2125047"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Demo + test</a:t>
              </a:r>
              <a:br/>
              <a:r>
                <a:rPr lang="en-US" sz="1650" dirty="0">
                  <a:solidFill>
                    <a:schemeClr val="accent3"/>
                  </a:solidFill>
                  <a:latin typeface="+mn-lt"/>
                  <a:ea typeface="+mn-ea"/>
                  <a:cs typeface="+mn-cs"/>
                </a:rPr>
                <a:t>Hardware resources</a:t>
              </a:r>
              <a:br/>
              <a:r>
                <a:rPr lang="en-US" sz="1650" dirty="0">
                  <a:solidFill>
                    <a:schemeClr val="accent3"/>
                  </a:solidFill>
                  <a:latin typeface="+mn-lt"/>
                  <a:ea typeface="+mn-ea"/>
                  <a:cs typeface="+mn-cs"/>
                </a:rPr>
                <a:t>Limits and conclusions</a:t>
              </a:r>
            </a:p>
          </p:txBody>
        </p:sp>
      </p:grpSp>
      <p:sp>
        <p:nvSpPr>
          <p:cNvPr id="26" name="process-timeline-takeaway-slot Placeholder Carrier"/>
          <p:cNvSpPr txBox="1"/>
          <p:nvPr>
            <p:ph type="body" idx="5"/>
          </p:nvPr>
        </p:nvSpPr>
        <p:spPr>
          <a:xfrm>
            <a:off x="829818" y="5660708"/>
            <a:ext cx="8079416" cy="322707"/>
          </a:xfrm>
          <a:prstGeom prst="rect">
            <a:avLst/>
          </a:prstGeom>
          <a:noFill/>
          <a:ln>
            <a:noFill/>
          </a:ln>
        </p:spPr>
        <p:txBody>
          <a:bodyPr wrap="none" lIns="0" tIns="0" rIns="0" bIns="0" anchor="t" anchorCtr="0">
            <a:spAutoFit/>
          </a:bodyPr>
          <a:lstStyle/>
          <a:p>
            <a:pPr algn="l" marL="0" indent="0">
              <a:buNone/>
            </a:pPr>
            <a:r>
              <a:rPr lang="en-US" sz="1650" dirty="0">
                <a:solidFill>
                  <a:schemeClr val="dk1"/>
                </a:solidFill>
                <a:latin typeface="+mn-lt"/>
                <a:ea typeface="+mn-ea"/>
                <a:cs typeface="+mn-cs"/>
              </a:rPr>
              <a:t>Each phase has a working deliverable; session 2 follows the instructor's schedule.</a:t>
            </a:r>
          </a:p>
        </p:txBody>
      </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13 / 15</a:t>
            </a:r>
          </a:p>
        </p:txBody>
      </p:sp>
      <p:sp>
        <p:nvSpPr>
          <p:cNvPr id="28" name="Placeholder Binding obj 1" hidden="1"/>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1" name="Placeholder Binding obj 4" hidden="1"/>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8832733"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students, coordinated outputs</a:t>
            </a:r>
          </a:p>
        </p:txBody>
      </p:sp>
      <p:grpSp>
        <p:nvGrpSpPr>
          <p:cNvPr id="13" name="three-card-one-slot Proxy Content"/>
          <p:cNvGrpSpPr/>
          <p:nvPr/>
        </p:nvGrpSpPr>
        <p:grpSpPr>
          <a:xfrm>
            <a:off x="826770" y="2005012"/>
            <a:ext cx="3059430" cy="3254503"/>
            <a:chOff x="826770" y="2005012"/>
            <a:chExt cx="3059430" cy="3254503"/>
          </a:xfrm>
        </p:grpSpPr>
        <p:sp>
          <p:nvSpPr>
            <p:cNvPr id="7" name="TextBox 7"/>
            <p:cNvSpPr txBox="1"/>
            <p:nvPr/>
          </p:nvSpPr>
          <p:spPr>
            <a:xfrm>
              <a:off x="826770" y="2005012"/>
              <a:ext cx="180106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STUDENT 1</a:t>
              </a:r>
            </a:p>
          </p:txBody>
        </p:sp>
        <p:sp>
          <p:nvSpPr>
            <p:cNvPr id="8" name="TextBox 8"/>
            <p:cNvSpPr txBox="1"/>
            <p:nvPr/>
          </p:nvSpPr>
          <p:spPr>
            <a:xfrm>
              <a:off x="827532" y="2573655"/>
              <a:ext cx="1523919"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Data + C++</a:t>
              </a:r>
            </a:p>
          </p:txBody>
        </p:sp>
        <p:sp>
          <p:nvSpPr>
            <p:cNvPr id="9" name="TextBox 9"/>
            <p:cNvSpPr txBox="1"/>
            <p:nvPr/>
          </p:nvSpPr>
          <p:spPr>
            <a:xfrm>
              <a:off x="829818" y="3098482"/>
              <a:ext cx="2823435"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CSV · baselines</a:t>
              </a:r>
              <a:br/>
              <a:r>
                <a:rPr lang="en-US" sz="1650" dirty="0">
                  <a:solidFill>
                    <a:schemeClr val="accent3"/>
                  </a:solidFill>
                  <a:latin typeface="+mn-lt"/>
                  <a:ea typeface="+mn-ea"/>
                  <a:cs typeface="+mn-cs"/>
                </a:rPr>
                <a:t>Coefficients · MAE · reference</a:t>
              </a:r>
            </a:p>
          </p:txBody>
        </p:sp>
        <p:sp>
          <p:nvSpPr>
            <p:cNvPr id="10" name="Line 10"/>
            <p:cNvSpPr/>
            <p:nvPr/>
          </p:nvSpPr>
          <p:spPr>
            <a:xfrm>
              <a:off x="8382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222432"/>
              <a:ext cx="262465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RISK: MISSING HOURS</a:t>
              </a:r>
            </a:p>
          </p:txBody>
        </p:sp>
        <p:sp>
          <p:nvSpPr>
            <p:cNvPr id="12" name="TextBox 12"/>
            <p:cNvSpPr txBox="1"/>
            <p:nvPr/>
          </p:nvSpPr>
          <p:spPr>
            <a:xfrm>
              <a:off x="829818" y="4651058"/>
              <a:ext cx="235836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Validate and repair hours</a:t>
              </a:r>
              <a:br/>
              <a:r>
                <a:rPr lang="en-US" sz="1650" dirty="0">
                  <a:solidFill>
                    <a:schemeClr val="accent3"/>
                  </a:solidFill>
                  <a:latin typeface="+mn-lt"/>
                  <a:ea typeface="+mn-ea"/>
                  <a:cs typeface="+mn-cs"/>
                </a:rPr>
                <a:t>before building samples.</a:t>
              </a:r>
            </a:p>
          </p:txBody>
        </p:sp>
      </p:grpSp>
      <p:grpSp>
        <p:nvGrpSpPr>
          <p:cNvPr id="20" name="three-card-two-slot Proxy Content"/>
          <p:cNvGrpSpPr/>
          <p:nvPr/>
        </p:nvGrpSpPr>
        <p:grpSpPr>
          <a:xfrm>
            <a:off x="4560570" y="2005012"/>
            <a:ext cx="3059430" cy="3254503"/>
            <a:chOff x="4560570" y="2005012"/>
            <a:chExt cx="3059430" cy="3254503"/>
          </a:xfrm>
        </p:grpSpPr>
        <p:sp>
          <p:nvSpPr>
            <p:cNvPr id="14" name="TextBox 14"/>
            <p:cNvSpPr txBox="1"/>
            <p:nvPr/>
          </p:nvSpPr>
          <p:spPr>
            <a:xfrm>
              <a:off x="4560570" y="2005012"/>
              <a:ext cx="180106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STUDENT 2</a:t>
              </a:r>
            </a:p>
          </p:txBody>
        </p:sp>
        <p:sp>
          <p:nvSpPr>
            <p:cNvPr id="15" name="TextBox 15"/>
            <p:cNvSpPr txBox="1"/>
            <p:nvPr/>
          </p:nvSpPr>
          <p:spPr>
            <a:xfrm>
              <a:off x="4561332" y="2573655"/>
              <a:ext cx="245792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Fixed-point + RTL</a:t>
              </a:r>
            </a:p>
          </p:txBody>
        </p:sp>
        <p:sp>
          <p:nvSpPr>
            <p:cNvPr id="16" name="TextBox 16"/>
            <p:cNvSpPr txBox="1"/>
            <p:nvPr/>
          </p:nvSpPr>
          <p:spPr>
            <a:xfrm>
              <a:off x="4563618" y="3098482"/>
              <a:ext cx="2684336"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Buffer · arithmetic core</a:t>
              </a:r>
              <a:br/>
              <a:r>
                <a:rPr lang="en-US" sz="1650" dirty="0">
                  <a:solidFill>
                    <a:schemeClr val="accent3"/>
                  </a:solidFill>
                  <a:latin typeface="+mn-lt"/>
                  <a:ea typeface="+mn-ea"/>
                  <a:cs typeface="+mn-cs"/>
                </a:rPr>
                <a:t>Synthesis · board integration</a:t>
              </a:r>
            </a:p>
          </p:txBody>
        </p:sp>
        <p:sp>
          <p:nvSpPr>
            <p:cNvPr id="17" name="Line 17"/>
            <p:cNvSpPr/>
            <p:nvPr/>
          </p:nvSpPr>
          <p:spPr>
            <a:xfrm>
              <a:off x="45720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8" name="TextBox 18"/>
            <p:cNvSpPr txBox="1"/>
            <p:nvPr/>
          </p:nvSpPr>
          <p:spPr>
            <a:xfrm>
              <a:off x="4563618" y="4222432"/>
              <a:ext cx="212893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RISK: BOARD TBD</a:t>
              </a:r>
            </a:p>
          </p:txBody>
        </p:sp>
        <p:sp>
          <p:nvSpPr>
            <p:cNvPr id="19" name="TextBox 19"/>
            <p:cNvSpPr txBox="1"/>
            <p:nvPr/>
          </p:nvSpPr>
          <p:spPr>
            <a:xfrm>
              <a:off x="4563618" y="4651058"/>
              <a:ext cx="220702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Build a standalone core</a:t>
              </a:r>
              <a:br/>
              <a:r>
                <a:rPr lang="en-US" sz="1650" dirty="0">
                  <a:solidFill>
                    <a:schemeClr val="accent3"/>
                  </a:solidFill>
                  <a:latin typeface="+mn-lt"/>
                  <a:ea typeface="+mn-ea"/>
                  <a:cs typeface="+mn-cs"/>
                </a:rPr>
                <a:t>and simulate it first.</a:t>
              </a:r>
            </a:p>
          </p:txBody>
        </p:sp>
      </p:grpSp>
      <p:grpSp>
        <p:nvGrpSpPr>
          <p:cNvPr id="27" name="three-card-three-slot Proxy Content"/>
          <p:cNvGrpSpPr/>
          <p:nvPr/>
        </p:nvGrpSpPr>
        <p:grpSpPr>
          <a:xfrm>
            <a:off x="8294370" y="2005012"/>
            <a:ext cx="3059430" cy="3254503"/>
            <a:chOff x="8294370" y="2005012"/>
            <a:chExt cx="3059430" cy="3254503"/>
          </a:xfrm>
        </p:grpSpPr>
        <p:sp>
          <p:nvSpPr>
            <p:cNvPr id="21" name="TextBox 21"/>
            <p:cNvSpPr txBox="1"/>
            <p:nvPr/>
          </p:nvSpPr>
          <p:spPr>
            <a:xfrm>
              <a:off x="8294370" y="2005012"/>
              <a:ext cx="180106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STUDENT 3</a:t>
              </a:r>
            </a:p>
          </p:txBody>
        </p:sp>
        <p:sp>
          <p:nvSpPr>
            <p:cNvPr id="22" name="TextBox 22"/>
            <p:cNvSpPr txBox="1"/>
            <p:nvPr/>
          </p:nvSpPr>
          <p:spPr>
            <a:xfrm>
              <a:off x="8295132" y="2573655"/>
              <a:ext cx="264626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Verification + demo</a:t>
              </a:r>
            </a:p>
          </p:txBody>
        </p:sp>
        <p:sp>
          <p:nvSpPr>
            <p:cNvPr id="23" name="TextBox 23"/>
            <p:cNvSpPr txBox="1"/>
            <p:nvPr/>
          </p:nvSpPr>
          <p:spPr>
            <a:xfrm>
              <a:off x="8297418" y="3098482"/>
              <a:ext cx="2020020"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Vectors · bit checking</a:t>
              </a:r>
              <a:br/>
              <a:r>
                <a:rPr lang="en-US" sz="1650" dirty="0">
                  <a:solidFill>
                    <a:schemeClr val="accent3"/>
                  </a:solidFill>
                  <a:latin typeface="+mn-lt"/>
                  <a:ea typeface="+mn-ea"/>
                  <a:cs typeface="+mn-cs"/>
                </a:rPr>
                <a:t>I/O · result logs</a:t>
              </a:r>
            </a:p>
          </p:txBody>
        </p:sp>
        <p:sp>
          <p:nvSpPr>
            <p:cNvPr id="24" name="Line 24"/>
            <p:cNvSpPr/>
            <p:nvPr/>
          </p:nvSpPr>
          <p:spPr>
            <a:xfrm>
              <a:off x="83058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5" name="TextBox 25"/>
            <p:cNvSpPr txBox="1"/>
            <p:nvPr/>
          </p:nvSpPr>
          <p:spPr>
            <a:xfrm>
              <a:off x="8297418" y="4222432"/>
              <a:ext cx="2220372"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RISK: HIGH ERROR</a:t>
              </a:r>
            </a:p>
          </p:txBody>
        </p:sp>
        <p:sp>
          <p:nvSpPr>
            <p:cNvPr id="26" name="TextBox 26"/>
            <p:cNvSpPr txBox="1"/>
            <p:nvPr/>
          </p:nvSpPr>
          <p:spPr>
            <a:xfrm>
              <a:off x="8297418" y="4651058"/>
              <a:ext cx="253253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Revisit validation together;</a:t>
              </a:r>
              <a:br/>
              <a:r>
                <a:rPr lang="en-US" sz="1650" dirty="0">
                  <a:solidFill>
                    <a:schemeClr val="accent3"/>
                  </a:solidFill>
                  <a:latin typeface="+mn-lt"/>
                  <a:ea typeface="+mn-ea"/>
                  <a:cs typeface="+mn-cs"/>
                </a:rPr>
                <a:t>report test results honestly.</a:t>
              </a:r>
            </a:p>
          </p:txBody>
        </p:sp>
      </p:grpSp>
      <p:sp>
        <p:nvSpPr>
          <p:cNvPr id="28"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14 / 15</a:t>
            </a:r>
          </a:p>
        </p:txBody>
      </p:sp>
      <p:grpSp>
        <p:nvGrpSpPr>
          <p:cNvPr id="30" name="shared-interface"/>
          <p:cNvGrpSpPr/>
          <p:nvPr/>
        </p:nvGrpSpPr>
        <p:grpSpPr>
          <a:xfrm>
            <a:off x="601218" y="6289358"/>
            <a:ext cx="7679360" cy="322707"/>
            <a:chOff x="601218" y="6289358"/>
            <a:chExt cx="7679360" cy="322707"/>
          </a:xfrm>
        </p:grpSpPr>
        <p:sp>
          <p:nvSpPr>
            <p:cNvPr id="29" name="TextBox 29"/>
            <p:cNvSpPr txBox="1"/>
            <p:nvPr/>
          </p:nvSpPr>
          <p:spPr>
            <a:xfrm>
              <a:off x="601218" y="6289358"/>
              <a:ext cx="767936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Agree on data, coefficients, signedness, rounding/overflow, valid, and latency.</a:t>
              </a:r>
            </a:p>
          </p:txBody>
        </p:sp>
      </p:grpSp>
      <p:sp>
        <p:nvSpPr>
          <p:cNvPr id="31"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2"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3"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106235"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One forecast, two claims to verify</a:t>
            </a:r>
          </a:p>
        </p:txBody>
      </p:sp>
      <p:grpSp>
        <p:nvGrpSpPr>
          <p:cNvPr id="11" name="closing-proofs Proxy Content"/>
          <p:cNvGrpSpPr/>
          <p:nvPr/>
        </p:nvGrpSpPr>
        <p:grpSpPr>
          <a:xfrm>
            <a:off x="976122" y="1864042"/>
            <a:ext cx="6131121" cy="2891981"/>
            <a:chOff x="976122" y="1864042"/>
            <a:chExt cx="6131121" cy="2891981"/>
          </a:xfrm>
        </p:grpSpPr>
        <p:sp>
          <p:nvSpPr>
            <p:cNvPr id="6" name="TextBox 6"/>
            <p:cNvSpPr txBox="1"/>
            <p:nvPr/>
          </p:nvSpPr>
          <p:spPr>
            <a:xfrm>
              <a:off x="976122" y="1864042"/>
              <a:ext cx="6131121"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Linear model → temperature +3 h</a:t>
              </a:r>
            </a:p>
          </p:txBody>
        </p:sp>
        <p:sp>
          <p:nvSpPr>
            <p:cNvPr id="7" name="TextBox 7"/>
            <p:cNvSpPr txBox="1"/>
            <p:nvPr/>
          </p:nvSpPr>
          <p:spPr>
            <a:xfrm>
              <a:off x="979170" y="2709862"/>
              <a:ext cx="277720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Forecast quality</a:t>
              </a:r>
            </a:p>
          </p:txBody>
        </p:sp>
        <p:sp>
          <p:nvSpPr>
            <p:cNvPr id="8" name="TextBox 8"/>
            <p:cNvSpPr txBox="1"/>
            <p:nvPr/>
          </p:nvSpPr>
          <p:spPr>
            <a:xfrm>
              <a:off x="979932" y="3173730"/>
              <a:ext cx="515392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Compare with baselines on unseen data.</a:t>
              </a:r>
            </a:p>
          </p:txBody>
        </p:sp>
        <p:sp>
          <p:nvSpPr>
            <p:cNvPr id="9" name="TextBox 9"/>
            <p:cNvSpPr txBox="1"/>
            <p:nvPr/>
          </p:nvSpPr>
          <p:spPr>
            <a:xfrm>
              <a:off x="979170" y="3881438"/>
              <a:ext cx="363683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Hardware correctness</a:t>
              </a:r>
            </a:p>
          </p:txBody>
        </p:sp>
        <p:sp>
          <p:nvSpPr>
            <p:cNvPr id="10" name="TextBox 10"/>
            <p:cNvSpPr txBox="1"/>
            <p:nvPr/>
          </p:nvSpPr>
          <p:spPr>
            <a:xfrm>
              <a:off x="979932" y="4345305"/>
              <a:ext cx="493422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RTL matches the fixed-point reference.</a:t>
              </a:r>
            </a:p>
          </p:txBody>
        </p:sp>
      </p:grpSp>
      <p:sp>
        <p:nvSpPr>
          <p:cNvPr id="12" name="closing-questions Placeholder Carrier"/>
          <p:cNvSpPr txBox="1"/>
          <p:nvPr>
            <p:ph type="body" idx="2"/>
          </p:nvPr>
        </p:nvSpPr>
        <p:spPr>
          <a:xfrm>
            <a:off x="598932" y="5383530"/>
            <a:ext cx="6936547" cy="810768"/>
          </a:xfrm>
          <a:prstGeom prst="rect">
            <a:avLst/>
          </a:prstGeom>
          <a:noFill/>
          <a:ln>
            <a:noFill/>
          </a:ln>
        </p:spPr>
        <p:txBody>
          <a:bodyPr wrap="none" lIns="0" tIns="0" rIns="0" bIns="0" anchor="t" anchorCtr="0">
            <a:noAutofit/>
          </a:bodyPr>
          <a:lstStyle/>
          <a:p>
            <a:pPr algn="l" marL="0" indent="0">
              <a:lnSpc>
                <a:spcPts val="3150"/>
              </a:lnSpc>
              <a:buNone/>
            </a:pPr>
            <a:r>
              <a:rPr lang="en-US" sz="2100" dirty="0">
                <a:solidFill>
                  <a:schemeClr val="dk1"/>
                </a:solidFill>
                <a:latin typeface="+mn-lt"/>
                <a:ea typeface="+mn-ea"/>
                <a:cs typeface="+mn-cs"/>
              </a:rPr>
              <a:t>Instructor input: +3 h scope · board/tools · minimum demo.</a:t>
            </a:r>
            <a:br/>
            <a:r>
              <a:rPr lang="en-US" sz="2100" dirty="0">
                <a:solidFill>
                  <a:schemeClr val="dk1"/>
                </a:solidFill>
                <a:latin typeface="+mn-lt"/>
                <a:ea typeface="+mn-ea"/>
                <a:cs typeface="+mn-cs"/>
              </a:rPr>
              <a:t>Add humidity/pressure only after the core is complete.</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2026-09-24T09:46:09Z</dcterms:created>
  <dcterms:modified xsi:type="dcterms:W3CDTF">2026-09-24T09:46:09Z</dcterms:modified>
  <cp:category/>
  <cp:contentStatus/>
</cp:coreProperties>
</file>