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forecasting system on FPGA using a linear time-series model built from past values. This is a focused, rigorous realization of the assigned weather forecasting topic. Today we present our proposed algorithmic model, hardware micro-architecture, and upgraded twelve-week execution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deliberately narrow the broad weather forecasting topic down to hourly temperature at a specific geographic location. At hour t, the model ingests observations available up to t and outputs a forecast for t plus three hours in degrees Celsius. A linear model provides clear, auditable arithmetic that we can reproduce identically in C++ and RTL within three months. FPGA speedup is not our claim for data that arrives only once an hour; our real objective is mastering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separates offline algorithmic training from FPGA runtime inference. Offline in C++, we clean the NASA CSV dataset, establish baseline metrics, solve for model weights using least squares, and generate a bit-exact fixed-point golden reference alongside test vectors. The FPGA accepts sequential samples, buffers the history, and computes predictions with fixed coefficients on-chip. Our tangible deliverables include the C++ reference suite, synthesizable RTL, testbench, board demo, and comprehensive resource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slide consolidates our mathematical model, physical tap meanings, and arithmetic execution. Relative to our forecast target at t plus three hours, the sample at t minus twenty-one hours acts as the diurnal anchor—exactly the same hour yesterday. The difference T(t) minus T(t minus twenty-four) captures the day-to-day trend, while T(t) minus T(t minus three) tracks the recent three-hour temperature gradient. In our numerical walkthrough, past temperatures of nineteen, twenty-one, eighteen, and twenty degrees Celsius with weights zero-point-five and zero-point-two yield a forecast of twenty-one point nine degrees Celsius through subtraction, multiplication, and an adder tree. A twenty-five sample buffer stores samples t minus twenty-four through t, while the future target stays strictly on the host PC.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formulate the model as an Ordinary Least Squares problem: x one is the day-to-day change, x two is the recent three-hour change, and target y is the offset from the diurnal anchor. C++ fits weights a, b, and constant c on historical training data using the Eigen library. To prevent look-ahead data leakage, we enforce a strict chronological split into training, validation, and held-out test periods. Previously observed history crosses split boundaries only as input buffer context, never as future labels.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establish scientific value, we must answer whether our linear model outperforms simple, no-math heuristics. We evaluate all methods using Mean Absolute Error in degrees Celsius across identical test timestamps. We benchmark against two naive baselines: Persistence, which assumes the temperature remains unchanged from t, and Diurnal, which assumes today exactly repeats yesterday at the same hour. If our linear model does not outperform these baselines, we analyze the residuals and report the findings with full academic integrity.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Fixed-point hardware implementation begins by profiling dynamic ranges across historical records: capturing sub-zero winter temperatures, peak summer heat, and coefficient magnitudes. We select an optimal signed Q-format, such as Q8.8 or Q10.6, balancing integer headroom against fractional precision. Our C++ fixed-point golden model mirrors every RTL truncation, shift, and saturation rule bit-for-bit. This separates statistical forecasting error against ground truth from quantization noise against floating point, enabling one hundred percent bit-exact RTL verification.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ensure project feasibility while demonstrating substantial engineering depth for three students, we divide our roadmap into two distinct phases. Phase one is our Core MVP, executed during Weeks one through six. It establishes a guaranteed working baseline: a single-variable temperature predictor, a twenty-five stage shift register buffer, and a synthesizable RTL core verified against C++. Phase two, running from Weeks seven to twelve, expands into advanced extensions: multi-variable features including relative humidity and pressure, an architectural trade-off study, and code-coverage verification. This two-phase strategy eliminates semester failure risk early.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we map the mathematical taps directly to the hardware datapath. A twenty-five stage shift register receives incoming samples when valid is asserted. Dedicated taps extract the four required indices, feeding two subtraction stages, two fixed-coefficient multipliers, and a pipelined adder tree with saturation logic. A delay of one sample represents one real-world hour in data, whereas hardware latency is only two to four clock cycles. The circuit produces a forecast in nanoseconds, never waiting three real hours.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hardware demonstration replays historical CSV records from a host PC to the FPGA in accelerated time. Samples are transmitted via UART milliseconds apart rather than hours apart, allowing us to demonstrate over one thousand sequential predictions in under two minutes. The FPGA processes each incoming sample, updates its buffer, and streams back the forecast. A host Python dashboard compares the prediction against the held-out target label and plots live error curves without any future data leakage.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Verification proceeds across three hierarchical layers using identical test vectors. In Layer one, C++ compares floating-point against fixed-point arithmetic to measure quantization noise and test boundary conditions. In Layer two, the RTL simulation testbench verifies cycle-by-cycle valid handshakes, reset behavior, and buffer warm-up, requiring zero bit differences against the golden model. In Layer three, physical board tests validate UART timing, packet byte order, and end-to-end scoreboard synchronization.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As part of our Phase two engineering exploration, we conduct an architectural trade-off study comparing two distinct micro-architectures. Architecture A implements a fully parallel pipelined DSP datapath with dedicated multipliers for maximum throughput, targeting high-speed multi-channel sensing. Architecture B implements a resource-shared single-MAC architecture driven by a finite state machine, time-multiplexing multiplications into a single DSP slice or LUT-based multiplier. We will synthesize both architectures on our target FPGA and compare LUTs, DSP slices, and maximum operating frequency.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upgraded twelve-week schedule establishes four concrete milestones, each yielding a working deliverable. Weeks one to three deliver clean NASA data, baselines, and C++ floating-point training. Weeks four to six complete the Phase one Core MVP with a synthesizable RTL core and bit-exact simulation. Weeks seven to nine advance Phase two with multi-variable modeling, the shared-MAC architecture, and UART controller integration. Weeks ten to twelve finalize the live hardware demonstration, code coverage, synthesis resource analysis, and defense report.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workload is evenly distributed across three students across both project phases. Student One leads algorithms and data, delivering the C++ golden model in Phase one and multi-variable modeling in Phase two. Student Two leads RTL design, building the pipelined datapath in Phase one and conducting the architectural trade-off study in Phase two. Student Three leads verification and demo, constructing the bit-exact testbench in Phase one and integrating the UART controller and live PC dashboard in Phase two. All interfaces and arithmetic conventions are agreed upon at kickoff.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summary, our project delivers a three-hour-ahead temperature forecasting system on FPGA, rigorously backed by two distinct proofs: proving forecasting quality against naive baselines on unseen data, and proving hardware correctness bit-for-bit against a golden fixed-point model. Before we proceed, we welcome the professor's feedback on our three-hour prediction scope, recommended FPGA board and toolchain, and minimum demo expectations. Thank you for your time, and we look forward to your guidance.</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expanded-rule Layout"/>
          <p:cNvSpPr/>
          <p:nvPr/>
        </p:nvSpPr>
        <p:spPr>
          <a:xfrm>
            <a:off x="609600" y="1143000"/>
            <a:ext cx="10972800" cy="19050"/>
          </a:xfrm>
          <a:prstGeom prst="rect">
            <a:avLst/>
          </a:prstGeom>
          <a:solidFill>
            <a:schemeClr val="accent6"/>
          </a:solidFill>
          <a:ln>
            <a:noFill/>
          </a:ln>
        </p:spPr>
      </p:sp>
      <p:sp>
        <p:nvSpPr>
          <p:cNvPr id="3" name="cover-expanded-title-slot Placeholder"/>
          <p:cNvSpPr>
            <a:spLocks noGrp="1"/>
          </p:cNvSpPr>
          <p:nvPr>
            <p:ph type="title"/>
          </p:nvPr>
        </p:nvSpPr>
        <p:spPr>
          <a:xfrm>
            <a:off x="609600" y="1524000"/>
            <a:ext cx="10972800" cy="13335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cover-expanded-subtitle-slot Placeholder"/>
          <p:cNvSpPr>
            <a:spLocks noGrp="1"/>
          </p:cNvSpPr>
          <p:nvPr>
            <p:ph type="subTitle" idx="1"/>
          </p:nvPr>
        </p:nvSpPr>
        <p:spPr>
          <a:xfrm>
            <a:off x="609600" y="3048000"/>
            <a:ext cx="10972800" cy="66675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subtitle</a:t>
            </a:r>
            <a:endParaRPr lang="en-US"/>
          </a:p>
        </p:txBody>
      </p:sp>
      <p:sp>
        <p:nvSpPr>
          <p:cNvPr id="5" name="cover-expanded-body-slot Placeholder"/>
          <p:cNvSpPr>
            <a:spLocks noGrp="1"/>
          </p:cNvSpPr>
          <p:nvPr>
            <p:ph type="body" idx="2"/>
          </p:nvPr>
        </p:nvSpPr>
        <p:spPr>
          <a:xfrm>
            <a:off x="609600" y="5048250"/>
            <a:ext cx="10972800" cy="666750"/>
          </a:xfrm>
          <a:prstGeom prst="rect">
            <a:avLst/>
          </a:prstGeom>
          <a:noFill/>
          <a:ln>
            <a:noFill/>
          </a:ln>
        </p:spPr>
        <p:txBody>
          <a:bodyPr wrap="square" lIns="0" tIns="0" rIns="0" bIns="0" anchor="ctr" anchorCtr="0">
            <a:noAutofit/>
          </a:bodyPr>
          <a:lstStyle>
            <a:lvl1pPr marL="0" indent="0">
              <a:buNone/>
              <a:defRPr sz="1950" lang="en-US"/>
            </a:lvl1pPr>
          </a:lstStyle>
          <a:p>
            <a:pPr algn="l" marL="0" indent="0">
              <a:buNone/>
            </a:pPr>
            <a:r>
              <a:rPr lang="en-US" sz="1950" dirty="0">
                <a:solidFill>
                  <a:schemeClr val="accent3"/>
                </a:solidFill>
                <a:latin typeface="+mn-lt"/>
                <a:ea typeface="+mn-ea"/>
                <a:cs typeface="+mn-cs"/>
              </a:rPr>
              <a:t>Click to add text</a:t>
            </a:r>
            <a:endParaRPr lang="en-US"/>
          </a:p>
        </p:txBody>
      </p:sp>
      <p:sp>
        <p:nvSpPr>
          <p:cNvPr id="6"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03FB9AAB-E96F-419D-835D-DBE039071F01}" type="slidenum">
              <a:rPr lang="en-US" sz="1200" dirty="0">
                <a:solidFill>
                  <a:schemeClr val="accent3"/>
                </a:solidFill>
                <a:latin typeface="+mn-lt"/>
                <a:ea typeface="+mn-ea"/>
                <a:cs typeface="+mn-cs"/>
              </a:rPr>
              <a:t>‹#›</a:t>
            </a:fld>
            <a:endParaRPr lang="en-US"/>
          </a:p>
        </p:txBody>
      </p:sp>
    </p:spTree>
    <p:extLst>
      <p:ext uri="{BB962C8B-B14F-4D97-AF65-F5344CB8AC3E}">
        <p14:creationId val="3107046398"/>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E74E2A4A-CA76-49D8-AE24-4532BE0F9B40}" type="slidenum">
              <a:rPr lang="en-US" sz="1200" dirty="0">
                <a:solidFill>
                  <a:schemeClr val="accent3"/>
                </a:solidFill>
                <a:latin typeface="+mn-lt"/>
                <a:ea typeface="+mn-ea"/>
                <a:cs typeface="+mn-cs"/>
              </a:rPr>
              <a:t>‹#›</a:t>
            </a:fld>
            <a:endParaRPr lang="en-US"/>
          </a:p>
        </p:txBody>
      </p:sp>
    </p:spTree>
    <p:extLst>
      <p:ext uri="{BB962C8B-B14F-4D97-AF65-F5344CB8AC3E}">
        <p14:creationId val="2197647658"/>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1800" lang="en-US"/>
            </a:lvl1pPr>
          </a:lstStyle>
          <a:p>
            <a:pPr algn="l" marL="0" indent="0">
              <a:buNone/>
            </a:pPr>
            <a:r>
              <a:rPr lang="en-US" sz="1800" b="1" dirty="0">
                <a:solidFill>
                  <a:schemeClr val="accent2"/>
                </a:solidFill>
                <a:latin typeface="+mn-lt"/>
                <a:ea typeface="+mn-ea"/>
                <a:cs typeface="+mn-cs"/>
              </a:rPr>
              <a:t>Click to add text</a:t>
            </a:r>
            <a:endParaRPr lang="en-US"/>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1800" lang="en-US"/>
            </a:lvl1pPr>
          </a:lstStyle>
          <a:p>
            <a:pPr algn="l" marL="0" indent="0">
              <a:buNone/>
            </a:pPr>
            <a:r>
              <a:rPr lang="en-US" sz="1800" b="1" dirty="0">
                <a:solidFill>
                  <a:schemeClr val="accent2"/>
                </a:solidFill>
                <a:latin typeface="+mn-lt"/>
                <a:ea typeface="+mn-ea"/>
                <a:cs typeface="+mn-cs"/>
              </a:rPr>
              <a:t>Click to add text</a:t>
            </a:r>
            <a:endParaRPr lang="en-US"/>
          </a:p>
        </p:txBody>
      </p:sp>
      <p:sp>
        <p:nvSpPr>
          <p:cNvPr id="8" name="comparison-left-content-slot Placeholder"/>
          <p:cNvSpPr>
            <a:spLocks noGrp="1"/>
          </p:cNvSpPr>
          <p:nvPr>
            <p:ph type="obj" idx="2"/>
          </p:nvPr>
        </p:nvSpPr>
        <p:spPr>
          <a:xfrm>
            <a:off x="838200" y="2362200"/>
            <a:ext cx="4800600" cy="3619500"/>
          </a:xfrm>
          <a:prstGeom prst="rect">
            <a:avLst/>
          </a:prstGeom>
          <a:noFill/>
          <a:ln>
            <a:noFill/>
          </a:ln>
        </p:spPr>
        <p:txBody>
          <a:bodyPr wrap="square" anchor="ctr" anchorCtr="0">
            <a:noAutofit/>
          </a:bodyPr>
          <a:lstStyle/>
          <a:p>
            <a:r>
              <a:rPr lang="en-US"/>
              <a:t>Click to add content</a:t>
            </a:r>
            <a:endParaRPr lang="en-US"/>
          </a:p>
        </p:txBody>
      </p:sp>
      <p:sp>
        <p:nvSpPr>
          <p:cNvPr id="9" name="comparison-right-content-slot Placeholder"/>
          <p:cNvSpPr>
            <a:spLocks noGrp="1"/>
          </p:cNvSpPr>
          <p:nvPr>
            <p:ph type="obj" idx="4"/>
          </p:nvPr>
        </p:nvSpPr>
        <p:spPr>
          <a:xfrm>
            <a:off x="6553200" y="2362200"/>
            <a:ext cx="4800600" cy="3619500"/>
          </a:xfrm>
          <a:prstGeom prst="rect">
            <a:avLst/>
          </a:prstGeom>
          <a:noFill/>
          <a:ln>
            <a:noFill/>
          </a:ln>
        </p:spPr>
        <p:txBody>
          <a:bodyPr wrap="square" anchor="ctr" anchorCtr="0">
            <a:noAutofit/>
          </a:bodyPr>
          <a:lstStyle/>
          <a:p>
            <a:r>
              <a:rPr lang="en-US"/>
              <a:t>Click to add content</a:t>
            </a:r>
            <a:endParaRPr lang="en-US"/>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96B357F6-A187-4E71-A04C-9D4789EA0C32}" type="slidenum">
              <a:rPr lang="en-US" sz="1200" dirty="0">
                <a:solidFill>
                  <a:schemeClr val="accent3"/>
                </a:solidFill>
                <a:latin typeface="+mn-lt"/>
                <a:ea typeface="+mn-ea"/>
                <a:cs typeface="+mn-cs"/>
              </a:rPr>
              <a:t>‹#›</a:t>
            </a:fld>
            <a:endParaRPr lang="en-US"/>
          </a:p>
        </p:txBody>
      </p:sp>
    </p:spTree>
    <p:extLst>
      <p:ext uri="{BB962C8B-B14F-4D97-AF65-F5344CB8AC3E}">
        <p14:creationId val="2019771980"/>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381500"/>
          </a:xfrm>
          <a:prstGeom prst="roundRect">
            <a:avLst>
              <a:gd name="adj" fmla="val 1087"/>
            </a:avLst>
          </a:prstGeom>
          <a:solidFill>
            <a:schemeClr val="lt2"/>
          </a:solidFill>
          <a:ln>
            <a:noFill/>
          </a:ln>
        </p:spPr>
      </p:sp>
      <p:sp>
        <p:nvSpPr>
          <p:cNvPr id="3" name="three-card-panel-two Layout"/>
          <p:cNvSpPr/>
          <p:nvPr/>
        </p:nvSpPr>
        <p:spPr>
          <a:xfrm>
            <a:off x="4343400" y="1600200"/>
            <a:ext cx="3505200" cy="4381500"/>
          </a:xfrm>
          <a:prstGeom prst="roundRect">
            <a:avLst>
              <a:gd name="adj" fmla="val 1087"/>
            </a:avLst>
          </a:prstGeom>
          <a:solidFill>
            <a:schemeClr val="lt2"/>
          </a:solidFill>
          <a:ln>
            <a:noFill/>
          </a:ln>
        </p:spPr>
      </p:sp>
      <p:sp>
        <p:nvSpPr>
          <p:cNvPr id="4" name="three-card-panel-three Layout"/>
          <p:cNvSpPr/>
          <p:nvPr/>
        </p:nvSpPr>
        <p:spPr>
          <a:xfrm>
            <a:off x="8077200" y="1600200"/>
            <a:ext cx="3505200" cy="43815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three-card-one-slot Placeholder"/>
          <p:cNvSpPr>
            <a:spLocks noGrp="1"/>
          </p:cNvSpPr>
          <p:nvPr>
            <p:ph type="obj" idx="1"/>
          </p:nvPr>
        </p:nvSpPr>
        <p:spPr>
          <a:xfrm>
            <a:off x="838200" y="1828800"/>
            <a:ext cx="3048000" cy="3905250"/>
          </a:xfrm>
          <a:prstGeom prst="rect">
            <a:avLst/>
          </a:prstGeom>
          <a:noFill/>
          <a:ln>
            <a:noFill/>
          </a:ln>
        </p:spPr>
        <p:txBody>
          <a:bodyPr wrap="square" anchor="ctr" anchorCtr="0">
            <a:noAutofit/>
          </a:bodyPr>
          <a:lstStyle/>
          <a:p>
            <a:r>
              <a:rPr lang="en-US"/>
              <a:t>Click to add content</a:t>
            </a:r>
            <a:endParaRPr lang="en-US"/>
          </a:p>
        </p:txBody>
      </p:sp>
      <p:sp>
        <p:nvSpPr>
          <p:cNvPr id="7" name="three-card-two-slot Placeholder"/>
          <p:cNvSpPr>
            <a:spLocks noGrp="1"/>
          </p:cNvSpPr>
          <p:nvPr>
            <p:ph type="obj" idx="2"/>
          </p:nvPr>
        </p:nvSpPr>
        <p:spPr>
          <a:xfrm>
            <a:off x="4572000" y="1828800"/>
            <a:ext cx="3048000" cy="3905250"/>
          </a:xfrm>
          <a:prstGeom prst="rect">
            <a:avLst/>
          </a:prstGeom>
          <a:noFill/>
          <a:ln>
            <a:noFill/>
          </a:ln>
        </p:spPr>
        <p:txBody>
          <a:bodyPr wrap="square" anchor="ctr" anchorCtr="0">
            <a:noAutofit/>
          </a:bodyPr>
          <a:lstStyle/>
          <a:p>
            <a:r>
              <a:rPr lang="en-US"/>
              <a:t>Click to add content</a:t>
            </a:r>
            <a:endParaRPr lang="en-US"/>
          </a:p>
        </p:txBody>
      </p:sp>
      <p:sp>
        <p:nvSpPr>
          <p:cNvPr id="8" name="three-card-three-slot Placeholder"/>
          <p:cNvSpPr>
            <a:spLocks noGrp="1"/>
          </p:cNvSpPr>
          <p:nvPr>
            <p:ph type="obj" idx="3"/>
          </p:nvPr>
        </p:nvSpPr>
        <p:spPr>
          <a:xfrm>
            <a:off x="8305800" y="1828800"/>
            <a:ext cx="3048000" cy="3905250"/>
          </a:xfrm>
          <a:prstGeom prst="rect">
            <a:avLst/>
          </a:prstGeom>
          <a:noFill/>
          <a:ln>
            <a:noFill/>
          </a:ln>
        </p:spPr>
        <p:txBody>
          <a:bodyPr wrap="square" anchor="ctr" anchorCtr="0">
            <a:noAutofit/>
          </a:bodyPr>
          <a:lstStyle/>
          <a:p>
            <a:r>
              <a:rPr lang="en-US"/>
              <a:t>Click to add content</a:t>
            </a:r>
            <a:endParaRPr lang="en-US"/>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24D059F4-9D05-4AD5-B0FA-51CD3C08D40B}" type="slidenum">
              <a:rPr lang="en-US" sz="1200" dirty="0">
                <a:solidFill>
                  <a:schemeClr val="accent3"/>
                </a:solidFill>
                <a:latin typeface="+mn-lt"/>
                <a:ea typeface="+mn-ea"/>
                <a:cs typeface="+mn-cs"/>
              </a:rPr>
              <a:t>‹#›</a:t>
            </a:fld>
            <a:endParaRPr lang="en-US"/>
          </a:p>
        </p:txBody>
      </p:sp>
    </p:spTree>
    <p:extLst>
      <p:ext uri="{BB962C8B-B14F-4D97-AF65-F5344CB8AC3E}">
        <p14:creationId val="441959437"/>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2860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1717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1717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1717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1717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9" name="process-timeline-one-slot Placeholder"/>
          <p:cNvSpPr>
            <a:spLocks noGrp="1"/>
          </p:cNvSpPr>
          <p:nvPr>
            <p:ph type="obj" idx="1"/>
          </p:nvPr>
        </p:nvSpPr>
        <p:spPr>
          <a:xfrm>
            <a:off x="762000" y="1428750"/>
            <a:ext cx="2209800" cy="3619500"/>
          </a:xfrm>
          <a:prstGeom prst="rect">
            <a:avLst/>
          </a:prstGeom>
          <a:noFill/>
          <a:ln>
            <a:noFill/>
          </a:ln>
        </p:spPr>
        <p:txBody>
          <a:bodyPr wrap="square" anchor="ctr" anchorCtr="0">
            <a:noAutofit/>
          </a:bodyPr>
          <a:lstStyle/>
          <a:p>
            <a:r>
              <a:rPr lang="en-US"/>
              <a:t>Click to add content</a:t>
            </a:r>
            <a:endParaRPr lang="en-US"/>
          </a:p>
        </p:txBody>
      </p:sp>
      <p:sp>
        <p:nvSpPr>
          <p:cNvPr id="10" name="process-timeline-two-slot Placeholder"/>
          <p:cNvSpPr>
            <a:spLocks noGrp="1"/>
          </p:cNvSpPr>
          <p:nvPr>
            <p:ph type="obj" idx="2"/>
          </p:nvPr>
        </p:nvSpPr>
        <p:spPr>
          <a:xfrm>
            <a:off x="3581400" y="1428750"/>
            <a:ext cx="2209800" cy="3619500"/>
          </a:xfrm>
          <a:prstGeom prst="rect">
            <a:avLst/>
          </a:prstGeom>
          <a:noFill/>
          <a:ln>
            <a:noFill/>
          </a:ln>
        </p:spPr>
        <p:txBody>
          <a:bodyPr wrap="square" anchor="ctr" anchorCtr="0">
            <a:noAutofit/>
          </a:bodyPr>
          <a:lstStyle/>
          <a:p>
            <a:r>
              <a:rPr lang="en-US"/>
              <a:t>Click to add content</a:t>
            </a:r>
            <a:endParaRPr lang="en-US"/>
          </a:p>
        </p:txBody>
      </p:sp>
      <p:sp>
        <p:nvSpPr>
          <p:cNvPr id="11" name="process-timeline-three-slot Placeholder"/>
          <p:cNvSpPr>
            <a:spLocks noGrp="1"/>
          </p:cNvSpPr>
          <p:nvPr>
            <p:ph type="obj" idx="3"/>
          </p:nvPr>
        </p:nvSpPr>
        <p:spPr>
          <a:xfrm>
            <a:off x="6400800" y="1428750"/>
            <a:ext cx="2209800" cy="3619500"/>
          </a:xfrm>
          <a:prstGeom prst="rect">
            <a:avLst/>
          </a:prstGeom>
          <a:noFill/>
          <a:ln>
            <a:noFill/>
          </a:ln>
        </p:spPr>
        <p:txBody>
          <a:bodyPr wrap="square" anchor="ctr" anchorCtr="0">
            <a:noAutofit/>
          </a:bodyPr>
          <a:lstStyle/>
          <a:p>
            <a:r>
              <a:rPr lang="en-US"/>
              <a:t>Click to add content</a:t>
            </a:r>
            <a:endParaRPr lang="en-US"/>
          </a:p>
        </p:txBody>
      </p:sp>
      <p:sp>
        <p:nvSpPr>
          <p:cNvPr id="12" name="process-timeline-four-slot Placeholder"/>
          <p:cNvSpPr>
            <a:spLocks noGrp="1"/>
          </p:cNvSpPr>
          <p:nvPr>
            <p:ph type="obj" idx="4"/>
          </p:nvPr>
        </p:nvSpPr>
        <p:spPr>
          <a:xfrm>
            <a:off x="9220200" y="1428750"/>
            <a:ext cx="2209800" cy="3619500"/>
          </a:xfrm>
          <a:prstGeom prst="rect">
            <a:avLst/>
          </a:prstGeom>
          <a:noFill/>
          <a:ln>
            <a:noFill/>
          </a:ln>
        </p:spPr>
        <p:txBody>
          <a:bodyPr wrap="square" anchor="ctr" anchorCtr="0">
            <a:noAutofit/>
          </a:bodyPr>
          <a:lstStyle/>
          <a:p>
            <a:r>
              <a:rPr lang="en-US"/>
              <a:t>Click to add content</a:t>
            </a:r>
            <a:endParaRPr lang="en-US"/>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800" lang="en-US"/>
            </a:lvl1pPr>
          </a:lstStyle>
          <a:p>
            <a:pPr algn="l" marL="0" indent="0">
              <a:buNone/>
            </a:pPr>
            <a:r>
              <a:rPr lang="en-US" sz="1800" b="1" dirty="0">
                <a:solidFill>
                  <a:schemeClr val="dk1"/>
                </a:solidFill>
                <a:latin typeface="+mn-lt"/>
                <a:ea typeface="+mn-ea"/>
                <a:cs typeface="+mn-cs"/>
              </a:rPr>
              <a:t>Click to add text</a:t>
            </a:r>
            <a:endParaRPr lang="en-US"/>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4A9EE6F0-212C-435C-966A-7DB462215526}" type="slidenum">
              <a:rPr lang="en-US" sz="1200" dirty="0">
                <a:solidFill>
                  <a:schemeClr val="accent3"/>
                </a:solidFill>
                <a:latin typeface="+mn-lt"/>
                <a:ea typeface="+mn-ea"/>
                <a:cs typeface="+mn-cs"/>
              </a:rPr>
              <a:t>‹#›</a:t>
            </a:fld>
            <a:endParaRPr lang="en-US"/>
          </a:p>
        </p:txBody>
      </p:sp>
    </p:spTree>
    <p:extLst>
      <p:ext uri="{BB962C8B-B14F-4D97-AF65-F5344CB8AC3E}">
        <p14:creationId val="1633883110"/>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a:t>Click to add content</a:t>
            </a:r>
            <a:endParaRPr lang="en-US"/>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1650" lang="en-US"/>
            </a:lvl1pPr>
          </a:lstStyle>
          <a:p>
            <a:pPr algn="l" marL="0" indent="0">
              <a:lnSpc>
                <a:spcPts val="2550"/>
              </a:lnSpc>
              <a:buNone/>
            </a:pPr>
            <a:r>
              <a:rPr lang="en-US" sz="1650" dirty="0">
                <a:solidFill>
                  <a:schemeClr val="dk1"/>
                </a:solidFill>
                <a:latin typeface="+mn-lt"/>
                <a:ea typeface="+mn-ea"/>
                <a:cs typeface="+mn-cs"/>
              </a:rPr>
              <a:t>Click to add text</a:t>
            </a:r>
            <a:endParaRPr lang="en-US"/>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A960FBF6-7EB5-4E2F-A3E4-860F112AE93D}" type="slidenum">
              <a:rPr lang="en-US" sz="1200" dirty="0">
                <a:solidFill>
                  <a:schemeClr val="accent3"/>
                </a:solidFill>
                <a:latin typeface="+mn-lt"/>
                <a:ea typeface="+mn-ea"/>
                <a:cs typeface="+mn-cs"/>
              </a:rPr>
              <a:t>‹#›</a:t>
            </a:fld>
            <a:endParaRPr lang="en-US"/>
          </a:p>
        </p:txBody>
      </p:sp>
    </p:spTree>
    <p:extLst>
      <p:ext uri="{BB962C8B-B14F-4D97-AF65-F5344CB8AC3E}">
        <p14:creationId val="621628278"/>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otexts.com/fpp3/simple-methods.html" TargetMode="Externa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expanded-title-slot Placeholder Carrier"/>
          <p:cNvSpPr txBox="1"/>
          <p:nvPr>
            <p:ph type="title"/>
          </p:nvPr>
        </p:nvSpPr>
        <p:spPr>
          <a:xfrm>
            <a:off x="590550" y="1881188"/>
            <a:ext cx="953525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3-Hour Temperature Forecast on FPGA</a:t>
            </a:r>
          </a:p>
        </p:txBody>
      </p:sp>
      <p:sp>
        <p:nvSpPr>
          <p:cNvPr id="5" name="cover-expanded-subtitle-slot Placeholder Carrier"/>
          <p:cNvSpPr txBox="1"/>
          <p:nvPr>
            <p:ph type="subTitle" idx="1"/>
          </p:nvPr>
        </p:nvSpPr>
        <p:spPr>
          <a:xfrm>
            <a:off x="598170" y="3233738"/>
            <a:ext cx="6935329"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Linear Time-Series Modeling &amp; RTL Verification</a:t>
            </a:r>
          </a:p>
        </p:txBody>
      </p:sp>
      <p:sp>
        <p:nvSpPr>
          <p:cNvPr id="6" name="cover-expanded-body-slot Placeholder Carrier"/>
          <p:cNvSpPr txBox="1"/>
          <p:nvPr>
            <p:ph type="body" idx="2"/>
          </p:nvPr>
        </p:nvSpPr>
        <p:spPr>
          <a:xfrm>
            <a:off x="599694" y="5266372"/>
            <a:ext cx="7586439" cy="381381"/>
          </a:xfrm>
          <a:prstGeom prst="rect">
            <a:avLst/>
          </a:prstGeom>
          <a:noFill/>
          <a:ln>
            <a:noFill/>
          </a:ln>
        </p:spPr>
        <p:txBody>
          <a:bodyPr wrap="none" lIns="0" tIns="0" rIns="0" bIns="0" anchor="t" anchorCtr="0">
            <a:spAutoFit/>
          </a:bodyPr>
          <a:lstStyle/>
          <a:p>
            <a:pPr algn="l" marL="0" indent="0">
              <a:buNone/>
            </a:pPr>
            <a:r>
              <a:rPr lang="en-US" sz="1950" dirty="0">
                <a:solidFill>
                  <a:schemeClr val="accent3"/>
                </a:solidFill>
                <a:latin typeface="+mn-lt"/>
                <a:ea typeface="+mn-ea"/>
                <a:cs typeface="+mn-cs"/>
              </a:rPr>
              <a:t>CE436 DSP Project Proposal · 12-Week Roadmap · 3 Members</a:t>
            </a:r>
          </a:p>
        </p:txBody>
      </p:sp>
      <p:sp>
        <p:nvSpPr>
          <p:cNvPr id="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01 / 15</a:t>
            </a:r>
          </a:p>
        </p:txBody>
      </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96418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Project Scope: 3-Hour Forecast Core</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02 / 15</a:t>
            </a:r>
          </a:p>
        </p:txBody>
      </p:sp>
      <p:grpSp>
        <p:nvGrpSpPr>
          <p:cNvPr id="15" name="problem-card"/>
          <p:cNvGrpSpPr/>
          <p:nvPr/>
        </p:nvGrpSpPr>
        <p:grpSpPr>
          <a:xfrm>
            <a:off x="609600" y="1428750"/>
            <a:ext cx="5257800" cy="4381500"/>
            <a:chOff x="609600" y="1428750"/>
            <a:chExt cx="5257800" cy="4381500"/>
          </a:xfrm>
        </p:grpSpPr>
        <p:sp>
          <p:nvSpPr>
            <p:cNvPr id="6" name="Rectangle 6"/>
            <p:cNvSpPr/>
            <p:nvPr/>
          </p:nvSpPr>
          <p:spPr>
            <a:xfrm>
              <a:off x="609600" y="1428750"/>
              <a:ext cx="5257800" cy="4381500"/>
            </a:xfrm>
            <a:prstGeom prst="roundRect">
              <a:avLst>
                <a:gd name="adj" fmla="val 870"/>
              </a:avLst>
            </a:prstGeom>
            <a:solidFill>
              <a:schemeClr val="lt2"/>
            </a:solidFill>
            <a:ln>
              <a:noFill/>
            </a:ln>
          </p:spPr>
        </p:sp>
        <p:sp>
          <p:nvSpPr>
            <p:cNvPr id="7" name="TextBox 7"/>
            <p:cNvSpPr txBox="1"/>
            <p:nvPr/>
          </p:nvSpPr>
          <p:spPr>
            <a:xfrm>
              <a:off x="827532" y="1678305"/>
              <a:ext cx="3804542"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PROBLEM FORMULATION</a:t>
              </a:r>
            </a:p>
          </p:txBody>
        </p:sp>
        <p:sp>
          <p:nvSpPr>
            <p:cNvPr id="8" name="TextBox 8"/>
            <p:cNvSpPr txBox="1"/>
            <p:nvPr/>
          </p:nvSpPr>
          <p:spPr>
            <a:xfrm>
              <a:off x="828294" y="2218372"/>
              <a:ext cx="4211519"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Input: Hourly temperature T(t) (°C)</a:t>
              </a:r>
            </a:p>
          </p:txBody>
        </p:sp>
        <p:sp>
          <p:nvSpPr>
            <p:cNvPr id="9" name="TextBox 9"/>
            <p:cNvSpPr txBox="1"/>
            <p:nvPr/>
          </p:nvSpPr>
          <p:spPr>
            <a:xfrm>
              <a:off x="828294" y="2694622"/>
              <a:ext cx="4718108"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Output: Future temperature T̂(t+3) (°C)</a:t>
              </a:r>
            </a:p>
          </p:txBody>
        </p:sp>
        <p:sp>
          <p:nvSpPr>
            <p:cNvPr id="10" name="TextBox 10"/>
            <p:cNvSpPr txBox="1"/>
            <p:nvPr/>
          </p:nvSpPr>
          <p:spPr>
            <a:xfrm>
              <a:off x="828294" y="3170872"/>
              <a:ext cx="4699442"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Location: Single-station weather series</a:t>
              </a:r>
            </a:p>
          </p:txBody>
        </p:sp>
        <p:sp>
          <p:nvSpPr>
            <p:cNvPr id="11" name="TextBox 11"/>
            <p:cNvSpPr txBox="1"/>
            <p:nvPr/>
          </p:nvSpPr>
          <p:spPr>
            <a:xfrm>
              <a:off x="828294" y="3647122"/>
              <a:ext cx="4744999"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Source: NASA POWER hourly dataset</a:t>
              </a:r>
            </a:p>
          </p:txBody>
        </p:sp>
        <p:sp>
          <p:nvSpPr>
            <p:cNvPr id="12" name="Line 12"/>
            <p:cNvSpPr/>
            <p:nvPr/>
          </p:nvSpPr>
          <p:spPr>
            <a:xfrm>
              <a:off x="838200" y="423862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3" name="TextBox 13"/>
            <p:cNvSpPr txBox="1"/>
            <p:nvPr/>
          </p:nvSpPr>
          <p:spPr>
            <a:xfrm>
              <a:off x="828294" y="4504372"/>
              <a:ext cx="465226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Target: 3-hour ahead local prediction</a:t>
              </a:r>
            </a:p>
          </p:txBody>
        </p:sp>
        <p:sp>
          <p:nvSpPr>
            <p:cNvPr id="14" name="TextBox 14"/>
            <p:cNvSpPr txBox="1"/>
            <p:nvPr/>
          </p:nvSpPr>
          <p:spPr>
            <a:xfrm>
              <a:off x="829056" y="4949190"/>
              <a:ext cx="4888003"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Tractable scope for a rigorous 3-month cycle.</a:t>
              </a:r>
            </a:p>
          </p:txBody>
        </p:sp>
      </p:grpSp>
      <p:grpSp>
        <p:nvGrpSpPr>
          <p:cNvPr id="25" name="objective-card"/>
          <p:cNvGrpSpPr/>
          <p:nvPr/>
        </p:nvGrpSpPr>
        <p:grpSpPr>
          <a:xfrm>
            <a:off x="6324600" y="1428750"/>
            <a:ext cx="5257800" cy="4381500"/>
            <a:chOff x="6324600" y="1428750"/>
            <a:chExt cx="5257800" cy="4381500"/>
          </a:xfrm>
        </p:grpSpPr>
        <p:sp>
          <p:nvSpPr>
            <p:cNvPr id="16" name="Rectangle 16"/>
            <p:cNvSpPr/>
            <p:nvPr/>
          </p:nvSpPr>
          <p:spPr>
            <a:xfrm>
              <a:off x="6324600" y="1428750"/>
              <a:ext cx="5257800" cy="4381500"/>
            </a:xfrm>
            <a:prstGeom prst="roundRect">
              <a:avLst>
                <a:gd name="adj" fmla="val 870"/>
              </a:avLst>
            </a:prstGeom>
            <a:solidFill>
              <a:schemeClr val="lt2"/>
            </a:solidFill>
            <a:ln>
              <a:noFill/>
            </a:ln>
          </p:spPr>
        </p:sp>
        <p:sp>
          <p:nvSpPr>
            <p:cNvPr id="17" name="TextBox 17"/>
            <p:cNvSpPr txBox="1"/>
            <p:nvPr/>
          </p:nvSpPr>
          <p:spPr>
            <a:xfrm>
              <a:off x="6542532" y="1678305"/>
              <a:ext cx="4087833"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ENGINEERING OBJECTIVES</a:t>
              </a:r>
            </a:p>
          </p:txBody>
        </p:sp>
        <p:sp>
          <p:nvSpPr>
            <p:cNvPr id="18" name="TextBox 18"/>
            <p:cNvSpPr txBox="1"/>
            <p:nvPr/>
          </p:nvSpPr>
          <p:spPr>
            <a:xfrm>
              <a:off x="6543294" y="2218372"/>
              <a:ext cx="4604203"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Complete model-to-silicon design flow</a:t>
              </a:r>
            </a:p>
          </p:txBody>
        </p:sp>
        <p:sp>
          <p:nvSpPr>
            <p:cNvPr id="19" name="TextBox 19"/>
            <p:cNvSpPr txBox="1"/>
            <p:nvPr/>
          </p:nvSpPr>
          <p:spPr>
            <a:xfrm>
              <a:off x="6543294" y="2694622"/>
              <a:ext cx="3905328"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C++ floating-point golden model</a:t>
              </a:r>
            </a:p>
          </p:txBody>
        </p:sp>
        <p:sp>
          <p:nvSpPr>
            <p:cNvPr id="20" name="TextBox 20"/>
            <p:cNvSpPr txBox="1"/>
            <p:nvPr/>
          </p:nvSpPr>
          <p:spPr>
            <a:xfrm>
              <a:off x="6543294" y="3170872"/>
              <a:ext cx="3977687"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Bit-exact fixed-point Verilog RTL</a:t>
              </a:r>
            </a:p>
          </p:txBody>
        </p:sp>
        <p:sp>
          <p:nvSpPr>
            <p:cNvPr id="21" name="TextBox 21"/>
            <p:cNvSpPr txBox="1"/>
            <p:nvPr/>
          </p:nvSpPr>
          <p:spPr>
            <a:xfrm>
              <a:off x="6543294" y="3647122"/>
              <a:ext cx="4627770"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Realistic edge DSP hardware practice</a:t>
              </a:r>
            </a:p>
          </p:txBody>
        </p:sp>
        <p:sp>
          <p:nvSpPr>
            <p:cNvPr id="22" name="Line 22"/>
            <p:cNvSpPr/>
            <p:nvPr/>
          </p:nvSpPr>
          <p:spPr>
            <a:xfrm>
              <a:off x="6553200" y="423862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3" name="TextBox 23"/>
            <p:cNvSpPr txBox="1"/>
            <p:nvPr/>
          </p:nvSpPr>
          <p:spPr>
            <a:xfrm>
              <a:off x="6544056" y="4520565"/>
              <a:ext cx="366458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Focus: Hardware &amp; DV mastery</a:t>
              </a:r>
            </a:p>
          </p:txBody>
        </p:sp>
        <p:sp>
          <p:nvSpPr>
            <p:cNvPr id="24" name="TextBox 24"/>
            <p:cNvSpPr txBox="1"/>
            <p:nvPr/>
          </p:nvSpPr>
          <p:spPr>
            <a:xfrm>
              <a:off x="6544056" y="4949190"/>
              <a:ext cx="478556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Not claiming FPGA speedup on hourly data.</a:t>
              </a:r>
            </a:p>
          </p:txBody>
        </p:sp>
      </p:grpSp>
      <p:sp>
        <p:nvSpPr>
          <p:cNvPr id="26" name="TextBox 26"/>
          <p:cNvSpPr txBox="1"/>
          <p:nvPr/>
        </p:nvSpPr>
        <p:spPr>
          <a:xfrm>
            <a:off x="600456" y="6092190"/>
            <a:ext cx="915151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Single-variable core de-risks execution; multi-variable inputs are Phase 2 extensions.</a:t>
            </a:r>
          </a:p>
        </p:txBody>
      </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178284"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End-to-End System Workflow</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03 / 15</a:t>
            </a:r>
          </a:p>
        </p:txBody>
      </p:sp>
      <p:grpSp>
        <p:nvGrpSpPr>
          <p:cNvPr id="10" name="offline-flow"/>
          <p:cNvGrpSpPr/>
          <p:nvPr/>
        </p:nvGrpSpPr>
        <p:grpSpPr>
          <a:xfrm>
            <a:off x="609600" y="1428750"/>
            <a:ext cx="10972800" cy="1905000"/>
            <a:chOff x="609600" y="1428750"/>
            <a:chExt cx="10972800" cy="1905000"/>
          </a:xfrm>
        </p:grpSpPr>
        <p:sp>
          <p:nvSpPr>
            <p:cNvPr id="6" name="Rectangle 6"/>
            <p:cNvSpPr/>
            <p:nvPr/>
          </p:nvSpPr>
          <p:spPr>
            <a:xfrm>
              <a:off x="609600" y="1428750"/>
              <a:ext cx="10972800" cy="1905000"/>
            </a:xfrm>
            <a:prstGeom prst="roundRect">
              <a:avLst>
                <a:gd name="adj" fmla="val 2000"/>
              </a:avLst>
            </a:prstGeom>
            <a:solidFill>
              <a:schemeClr val="lt2"/>
            </a:solidFill>
            <a:ln>
              <a:noFill/>
            </a:ln>
          </p:spPr>
        </p:sp>
        <p:sp>
          <p:nvSpPr>
            <p:cNvPr id="7" name="TextBox 7"/>
            <p:cNvSpPr txBox="1"/>
            <p:nvPr/>
          </p:nvSpPr>
          <p:spPr>
            <a:xfrm>
              <a:off x="828294" y="1646872"/>
              <a:ext cx="718522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1. OFFLINE TRAINING &amp; GOLDEN MODEL (HOST C++)</a:t>
              </a:r>
            </a:p>
          </p:txBody>
        </p:sp>
        <p:sp>
          <p:nvSpPr>
            <p:cNvPr id="8" name="TextBox 8"/>
            <p:cNvSpPr txBox="1"/>
            <p:nvPr/>
          </p:nvSpPr>
          <p:spPr>
            <a:xfrm>
              <a:off x="827532" y="2202180"/>
              <a:ext cx="1032090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Clean CSV Data → Least Squares Fit → Export Fixed-Point Model &amp; Vectors</a:t>
              </a:r>
            </a:p>
          </p:txBody>
        </p:sp>
        <p:sp>
          <p:nvSpPr>
            <p:cNvPr id="9" name="TextBox 9"/>
            <p:cNvSpPr txBox="1"/>
            <p:nvPr/>
          </p:nvSpPr>
          <p:spPr>
            <a:xfrm>
              <a:off x="829056" y="2758440"/>
              <a:ext cx="8663056"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Solves weights a, b, c via Eigen C++ · Generates bit-exact test vectors for RTL</a:t>
              </a:r>
            </a:p>
          </p:txBody>
        </p:sp>
      </p:grpSp>
      <p:grpSp>
        <p:nvGrpSpPr>
          <p:cNvPr id="15" name="online-flow"/>
          <p:cNvGrpSpPr/>
          <p:nvPr/>
        </p:nvGrpSpPr>
        <p:grpSpPr>
          <a:xfrm>
            <a:off x="609600" y="3571875"/>
            <a:ext cx="10972800" cy="1905000"/>
            <a:chOff x="609600" y="3571875"/>
            <a:chExt cx="10972800" cy="1905000"/>
          </a:xfrm>
        </p:grpSpPr>
        <p:sp>
          <p:nvSpPr>
            <p:cNvPr id="11" name="Rectangle 11"/>
            <p:cNvSpPr/>
            <p:nvPr/>
          </p:nvSpPr>
          <p:spPr>
            <a:xfrm>
              <a:off x="609600" y="3571875"/>
              <a:ext cx="10972800" cy="1905000"/>
            </a:xfrm>
            <a:prstGeom prst="roundRect">
              <a:avLst>
                <a:gd name="adj" fmla="val 2000"/>
              </a:avLst>
            </a:prstGeom>
            <a:solidFill>
              <a:schemeClr val="lt2"/>
            </a:solidFill>
            <a:ln>
              <a:noFill/>
            </a:ln>
          </p:spPr>
        </p:sp>
        <p:sp>
          <p:nvSpPr>
            <p:cNvPr id="12" name="TextBox 12"/>
            <p:cNvSpPr txBox="1"/>
            <p:nvPr/>
          </p:nvSpPr>
          <p:spPr>
            <a:xfrm>
              <a:off x="828294" y="3789998"/>
              <a:ext cx="6399387"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2. RUNTIME INFERENCE (TARGET FPGA CORE)</a:t>
              </a:r>
            </a:p>
          </p:txBody>
        </p:sp>
        <p:sp>
          <p:nvSpPr>
            <p:cNvPr id="13" name="TextBox 13"/>
            <p:cNvSpPr txBox="1"/>
            <p:nvPr/>
          </p:nvSpPr>
          <p:spPr>
            <a:xfrm>
              <a:off x="827532" y="4345305"/>
              <a:ext cx="988569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Sample T(t) In → [ 25-Sample Buffer + MAC Core ] → Forecast T̂(t+3) Out</a:t>
              </a:r>
            </a:p>
          </p:txBody>
        </p:sp>
        <p:sp>
          <p:nvSpPr>
            <p:cNvPr id="14" name="TextBox 14"/>
            <p:cNvSpPr txBox="1"/>
            <p:nvPr/>
          </p:nvSpPr>
          <p:spPr>
            <a:xfrm>
              <a:off x="829056" y="4901565"/>
              <a:ext cx="8265333"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Fixed coefficients on-chip · Valid handshake · Pipelined arithmetic datapath</a:t>
              </a:r>
            </a:p>
          </p:txBody>
        </p:sp>
      </p:grpSp>
      <p:grpSp>
        <p:nvGrpSpPr>
          <p:cNvPr id="18" name="deliverables"/>
          <p:cNvGrpSpPr/>
          <p:nvPr/>
        </p:nvGrpSpPr>
        <p:grpSpPr>
          <a:xfrm>
            <a:off x="600456" y="5734050"/>
            <a:ext cx="10981944" cy="567309"/>
            <a:chOff x="600456" y="5734050"/>
            <a:chExt cx="10981944" cy="567309"/>
          </a:xfrm>
        </p:grpSpPr>
        <p:sp>
          <p:nvSpPr>
            <p:cNvPr id="16" name="Line 16"/>
            <p:cNvSpPr/>
            <p:nvPr/>
          </p:nvSpPr>
          <p:spPr>
            <a:xfrm>
              <a:off x="609600" y="5734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600456" y="5949315"/>
              <a:ext cx="10068658"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DELIVERABLES: C++ Suite · Synthesizable RTL · Bit-Exact TB · Board Demo · Report</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999818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Linear Model with Diurnal Anchor &amp; Taps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04 / 15</a:t>
            </a:r>
          </a:p>
        </p:txBody>
      </p:sp>
      <p:grpSp>
        <p:nvGrpSpPr>
          <p:cNvPr id="8" name="formula-box"/>
          <p:cNvGrpSpPr/>
          <p:nvPr/>
        </p:nvGrpSpPr>
        <p:grpSpPr>
          <a:xfrm>
            <a:off x="609600" y="1333500"/>
            <a:ext cx="10972800" cy="809625"/>
            <a:chOff x="609600" y="1333500"/>
            <a:chExt cx="10972800" cy="809625"/>
          </a:xfrm>
        </p:grpSpPr>
        <p:sp>
          <p:nvSpPr>
            <p:cNvPr id="6" name="Rectangle 6"/>
            <p:cNvSpPr/>
            <p:nvPr/>
          </p:nvSpPr>
          <p:spPr>
            <a:xfrm>
              <a:off x="609600" y="1333500"/>
              <a:ext cx="10972800" cy="809625"/>
            </a:xfrm>
            <a:prstGeom prst="roundRect">
              <a:avLst>
                <a:gd name="adj" fmla="val 4706"/>
              </a:avLst>
            </a:prstGeom>
            <a:solidFill>
              <a:schemeClr val="lt2"/>
            </a:solidFill>
            <a:ln>
              <a:noFill/>
            </a:ln>
          </p:spPr>
        </p:sp>
        <p:sp>
          <p:nvSpPr>
            <p:cNvPr id="7" name="TextBox 7"/>
            <p:cNvSpPr txBox="1"/>
            <p:nvPr/>
          </p:nvSpPr>
          <p:spPr>
            <a:xfrm>
              <a:off x="826770" y="1614488"/>
              <a:ext cx="783741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 xml:space="preserve">T̂(t+3) = </a:t>
              </a:r>
              <a:r>
                <a:rPr lang="en-US" sz="2250" b="1" dirty="0">
                  <a:solidFill>
                    <a:schemeClr val="accent2"/>
                  </a:solidFill>
                  <a:latin typeface="+mn-lt"/>
                  <a:ea typeface="+mn-ea"/>
                  <a:cs typeface="+mn-cs"/>
                </a:rPr>
                <a:t>T(t−21)</a:t>
              </a:r>
              <a:r>
                <a:rPr lang="en-US" sz="2250" b="1" dirty="0">
                  <a:solidFill>
                    <a:schemeClr val="dk1"/>
                  </a:solidFill>
                  <a:latin typeface="+mn-lt"/>
                  <a:ea typeface="+mn-ea"/>
                  <a:cs typeface="+mn-cs"/>
                </a:rPr>
                <a:t xml:space="preserve"> + a[T(t) − T(t−24)] + b[T(t) − T(t−3)] + c</a:t>
              </a:r>
            </a:p>
          </p:txBody>
        </p:sp>
      </p:grpSp>
      <p:grpSp>
        <p:nvGrpSpPr>
          <p:cNvPr id="17" name="taps-panel"/>
          <p:cNvGrpSpPr/>
          <p:nvPr/>
        </p:nvGrpSpPr>
        <p:grpSpPr>
          <a:xfrm>
            <a:off x="609600" y="2333625"/>
            <a:ext cx="5334000" cy="3619500"/>
            <a:chOff x="609600" y="2333625"/>
            <a:chExt cx="5334000" cy="3619500"/>
          </a:xfrm>
        </p:grpSpPr>
        <p:sp>
          <p:nvSpPr>
            <p:cNvPr id="9" name="Rectangle 9"/>
            <p:cNvSpPr/>
            <p:nvPr/>
          </p:nvSpPr>
          <p:spPr>
            <a:xfrm>
              <a:off x="609600" y="2333625"/>
              <a:ext cx="5334000" cy="3619500"/>
            </a:xfrm>
            <a:prstGeom prst="roundRect">
              <a:avLst>
                <a:gd name="adj" fmla="val 1053"/>
              </a:avLst>
            </a:prstGeom>
            <a:solidFill>
              <a:schemeClr val="lt2"/>
            </a:solidFill>
            <a:ln>
              <a:noFill/>
            </a:ln>
          </p:spPr>
        </p:sp>
        <p:sp>
          <p:nvSpPr>
            <p:cNvPr id="10" name="TextBox 10"/>
            <p:cNvSpPr txBox="1"/>
            <p:nvPr/>
          </p:nvSpPr>
          <p:spPr>
            <a:xfrm>
              <a:off x="828294" y="2551748"/>
              <a:ext cx="4088079"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PHYSICAL MEANING OF TAPS</a:t>
              </a:r>
            </a:p>
          </p:txBody>
        </p:sp>
        <p:sp>
          <p:nvSpPr>
            <p:cNvPr id="11" name="TextBox 11"/>
            <p:cNvSpPr txBox="1"/>
            <p:nvPr/>
          </p:nvSpPr>
          <p:spPr>
            <a:xfrm>
              <a:off x="829056" y="3091815"/>
              <a:ext cx="2891687" cy="352044"/>
            </a:xfrm>
            <a:prstGeom prst="rect">
              <a:avLst/>
            </a:prstGeom>
            <a:noFill/>
            <a:ln>
              <a:noFill/>
            </a:ln>
          </p:spPr>
          <p:txBody>
            <a:bodyPr wrap="none" lIns="0" tIns="0" rIns="0" bIns="0" anchor="t" anchorCtr="0">
              <a:spAutoFit/>
            </a:bodyPr>
            <a:lstStyle/>
            <a:p>
              <a:pPr algn="l" marL="143538" indent="-143538">
                <a:buClr>
                  <a:schemeClr val="accent1"/>
                </a:buClr>
                <a:buSzTx/>
                <a:buFontTx/>
                <a:buChar char="•"/>
              </a:pPr>
              <a:r>
                <a:rPr lang="en-US" sz="1800" b="1" dirty="0">
                  <a:solidFill>
                    <a:schemeClr val="accent1"/>
                  </a:solidFill>
                  <a:latin typeface="+mn-lt"/>
                  <a:ea typeface="+mn-ea"/>
                  <a:cs typeface="+mn-cs"/>
                </a:rPr>
                <a:t>T(t−21): Diurnal Anchor</a:t>
              </a:r>
            </a:p>
          </p:txBody>
        </p:sp>
        <p:sp>
          <p:nvSpPr>
            <p:cNvPr id="12" name="TextBox 12"/>
            <p:cNvSpPr txBox="1"/>
            <p:nvPr/>
          </p:nvSpPr>
          <p:spPr>
            <a:xfrm>
              <a:off x="1038606" y="3425190"/>
              <a:ext cx="4409059"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Same hour yesterday: (t+3) − 24 = t − 21</a:t>
              </a:r>
            </a:p>
          </p:txBody>
        </p:sp>
        <p:sp>
          <p:nvSpPr>
            <p:cNvPr id="13" name="TextBox 13"/>
            <p:cNvSpPr txBox="1"/>
            <p:nvPr/>
          </p:nvSpPr>
          <p:spPr>
            <a:xfrm>
              <a:off x="829056" y="3949065"/>
              <a:ext cx="3624671" cy="352044"/>
            </a:xfrm>
            <a:prstGeom prst="rect">
              <a:avLst/>
            </a:prstGeom>
            <a:noFill/>
            <a:ln>
              <a:noFill/>
            </a:ln>
          </p:spPr>
          <p:txBody>
            <a:bodyPr wrap="none" lIns="0" tIns="0" rIns="0" bIns="0" anchor="t" anchorCtr="0">
              <a:spAutoFit/>
            </a:bodyPr>
            <a:lstStyle/>
            <a:p>
              <a:pPr algn="l" marL="143538" indent="-143538">
                <a:buClr>
                  <a:schemeClr val="accent1"/>
                </a:buClr>
                <a:buSzTx/>
                <a:buFontTx/>
                <a:buChar char="•"/>
              </a:pPr>
              <a:r>
                <a:rPr lang="en-US" sz="1800" b="1" dirty="0">
                  <a:solidFill>
                    <a:schemeClr val="accent1"/>
                  </a:solidFill>
                  <a:latin typeface="+mn-lt"/>
                  <a:ea typeface="+mn-ea"/>
                  <a:cs typeface="+mn-cs"/>
                </a:rPr>
                <a:t>T(t) − T(t−24): Inter-Day Trend</a:t>
              </a:r>
            </a:p>
          </p:txBody>
        </p:sp>
        <p:sp>
          <p:nvSpPr>
            <p:cNvPr id="14" name="TextBox 14"/>
            <p:cNvSpPr txBox="1"/>
            <p:nvPr/>
          </p:nvSpPr>
          <p:spPr>
            <a:xfrm>
              <a:off x="1038606" y="4282440"/>
              <a:ext cx="3837310"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Today vs. yesterday at current hour</a:t>
              </a:r>
            </a:p>
          </p:txBody>
        </p:sp>
        <p:sp>
          <p:nvSpPr>
            <p:cNvPr id="15" name="TextBox 15"/>
            <p:cNvSpPr txBox="1"/>
            <p:nvPr/>
          </p:nvSpPr>
          <p:spPr>
            <a:xfrm>
              <a:off x="829056" y="4806315"/>
              <a:ext cx="3556290" cy="352044"/>
            </a:xfrm>
            <a:prstGeom prst="rect">
              <a:avLst/>
            </a:prstGeom>
            <a:noFill/>
            <a:ln>
              <a:noFill/>
            </a:ln>
          </p:spPr>
          <p:txBody>
            <a:bodyPr wrap="none" lIns="0" tIns="0" rIns="0" bIns="0" anchor="t" anchorCtr="0">
              <a:spAutoFit/>
            </a:bodyPr>
            <a:lstStyle/>
            <a:p>
              <a:pPr algn="l" marL="143538" indent="-143538">
                <a:buClr>
                  <a:schemeClr val="accent1"/>
                </a:buClr>
                <a:buSzTx/>
                <a:buFontTx/>
                <a:buChar char="•"/>
              </a:pPr>
              <a:r>
                <a:rPr lang="en-US" sz="1800" b="1" dirty="0">
                  <a:solidFill>
                    <a:schemeClr val="accent1"/>
                  </a:solidFill>
                  <a:latin typeface="+mn-lt"/>
                  <a:ea typeface="+mn-ea"/>
                  <a:cs typeface="+mn-cs"/>
                </a:rPr>
                <a:t>T(t) − T(t−3): Recent Gradient</a:t>
              </a:r>
            </a:p>
          </p:txBody>
        </p:sp>
        <p:sp>
          <p:nvSpPr>
            <p:cNvPr id="16" name="TextBox 16"/>
            <p:cNvSpPr txBox="1"/>
            <p:nvPr/>
          </p:nvSpPr>
          <p:spPr>
            <a:xfrm>
              <a:off x="1038606" y="5139690"/>
              <a:ext cx="444425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Latest 3-hour temperature rate of change</a:t>
              </a:r>
            </a:p>
          </p:txBody>
        </p:sp>
      </p:grpSp>
      <p:grpSp>
        <p:nvGrpSpPr>
          <p:cNvPr id="25" name="math-walkthrough"/>
          <p:cNvGrpSpPr/>
          <p:nvPr/>
        </p:nvGrpSpPr>
        <p:grpSpPr>
          <a:xfrm>
            <a:off x="6248400" y="2333625"/>
            <a:ext cx="5334000" cy="3619500"/>
            <a:chOff x="6248400" y="2333625"/>
            <a:chExt cx="5334000" cy="3619500"/>
          </a:xfrm>
        </p:grpSpPr>
        <p:sp>
          <p:nvSpPr>
            <p:cNvPr id="18" name="Rectangle 18"/>
            <p:cNvSpPr/>
            <p:nvPr/>
          </p:nvSpPr>
          <p:spPr>
            <a:xfrm>
              <a:off x="6248400" y="2333625"/>
              <a:ext cx="5334000" cy="3619500"/>
            </a:xfrm>
            <a:prstGeom prst="roundRect">
              <a:avLst>
                <a:gd name="adj" fmla="val 1053"/>
              </a:avLst>
            </a:prstGeom>
            <a:solidFill>
              <a:schemeClr val="lt2"/>
            </a:solidFill>
            <a:ln>
              <a:noFill/>
            </a:ln>
          </p:spPr>
        </p:sp>
        <p:sp>
          <p:nvSpPr>
            <p:cNvPr id="19" name="TextBox 19"/>
            <p:cNvSpPr txBox="1"/>
            <p:nvPr/>
          </p:nvSpPr>
          <p:spPr>
            <a:xfrm>
              <a:off x="6467094" y="2551748"/>
              <a:ext cx="3994939"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NUMERICAL WALKTHROUGH</a:t>
              </a:r>
            </a:p>
          </p:txBody>
        </p:sp>
        <p:sp>
          <p:nvSpPr>
            <p:cNvPr id="20" name="TextBox 20"/>
            <p:cNvSpPr txBox="1"/>
            <p:nvPr/>
          </p:nvSpPr>
          <p:spPr>
            <a:xfrm>
              <a:off x="6467856" y="3091815"/>
              <a:ext cx="4041648" cy="713994"/>
            </a:xfrm>
            <a:prstGeom prst="rect">
              <a:avLst/>
            </a:prstGeom>
            <a:noFill/>
            <a:ln>
              <a:noFill/>
            </a:ln>
          </p:spPr>
          <p:txBody>
            <a:bodyPr wrap="none" lIns="0" tIns="0" rIns="0" bIns="0" anchor="t" anchorCtr="0">
              <a:spAutoFit/>
            </a:bodyPr>
            <a:lstStyle/>
            <a:p>
              <a:pPr algn="l">
                <a:lnSpc>
                  <a:spcPts val="2850"/>
                </a:lnSpc>
              </a:pPr>
              <a:r>
                <a:rPr lang="en-US" sz="1800" dirty="0">
                  <a:solidFill>
                    <a:schemeClr val="dk1"/>
                  </a:solidFill>
                  <a:latin typeface="Consolas"/>
                  <a:ea typeface="Consolas"/>
                  <a:cs typeface="Consolas"/>
                </a:rPr>
                <a:t>Inputs: T(t−24)=19°, T(t−21)=21°</a:t>
              </a:r>
              <a:br/>
              <a:r>
                <a:rPr lang="en-US" sz="1800" dirty="0">
                  <a:solidFill>
                    <a:schemeClr val="dk1"/>
                  </a:solidFill>
                  <a:latin typeface="Consolas"/>
                  <a:ea typeface="Consolas"/>
                  <a:cs typeface="Consolas"/>
                </a:rPr>
                <a:t>T(t−3)=18°, T(t)=20°C</a:t>
              </a:r>
            </a:p>
          </p:txBody>
        </p:sp>
        <p:sp>
          <p:nvSpPr>
            <p:cNvPr id="21" name="TextBox 21"/>
            <p:cNvSpPr txBox="1"/>
            <p:nvPr/>
          </p:nvSpPr>
          <p:spPr>
            <a:xfrm>
              <a:off x="6467856" y="3949065"/>
              <a:ext cx="4575246"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onsolas"/>
                  <a:ea typeface="Consolas"/>
                  <a:cs typeface="Consolas"/>
                </a:rPr>
                <a:t>Weights: a = 0.5, b = 0.2, c = 0.0</a:t>
              </a:r>
            </a:p>
          </p:txBody>
        </p:sp>
        <p:sp>
          <p:nvSpPr>
            <p:cNvPr id="22" name="Line 22"/>
            <p:cNvSpPr/>
            <p:nvPr/>
          </p:nvSpPr>
          <p:spPr>
            <a:xfrm>
              <a:off x="6477000" y="442912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3" name="TextBox 23"/>
            <p:cNvSpPr txBox="1"/>
            <p:nvPr/>
          </p:nvSpPr>
          <p:spPr>
            <a:xfrm>
              <a:off x="6466332" y="4678680"/>
              <a:ext cx="385206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21 + 0.5(1) + 0.2(2) = 21.9°C</a:t>
              </a:r>
            </a:p>
          </p:txBody>
        </p:sp>
        <p:sp>
          <p:nvSpPr>
            <p:cNvPr id="24" name="TextBox 24"/>
            <p:cNvSpPr txBox="1"/>
            <p:nvPr/>
          </p:nvSpPr>
          <p:spPr>
            <a:xfrm>
              <a:off x="6468618" y="5203508"/>
              <a:ext cx="474671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Datapath: Subtract → Multiply → Adder Tree</a:t>
              </a:r>
            </a:p>
          </p:txBody>
        </p:sp>
      </p:grpSp>
      <p:grpSp>
        <p:nvGrpSpPr>
          <p:cNvPr id="27" name="source-link"/>
          <p:cNvGrpSpPr/>
          <p:nvPr/>
        </p:nvGrpSpPr>
        <p:grpSpPr>
          <a:xfrm>
            <a:off x="603504" y="6252210"/>
            <a:ext cx="4494653" cy="234696"/>
            <a:chOff x="603504" y="6252210"/>
            <a:chExt cx="4494653" cy="234696"/>
          </a:xfrm>
        </p:grpSpPr>
        <p:sp>
          <p:nvSpPr>
            <p:cNvPr id="26" name="TextBox 26">
              <a:hlinkClick r:id="rId2"/>
            </p:cNvPr>
            <p:cNvSpPr txBox="1"/>
            <p:nvPr/>
          </p:nvSpPr>
          <p:spPr>
            <a:xfrm>
              <a:off x="603504" y="6252210"/>
              <a:ext cx="449465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Planned source: NASA POWER — hourly API documentation</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600258"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Chronological Training &amp; Data Split</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05 / 15</a:t>
            </a:r>
          </a:p>
        </p:txBody>
      </p:sp>
      <p:grpSp>
        <p:nvGrpSpPr>
          <p:cNvPr id="9" name="regression-inputs"/>
          <p:cNvGrpSpPr/>
          <p:nvPr/>
        </p:nvGrpSpPr>
        <p:grpSpPr>
          <a:xfrm>
            <a:off x="609600" y="1333500"/>
            <a:ext cx="10972800" cy="1047750"/>
            <a:chOff x="609600" y="1333500"/>
            <a:chExt cx="10972800" cy="1047750"/>
          </a:xfrm>
        </p:grpSpPr>
        <p:sp>
          <p:nvSpPr>
            <p:cNvPr id="6" name="Rectangle 6"/>
            <p:cNvSpPr/>
            <p:nvPr/>
          </p:nvSpPr>
          <p:spPr>
            <a:xfrm>
              <a:off x="609600" y="1333500"/>
              <a:ext cx="10972800" cy="1047750"/>
            </a:xfrm>
            <a:prstGeom prst="roundRect">
              <a:avLst>
                <a:gd name="adj" fmla="val 3636"/>
              </a:avLst>
            </a:prstGeom>
            <a:solidFill>
              <a:schemeClr val="lt2"/>
            </a:solidFill>
            <a:ln>
              <a:noFill/>
            </a:ln>
          </p:spPr>
        </p:sp>
        <p:sp>
          <p:nvSpPr>
            <p:cNvPr id="7" name="TextBox 7"/>
            <p:cNvSpPr txBox="1"/>
            <p:nvPr/>
          </p:nvSpPr>
          <p:spPr>
            <a:xfrm>
              <a:off x="827532" y="1535430"/>
              <a:ext cx="5960212"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Consolas"/>
                  <a:ea typeface="Consolas"/>
                  <a:cs typeface="Consolas"/>
                </a:rPr>
                <a:t>Regression Target: y = a·x₁ + b·x₂ + c</a:t>
              </a:r>
            </a:p>
          </p:txBody>
        </p:sp>
        <p:sp>
          <p:nvSpPr>
            <p:cNvPr id="8" name="TextBox 8"/>
            <p:cNvSpPr txBox="1"/>
            <p:nvPr/>
          </p:nvSpPr>
          <p:spPr>
            <a:xfrm>
              <a:off x="829056" y="1977390"/>
              <a:ext cx="856364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x₁ = T(t)−T(t−24) · x₂ = T(t)−T(t−3) · y = T(t+3)−T(t−21) · Solved via C++ OLS</a:t>
              </a:r>
            </a:p>
          </p:txBody>
        </p:sp>
      </p:grpSp>
      <p:grpSp>
        <p:nvGrpSpPr>
          <p:cNvPr id="15" name="train-stage"/>
          <p:cNvGrpSpPr/>
          <p:nvPr/>
        </p:nvGrpSpPr>
        <p:grpSpPr>
          <a:xfrm>
            <a:off x="609600" y="2619375"/>
            <a:ext cx="3333750" cy="2286000"/>
            <a:chOff x="609600" y="2619375"/>
            <a:chExt cx="3333750" cy="2286000"/>
          </a:xfrm>
        </p:grpSpPr>
        <p:sp>
          <p:nvSpPr>
            <p:cNvPr id="10" name="Rectangle 10"/>
            <p:cNvSpPr/>
            <p:nvPr/>
          </p:nvSpPr>
          <p:spPr>
            <a:xfrm>
              <a:off x="609600" y="2619375"/>
              <a:ext cx="3333750" cy="2286000"/>
            </a:xfrm>
            <a:prstGeom prst="roundRect">
              <a:avLst>
                <a:gd name="adj" fmla="val 1667"/>
              </a:avLst>
            </a:prstGeom>
            <a:solidFill>
              <a:schemeClr val="lt2"/>
            </a:solidFill>
            <a:ln>
              <a:noFill/>
            </a:ln>
          </p:spPr>
        </p:sp>
        <p:sp>
          <p:nvSpPr>
            <p:cNvPr id="11" name="TextBox 11"/>
            <p:cNvSpPr txBox="1"/>
            <p:nvPr/>
          </p:nvSpPr>
          <p:spPr>
            <a:xfrm>
              <a:off x="827532" y="2868930"/>
              <a:ext cx="13491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01 TRAIN</a:t>
              </a:r>
            </a:p>
          </p:txBody>
        </p:sp>
        <p:sp>
          <p:nvSpPr>
            <p:cNvPr id="12" name="TextBox 12"/>
            <p:cNvSpPr txBox="1"/>
            <p:nvPr/>
          </p:nvSpPr>
          <p:spPr>
            <a:xfrm>
              <a:off x="828294" y="3408998"/>
              <a:ext cx="2764625"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Past historical records</a:t>
              </a:r>
            </a:p>
          </p:txBody>
        </p:sp>
        <p:sp>
          <p:nvSpPr>
            <p:cNvPr id="13" name="TextBox 13"/>
            <p:cNvSpPr txBox="1"/>
            <p:nvPr/>
          </p:nvSpPr>
          <p:spPr>
            <a:xfrm>
              <a:off x="828294" y="3837622"/>
              <a:ext cx="2226735"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Fit weights a, b, c</a:t>
              </a:r>
            </a:p>
          </p:txBody>
        </p:sp>
        <p:sp>
          <p:nvSpPr>
            <p:cNvPr id="14" name="TextBox 14"/>
            <p:cNvSpPr txBox="1"/>
            <p:nvPr/>
          </p:nvSpPr>
          <p:spPr>
            <a:xfrm>
              <a:off x="828294" y="4266248"/>
              <a:ext cx="2488763" cy="381381"/>
            </a:xfrm>
            <a:prstGeom prst="rect">
              <a:avLst/>
            </a:prstGeom>
            <a:noFill/>
            <a:ln>
              <a:noFill/>
            </a:ln>
          </p:spPr>
          <p:txBody>
            <a:bodyPr wrap="none" lIns="0" tIns="0" rIns="0" bIns="0" anchor="t" anchorCtr="0">
              <a:spAutoFit/>
            </a:bodyPr>
            <a:lstStyle/>
            <a:p>
              <a:pPr algn="l" marL="155499" indent="-155499">
                <a:buClr>
                  <a:schemeClr val="accent3"/>
                </a:buClr>
                <a:buSzTx/>
                <a:buFontTx/>
                <a:buChar char="•"/>
              </a:pPr>
              <a:r>
                <a:rPr lang="en-US" sz="1950" dirty="0">
                  <a:solidFill>
                    <a:schemeClr val="accent3"/>
                  </a:solidFill>
                  <a:latin typeface="+mn-lt"/>
                  <a:ea typeface="+mn-ea"/>
                  <a:cs typeface="+mn-cs"/>
                </a:rPr>
                <a:t>Eigen least squares</a:t>
              </a:r>
            </a:p>
          </p:txBody>
        </p:sp>
      </p:grpSp>
      <p:grpSp>
        <p:nvGrpSpPr>
          <p:cNvPr id="21" name="validation-stage"/>
          <p:cNvGrpSpPr/>
          <p:nvPr/>
        </p:nvGrpSpPr>
        <p:grpSpPr>
          <a:xfrm>
            <a:off x="4419600" y="2619375"/>
            <a:ext cx="3333750" cy="2286000"/>
            <a:chOff x="4419600" y="2619375"/>
            <a:chExt cx="3333750" cy="2286000"/>
          </a:xfrm>
        </p:grpSpPr>
        <p:sp>
          <p:nvSpPr>
            <p:cNvPr id="16" name="Rectangle 16"/>
            <p:cNvSpPr/>
            <p:nvPr/>
          </p:nvSpPr>
          <p:spPr>
            <a:xfrm>
              <a:off x="4419600" y="2619375"/>
              <a:ext cx="3333750" cy="2286000"/>
            </a:xfrm>
            <a:prstGeom prst="roundRect">
              <a:avLst>
                <a:gd name="adj" fmla="val 1667"/>
              </a:avLst>
            </a:prstGeom>
            <a:solidFill>
              <a:schemeClr val="lt2"/>
            </a:solidFill>
            <a:ln>
              <a:noFill/>
            </a:ln>
          </p:spPr>
        </p:sp>
        <p:sp>
          <p:nvSpPr>
            <p:cNvPr id="17" name="TextBox 17"/>
            <p:cNvSpPr txBox="1"/>
            <p:nvPr/>
          </p:nvSpPr>
          <p:spPr>
            <a:xfrm>
              <a:off x="4637532" y="2868930"/>
              <a:ext cx="193011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02 VALIDATE</a:t>
              </a:r>
            </a:p>
          </p:txBody>
        </p:sp>
        <p:sp>
          <p:nvSpPr>
            <p:cNvPr id="18" name="TextBox 18"/>
            <p:cNvSpPr txBox="1"/>
            <p:nvPr/>
          </p:nvSpPr>
          <p:spPr>
            <a:xfrm>
              <a:off x="4638294" y="3408998"/>
              <a:ext cx="2167632"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Model evaluation</a:t>
              </a:r>
            </a:p>
          </p:txBody>
        </p:sp>
        <p:sp>
          <p:nvSpPr>
            <p:cNvPr id="19" name="TextBox 19"/>
            <p:cNvSpPr txBox="1"/>
            <p:nvPr/>
          </p:nvSpPr>
          <p:spPr>
            <a:xfrm>
              <a:off x="4638294" y="3837622"/>
              <a:ext cx="2715985"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Tune Q-format widths</a:t>
              </a:r>
            </a:p>
          </p:txBody>
        </p:sp>
        <p:sp>
          <p:nvSpPr>
            <p:cNvPr id="20" name="TextBox 20"/>
            <p:cNvSpPr txBox="1"/>
            <p:nvPr/>
          </p:nvSpPr>
          <p:spPr>
            <a:xfrm>
              <a:off x="4638294" y="4266248"/>
              <a:ext cx="2721810" cy="381381"/>
            </a:xfrm>
            <a:prstGeom prst="rect">
              <a:avLst/>
            </a:prstGeom>
            <a:noFill/>
            <a:ln>
              <a:noFill/>
            </a:ln>
          </p:spPr>
          <p:txBody>
            <a:bodyPr wrap="none" lIns="0" tIns="0" rIns="0" bIns="0" anchor="t" anchorCtr="0">
              <a:spAutoFit/>
            </a:bodyPr>
            <a:lstStyle/>
            <a:p>
              <a:pPr algn="l" marL="155499" indent="-155499">
                <a:buClr>
                  <a:schemeClr val="accent3"/>
                </a:buClr>
                <a:buSzTx/>
                <a:buFontTx/>
                <a:buChar char="•"/>
              </a:pPr>
              <a:r>
                <a:rPr lang="en-US" sz="1950" dirty="0">
                  <a:solidFill>
                    <a:schemeClr val="accent3"/>
                  </a:solidFill>
                  <a:latin typeface="+mn-lt"/>
                  <a:ea typeface="+mn-ea"/>
                  <a:cs typeface="+mn-cs"/>
                </a:rPr>
                <a:t>Profile dynamic range</a:t>
              </a:r>
            </a:p>
          </p:txBody>
        </p:sp>
      </p:grpSp>
      <p:grpSp>
        <p:nvGrpSpPr>
          <p:cNvPr id="27" name="test-stage"/>
          <p:cNvGrpSpPr/>
          <p:nvPr/>
        </p:nvGrpSpPr>
        <p:grpSpPr>
          <a:xfrm>
            <a:off x="8229600" y="2619375"/>
            <a:ext cx="3352800" cy="2286000"/>
            <a:chOff x="8229600" y="2619375"/>
            <a:chExt cx="3352800" cy="2286000"/>
          </a:xfrm>
        </p:grpSpPr>
        <p:sp>
          <p:nvSpPr>
            <p:cNvPr id="22" name="Rectangle 22"/>
            <p:cNvSpPr/>
            <p:nvPr/>
          </p:nvSpPr>
          <p:spPr>
            <a:xfrm>
              <a:off x="8229600" y="2619375"/>
              <a:ext cx="3352800" cy="2286000"/>
            </a:xfrm>
            <a:prstGeom prst="roundRect">
              <a:avLst>
                <a:gd name="adj" fmla="val 1667"/>
              </a:avLst>
            </a:prstGeom>
            <a:solidFill>
              <a:schemeClr val="lt2"/>
            </a:solidFill>
            <a:ln>
              <a:noFill/>
            </a:ln>
          </p:spPr>
        </p:sp>
        <p:sp>
          <p:nvSpPr>
            <p:cNvPr id="23" name="TextBox 23"/>
            <p:cNvSpPr txBox="1"/>
            <p:nvPr/>
          </p:nvSpPr>
          <p:spPr>
            <a:xfrm>
              <a:off x="8447532" y="2868930"/>
              <a:ext cx="1199962"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03 TEST</a:t>
              </a:r>
            </a:p>
          </p:txBody>
        </p:sp>
        <p:sp>
          <p:nvSpPr>
            <p:cNvPr id="24" name="TextBox 24"/>
            <p:cNvSpPr txBox="1"/>
            <p:nvPr/>
          </p:nvSpPr>
          <p:spPr>
            <a:xfrm>
              <a:off x="8448294" y="3408998"/>
              <a:ext cx="2634803"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Unseen future period</a:t>
              </a:r>
            </a:p>
          </p:txBody>
        </p:sp>
        <p:sp>
          <p:nvSpPr>
            <p:cNvPr id="25" name="TextBox 25"/>
            <p:cNvSpPr txBox="1"/>
            <p:nvPr/>
          </p:nvSpPr>
          <p:spPr>
            <a:xfrm>
              <a:off x="8448294" y="3837622"/>
              <a:ext cx="2590141"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Final accuracy score</a:t>
              </a:r>
            </a:p>
          </p:txBody>
        </p:sp>
        <p:sp>
          <p:nvSpPr>
            <p:cNvPr id="26" name="TextBox 26"/>
            <p:cNvSpPr txBox="1"/>
            <p:nvPr/>
          </p:nvSpPr>
          <p:spPr>
            <a:xfrm>
              <a:off x="8448294" y="4266248"/>
              <a:ext cx="3087826" cy="381381"/>
            </a:xfrm>
            <a:prstGeom prst="rect">
              <a:avLst/>
            </a:prstGeom>
            <a:noFill/>
            <a:ln>
              <a:noFill/>
            </a:ln>
          </p:spPr>
          <p:txBody>
            <a:bodyPr wrap="none" lIns="0" tIns="0" rIns="0" bIns="0" anchor="t" anchorCtr="0">
              <a:spAutoFit/>
            </a:bodyPr>
            <a:lstStyle/>
            <a:p>
              <a:pPr algn="l" marL="155499" indent="-155499">
                <a:buClr>
                  <a:schemeClr val="accent3"/>
                </a:buClr>
                <a:buSzTx/>
                <a:buFontTx/>
                <a:buChar char="•"/>
              </a:pPr>
              <a:r>
                <a:rPr lang="en-US" sz="1950" dirty="0">
                  <a:solidFill>
                    <a:schemeClr val="accent3"/>
                  </a:solidFill>
                  <a:latin typeface="+mn-lt"/>
                  <a:ea typeface="+mn-ea"/>
                  <a:cs typeface="+mn-cs"/>
                </a:rPr>
                <a:t>Zero look-ahead leakage</a:t>
              </a:r>
            </a:p>
          </p:txBody>
        </p:sp>
      </p:grpSp>
      <p:grpSp>
        <p:nvGrpSpPr>
          <p:cNvPr id="30" name="split-contract"/>
          <p:cNvGrpSpPr/>
          <p:nvPr/>
        </p:nvGrpSpPr>
        <p:grpSpPr>
          <a:xfrm>
            <a:off x="609600" y="5143500"/>
            <a:ext cx="10972800" cy="762000"/>
            <a:chOff x="609600" y="5143500"/>
            <a:chExt cx="10972800" cy="762000"/>
          </a:xfrm>
        </p:grpSpPr>
        <p:sp>
          <p:nvSpPr>
            <p:cNvPr id="28" name="Rectangle 28"/>
            <p:cNvSpPr/>
            <p:nvPr/>
          </p:nvSpPr>
          <p:spPr>
            <a:xfrm>
              <a:off x="609600" y="5143500"/>
              <a:ext cx="10972800" cy="762000"/>
            </a:xfrm>
            <a:prstGeom prst="roundRect">
              <a:avLst>
                <a:gd name="adj" fmla="val 5000"/>
              </a:avLst>
            </a:prstGeom>
            <a:solidFill>
              <a:schemeClr val="lt2"/>
            </a:solidFill>
            <a:ln>
              <a:noFill/>
            </a:ln>
          </p:spPr>
        </p:sp>
        <p:sp>
          <p:nvSpPr>
            <p:cNvPr id="29" name="TextBox 29"/>
            <p:cNvSpPr txBox="1"/>
            <p:nvPr/>
          </p:nvSpPr>
          <p:spPr>
            <a:xfrm>
              <a:off x="828294" y="5409248"/>
              <a:ext cx="10684090"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Strict chronological order: Past history provides buffer context without label leakage.</a:t>
              </a:r>
            </a:p>
          </p:txBody>
        </p:sp>
      </p:grpSp>
      <p:grpSp>
        <p:nvGrpSpPr>
          <p:cNvPr id="32" name="training-source"/>
          <p:cNvGrpSpPr/>
          <p:nvPr/>
        </p:nvGrpSpPr>
        <p:grpSpPr>
          <a:xfrm>
            <a:off x="603504" y="6252210"/>
            <a:ext cx="5225909" cy="234696"/>
            <a:chOff x="603504" y="6252210"/>
            <a:chExt cx="5225909" cy="234696"/>
          </a:xfrm>
        </p:grpSpPr>
        <p:sp>
          <p:nvSpPr>
            <p:cNvPr id="31" name="TextBox 31">
              <a:hlinkClick r:id="rId2"/>
            </p:cNvPr>
            <p:cNvSpPr txBox="1"/>
            <p:nvPr/>
          </p:nvSpPr>
          <p:spPr>
            <a:xfrm>
              <a:off x="603504" y="6252210"/>
              <a:ext cx="522590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Implementation reference: Eigen — Solving linear least squares systems</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7539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Algorithmic Baseline Benchmarking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06 / 15</a:t>
            </a:r>
          </a:p>
        </p:txBody>
      </p:sp>
      <p:grpSp>
        <p:nvGrpSpPr>
          <p:cNvPr id="13" name="left-card"/>
          <p:cNvGrpSpPr/>
          <p:nvPr/>
        </p:nvGrpSpPr>
        <p:grpSpPr>
          <a:xfrm>
            <a:off x="609600" y="1428750"/>
            <a:ext cx="5257800" cy="4476750"/>
            <a:chOff x="609600" y="1428750"/>
            <a:chExt cx="5257800" cy="4476750"/>
          </a:xfrm>
        </p:grpSpPr>
        <p:sp>
          <p:nvSpPr>
            <p:cNvPr id="6" name="Rectangle 6"/>
            <p:cNvSpPr/>
            <p:nvPr/>
          </p:nvSpPr>
          <p:spPr>
            <a:xfrm>
              <a:off x="609600" y="1428750"/>
              <a:ext cx="5257800" cy="4476750"/>
            </a:xfrm>
            <a:prstGeom prst="roundRect">
              <a:avLst>
                <a:gd name="adj" fmla="val 851"/>
              </a:avLst>
            </a:prstGeom>
            <a:solidFill>
              <a:schemeClr val="lt2"/>
            </a:solidFill>
            <a:ln>
              <a:noFill/>
            </a:ln>
          </p:spPr>
        </p:sp>
        <p:sp>
          <p:nvSpPr>
            <p:cNvPr id="7" name="TextBox 7"/>
            <p:cNvSpPr txBox="1"/>
            <p:nvPr/>
          </p:nvSpPr>
          <p:spPr>
            <a:xfrm>
              <a:off x="827532" y="1678305"/>
              <a:ext cx="4037053"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EVALUATION METRIC: MAE</a:t>
              </a:r>
            </a:p>
          </p:txBody>
        </p:sp>
        <p:sp>
          <p:nvSpPr>
            <p:cNvPr id="8" name="TextBox 8"/>
            <p:cNvSpPr txBox="1"/>
            <p:nvPr/>
          </p:nvSpPr>
          <p:spPr>
            <a:xfrm>
              <a:off x="829056" y="2234565"/>
              <a:ext cx="460749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Mean Absolute Error on held-out test data:</a:t>
              </a:r>
            </a:p>
          </p:txBody>
        </p:sp>
        <p:sp>
          <p:nvSpPr>
            <p:cNvPr id="9" name="TextBox 9"/>
            <p:cNvSpPr txBox="1"/>
            <p:nvPr/>
          </p:nvSpPr>
          <p:spPr>
            <a:xfrm>
              <a:off x="828294" y="2789872"/>
              <a:ext cx="4770730"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Consolas"/>
                  <a:ea typeface="Consolas"/>
                  <a:cs typeface="Consolas"/>
                </a:rPr>
                <a:t>MAE = (1/N) ∑ |T̂(i) − T_true(i)|</a:t>
              </a:r>
            </a:p>
          </p:txBody>
        </p:sp>
        <p:sp>
          <p:nvSpPr>
            <p:cNvPr id="10" name="Line 10"/>
            <p:cNvSpPr/>
            <p:nvPr/>
          </p:nvSpPr>
          <p:spPr>
            <a:xfrm>
              <a:off x="838200" y="347662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1" name="TextBox 11"/>
            <p:cNvSpPr txBox="1"/>
            <p:nvPr/>
          </p:nvSpPr>
          <p:spPr>
            <a:xfrm>
              <a:off x="828294" y="3789998"/>
              <a:ext cx="3341581"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Core Evaluation Question:</a:t>
              </a:r>
            </a:p>
          </p:txBody>
        </p:sp>
        <p:sp>
          <p:nvSpPr>
            <p:cNvPr id="12" name="TextBox 12"/>
            <p:cNvSpPr txBox="1"/>
            <p:nvPr/>
          </p:nvSpPr>
          <p:spPr>
            <a:xfrm>
              <a:off x="829056" y="4282440"/>
              <a:ext cx="3906180"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Does our hardware model actually</a:t>
              </a:r>
              <a:br/>
              <a:r>
                <a:rPr lang="en-US" sz="1800" dirty="0">
                  <a:solidFill>
                    <a:schemeClr val="dk1"/>
                  </a:solidFill>
                  <a:latin typeface="+mn-lt"/>
                  <a:ea typeface="+mn-ea"/>
                  <a:cs typeface="+mn-cs"/>
                </a:rPr>
                <a:t>outperform simple no-math heuristics?</a:t>
              </a:r>
            </a:p>
          </p:txBody>
        </p:sp>
      </p:grpSp>
      <p:grpSp>
        <p:nvGrpSpPr>
          <p:cNvPr id="23" name="right-card"/>
          <p:cNvGrpSpPr/>
          <p:nvPr/>
        </p:nvGrpSpPr>
        <p:grpSpPr>
          <a:xfrm>
            <a:off x="6324600" y="1428750"/>
            <a:ext cx="5257800" cy="4476750"/>
            <a:chOff x="6324600" y="1428750"/>
            <a:chExt cx="5257800" cy="4476750"/>
          </a:xfrm>
        </p:grpSpPr>
        <p:sp>
          <p:nvSpPr>
            <p:cNvPr id="14" name="Rectangle 14"/>
            <p:cNvSpPr/>
            <p:nvPr/>
          </p:nvSpPr>
          <p:spPr>
            <a:xfrm>
              <a:off x="6324600" y="1428750"/>
              <a:ext cx="5257800" cy="4476750"/>
            </a:xfrm>
            <a:prstGeom prst="roundRect">
              <a:avLst>
                <a:gd name="adj" fmla="val 851"/>
              </a:avLst>
            </a:prstGeom>
            <a:solidFill>
              <a:schemeClr val="lt2"/>
            </a:solidFill>
            <a:ln>
              <a:noFill/>
            </a:ln>
          </p:spPr>
        </p:sp>
        <p:sp>
          <p:nvSpPr>
            <p:cNvPr id="15" name="TextBox 15"/>
            <p:cNvSpPr txBox="1"/>
            <p:nvPr/>
          </p:nvSpPr>
          <p:spPr>
            <a:xfrm>
              <a:off x="6542532" y="1678305"/>
              <a:ext cx="350643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TWO NAIVE BASELINES</a:t>
              </a:r>
            </a:p>
          </p:txBody>
        </p:sp>
        <p:sp>
          <p:nvSpPr>
            <p:cNvPr id="16" name="TextBox 16"/>
            <p:cNvSpPr txBox="1"/>
            <p:nvPr/>
          </p:nvSpPr>
          <p:spPr>
            <a:xfrm>
              <a:off x="6544056" y="2234565"/>
              <a:ext cx="423405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1. Persistence Baseline: T̂(t+3) = T(t)</a:t>
              </a:r>
            </a:p>
          </p:txBody>
        </p:sp>
        <p:sp>
          <p:nvSpPr>
            <p:cNvPr id="17" name="TextBox 17"/>
            <p:cNvSpPr txBox="1"/>
            <p:nvPr/>
          </p:nvSpPr>
          <p:spPr>
            <a:xfrm>
              <a:off x="6754368" y="2631758"/>
              <a:ext cx="393776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Assumes temperature stays unchanged</a:t>
              </a:r>
            </a:p>
          </p:txBody>
        </p:sp>
        <p:sp>
          <p:nvSpPr>
            <p:cNvPr id="18" name="TextBox 18"/>
            <p:cNvSpPr txBox="1"/>
            <p:nvPr/>
          </p:nvSpPr>
          <p:spPr>
            <a:xfrm>
              <a:off x="6544056" y="3282315"/>
              <a:ext cx="412652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2. Diurnal Baseline: T̂(t+3) = T(t−21)</a:t>
              </a:r>
            </a:p>
          </p:txBody>
        </p:sp>
        <p:sp>
          <p:nvSpPr>
            <p:cNvPr id="19" name="TextBox 19"/>
            <p:cNvSpPr txBox="1"/>
            <p:nvPr/>
          </p:nvSpPr>
          <p:spPr>
            <a:xfrm>
              <a:off x="6754368" y="3679508"/>
              <a:ext cx="472784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Assumes today repeats yesterday at same hour</a:t>
              </a:r>
            </a:p>
          </p:txBody>
        </p:sp>
        <p:sp>
          <p:nvSpPr>
            <p:cNvPr id="20" name="Line 20"/>
            <p:cNvSpPr/>
            <p:nvPr/>
          </p:nvSpPr>
          <p:spPr>
            <a:xfrm>
              <a:off x="6553200" y="43338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1" name="TextBox 21"/>
            <p:cNvSpPr txBox="1"/>
            <p:nvPr/>
          </p:nvSpPr>
          <p:spPr>
            <a:xfrm>
              <a:off x="6544056" y="4615815"/>
              <a:ext cx="340745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Academic Integrity Standard:</a:t>
              </a:r>
            </a:p>
          </p:txBody>
        </p:sp>
        <p:sp>
          <p:nvSpPr>
            <p:cNvPr id="22" name="TextBox 22"/>
            <p:cNvSpPr txBox="1"/>
            <p:nvPr/>
          </p:nvSpPr>
          <p:spPr>
            <a:xfrm>
              <a:off x="6544818" y="5013008"/>
              <a:ext cx="3953957"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dk1"/>
                  </a:solidFill>
                  <a:latin typeface="+mn-lt"/>
                  <a:ea typeface="+mn-ea"/>
                  <a:cs typeface="+mn-cs"/>
                </a:rPr>
                <a:t>Residuals and MAE are reported honestly.</a:t>
              </a:r>
              <a:br/>
              <a:r>
                <a:rPr lang="en-US" sz="1650" dirty="0">
                  <a:solidFill>
                    <a:schemeClr val="dk1"/>
                  </a:solidFill>
                  <a:latin typeface="+mn-lt"/>
                  <a:ea typeface="+mn-ea"/>
                  <a:cs typeface="+mn-cs"/>
                </a:rPr>
                <a:t>Evaluated on identical test period.</a:t>
              </a:r>
            </a:p>
          </p:txBody>
        </p:sp>
      </p:grpSp>
      <p:grpSp>
        <p:nvGrpSpPr>
          <p:cNvPr id="25" name="baseline-source"/>
          <p:cNvGrpSpPr/>
          <p:nvPr/>
        </p:nvGrpSpPr>
        <p:grpSpPr>
          <a:xfrm>
            <a:off x="603504" y="6252210"/>
            <a:ext cx="6294994" cy="234696"/>
            <a:chOff x="603504" y="6252210"/>
            <a:chExt cx="6294994" cy="234696"/>
          </a:xfrm>
        </p:grpSpPr>
        <p:sp>
          <p:nvSpPr>
            <p:cNvPr id="24" name="TextBox 24">
              <a:hlinkClick r:id="rId2"/>
            </p:cNvPr>
            <p:cNvSpPr txBox="1"/>
            <p:nvPr/>
          </p:nvSpPr>
          <p:spPr>
            <a:xfrm>
              <a:off x="603504" y="6252210"/>
              <a:ext cx="6294994"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Baseline reference: Forecasting: Principles and Practice — Simple forecasting methods</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1872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Fixed-Point Design &amp; Q-Format</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07 / 15</a:t>
            </a:r>
          </a:p>
        </p:txBody>
      </p:sp>
      <p:grpSp>
        <p:nvGrpSpPr>
          <p:cNvPr id="11" name="step1"/>
          <p:cNvGrpSpPr/>
          <p:nvPr/>
        </p:nvGrpSpPr>
        <p:grpSpPr>
          <a:xfrm>
            <a:off x="609600" y="1428750"/>
            <a:ext cx="3333750" cy="2381250"/>
            <a:chOff x="609600" y="1428750"/>
            <a:chExt cx="3333750" cy="2381250"/>
          </a:xfrm>
        </p:grpSpPr>
        <p:sp>
          <p:nvSpPr>
            <p:cNvPr id="6" name="Rectangle 6"/>
            <p:cNvSpPr/>
            <p:nvPr/>
          </p:nvSpPr>
          <p:spPr>
            <a:xfrm>
              <a:off x="609600" y="1428750"/>
              <a:ext cx="3333750" cy="2381250"/>
            </a:xfrm>
            <a:prstGeom prst="roundRect">
              <a:avLst>
                <a:gd name="adj" fmla="val 1600"/>
              </a:avLst>
            </a:prstGeom>
            <a:solidFill>
              <a:schemeClr val="lt2"/>
            </a:solidFill>
            <a:ln>
              <a:noFill/>
            </a:ln>
          </p:spPr>
        </p:sp>
        <p:sp>
          <p:nvSpPr>
            <p:cNvPr id="7" name="TextBox 7"/>
            <p:cNvSpPr txBox="1"/>
            <p:nvPr/>
          </p:nvSpPr>
          <p:spPr>
            <a:xfrm>
              <a:off x="828294" y="1694498"/>
              <a:ext cx="260887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1. PROFILE RANGE</a:t>
              </a:r>
            </a:p>
          </p:txBody>
        </p:sp>
        <p:sp>
          <p:nvSpPr>
            <p:cNvPr id="8" name="TextBox 8"/>
            <p:cNvSpPr txBox="1"/>
            <p:nvPr/>
          </p:nvSpPr>
          <p:spPr>
            <a:xfrm>
              <a:off x="829056" y="2234565"/>
              <a:ext cx="2580355"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Sub-zero winter peaks</a:t>
              </a:r>
            </a:p>
          </p:txBody>
        </p:sp>
        <p:sp>
          <p:nvSpPr>
            <p:cNvPr id="9" name="TextBox 9"/>
            <p:cNvSpPr txBox="1"/>
            <p:nvPr/>
          </p:nvSpPr>
          <p:spPr>
            <a:xfrm>
              <a:off x="829056" y="2663190"/>
              <a:ext cx="2674329"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High summer extremes</a:t>
              </a:r>
            </a:p>
          </p:txBody>
        </p:sp>
        <p:sp>
          <p:nvSpPr>
            <p:cNvPr id="10" name="TextBox 10"/>
            <p:cNvSpPr txBox="1"/>
            <p:nvPr/>
          </p:nvSpPr>
          <p:spPr>
            <a:xfrm>
              <a:off x="829056" y="3091815"/>
              <a:ext cx="2580355"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Weight dynamic range</a:t>
              </a:r>
            </a:p>
          </p:txBody>
        </p:sp>
      </p:grpSp>
      <p:grpSp>
        <p:nvGrpSpPr>
          <p:cNvPr id="17" name="step2"/>
          <p:cNvGrpSpPr/>
          <p:nvPr/>
        </p:nvGrpSpPr>
        <p:grpSpPr>
          <a:xfrm>
            <a:off x="4419600" y="1428750"/>
            <a:ext cx="3333750" cy="2381250"/>
            <a:chOff x="4419600" y="1428750"/>
            <a:chExt cx="3333750" cy="2381250"/>
          </a:xfrm>
        </p:grpSpPr>
        <p:sp>
          <p:nvSpPr>
            <p:cNvPr id="12" name="Rectangle 12"/>
            <p:cNvSpPr/>
            <p:nvPr/>
          </p:nvSpPr>
          <p:spPr>
            <a:xfrm>
              <a:off x="4419600" y="1428750"/>
              <a:ext cx="3333750" cy="2381250"/>
            </a:xfrm>
            <a:prstGeom prst="roundRect">
              <a:avLst>
                <a:gd name="adj" fmla="val 1600"/>
              </a:avLst>
            </a:prstGeom>
            <a:solidFill>
              <a:schemeClr val="lt2"/>
            </a:solidFill>
            <a:ln>
              <a:noFill/>
            </a:ln>
          </p:spPr>
        </p:sp>
        <p:sp>
          <p:nvSpPr>
            <p:cNvPr id="13" name="TextBox 13"/>
            <p:cNvSpPr txBox="1"/>
            <p:nvPr/>
          </p:nvSpPr>
          <p:spPr>
            <a:xfrm>
              <a:off x="4638294" y="1694498"/>
              <a:ext cx="2685651"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2. SELECT FORMAT</a:t>
              </a:r>
            </a:p>
          </p:txBody>
        </p:sp>
        <p:sp>
          <p:nvSpPr>
            <p:cNvPr id="14" name="TextBox 14"/>
            <p:cNvSpPr txBox="1"/>
            <p:nvPr/>
          </p:nvSpPr>
          <p:spPr>
            <a:xfrm>
              <a:off x="4639056" y="2234565"/>
              <a:ext cx="2108622"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Signed fixed-point</a:t>
              </a:r>
            </a:p>
          </p:txBody>
        </p:sp>
        <p:sp>
          <p:nvSpPr>
            <p:cNvPr id="15" name="TextBox 15"/>
            <p:cNvSpPr txBox="1"/>
            <p:nvPr/>
          </p:nvSpPr>
          <p:spPr>
            <a:xfrm>
              <a:off x="4639056" y="2663190"/>
              <a:ext cx="2054443"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Integer guard bits</a:t>
              </a:r>
            </a:p>
          </p:txBody>
        </p:sp>
        <p:sp>
          <p:nvSpPr>
            <p:cNvPr id="16" name="TextBox 16"/>
            <p:cNvSpPr txBox="1"/>
            <p:nvPr/>
          </p:nvSpPr>
          <p:spPr>
            <a:xfrm>
              <a:off x="4639056" y="3091815"/>
              <a:ext cx="2322513"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E.g., Q8.8 or Q10.6</a:t>
              </a:r>
            </a:p>
          </p:txBody>
        </p:sp>
      </p:grpSp>
      <p:grpSp>
        <p:nvGrpSpPr>
          <p:cNvPr id="23" name="step3"/>
          <p:cNvGrpSpPr/>
          <p:nvPr/>
        </p:nvGrpSpPr>
        <p:grpSpPr>
          <a:xfrm>
            <a:off x="8229600" y="1428750"/>
            <a:ext cx="3352800" cy="2381250"/>
            <a:chOff x="8229600" y="1428750"/>
            <a:chExt cx="3352800" cy="2381250"/>
          </a:xfrm>
        </p:grpSpPr>
        <p:sp>
          <p:nvSpPr>
            <p:cNvPr id="18" name="Rectangle 18"/>
            <p:cNvSpPr/>
            <p:nvPr/>
          </p:nvSpPr>
          <p:spPr>
            <a:xfrm>
              <a:off x="8229600" y="1428750"/>
              <a:ext cx="3352800" cy="2381250"/>
            </a:xfrm>
            <a:prstGeom prst="roundRect">
              <a:avLst>
                <a:gd name="adj" fmla="val 1600"/>
              </a:avLst>
            </a:prstGeom>
            <a:solidFill>
              <a:schemeClr val="lt2"/>
            </a:solidFill>
            <a:ln>
              <a:noFill/>
            </a:ln>
          </p:spPr>
        </p:sp>
        <p:sp>
          <p:nvSpPr>
            <p:cNvPr id="19" name="TextBox 19"/>
            <p:cNvSpPr txBox="1"/>
            <p:nvPr/>
          </p:nvSpPr>
          <p:spPr>
            <a:xfrm>
              <a:off x="8448294" y="1694498"/>
              <a:ext cx="2177402"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3. UNIFY RULES</a:t>
              </a:r>
            </a:p>
          </p:txBody>
        </p:sp>
        <p:sp>
          <p:nvSpPr>
            <p:cNvPr id="20" name="TextBox 20"/>
            <p:cNvSpPr txBox="1"/>
            <p:nvPr/>
          </p:nvSpPr>
          <p:spPr>
            <a:xfrm>
              <a:off x="8449056" y="2234565"/>
              <a:ext cx="2268916"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Multiplier bit-growth</a:t>
              </a:r>
            </a:p>
          </p:txBody>
        </p:sp>
        <p:sp>
          <p:nvSpPr>
            <p:cNvPr id="21" name="TextBox 21"/>
            <p:cNvSpPr txBox="1"/>
            <p:nvPr/>
          </p:nvSpPr>
          <p:spPr>
            <a:xfrm>
              <a:off x="8449056" y="2663190"/>
              <a:ext cx="2620032"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Truncation &amp; shift logic</a:t>
              </a:r>
            </a:p>
          </p:txBody>
        </p:sp>
        <p:sp>
          <p:nvSpPr>
            <p:cNvPr id="22" name="TextBox 22"/>
            <p:cNvSpPr txBox="1"/>
            <p:nvPr/>
          </p:nvSpPr>
          <p:spPr>
            <a:xfrm>
              <a:off x="8449056" y="3091815"/>
              <a:ext cx="2579840"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Saturation on overflow</a:t>
              </a:r>
            </a:p>
          </p:txBody>
        </p:sp>
      </p:grpSp>
      <p:grpSp>
        <p:nvGrpSpPr>
          <p:cNvPr id="28" name="takeaway"/>
          <p:cNvGrpSpPr/>
          <p:nvPr/>
        </p:nvGrpSpPr>
        <p:grpSpPr>
          <a:xfrm>
            <a:off x="609600" y="4095750"/>
            <a:ext cx="10972800" cy="1905000"/>
            <a:chOff x="609600" y="4095750"/>
            <a:chExt cx="10972800" cy="1905000"/>
          </a:xfrm>
        </p:grpSpPr>
        <p:sp>
          <p:nvSpPr>
            <p:cNvPr id="24" name="Rectangle 24"/>
            <p:cNvSpPr/>
            <p:nvPr/>
          </p:nvSpPr>
          <p:spPr>
            <a:xfrm>
              <a:off x="609600" y="4095750"/>
              <a:ext cx="10972800" cy="1905000"/>
            </a:xfrm>
            <a:prstGeom prst="roundRect">
              <a:avLst>
                <a:gd name="adj" fmla="val 2000"/>
              </a:avLst>
            </a:prstGeom>
            <a:solidFill>
              <a:schemeClr val="lt2"/>
            </a:solidFill>
            <a:ln>
              <a:noFill/>
            </a:ln>
          </p:spPr>
        </p:sp>
        <p:sp>
          <p:nvSpPr>
            <p:cNvPr id="25" name="TextBox 25"/>
            <p:cNvSpPr txBox="1"/>
            <p:nvPr/>
          </p:nvSpPr>
          <p:spPr>
            <a:xfrm>
              <a:off x="827532" y="4345305"/>
              <a:ext cx="516591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GOLDEN VERIFICATION PRINCIPLE</a:t>
              </a:r>
            </a:p>
          </p:txBody>
        </p:sp>
        <p:sp>
          <p:nvSpPr>
            <p:cNvPr id="26" name="TextBox 26"/>
            <p:cNvSpPr txBox="1"/>
            <p:nvPr/>
          </p:nvSpPr>
          <p:spPr>
            <a:xfrm>
              <a:off x="828294" y="4885372"/>
              <a:ext cx="9726170"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C++ fixed-point golden model mirrors every RTL truncation &amp; saturation step.</a:t>
              </a:r>
            </a:p>
          </p:txBody>
        </p:sp>
        <p:sp>
          <p:nvSpPr>
            <p:cNvPr id="27" name="TextBox 27"/>
            <p:cNvSpPr txBox="1"/>
            <p:nvPr/>
          </p:nvSpPr>
          <p:spPr>
            <a:xfrm>
              <a:off x="829056" y="5377815"/>
              <a:ext cx="9505165"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Separates forecast accuracy from quantization noise, guaranteeing 100% bit-exact RTL.</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824177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Two-Phase Development Strategy</a:t>
            </a:r>
          </a:p>
        </p:txBody>
      </p:sp>
      <p:sp>
        <p:nvSpPr>
          <p:cNvPr id="7" name="comparison-left-title-slot Placeholder Carrier"/>
          <p:cNvSpPr txBox="1"/>
          <p:nvPr>
            <p:ph type="body" idx="1"/>
          </p:nvPr>
        </p:nvSpPr>
        <p:spPr>
          <a:xfrm>
            <a:off x="829056" y="1844040"/>
            <a:ext cx="4314863" cy="352044"/>
          </a:xfrm>
          <a:prstGeom prst="rect">
            <a:avLst/>
          </a:prstGeom>
          <a:noFill/>
          <a:ln>
            <a:noFill/>
          </a:ln>
        </p:spPr>
        <p:txBody>
          <a:bodyPr wrap="none" lIns="0" tIns="0" rIns="0" bIns="0" anchor="t" anchorCtr="0">
            <a:spAutoFit/>
          </a:bodyPr>
          <a:lstStyle/>
          <a:p>
            <a:pPr algn="l" marL="0" indent="0">
              <a:buNone/>
            </a:pPr>
            <a:r>
              <a:rPr lang="en-US" sz="1800" b="1" dirty="0">
                <a:solidFill>
                  <a:schemeClr val="accent2"/>
                </a:solidFill>
                <a:latin typeface="+mn-lt"/>
                <a:ea typeface="+mn-ea"/>
                <a:cs typeface="+mn-cs"/>
              </a:rPr>
              <a:t>PHASE 1: CORE MVP (WEEKS 1–6)</a:t>
            </a:r>
          </a:p>
        </p:txBody>
      </p:sp>
      <p:sp>
        <p:nvSpPr>
          <p:cNvPr id="8" name="comparison-right-title-slot Placeholder Carrier"/>
          <p:cNvSpPr txBox="1"/>
          <p:nvPr>
            <p:ph type="body" idx="3"/>
          </p:nvPr>
        </p:nvSpPr>
        <p:spPr>
          <a:xfrm>
            <a:off x="6544056" y="1844040"/>
            <a:ext cx="4542578" cy="352044"/>
          </a:xfrm>
          <a:prstGeom prst="rect">
            <a:avLst/>
          </a:prstGeom>
          <a:noFill/>
          <a:ln>
            <a:noFill/>
          </a:ln>
        </p:spPr>
        <p:txBody>
          <a:bodyPr wrap="none" lIns="0" tIns="0" rIns="0" bIns="0" anchor="t" anchorCtr="0">
            <a:spAutoFit/>
          </a:bodyPr>
          <a:lstStyle/>
          <a:p>
            <a:pPr algn="l" marL="0" indent="0">
              <a:buNone/>
            </a:pPr>
            <a:r>
              <a:rPr lang="en-US" sz="1800" b="1" dirty="0">
                <a:solidFill>
                  <a:schemeClr val="accent2"/>
                </a:solidFill>
                <a:latin typeface="+mn-lt"/>
                <a:ea typeface="+mn-ea"/>
                <a:cs typeface="+mn-cs"/>
              </a:rPr>
              <a:t>PHASE 2: ADVANCED (WEEKS 7–12)</a:t>
            </a:r>
          </a:p>
        </p:txBody>
      </p:sp>
      <p:grpSp>
        <p:nvGrpSpPr>
          <p:cNvPr id="17" name="comparison-left-content-slot Proxy Content"/>
          <p:cNvGrpSpPr/>
          <p:nvPr/>
        </p:nvGrpSpPr>
        <p:grpSpPr>
          <a:xfrm>
            <a:off x="829056" y="2520315"/>
            <a:ext cx="4733544" cy="3244024"/>
            <a:chOff x="829056" y="2520315"/>
            <a:chExt cx="4733544" cy="3244024"/>
          </a:xfrm>
        </p:grpSpPr>
        <p:sp>
          <p:nvSpPr>
            <p:cNvPr id="9" name="TextBox 9"/>
            <p:cNvSpPr txBox="1"/>
            <p:nvPr/>
          </p:nvSpPr>
          <p:spPr>
            <a:xfrm>
              <a:off x="829056" y="2520315"/>
              <a:ext cx="396555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Goal: De-risk baseline silicon flow</a:t>
              </a:r>
            </a:p>
          </p:txBody>
        </p:sp>
        <p:sp>
          <p:nvSpPr>
            <p:cNvPr id="10" name="TextBox 10"/>
            <p:cNvSpPr txBox="1"/>
            <p:nvPr/>
          </p:nvSpPr>
          <p:spPr>
            <a:xfrm>
              <a:off x="829056" y="2996565"/>
              <a:ext cx="3684208"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Single-variable temperature core</a:t>
              </a:r>
            </a:p>
          </p:txBody>
        </p:sp>
        <p:sp>
          <p:nvSpPr>
            <p:cNvPr id="11" name="TextBox 11"/>
            <p:cNvSpPr txBox="1"/>
            <p:nvPr/>
          </p:nvSpPr>
          <p:spPr>
            <a:xfrm>
              <a:off x="829056" y="3425190"/>
              <a:ext cx="3178902"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25-stage shift register buffer</a:t>
              </a:r>
            </a:p>
          </p:txBody>
        </p:sp>
        <p:sp>
          <p:nvSpPr>
            <p:cNvPr id="12" name="TextBox 12"/>
            <p:cNvSpPr txBox="1"/>
            <p:nvPr/>
          </p:nvSpPr>
          <p:spPr>
            <a:xfrm>
              <a:off x="829056" y="3853815"/>
              <a:ext cx="3558469"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Bit-exact C++ fixed-point model</a:t>
              </a:r>
            </a:p>
          </p:txBody>
        </p:sp>
        <p:sp>
          <p:nvSpPr>
            <p:cNvPr id="13" name="TextBox 13"/>
            <p:cNvSpPr txBox="1"/>
            <p:nvPr/>
          </p:nvSpPr>
          <p:spPr>
            <a:xfrm>
              <a:off x="829056" y="4282440"/>
              <a:ext cx="3678073"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Synthesizable Verilog RTL &amp; TB</a:t>
              </a:r>
            </a:p>
          </p:txBody>
        </p:sp>
        <p:sp>
          <p:nvSpPr>
            <p:cNvPr id="14" name="Line 14"/>
            <p:cNvSpPr/>
            <p:nvPr/>
          </p:nvSpPr>
          <p:spPr>
            <a:xfrm>
              <a:off x="838200" y="481012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5" name="TextBox 15"/>
            <p:cNvSpPr txBox="1"/>
            <p:nvPr/>
          </p:nvSpPr>
          <p:spPr>
            <a:xfrm>
              <a:off x="829056" y="4996815"/>
              <a:ext cx="295696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Deliverable (Milestone 2):</a:t>
              </a:r>
            </a:p>
          </p:txBody>
        </p:sp>
        <p:sp>
          <p:nvSpPr>
            <p:cNvPr id="16" name="TextBox 16"/>
            <p:cNvSpPr txBox="1"/>
            <p:nvPr/>
          </p:nvSpPr>
          <p:spPr>
            <a:xfrm>
              <a:off x="829818" y="5441632"/>
              <a:ext cx="3653475"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Guaranteed working silicon baseline.</a:t>
              </a:r>
            </a:p>
          </p:txBody>
        </p:sp>
      </p:grpSp>
      <p:grpSp>
        <p:nvGrpSpPr>
          <p:cNvPr id="26" name="comparison-right-content-slot Proxy Content"/>
          <p:cNvGrpSpPr/>
          <p:nvPr/>
        </p:nvGrpSpPr>
        <p:grpSpPr>
          <a:xfrm>
            <a:off x="6544056" y="2520315"/>
            <a:ext cx="4733544" cy="3244024"/>
            <a:chOff x="6544056" y="2520315"/>
            <a:chExt cx="4733544" cy="3244024"/>
          </a:xfrm>
        </p:grpSpPr>
        <p:sp>
          <p:nvSpPr>
            <p:cNvPr id="18" name="TextBox 18"/>
            <p:cNvSpPr txBox="1"/>
            <p:nvPr/>
          </p:nvSpPr>
          <p:spPr>
            <a:xfrm>
              <a:off x="6544056" y="2520315"/>
              <a:ext cx="307803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Goal: Depth for 3 students</a:t>
              </a:r>
            </a:p>
          </p:txBody>
        </p:sp>
        <p:sp>
          <p:nvSpPr>
            <p:cNvPr id="19" name="TextBox 19"/>
            <p:cNvSpPr txBox="1"/>
            <p:nvPr/>
          </p:nvSpPr>
          <p:spPr>
            <a:xfrm>
              <a:off x="6544056" y="2996565"/>
              <a:ext cx="3681458"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Multi-variable (RH, P) expansion</a:t>
              </a:r>
            </a:p>
          </p:txBody>
        </p:sp>
        <p:sp>
          <p:nvSpPr>
            <p:cNvPr id="20" name="TextBox 20"/>
            <p:cNvSpPr txBox="1"/>
            <p:nvPr/>
          </p:nvSpPr>
          <p:spPr>
            <a:xfrm>
              <a:off x="6544056" y="3425190"/>
              <a:ext cx="3822570"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Parallel vs. Shared-MAC trade-off</a:t>
              </a:r>
            </a:p>
          </p:txBody>
        </p:sp>
        <p:sp>
          <p:nvSpPr>
            <p:cNvPr id="21" name="TextBox 21"/>
            <p:cNvSpPr txBox="1"/>
            <p:nvPr/>
          </p:nvSpPr>
          <p:spPr>
            <a:xfrm>
              <a:off x="6544056" y="3853815"/>
              <a:ext cx="4262526"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Advanced DV: Coverage &amp; assertions</a:t>
              </a:r>
            </a:p>
          </p:txBody>
        </p:sp>
        <p:sp>
          <p:nvSpPr>
            <p:cNvPr id="22" name="TextBox 22"/>
            <p:cNvSpPr txBox="1"/>
            <p:nvPr/>
          </p:nvSpPr>
          <p:spPr>
            <a:xfrm>
              <a:off x="6544056" y="4282440"/>
              <a:ext cx="3192108"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Physical FPGA board demo</a:t>
              </a:r>
            </a:p>
          </p:txBody>
        </p:sp>
        <p:sp>
          <p:nvSpPr>
            <p:cNvPr id="23" name="Line 23"/>
            <p:cNvSpPr/>
            <p:nvPr/>
          </p:nvSpPr>
          <p:spPr>
            <a:xfrm>
              <a:off x="6553200" y="481012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4" name="TextBox 24"/>
            <p:cNvSpPr txBox="1"/>
            <p:nvPr/>
          </p:nvSpPr>
          <p:spPr>
            <a:xfrm>
              <a:off x="6544056" y="4996815"/>
              <a:ext cx="295696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Deliverable (Milestone 4):</a:t>
              </a:r>
            </a:p>
          </p:txBody>
        </p:sp>
        <p:sp>
          <p:nvSpPr>
            <p:cNvPr id="25" name="TextBox 25"/>
            <p:cNvSpPr txBox="1"/>
            <p:nvPr/>
          </p:nvSpPr>
          <p:spPr>
            <a:xfrm>
              <a:off x="6544818" y="5441632"/>
              <a:ext cx="3376164"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Complete demo + trade-off report.</a:t>
              </a:r>
            </a:p>
          </p:txBody>
        </p:sp>
      </p:gr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08 / 15</a:t>
            </a:r>
          </a:p>
        </p:txBody>
      </p:sp>
      <p:sp>
        <p:nvSpPr>
          <p:cNvPr id="28" name="Placeholder Binding obj 2" hidden="1"/>
          <p:cNvSpPr>
            <a:spLocks noGrp="1"/>
          </p:cNvSpPr>
          <p:nvPr>
            <p:ph type="obj" idx="2"/>
          </p:nvPr>
        </p:nvSpPr>
        <p:spPr>
          <a:xfrm>
            <a:off x="838200" y="2362200"/>
            <a:ext cx="4800600" cy="36195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4" hidden="1"/>
          <p:cNvSpPr>
            <a:spLocks noGrp="1"/>
          </p:cNvSpPr>
          <p:nvPr>
            <p:ph type="obj" idx="4"/>
          </p:nvPr>
        </p:nvSpPr>
        <p:spPr>
          <a:xfrm>
            <a:off x="6553200" y="2362200"/>
            <a:ext cx="4800600" cy="36195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307814"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Hardware Architecture &amp; Datapath</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09 / 15</a:t>
            </a:r>
          </a:p>
        </p:txBody>
      </p:sp>
      <p:grpSp>
        <p:nvGrpSpPr>
          <p:cNvPr id="15" name="sample-buffer"/>
          <p:cNvGrpSpPr/>
          <p:nvPr/>
        </p:nvGrpSpPr>
        <p:grpSpPr>
          <a:xfrm>
            <a:off x="609600" y="1428750"/>
            <a:ext cx="3429000" cy="3619500"/>
            <a:chOff x="609600" y="1428750"/>
            <a:chExt cx="3429000" cy="3619500"/>
          </a:xfrm>
        </p:grpSpPr>
        <p:sp>
          <p:nvSpPr>
            <p:cNvPr id="6" name="Rectangle 6"/>
            <p:cNvSpPr/>
            <p:nvPr/>
          </p:nvSpPr>
          <p:spPr>
            <a:xfrm>
              <a:off x="609600" y="1428750"/>
              <a:ext cx="3429000" cy="3619500"/>
            </a:xfrm>
            <a:prstGeom prst="roundRect">
              <a:avLst>
                <a:gd name="adj" fmla="val 1111"/>
              </a:avLst>
            </a:prstGeom>
            <a:solidFill>
              <a:schemeClr val="lt2"/>
            </a:solidFill>
            <a:ln>
              <a:noFill/>
            </a:ln>
          </p:spPr>
        </p:sp>
        <p:sp>
          <p:nvSpPr>
            <p:cNvPr id="7" name="TextBox 7"/>
            <p:cNvSpPr txBox="1"/>
            <p:nvPr/>
          </p:nvSpPr>
          <p:spPr>
            <a:xfrm>
              <a:off x="827532" y="1678305"/>
              <a:ext cx="2992067"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25-SAMPLE BUFFER</a:t>
              </a:r>
            </a:p>
          </p:txBody>
        </p:sp>
        <p:sp>
          <p:nvSpPr>
            <p:cNvPr id="8" name="TextBox 8"/>
            <p:cNvSpPr txBox="1"/>
            <p:nvPr/>
          </p:nvSpPr>
          <p:spPr>
            <a:xfrm>
              <a:off x="829056" y="2234565"/>
              <a:ext cx="260434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Shift Reg: T(t−24)…T(t)</a:t>
              </a:r>
            </a:p>
          </p:txBody>
        </p:sp>
        <p:sp>
          <p:nvSpPr>
            <p:cNvPr id="9" name="Line 9"/>
            <p:cNvSpPr/>
            <p:nvPr/>
          </p:nvSpPr>
          <p:spPr>
            <a:xfrm>
              <a:off x="838200" y="2714625"/>
              <a:ext cx="2933700" cy="9525"/>
            </a:xfrm>
            <a:custGeom>
              <a:avLst/>
              <a:gdLst/>
              <a:ahLst/>
              <a:cxnLst/>
              <a:rect l="l" t="t" r="r" b="b"/>
              <a:pathLst>
                <a:path w="2933700" h="9525">
                  <a:moveTo>
                    <a:pt x="0" y="0"/>
                  </a:moveTo>
                  <a:lnTo>
                    <a:pt x="2933700" y="0"/>
                  </a:lnTo>
                </a:path>
              </a:pathLst>
            </a:custGeom>
            <a:noFill/>
            <a:ln w="9525">
              <a:solidFill>
                <a:schemeClr val="accent6"/>
              </a:solidFill>
            </a:ln>
          </p:spPr>
        </p:sp>
        <p:sp>
          <p:nvSpPr>
            <p:cNvPr id="10" name="TextBox 10"/>
            <p:cNvSpPr txBox="1"/>
            <p:nvPr/>
          </p:nvSpPr>
          <p:spPr>
            <a:xfrm>
              <a:off x="829056" y="2948940"/>
              <a:ext cx="297872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Required Hardware Taps:</a:t>
              </a:r>
            </a:p>
          </p:txBody>
        </p:sp>
        <p:sp>
          <p:nvSpPr>
            <p:cNvPr id="11" name="TextBox 11"/>
            <p:cNvSpPr txBox="1"/>
            <p:nvPr/>
          </p:nvSpPr>
          <p:spPr>
            <a:xfrm>
              <a:off x="829056" y="3377565"/>
              <a:ext cx="3073755"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t − 24 (Yesterday baseline)</a:t>
              </a:r>
            </a:p>
          </p:txBody>
        </p:sp>
        <p:sp>
          <p:nvSpPr>
            <p:cNvPr id="12" name="TextBox 12"/>
            <p:cNvSpPr txBox="1"/>
            <p:nvPr/>
          </p:nvSpPr>
          <p:spPr>
            <a:xfrm>
              <a:off x="829056" y="3806190"/>
              <a:ext cx="2589285"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t − 21 (Diurnal anchor)</a:t>
              </a:r>
            </a:p>
          </p:txBody>
        </p:sp>
        <p:sp>
          <p:nvSpPr>
            <p:cNvPr id="13" name="TextBox 13"/>
            <p:cNvSpPr txBox="1"/>
            <p:nvPr/>
          </p:nvSpPr>
          <p:spPr>
            <a:xfrm>
              <a:off x="829056" y="4234815"/>
              <a:ext cx="2846594"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t − 3 (Recent 3h change)</a:t>
              </a:r>
            </a:p>
          </p:txBody>
        </p:sp>
        <p:sp>
          <p:nvSpPr>
            <p:cNvPr id="14" name="TextBox 14"/>
            <p:cNvSpPr txBox="1"/>
            <p:nvPr/>
          </p:nvSpPr>
          <p:spPr>
            <a:xfrm>
              <a:off x="829056" y="4615815"/>
              <a:ext cx="2122254"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t (Current sample)</a:t>
              </a:r>
            </a:p>
          </p:txBody>
        </p:sp>
      </p:grpSp>
      <p:grpSp>
        <p:nvGrpSpPr>
          <p:cNvPr id="24" name="arithmetic-path"/>
          <p:cNvGrpSpPr/>
          <p:nvPr/>
        </p:nvGrpSpPr>
        <p:grpSpPr>
          <a:xfrm>
            <a:off x="4286250" y="1428750"/>
            <a:ext cx="7296150" cy="3619500"/>
            <a:chOff x="4286250" y="1428750"/>
            <a:chExt cx="7296150" cy="3619500"/>
          </a:xfrm>
        </p:grpSpPr>
        <p:sp>
          <p:nvSpPr>
            <p:cNvPr id="16" name="Rectangle 16"/>
            <p:cNvSpPr/>
            <p:nvPr/>
          </p:nvSpPr>
          <p:spPr>
            <a:xfrm>
              <a:off x="4286250" y="1428750"/>
              <a:ext cx="7296150" cy="3619500"/>
            </a:xfrm>
            <a:prstGeom prst="roundRect">
              <a:avLst>
                <a:gd name="adj" fmla="val 1053"/>
              </a:avLst>
            </a:prstGeom>
            <a:solidFill>
              <a:schemeClr val="lt2"/>
            </a:solidFill>
            <a:ln>
              <a:noFill/>
            </a:ln>
          </p:spPr>
        </p:sp>
        <p:sp>
          <p:nvSpPr>
            <p:cNvPr id="17" name="TextBox 17"/>
            <p:cNvSpPr txBox="1"/>
            <p:nvPr/>
          </p:nvSpPr>
          <p:spPr>
            <a:xfrm>
              <a:off x="4504182" y="1678305"/>
              <a:ext cx="5248656"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PIPELINED ARITHMETIC DATAPATH</a:t>
              </a:r>
            </a:p>
          </p:txBody>
        </p:sp>
        <p:sp>
          <p:nvSpPr>
            <p:cNvPr id="18" name="TextBox 18"/>
            <p:cNvSpPr txBox="1"/>
            <p:nvPr/>
          </p:nvSpPr>
          <p:spPr>
            <a:xfrm>
              <a:off x="4504944" y="2265998"/>
              <a:ext cx="5939081"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Branch 1: [ T(t) − T(t−24) ] × a (Inter-day change)</a:t>
              </a:r>
            </a:p>
          </p:txBody>
        </p:sp>
        <p:sp>
          <p:nvSpPr>
            <p:cNvPr id="19" name="TextBox 19"/>
            <p:cNvSpPr txBox="1"/>
            <p:nvPr/>
          </p:nvSpPr>
          <p:spPr>
            <a:xfrm>
              <a:off x="4504944" y="2789872"/>
              <a:ext cx="6319779"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Branch 2: [ T(t) − T(t−3) ] × b (3-hour rate of change)</a:t>
              </a:r>
            </a:p>
          </p:txBody>
        </p:sp>
        <p:sp>
          <p:nvSpPr>
            <p:cNvPr id="20" name="Line 20"/>
            <p:cNvSpPr/>
            <p:nvPr/>
          </p:nvSpPr>
          <p:spPr>
            <a:xfrm>
              <a:off x="4514850" y="3381375"/>
              <a:ext cx="6762750" cy="9525"/>
            </a:xfrm>
            <a:custGeom>
              <a:avLst/>
              <a:gdLst/>
              <a:ahLst/>
              <a:cxnLst/>
              <a:rect l="l" t="t" r="r" b="b"/>
              <a:pathLst>
                <a:path w="6762750" h="9525">
                  <a:moveTo>
                    <a:pt x="0" y="0"/>
                  </a:moveTo>
                  <a:lnTo>
                    <a:pt x="6762750" y="0"/>
                  </a:lnTo>
                </a:path>
              </a:pathLst>
            </a:custGeom>
            <a:noFill/>
            <a:ln w="9525">
              <a:solidFill>
                <a:schemeClr val="accent6"/>
              </a:solidFill>
            </a:ln>
          </p:spPr>
        </p:sp>
        <p:sp>
          <p:nvSpPr>
            <p:cNvPr id="21" name="TextBox 21"/>
            <p:cNvSpPr txBox="1"/>
            <p:nvPr/>
          </p:nvSpPr>
          <p:spPr>
            <a:xfrm>
              <a:off x="4504182" y="3678555"/>
              <a:ext cx="6028269"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Adder Tree: T(t−21) + Br₁ + Br₂ + c → T̂(t+3)</a:t>
              </a:r>
            </a:p>
          </p:txBody>
        </p:sp>
        <p:sp>
          <p:nvSpPr>
            <p:cNvPr id="22" name="TextBox 22"/>
            <p:cNvSpPr txBox="1"/>
            <p:nvPr/>
          </p:nvSpPr>
          <p:spPr>
            <a:xfrm>
              <a:off x="4505706" y="4234815"/>
              <a:ext cx="6687913"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Saturation logic prevents arithmetic wrap-around on overflow</a:t>
              </a:r>
            </a:p>
          </p:txBody>
        </p:sp>
        <p:sp>
          <p:nvSpPr>
            <p:cNvPr id="23" name="TextBox 23"/>
            <p:cNvSpPr txBox="1"/>
            <p:nvPr/>
          </p:nvSpPr>
          <p:spPr>
            <a:xfrm>
              <a:off x="4505706" y="4615815"/>
              <a:ext cx="6418962"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Forecast valid asserted only after 25 samples are buffered</a:t>
              </a:r>
            </a:p>
          </p:txBody>
        </p:sp>
      </p:grpSp>
      <p:grpSp>
        <p:nvGrpSpPr>
          <p:cNvPr id="27" name="control-contract"/>
          <p:cNvGrpSpPr/>
          <p:nvPr/>
        </p:nvGrpSpPr>
        <p:grpSpPr>
          <a:xfrm>
            <a:off x="609600" y="5286375"/>
            <a:ext cx="10972800" cy="714375"/>
            <a:chOff x="609600" y="5286375"/>
            <a:chExt cx="10972800" cy="714375"/>
          </a:xfrm>
        </p:grpSpPr>
        <p:sp>
          <p:nvSpPr>
            <p:cNvPr id="25" name="Rectangle 25"/>
            <p:cNvSpPr/>
            <p:nvPr/>
          </p:nvSpPr>
          <p:spPr>
            <a:xfrm>
              <a:off x="609600" y="5286375"/>
              <a:ext cx="10972800" cy="714375"/>
            </a:xfrm>
            <a:prstGeom prst="roundRect">
              <a:avLst>
                <a:gd name="adj" fmla="val 5333"/>
              </a:avLst>
            </a:prstGeom>
            <a:solidFill>
              <a:schemeClr val="lt2"/>
            </a:solidFill>
            <a:ln>
              <a:noFill/>
            </a:ln>
          </p:spPr>
        </p:sp>
        <p:sp>
          <p:nvSpPr>
            <p:cNvPr id="26" name="TextBox 26"/>
            <p:cNvSpPr txBox="1"/>
            <p:nvPr/>
          </p:nvSpPr>
          <p:spPr>
            <a:xfrm>
              <a:off x="828294" y="5523548"/>
              <a:ext cx="1017330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Hardware latency: 2–4 clock cycles (nanoseconds) · Data step: 1 sample = 1 hour</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928811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Demonstration via Accelerated Replay</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10 / 15</a:t>
            </a:r>
          </a:p>
        </p:txBody>
      </p:sp>
      <p:grpSp>
        <p:nvGrpSpPr>
          <p:cNvPr id="26" name="demo-diagram"/>
          <p:cNvGrpSpPr/>
          <p:nvPr/>
        </p:nvGrpSpPr>
        <p:grpSpPr>
          <a:xfrm>
            <a:off x="609600" y="1428750"/>
            <a:ext cx="10972800" cy="3619500"/>
            <a:chOff x="609600" y="1428750"/>
            <a:chExt cx="10972800" cy="3619500"/>
          </a:xfrm>
        </p:grpSpPr>
        <p:sp>
          <p:nvSpPr>
            <p:cNvPr id="6" name="Rectangle 6"/>
            <p:cNvSpPr/>
            <p:nvPr/>
          </p:nvSpPr>
          <p:spPr>
            <a:xfrm>
              <a:off x="609600" y="1428750"/>
              <a:ext cx="3238500" cy="3619500"/>
            </a:xfrm>
            <a:prstGeom prst="roundRect">
              <a:avLst>
                <a:gd name="adj" fmla="val 1176"/>
              </a:avLst>
            </a:prstGeom>
            <a:solidFill>
              <a:schemeClr val="lt2"/>
            </a:solidFill>
            <a:ln>
              <a:noFill/>
            </a:ln>
          </p:spPr>
        </p:sp>
        <p:sp>
          <p:nvSpPr>
            <p:cNvPr id="7" name="TextBox 7"/>
            <p:cNvSpPr txBox="1"/>
            <p:nvPr/>
          </p:nvSpPr>
          <p:spPr>
            <a:xfrm>
              <a:off x="827532" y="1678305"/>
              <a:ext cx="1349016"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HOST PC</a:t>
              </a:r>
            </a:p>
          </p:txBody>
        </p:sp>
        <p:sp>
          <p:nvSpPr>
            <p:cNvPr id="8" name="TextBox 8"/>
            <p:cNvSpPr txBox="1"/>
            <p:nvPr/>
          </p:nvSpPr>
          <p:spPr>
            <a:xfrm>
              <a:off x="828294" y="2265998"/>
              <a:ext cx="2686853"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Reads historical CSV</a:t>
              </a:r>
            </a:p>
          </p:txBody>
        </p:sp>
        <p:sp>
          <p:nvSpPr>
            <p:cNvPr id="9" name="TextBox 9"/>
            <p:cNvSpPr txBox="1"/>
            <p:nvPr/>
          </p:nvSpPr>
          <p:spPr>
            <a:xfrm>
              <a:off x="828294" y="2789872"/>
              <a:ext cx="2701914"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Streams T(t) samples</a:t>
              </a:r>
            </a:p>
          </p:txBody>
        </p:sp>
        <p:sp>
          <p:nvSpPr>
            <p:cNvPr id="10" name="TextBox 10"/>
            <p:cNvSpPr txBox="1"/>
            <p:nvPr/>
          </p:nvSpPr>
          <p:spPr>
            <a:xfrm>
              <a:off x="828294" y="3313748"/>
              <a:ext cx="2491950"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Retains T(t+3) label</a:t>
              </a:r>
            </a:p>
          </p:txBody>
        </p:sp>
        <p:sp>
          <p:nvSpPr>
            <p:cNvPr id="11" name="TextBox 11"/>
            <p:cNvSpPr txBox="1"/>
            <p:nvPr/>
          </p:nvSpPr>
          <p:spPr>
            <a:xfrm>
              <a:off x="828294" y="3980498"/>
              <a:ext cx="187738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Live Python UI</a:t>
              </a:r>
            </a:p>
          </p:txBody>
        </p:sp>
        <p:sp>
          <p:nvSpPr>
            <p:cNvPr id="12" name="Line 12"/>
            <p:cNvSpPr/>
            <p:nvPr/>
          </p:nvSpPr>
          <p:spPr>
            <a:xfrm>
              <a:off x="3848100" y="2667000"/>
              <a:ext cx="590550" cy="1"/>
            </a:xfrm>
            <a:prstGeom prst="line">
              <a:avLst/>
            </a:prstGeom>
            <a:noFill/>
            <a:ln w="28575">
              <a:solidFill>
                <a:schemeClr val="accent1"/>
              </a:solidFill>
              <a:tailEnd type="triangle" w="lg" len="lg"/>
            </a:ln>
          </p:spPr>
        </p:sp>
        <p:sp>
          <p:nvSpPr>
            <p:cNvPr id="13" name="Rectangle 13"/>
            <p:cNvSpPr/>
            <p:nvPr/>
          </p:nvSpPr>
          <p:spPr>
            <a:xfrm>
              <a:off x="4476750" y="1428750"/>
              <a:ext cx="3238500" cy="3619500"/>
            </a:xfrm>
            <a:prstGeom prst="roundRect">
              <a:avLst>
                <a:gd name="adj" fmla="val 1176"/>
              </a:avLst>
            </a:prstGeom>
            <a:solidFill>
              <a:schemeClr val="lt2"/>
            </a:solidFill>
            <a:ln>
              <a:noFill/>
            </a:ln>
          </p:spPr>
        </p:sp>
        <p:sp>
          <p:nvSpPr>
            <p:cNvPr id="14" name="TextBox 14"/>
            <p:cNvSpPr txBox="1"/>
            <p:nvPr/>
          </p:nvSpPr>
          <p:spPr>
            <a:xfrm>
              <a:off x="4694682" y="1678305"/>
              <a:ext cx="202928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FPGA BOARD</a:t>
              </a:r>
            </a:p>
          </p:txBody>
        </p:sp>
        <p:sp>
          <p:nvSpPr>
            <p:cNvPr id="15" name="TextBox 15"/>
            <p:cNvSpPr txBox="1"/>
            <p:nvPr/>
          </p:nvSpPr>
          <p:spPr>
            <a:xfrm>
              <a:off x="4695444" y="2265998"/>
              <a:ext cx="2320513"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UART RX module</a:t>
              </a:r>
            </a:p>
          </p:txBody>
        </p:sp>
        <p:sp>
          <p:nvSpPr>
            <p:cNvPr id="16" name="TextBox 16"/>
            <p:cNvSpPr txBox="1"/>
            <p:nvPr/>
          </p:nvSpPr>
          <p:spPr>
            <a:xfrm>
              <a:off x="4695444" y="2789872"/>
              <a:ext cx="2699598"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25-stage shift register</a:t>
              </a:r>
            </a:p>
          </p:txBody>
        </p:sp>
        <p:sp>
          <p:nvSpPr>
            <p:cNvPr id="17" name="TextBox 17"/>
            <p:cNvSpPr txBox="1"/>
            <p:nvPr/>
          </p:nvSpPr>
          <p:spPr>
            <a:xfrm>
              <a:off x="4695444" y="3313748"/>
              <a:ext cx="2174488"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Computes T̂(t+3)</a:t>
              </a:r>
            </a:p>
          </p:txBody>
        </p:sp>
        <p:sp>
          <p:nvSpPr>
            <p:cNvPr id="18" name="TextBox 18"/>
            <p:cNvSpPr txBox="1"/>
            <p:nvPr/>
          </p:nvSpPr>
          <p:spPr>
            <a:xfrm>
              <a:off x="4695444" y="3980498"/>
              <a:ext cx="2158583"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UART TX Output</a:t>
              </a:r>
            </a:p>
          </p:txBody>
        </p:sp>
        <p:sp>
          <p:nvSpPr>
            <p:cNvPr id="19" name="Line 19"/>
            <p:cNvSpPr/>
            <p:nvPr/>
          </p:nvSpPr>
          <p:spPr>
            <a:xfrm>
              <a:off x="7715250" y="3429000"/>
              <a:ext cx="590550" cy="1"/>
            </a:xfrm>
            <a:prstGeom prst="line">
              <a:avLst/>
            </a:prstGeom>
            <a:noFill/>
            <a:ln w="28575">
              <a:solidFill>
                <a:schemeClr val="accent1"/>
              </a:solidFill>
              <a:tailEnd type="triangle" w="lg" len="lg"/>
            </a:ln>
          </p:spPr>
        </p:sp>
        <p:sp>
          <p:nvSpPr>
            <p:cNvPr id="20" name="Rectangle 20"/>
            <p:cNvSpPr/>
            <p:nvPr/>
          </p:nvSpPr>
          <p:spPr>
            <a:xfrm>
              <a:off x="8343900" y="1428750"/>
              <a:ext cx="3238500" cy="3619500"/>
            </a:xfrm>
            <a:prstGeom prst="roundRect">
              <a:avLst>
                <a:gd name="adj" fmla="val 1176"/>
              </a:avLst>
            </a:prstGeom>
            <a:solidFill>
              <a:schemeClr val="lt2"/>
            </a:solidFill>
            <a:ln>
              <a:noFill/>
            </a:ln>
          </p:spPr>
        </p:sp>
        <p:sp>
          <p:nvSpPr>
            <p:cNvPr id="21" name="TextBox 21"/>
            <p:cNvSpPr txBox="1"/>
            <p:nvPr/>
          </p:nvSpPr>
          <p:spPr>
            <a:xfrm>
              <a:off x="8561832" y="1678305"/>
              <a:ext cx="217881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SCOREBOARD</a:t>
              </a:r>
            </a:p>
          </p:txBody>
        </p:sp>
        <p:sp>
          <p:nvSpPr>
            <p:cNvPr id="22" name="TextBox 22"/>
            <p:cNvSpPr txBox="1"/>
            <p:nvPr/>
          </p:nvSpPr>
          <p:spPr>
            <a:xfrm>
              <a:off x="8562594" y="2265998"/>
              <a:ext cx="2507679"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Matches with T(t+3)</a:t>
              </a:r>
            </a:p>
          </p:txBody>
        </p:sp>
        <p:sp>
          <p:nvSpPr>
            <p:cNvPr id="23" name="TextBox 23"/>
            <p:cNvSpPr txBox="1"/>
            <p:nvPr/>
          </p:nvSpPr>
          <p:spPr>
            <a:xfrm>
              <a:off x="8562594" y="2789872"/>
              <a:ext cx="2540736"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Calculates live MAE</a:t>
              </a:r>
            </a:p>
          </p:txBody>
        </p:sp>
        <p:sp>
          <p:nvSpPr>
            <p:cNvPr id="24" name="TextBox 24"/>
            <p:cNvSpPr txBox="1"/>
            <p:nvPr/>
          </p:nvSpPr>
          <p:spPr>
            <a:xfrm>
              <a:off x="8562594" y="3313748"/>
              <a:ext cx="2779874"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Plots predicted vs true</a:t>
              </a:r>
            </a:p>
          </p:txBody>
        </p:sp>
        <p:sp>
          <p:nvSpPr>
            <p:cNvPr id="25" name="TextBox 25"/>
            <p:cNvSpPr txBox="1"/>
            <p:nvPr/>
          </p:nvSpPr>
          <p:spPr>
            <a:xfrm>
              <a:off x="8562594" y="3980498"/>
              <a:ext cx="1729731"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Zero Leakage</a:t>
              </a:r>
            </a:p>
          </p:txBody>
        </p:sp>
      </p:grpSp>
      <p:grpSp>
        <p:nvGrpSpPr>
          <p:cNvPr id="29" name="demo-principle"/>
          <p:cNvGrpSpPr/>
          <p:nvPr/>
        </p:nvGrpSpPr>
        <p:grpSpPr>
          <a:xfrm>
            <a:off x="609600" y="5286375"/>
            <a:ext cx="10972800" cy="714375"/>
            <a:chOff x="609600" y="5286375"/>
            <a:chExt cx="10972800" cy="714375"/>
          </a:xfrm>
        </p:grpSpPr>
        <p:sp>
          <p:nvSpPr>
            <p:cNvPr id="27" name="Rectangle 27"/>
            <p:cNvSpPr/>
            <p:nvPr/>
          </p:nvSpPr>
          <p:spPr>
            <a:xfrm>
              <a:off x="609600" y="5286375"/>
              <a:ext cx="10972800" cy="714375"/>
            </a:xfrm>
            <a:prstGeom prst="roundRect">
              <a:avLst>
                <a:gd name="adj" fmla="val 5333"/>
              </a:avLst>
            </a:prstGeom>
            <a:solidFill>
              <a:schemeClr val="lt2"/>
            </a:solidFill>
            <a:ln>
              <a:noFill/>
            </a:ln>
          </p:spPr>
        </p:sp>
        <p:sp>
          <p:nvSpPr>
            <p:cNvPr id="28" name="TextBox 28"/>
            <p:cNvSpPr txBox="1"/>
            <p:nvPr/>
          </p:nvSpPr>
          <p:spPr>
            <a:xfrm>
              <a:off x="828294" y="5523548"/>
              <a:ext cx="10676249"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Accelerated Replay: 1,000+ predictions demonstrated in under 2 minutes over UART.</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611499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Verification Layers</a:t>
            </a:r>
          </a:p>
        </p:txBody>
      </p:sp>
      <p:grpSp>
        <p:nvGrpSpPr>
          <p:cNvPr id="14" name="three-card-one-slot Proxy Content"/>
          <p:cNvGrpSpPr/>
          <p:nvPr/>
        </p:nvGrpSpPr>
        <p:grpSpPr>
          <a:xfrm>
            <a:off x="824484" y="1994535"/>
            <a:ext cx="3061716" cy="3401949"/>
            <a:chOff x="824484" y="1994535"/>
            <a:chExt cx="3061716" cy="3401949"/>
          </a:xfrm>
        </p:grpSpPr>
        <p:sp>
          <p:nvSpPr>
            <p:cNvPr id="7" name="TextBox 7"/>
            <p:cNvSpPr txBox="1"/>
            <p:nvPr/>
          </p:nvSpPr>
          <p:spPr>
            <a:xfrm>
              <a:off x="824484" y="1994535"/>
              <a:ext cx="1500640" cy="528066"/>
            </a:xfrm>
            <a:prstGeom prst="rect">
              <a:avLst/>
            </a:prstGeom>
            <a:noFill/>
            <a:ln>
              <a:noFill/>
            </a:ln>
          </p:spPr>
          <p:txBody>
            <a:bodyPr wrap="none" lIns="0" tIns="0" rIns="0" bIns="0" anchor="t" anchorCtr="0">
              <a:spAutoFit/>
            </a:bodyPr>
            <a:lstStyle/>
            <a:p>
              <a:pPr algn="l"/>
              <a:r>
                <a:rPr lang="en-US" sz="2700" b="1" dirty="0">
                  <a:solidFill>
                    <a:schemeClr val="accent2"/>
                  </a:solidFill>
                  <a:latin typeface="+mn-lt"/>
                  <a:ea typeface="+mn-ea"/>
                  <a:cs typeface="+mn-cs"/>
                </a:rPr>
                <a:t>01 / C++</a:t>
              </a:r>
            </a:p>
          </p:txBody>
        </p:sp>
        <p:sp>
          <p:nvSpPr>
            <p:cNvPr id="8" name="TextBox 8"/>
            <p:cNvSpPr txBox="1"/>
            <p:nvPr/>
          </p:nvSpPr>
          <p:spPr>
            <a:xfrm>
              <a:off x="827532" y="2583180"/>
              <a:ext cx="236102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FLOAT ↔ FIXED</a:t>
              </a:r>
            </a:p>
          </p:txBody>
        </p:sp>
        <p:sp>
          <p:nvSpPr>
            <p:cNvPr id="9" name="Line 9"/>
            <p:cNvSpPr/>
            <p:nvPr/>
          </p:nvSpPr>
          <p:spPr>
            <a:xfrm>
              <a:off x="838200" y="30956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0" name="TextBox 10"/>
            <p:cNvSpPr txBox="1"/>
            <p:nvPr/>
          </p:nvSpPr>
          <p:spPr>
            <a:xfrm>
              <a:off x="829056" y="3377565"/>
              <a:ext cx="2683401"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Quantization SNR drop</a:t>
              </a:r>
            </a:p>
          </p:txBody>
        </p:sp>
        <p:sp>
          <p:nvSpPr>
            <p:cNvPr id="11" name="TextBox 11"/>
            <p:cNvSpPr txBox="1"/>
            <p:nvPr/>
          </p:nvSpPr>
          <p:spPr>
            <a:xfrm>
              <a:off x="829056" y="3806190"/>
              <a:ext cx="2647472"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Sub-zero temperatures</a:t>
              </a:r>
            </a:p>
          </p:txBody>
        </p:sp>
        <p:sp>
          <p:nvSpPr>
            <p:cNvPr id="12" name="TextBox 12"/>
            <p:cNvSpPr txBox="1"/>
            <p:nvPr/>
          </p:nvSpPr>
          <p:spPr>
            <a:xfrm>
              <a:off x="829056" y="4234815"/>
              <a:ext cx="2862937"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Dynamic range extremes</a:t>
              </a:r>
            </a:p>
          </p:txBody>
        </p:sp>
        <p:sp>
          <p:nvSpPr>
            <p:cNvPr id="13" name="TextBox 13"/>
            <p:cNvSpPr txBox="1"/>
            <p:nvPr/>
          </p:nvSpPr>
          <p:spPr>
            <a:xfrm>
              <a:off x="829056" y="5044440"/>
              <a:ext cx="293881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Validate Math &amp; Q-format</a:t>
              </a:r>
            </a:p>
          </p:txBody>
        </p:sp>
      </p:grpSp>
      <p:grpSp>
        <p:nvGrpSpPr>
          <p:cNvPr id="22" name="three-card-two-slot Proxy Content"/>
          <p:cNvGrpSpPr/>
          <p:nvPr/>
        </p:nvGrpSpPr>
        <p:grpSpPr>
          <a:xfrm>
            <a:off x="4558284" y="1994535"/>
            <a:ext cx="3061716" cy="3401949"/>
            <a:chOff x="4558284" y="1994535"/>
            <a:chExt cx="3061716" cy="3401949"/>
          </a:xfrm>
        </p:grpSpPr>
        <p:sp>
          <p:nvSpPr>
            <p:cNvPr id="15" name="TextBox 15"/>
            <p:cNvSpPr txBox="1"/>
            <p:nvPr/>
          </p:nvSpPr>
          <p:spPr>
            <a:xfrm>
              <a:off x="4558284" y="1994535"/>
              <a:ext cx="1457473" cy="528066"/>
            </a:xfrm>
            <a:prstGeom prst="rect">
              <a:avLst/>
            </a:prstGeom>
            <a:noFill/>
            <a:ln>
              <a:noFill/>
            </a:ln>
          </p:spPr>
          <p:txBody>
            <a:bodyPr wrap="none" lIns="0" tIns="0" rIns="0" bIns="0" anchor="t" anchorCtr="0">
              <a:spAutoFit/>
            </a:bodyPr>
            <a:lstStyle/>
            <a:p>
              <a:pPr algn="l"/>
              <a:r>
                <a:rPr lang="en-US" sz="2700" b="1" dirty="0">
                  <a:solidFill>
                    <a:schemeClr val="accent2"/>
                  </a:solidFill>
                  <a:latin typeface="+mn-lt"/>
                  <a:ea typeface="+mn-ea"/>
                  <a:cs typeface="+mn-cs"/>
                </a:rPr>
                <a:t>02 / SIM</a:t>
              </a:r>
            </a:p>
          </p:txBody>
        </p:sp>
        <p:sp>
          <p:nvSpPr>
            <p:cNvPr id="16" name="TextBox 16"/>
            <p:cNvSpPr txBox="1"/>
            <p:nvPr/>
          </p:nvSpPr>
          <p:spPr>
            <a:xfrm>
              <a:off x="4561332" y="2583180"/>
              <a:ext cx="241078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TB ↔ RTL CORE</a:t>
              </a:r>
            </a:p>
          </p:txBody>
        </p:sp>
        <p:sp>
          <p:nvSpPr>
            <p:cNvPr id="17" name="Line 17"/>
            <p:cNvSpPr/>
            <p:nvPr/>
          </p:nvSpPr>
          <p:spPr>
            <a:xfrm>
              <a:off x="4572000" y="30956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2856" y="3377565"/>
              <a:ext cx="2491937"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100% bit-exact match</a:t>
              </a:r>
            </a:p>
          </p:txBody>
        </p:sp>
        <p:sp>
          <p:nvSpPr>
            <p:cNvPr id="19" name="TextBox 19"/>
            <p:cNvSpPr txBox="1"/>
            <p:nvPr/>
          </p:nvSpPr>
          <p:spPr>
            <a:xfrm>
              <a:off x="4562856" y="3806190"/>
              <a:ext cx="2729154"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Reset &amp; buffer warm-up</a:t>
              </a:r>
            </a:p>
          </p:txBody>
        </p:sp>
        <p:sp>
          <p:nvSpPr>
            <p:cNvPr id="20" name="TextBox 20"/>
            <p:cNvSpPr txBox="1"/>
            <p:nvPr/>
          </p:nvSpPr>
          <p:spPr>
            <a:xfrm>
              <a:off x="4562856" y="4234815"/>
              <a:ext cx="2513748"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Pause &amp; gap injection</a:t>
              </a:r>
            </a:p>
          </p:txBody>
        </p:sp>
        <p:sp>
          <p:nvSpPr>
            <p:cNvPr id="21" name="TextBox 21"/>
            <p:cNvSpPr txBox="1"/>
            <p:nvPr/>
          </p:nvSpPr>
          <p:spPr>
            <a:xfrm>
              <a:off x="4562856" y="5044440"/>
              <a:ext cx="223790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Validate RTL Logic</a:t>
              </a:r>
            </a:p>
          </p:txBody>
        </p:sp>
      </p:grpSp>
      <p:grpSp>
        <p:nvGrpSpPr>
          <p:cNvPr id="30" name="three-card-three-slot Proxy Content"/>
          <p:cNvGrpSpPr/>
          <p:nvPr/>
        </p:nvGrpSpPr>
        <p:grpSpPr>
          <a:xfrm>
            <a:off x="8292084" y="1994535"/>
            <a:ext cx="3061716" cy="3401949"/>
            <a:chOff x="8292084" y="1994535"/>
            <a:chExt cx="3061716" cy="3401949"/>
          </a:xfrm>
        </p:grpSpPr>
        <p:sp>
          <p:nvSpPr>
            <p:cNvPr id="23" name="TextBox 23"/>
            <p:cNvSpPr txBox="1"/>
            <p:nvPr/>
          </p:nvSpPr>
          <p:spPr>
            <a:xfrm>
              <a:off x="8292084" y="1994535"/>
              <a:ext cx="2182863" cy="528066"/>
            </a:xfrm>
            <a:prstGeom prst="rect">
              <a:avLst/>
            </a:prstGeom>
            <a:noFill/>
            <a:ln>
              <a:noFill/>
            </a:ln>
          </p:spPr>
          <p:txBody>
            <a:bodyPr wrap="none" lIns="0" tIns="0" rIns="0" bIns="0" anchor="t" anchorCtr="0">
              <a:spAutoFit/>
            </a:bodyPr>
            <a:lstStyle/>
            <a:p>
              <a:pPr algn="l"/>
              <a:r>
                <a:rPr lang="en-US" sz="2700" b="1" dirty="0">
                  <a:solidFill>
                    <a:schemeClr val="accent2"/>
                  </a:solidFill>
                  <a:latin typeface="+mn-lt"/>
                  <a:ea typeface="+mn-ea"/>
                  <a:cs typeface="+mn-cs"/>
                </a:rPr>
                <a:t>03 / BOARD</a:t>
              </a:r>
            </a:p>
          </p:txBody>
        </p:sp>
        <p:sp>
          <p:nvSpPr>
            <p:cNvPr id="24" name="TextBox 24"/>
            <p:cNvSpPr txBox="1"/>
            <p:nvPr/>
          </p:nvSpPr>
          <p:spPr>
            <a:xfrm>
              <a:off x="8295132" y="2583180"/>
              <a:ext cx="199612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FPGA ↔ REF.</a:t>
              </a:r>
            </a:p>
          </p:txBody>
        </p:sp>
        <p:sp>
          <p:nvSpPr>
            <p:cNvPr id="25" name="Line 25"/>
            <p:cNvSpPr/>
            <p:nvPr/>
          </p:nvSpPr>
          <p:spPr>
            <a:xfrm>
              <a:off x="8305800" y="30956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6" name="TextBox 26"/>
            <p:cNvSpPr txBox="1"/>
            <p:nvPr/>
          </p:nvSpPr>
          <p:spPr>
            <a:xfrm>
              <a:off x="8296656" y="3377565"/>
              <a:ext cx="2541667"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Physical UART timing</a:t>
              </a:r>
            </a:p>
          </p:txBody>
        </p:sp>
        <p:sp>
          <p:nvSpPr>
            <p:cNvPr id="27" name="TextBox 27"/>
            <p:cNvSpPr txBox="1"/>
            <p:nvPr/>
          </p:nvSpPr>
          <p:spPr>
            <a:xfrm>
              <a:off x="8296656" y="3806190"/>
              <a:ext cx="2216786"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Packet endianness</a:t>
              </a:r>
            </a:p>
          </p:txBody>
        </p:sp>
        <p:sp>
          <p:nvSpPr>
            <p:cNvPr id="28" name="TextBox 28"/>
            <p:cNvSpPr txBox="1"/>
            <p:nvPr/>
          </p:nvSpPr>
          <p:spPr>
            <a:xfrm>
              <a:off x="8296656" y="4234815"/>
              <a:ext cx="2270527" cy="352044"/>
            </a:xfrm>
            <a:prstGeom prst="rect">
              <a:avLst/>
            </a:prstGeom>
            <a:noFill/>
            <a:ln>
              <a:noFill/>
            </a:ln>
          </p:spPr>
          <p:txBody>
            <a:bodyPr wrap="none" lIns="0" tIns="0" rIns="0" bIns="0" anchor="t" anchorCtr="0">
              <a:spAutoFit/>
            </a:bodyPr>
            <a:lstStyle/>
            <a:p>
              <a:pPr algn="l" marL="143538" indent="-143538">
                <a:buClr>
                  <a:schemeClr val="dk1"/>
                </a:buClr>
                <a:buSzTx/>
                <a:buFontTx/>
                <a:buChar char="•"/>
              </a:pPr>
              <a:r>
                <a:rPr lang="en-US" sz="1800" dirty="0">
                  <a:solidFill>
                    <a:schemeClr val="dk1"/>
                  </a:solidFill>
                  <a:latin typeface="+mn-lt"/>
                  <a:ea typeface="+mn-ea"/>
                  <a:cs typeface="+mn-cs"/>
                </a:rPr>
                <a:t>Scoreboard logging</a:t>
              </a:r>
            </a:p>
          </p:txBody>
        </p:sp>
        <p:sp>
          <p:nvSpPr>
            <p:cNvPr id="29" name="TextBox 29"/>
            <p:cNvSpPr txBox="1"/>
            <p:nvPr/>
          </p:nvSpPr>
          <p:spPr>
            <a:xfrm>
              <a:off x="8296656" y="5044440"/>
              <a:ext cx="254107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Validate Hardware I/O</a:t>
              </a:r>
            </a:p>
          </p:txBody>
        </p:sp>
      </p:grpSp>
      <p:sp>
        <p:nvSpPr>
          <p:cNvPr id="31"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11 / 15</a:t>
            </a:r>
          </a:p>
        </p:txBody>
      </p:sp>
      <p:grpSp>
        <p:nvGrpSpPr>
          <p:cNvPr id="33" name="reference-principle"/>
          <p:cNvGrpSpPr/>
          <p:nvPr/>
        </p:nvGrpSpPr>
        <p:grpSpPr>
          <a:xfrm>
            <a:off x="600456" y="6139815"/>
            <a:ext cx="9561783" cy="352044"/>
            <a:chOff x="600456" y="6139815"/>
            <a:chExt cx="9561783" cy="352044"/>
          </a:xfrm>
        </p:grpSpPr>
        <p:sp>
          <p:nvSpPr>
            <p:cNvPr id="32" name="TextBox 32"/>
            <p:cNvSpPr txBox="1"/>
            <p:nvPr/>
          </p:nvSpPr>
          <p:spPr>
            <a:xfrm>
              <a:off x="600456" y="6139815"/>
              <a:ext cx="9561783"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n-lt"/>
                  <a:ea typeface="+mn-ea"/>
                  <a:cs typeface="+mn-cs"/>
                </a:rPr>
                <a:t>Shared test vectors across all 3 tiers; each layer answers a distinct engineering question.</a:t>
              </a:r>
            </a:p>
          </p:txBody>
        </p:sp>
      </p:grpSp>
      <p:sp>
        <p:nvSpPr>
          <p:cNvPr id="34" name="Placeholder Binding obj 1" hidden="1"/>
          <p:cNvSpPr>
            <a:spLocks noGrp="1"/>
          </p:cNvSpPr>
          <p:nvPr>
            <p:ph type="obj" idx="1"/>
          </p:nvPr>
        </p:nvSpPr>
        <p:spPr>
          <a:xfrm>
            <a:off x="838200" y="1828800"/>
            <a:ext cx="3048000" cy="390525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5" name="Placeholder Binding obj 2" hidden="1"/>
          <p:cNvSpPr>
            <a:spLocks noGrp="1"/>
          </p:cNvSpPr>
          <p:nvPr>
            <p:ph type="obj" idx="2"/>
          </p:nvPr>
        </p:nvSpPr>
        <p:spPr>
          <a:xfrm>
            <a:off x="4572000" y="1828800"/>
            <a:ext cx="3048000" cy="390525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6" name="Placeholder Binding obj 3" hidden="1"/>
          <p:cNvSpPr>
            <a:spLocks noGrp="1"/>
          </p:cNvSpPr>
          <p:nvPr>
            <p:ph type="obj" idx="3"/>
          </p:nvPr>
        </p:nvSpPr>
        <p:spPr>
          <a:xfrm>
            <a:off x="8305800" y="1828800"/>
            <a:ext cx="3048000" cy="390525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948790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Hardware Architecture Trade-Off Study</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12 / 15</a:t>
            </a:r>
          </a:p>
        </p:txBody>
      </p:sp>
      <p:grpSp>
        <p:nvGrpSpPr>
          <p:cNvPr id="16" name="arch-a-panel"/>
          <p:cNvGrpSpPr/>
          <p:nvPr/>
        </p:nvGrpSpPr>
        <p:grpSpPr>
          <a:xfrm>
            <a:off x="609600" y="1428750"/>
            <a:ext cx="5257800" cy="4191000"/>
            <a:chOff x="609600" y="1428750"/>
            <a:chExt cx="5257800" cy="4191000"/>
          </a:xfrm>
        </p:grpSpPr>
        <p:sp>
          <p:nvSpPr>
            <p:cNvPr id="6" name="Rectangle 6"/>
            <p:cNvSpPr/>
            <p:nvPr/>
          </p:nvSpPr>
          <p:spPr>
            <a:xfrm>
              <a:off x="609600" y="1428750"/>
              <a:ext cx="5257800" cy="4191000"/>
            </a:xfrm>
            <a:prstGeom prst="roundRect">
              <a:avLst>
                <a:gd name="adj" fmla="val 909"/>
              </a:avLst>
            </a:prstGeom>
            <a:solidFill>
              <a:schemeClr val="lt2"/>
            </a:solidFill>
            <a:ln>
              <a:noFill/>
            </a:ln>
          </p:spPr>
        </p:sp>
        <p:sp>
          <p:nvSpPr>
            <p:cNvPr id="7" name="TextBox 7"/>
            <p:cNvSpPr txBox="1"/>
            <p:nvPr/>
          </p:nvSpPr>
          <p:spPr>
            <a:xfrm>
              <a:off x="827532" y="1678305"/>
              <a:ext cx="36555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ARCH A: PARALLEL DSP</a:t>
              </a:r>
            </a:p>
          </p:txBody>
        </p:sp>
        <p:sp>
          <p:nvSpPr>
            <p:cNvPr id="8" name="TextBox 8"/>
            <p:cNvSpPr txBox="1"/>
            <p:nvPr/>
          </p:nvSpPr>
          <p:spPr>
            <a:xfrm>
              <a:off x="828294" y="2123122"/>
              <a:ext cx="4142840"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Dedicated Multipliers per Branch</a:t>
              </a:r>
            </a:p>
          </p:txBody>
        </p:sp>
        <p:sp>
          <p:nvSpPr>
            <p:cNvPr id="9" name="Line 9"/>
            <p:cNvSpPr/>
            <p:nvPr/>
          </p:nvSpPr>
          <p:spPr>
            <a:xfrm>
              <a:off x="838200" y="26193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0" name="TextBox 10"/>
            <p:cNvSpPr txBox="1"/>
            <p:nvPr/>
          </p:nvSpPr>
          <p:spPr>
            <a:xfrm>
              <a:off x="828294" y="2885122"/>
              <a:ext cx="3742462"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l-GR" sz="1950" dirty="0">
                  <a:solidFill>
                    <a:schemeClr val="dk1"/>
                  </a:solidFill>
                  <a:latin typeface="+mn-lt"/>
                  <a:ea typeface="+mn-ea"/>
                  <a:cs typeface="+mn-cs"/>
                </a:rPr>
                <a:t>Parallel units for Δday and Δ3h</a:t>
              </a:r>
            </a:p>
          </p:txBody>
        </p:sp>
        <p:sp>
          <p:nvSpPr>
            <p:cNvPr id="11" name="TextBox 11"/>
            <p:cNvSpPr txBox="1"/>
            <p:nvPr/>
          </p:nvSpPr>
          <p:spPr>
            <a:xfrm>
              <a:off x="828294" y="3361372"/>
              <a:ext cx="2868381"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Latency: 2 clock cycles</a:t>
              </a:r>
            </a:p>
          </p:txBody>
        </p:sp>
        <p:sp>
          <p:nvSpPr>
            <p:cNvPr id="12" name="TextBox 12"/>
            <p:cNvSpPr txBox="1"/>
            <p:nvPr/>
          </p:nvSpPr>
          <p:spPr>
            <a:xfrm>
              <a:off x="828294" y="3837622"/>
              <a:ext cx="3846287"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Throughput: 1 prediction / cycle</a:t>
              </a:r>
            </a:p>
          </p:txBody>
        </p:sp>
        <p:sp>
          <p:nvSpPr>
            <p:cNvPr id="13" name="TextBox 13"/>
            <p:cNvSpPr txBox="1"/>
            <p:nvPr/>
          </p:nvSpPr>
          <p:spPr>
            <a:xfrm>
              <a:off x="828294" y="4313872"/>
              <a:ext cx="4403245"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Resource: Uses multiple DSP slices</a:t>
              </a:r>
            </a:p>
          </p:txBody>
        </p:sp>
        <p:sp>
          <p:nvSpPr>
            <p:cNvPr id="14" name="Line 14"/>
            <p:cNvSpPr/>
            <p:nvPr/>
          </p:nvSpPr>
          <p:spPr>
            <a:xfrm>
              <a:off x="838200" y="48577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5" name="TextBox 15"/>
            <p:cNvSpPr txBox="1"/>
            <p:nvPr/>
          </p:nvSpPr>
          <p:spPr>
            <a:xfrm>
              <a:off x="829056" y="5092065"/>
              <a:ext cx="486776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Target: High-speed multi-channel sensing</a:t>
              </a:r>
            </a:p>
          </p:txBody>
        </p:sp>
      </p:grpSp>
      <p:grpSp>
        <p:nvGrpSpPr>
          <p:cNvPr id="27" name="arch-b-panel"/>
          <p:cNvGrpSpPr/>
          <p:nvPr/>
        </p:nvGrpSpPr>
        <p:grpSpPr>
          <a:xfrm>
            <a:off x="6324600" y="1428750"/>
            <a:ext cx="5257800" cy="4191000"/>
            <a:chOff x="6324600" y="1428750"/>
            <a:chExt cx="5257800" cy="4191000"/>
          </a:xfrm>
        </p:grpSpPr>
        <p:sp>
          <p:nvSpPr>
            <p:cNvPr id="17" name="Rectangle 17"/>
            <p:cNvSpPr/>
            <p:nvPr/>
          </p:nvSpPr>
          <p:spPr>
            <a:xfrm>
              <a:off x="6324600" y="1428750"/>
              <a:ext cx="5257800" cy="4191000"/>
            </a:xfrm>
            <a:prstGeom prst="roundRect">
              <a:avLst>
                <a:gd name="adj" fmla="val 909"/>
              </a:avLst>
            </a:prstGeom>
            <a:solidFill>
              <a:schemeClr val="lt2"/>
            </a:solidFill>
            <a:ln>
              <a:noFill/>
            </a:ln>
          </p:spPr>
        </p:sp>
        <p:sp>
          <p:nvSpPr>
            <p:cNvPr id="18" name="TextBox 18"/>
            <p:cNvSpPr txBox="1"/>
            <p:nvPr/>
          </p:nvSpPr>
          <p:spPr>
            <a:xfrm>
              <a:off x="6542532" y="1678305"/>
              <a:ext cx="4119973"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ARCH B: SHARED-MAC FSM</a:t>
              </a:r>
            </a:p>
          </p:txBody>
        </p:sp>
        <p:sp>
          <p:nvSpPr>
            <p:cNvPr id="19" name="TextBox 19"/>
            <p:cNvSpPr txBox="1"/>
            <p:nvPr/>
          </p:nvSpPr>
          <p:spPr>
            <a:xfrm>
              <a:off x="6543294" y="2123122"/>
              <a:ext cx="374715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Time-Multiplexed Single MAC</a:t>
              </a:r>
            </a:p>
          </p:txBody>
        </p:sp>
        <p:sp>
          <p:nvSpPr>
            <p:cNvPr id="20" name="Line 20"/>
            <p:cNvSpPr/>
            <p:nvPr/>
          </p:nvSpPr>
          <p:spPr>
            <a:xfrm>
              <a:off x="6553200" y="26193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1" name="TextBox 21"/>
            <p:cNvSpPr txBox="1"/>
            <p:nvPr/>
          </p:nvSpPr>
          <p:spPr>
            <a:xfrm>
              <a:off x="6543294" y="2885122"/>
              <a:ext cx="4428572"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Single shared multiplier-accumulator</a:t>
              </a:r>
            </a:p>
          </p:txBody>
        </p:sp>
        <p:sp>
          <p:nvSpPr>
            <p:cNvPr id="22" name="TextBox 22"/>
            <p:cNvSpPr txBox="1"/>
            <p:nvPr/>
          </p:nvSpPr>
          <p:spPr>
            <a:xfrm>
              <a:off x="6543294" y="3361372"/>
              <a:ext cx="4239619"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FSM controller cycles through taps</a:t>
              </a:r>
            </a:p>
          </p:txBody>
        </p:sp>
        <p:sp>
          <p:nvSpPr>
            <p:cNvPr id="23" name="TextBox 23"/>
            <p:cNvSpPr txBox="1"/>
            <p:nvPr/>
          </p:nvSpPr>
          <p:spPr>
            <a:xfrm>
              <a:off x="6543294" y="3837622"/>
              <a:ext cx="3161314"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Latency: 5–6 clock cycles</a:t>
              </a:r>
            </a:p>
          </p:txBody>
        </p:sp>
        <p:sp>
          <p:nvSpPr>
            <p:cNvPr id="24" name="TextBox 24"/>
            <p:cNvSpPr txBox="1"/>
            <p:nvPr/>
          </p:nvSpPr>
          <p:spPr>
            <a:xfrm>
              <a:off x="6543294" y="4313872"/>
              <a:ext cx="4791202" cy="381381"/>
            </a:xfrm>
            <a:prstGeom prst="rect">
              <a:avLst/>
            </a:prstGeom>
            <a:noFill/>
            <a:ln>
              <a:noFill/>
            </a:ln>
          </p:spPr>
          <p:txBody>
            <a:bodyPr wrap="none" lIns="0" tIns="0" rIns="0" bIns="0" anchor="t" anchorCtr="0">
              <a:spAutoFit/>
            </a:bodyPr>
            <a:lstStyle/>
            <a:p>
              <a:pPr algn="l" marL="155499" indent="-155499">
                <a:buClr>
                  <a:schemeClr val="dk1"/>
                </a:buClr>
                <a:buSzTx/>
                <a:buFontTx/>
                <a:buChar char="•"/>
              </a:pPr>
              <a:r>
                <a:rPr lang="en-US" sz="1950" dirty="0">
                  <a:solidFill>
                    <a:schemeClr val="dk1"/>
                  </a:solidFill>
                  <a:latin typeface="+mn-lt"/>
                  <a:ea typeface="+mn-ea"/>
                  <a:cs typeface="+mn-cs"/>
                </a:rPr>
                <a:t>Resource: Ultra-compact (1 or 0 DSPs)</a:t>
              </a:r>
            </a:p>
          </p:txBody>
        </p:sp>
        <p:sp>
          <p:nvSpPr>
            <p:cNvPr id="25" name="Line 25"/>
            <p:cNvSpPr/>
            <p:nvPr/>
          </p:nvSpPr>
          <p:spPr>
            <a:xfrm>
              <a:off x="6553200" y="48577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6" name="TextBox 26"/>
            <p:cNvSpPr txBox="1"/>
            <p:nvPr/>
          </p:nvSpPr>
          <p:spPr>
            <a:xfrm>
              <a:off x="6544056" y="5092065"/>
              <a:ext cx="461544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Target: Ultra-low-power IoT edge nodes</a:t>
              </a:r>
            </a:p>
          </p:txBody>
        </p:sp>
      </p:grpSp>
      <p:grpSp>
        <p:nvGrpSpPr>
          <p:cNvPr id="29" name="tradeoff-takeaway"/>
          <p:cNvGrpSpPr/>
          <p:nvPr/>
        </p:nvGrpSpPr>
        <p:grpSpPr>
          <a:xfrm>
            <a:off x="599694" y="5885498"/>
            <a:ext cx="10133756" cy="381381"/>
            <a:chOff x="599694" y="5885498"/>
            <a:chExt cx="10133756" cy="381381"/>
          </a:xfrm>
        </p:grpSpPr>
        <p:sp>
          <p:nvSpPr>
            <p:cNvPr id="28" name="TextBox 28"/>
            <p:cNvSpPr txBox="1"/>
            <p:nvPr/>
          </p:nvSpPr>
          <p:spPr>
            <a:xfrm>
              <a:off x="599694" y="5885498"/>
              <a:ext cx="1013375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Evaluation: Synthesize both on target FPGA to compare LUTs, DSPs, and Fmax.</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713938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12-Week Execution Roadmap</a:t>
            </a:r>
          </a:p>
        </p:txBody>
      </p:sp>
      <p:grpSp>
        <p:nvGrpSpPr>
          <p:cNvPr id="15" name="process-timeline-one-slot Proxy Content"/>
          <p:cNvGrpSpPr/>
          <p:nvPr/>
        </p:nvGrpSpPr>
        <p:grpSpPr>
          <a:xfrm>
            <a:off x="751332" y="1630680"/>
            <a:ext cx="2161954" cy="2718054"/>
            <a:chOff x="751332" y="1630680"/>
            <a:chExt cx="2161954" cy="2718054"/>
          </a:xfrm>
        </p:grpSpPr>
        <p:sp>
          <p:nvSpPr>
            <p:cNvPr id="10" name="TextBox 10"/>
            <p:cNvSpPr txBox="1"/>
            <p:nvPr/>
          </p:nvSpPr>
          <p:spPr>
            <a:xfrm>
              <a:off x="751332" y="1630680"/>
              <a:ext cx="169808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1–3</a:t>
              </a:r>
            </a:p>
          </p:txBody>
        </p:sp>
        <p:sp>
          <p:nvSpPr>
            <p:cNvPr id="11" name="TextBox 11"/>
            <p:cNvSpPr txBox="1"/>
            <p:nvPr/>
          </p:nvSpPr>
          <p:spPr>
            <a:xfrm>
              <a:off x="752094" y="2646998"/>
              <a:ext cx="157354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Data &amp; Base</a:t>
              </a:r>
            </a:p>
          </p:txBody>
        </p:sp>
        <p:sp>
          <p:nvSpPr>
            <p:cNvPr id="12" name="TextBox 12"/>
            <p:cNvSpPr txBox="1"/>
            <p:nvPr/>
          </p:nvSpPr>
          <p:spPr>
            <a:xfrm>
              <a:off x="752856" y="3139440"/>
              <a:ext cx="2160430"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Clean NASA CSV</a:t>
              </a:r>
            </a:p>
          </p:txBody>
        </p:sp>
        <p:sp>
          <p:nvSpPr>
            <p:cNvPr id="13" name="TextBox 13"/>
            <p:cNvSpPr txBox="1"/>
            <p:nvPr/>
          </p:nvSpPr>
          <p:spPr>
            <a:xfrm>
              <a:off x="752856" y="3568065"/>
              <a:ext cx="1219165"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Baselines</a:t>
              </a:r>
            </a:p>
          </p:txBody>
        </p:sp>
        <p:sp>
          <p:nvSpPr>
            <p:cNvPr id="14" name="TextBox 14"/>
            <p:cNvSpPr txBox="1"/>
            <p:nvPr/>
          </p:nvSpPr>
          <p:spPr>
            <a:xfrm>
              <a:off x="752856" y="3996690"/>
              <a:ext cx="1736013"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C++ float OLS</a:t>
              </a:r>
            </a:p>
          </p:txBody>
        </p:sp>
      </p:grpSp>
      <p:grpSp>
        <p:nvGrpSpPr>
          <p:cNvPr id="21" name="process-timeline-two-slot Proxy Content"/>
          <p:cNvGrpSpPr/>
          <p:nvPr/>
        </p:nvGrpSpPr>
        <p:grpSpPr>
          <a:xfrm>
            <a:off x="3570732" y="1630680"/>
            <a:ext cx="1853379" cy="2718054"/>
            <a:chOff x="3570732" y="1630680"/>
            <a:chExt cx="1853379" cy="2718054"/>
          </a:xfrm>
        </p:grpSpPr>
        <p:sp>
          <p:nvSpPr>
            <p:cNvPr id="16" name="TextBox 16"/>
            <p:cNvSpPr txBox="1"/>
            <p:nvPr/>
          </p:nvSpPr>
          <p:spPr>
            <a:xfrm>
              <a:off x="3570732" y="1630680"/>
              <a:ext cx="169808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4–6</a:t>
              </a:r>
            </a:p>
          </p:txBody>
        </p:sp>
        <p:sp>
          <p:nvSpPr>
            <p:cNvPr id="17" name="TextBox 17"/>
            <p:cNvSpPr txBox="1"/>
            <p:nvPr/>
          </p:nvSpPr>
          <p:spPr>
            <a:xfrm>
              <a:off x="3571494" y="2646998"/>
              <a:ext cx="1700233"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Phase 1 MVP</a:t>
              </a:r>
            </a:p>
          </p:txBody>
        </p:sp>
        <p:sp>
          <p:nvSpPr>
            <p:cNvPr id="18" name="TextBox 18"/>
            <p:cNvSpPr txBox="1"/>
            <p:nvPr/>
          </p:nvSpPr>
          <p:spPr>
            <a:xfrm>
              <a:off x="3572256" y="3139440"/>
              <a:ext cx="1851855"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Q-format profile</a:t>
              </a:r>
            </a:p>
          </p:txBody>
        </p:sp>
        <p:sp>
          <p:nvSpPr>
            <p:cNvPr id="19" name="TextBox 19"/>
            <p:cNvSpPr txBox="1"/>
            <p:nvPr/>
          </p:nvSpPr>
          <p:spPr>
            <a:xfrm>
              <a:off x="3572256" y="3568065"/>
              <a:ext cx="1661134"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25-stage RTL</a:t>
              </a:r>
            </a:p>
          </p:txBody>
        </p:sp>
        <p:sp>
          <p:nvSpPr>
            <p:cNvPr id="20" name="TextBox 20"/>
            <p:cNvSpPr txBox="1"/>
            <p:nvPr/>
          </p:nvSpPr>
          <p:spPr>
            <a:xfrm>
              <a:off x="3572256" y="3996690"/>
              <a:ext cx="1503839"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Bit-exact TB</a:t>
              </a:r>
            </a:p>
          </p:txBody>
        </p:sp>
      </p:grpSp>
      <p:grpSp>
        <p:nvGrpSpPr>
          <p:cNvPr id="27" name="process-timeline-three-slot Proxy Content"/>
          <p:cNvGrpSpPr/>
          <p:nvPr/>
        </p:nvGrpSpPr>
        <p:grpSpPr>
          <a:xfrm>
            <a:off x="6390132" y="1630680"/>
            <a:ext cx="2208089" cy="2718054"/>
            <a:chOff x="6390132" y="1630680"/>
            <a:chExt cx="2208089" cy="2718054"/>
          </a:xfrm>
        </p:grpSpPr>
        <p:sp>
          <p:nvSpPr>
            <p:cNvPr id="22" name="TextBox 22"/>
            <p:cNvSpPr txBox="1"/>
            <p:nvPr/>
          </p:nvSpPr>
          <p:spPr>
            <a:xfrm>
              <a:off x="6390132" y="1630680"/>
              <a:ext cx="169808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7–9</a:t>
              </a:r>
            </a:p>
          </p:txBody>
        </p:sp>
        <p:sp>
          <p:nvSpPr>
            <p:cNvPr id="23" name="TextBox 23"/>
            <p:cNvSpPr txBox="1"/>
            <p:nvPr/>
          </p:nvSpPr>
          <p:spPr>
            <a:xfrm>
              <a:off x="6390894" y="2646998"/>
              <a:ext cx="1893894"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Phase 2 Scope</a:t>
              </a:r>
            </a:p>
          </p:txBody>
        </p:sp>
        <p:sp>
          <p:nvSpPr>
            <p:cNvPr id="24" name="TextBox 24"/>
            <p:cNvSpPr txBox="1"/>
            <p:nvPr/>
          </p:nvSpPr>
          <p:spPr>
            <a:xfrm>
              <a:off x="6391656" y="3139440"/>
              <a:ext cx="2002853"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Multi-var (RH, P)</a:t>
              </a:r>
            </a:p>
          </p:txBody>
        </p:sp>
        <p:sp>
          <p:nvSpPr>
            <p:cNvPr id="25" name="TextBox 25"/>
            <p:cNvSpPr txBox="1"/>
            <p:nvPr/>
          </p:nvSpPr>
          <p:spPr>
            <a:xfrm>
              <a:off x="6391656" y="3568065"/>
              <a:ext cx="2206565"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Shared-MAC FSM</a:t>
              </a:r>
            </a:p>
          </p:txBody>
        </p:sp>
        <p:sp>
          <p:nvSpPr>
            <p:cNvPr id="26" name="TextBox 26"/>
            <p:cNvSpPr txBox="1"/>
            <p:nvPr/>
          </p:nvSpPr>
          <p:spPr>
            <a:xfrm>
              <a:off x="6391656" y="3996690"/>
              <a:ext cx="1913294"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UART controller</a:t>
              </a:r>
            </a:p>
          </p:txBody>
        </p:sp>
      </p:grpSp>
      <p:grpSp>
        <p:nvGrpSpPr>
          <p:cNvPr id="33" name="process-timeline-four-slot Proxy Content"/>
          <p:cNvGrpSpPr/>
          <p:nvPr/>
        </p:nvGrpSpPr>
        <p:grpSpPr>
          <a:xfrm>
            <a:off x="9209532" y="1630680"/>
            <a:ext cx="2069352" cy="2718054"/>
            <a:chOff x="9209532" y="1630680"/>
            <a:chExt cx="2069352" cy="2718054"/>
          </a:xfrm>
        </p:grpSpPr>
        <p:sp>
          <p:nvSpPr>
            <p:cNvPr id="28" name="TextBox 28"/>
            <p:cNvSpPr txBox="1"/>
            <p:nvPr/>
          </p:nvSpPr>
          <p:spPr>
            <a:xfrm>
              <a:off x="9209532" y="1630680"/>
              <a:ext cx="2030359"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10–12</a:t>
              </a:r>
            </a:p>
          </p:txBody>
        </p:sp>
        <p:sp>
          <p:nvSpPr>
            <p:cNvPr id="29" name="TextBox 29"/>
            <p:cNvSpPr txBox="1"/>
            <p:nvPr/>
          </p:nvSpPr>
          <p:spPr>
            <a:xfrm>
              <a:off x="9210294" y="2646998"/>
              <a:ext cx="195208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Demo &amp; Report</a:t>
              </a:r>
            </a:p>
          </p:txBody>
        </p:sp>
        <p:sp>
          <p:nvSpPr>
            <p:cNvPr id="30" name="TextBox 30"/>
            <p:cNvSpPr txBox="1"/>
            <p:nvPr/>
          </p:nvSpPr>
          <p:spPr>
            <a:xfrm>
              <a:off x="9211056" y="3139440"/>
              <a:ext cx="2050334"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Live UART demo</a:t>
              </a:r>
            </a:p>
          </p:txBody>
        </p:sp>
        <p:sp>
          <p:nvSpPr>
            <p:cNvPr id="31" name="TextBox 31"/>
            <p:cNvSpPr txBox="1"/>
            <p:nvPr/>
          </p:nvSpPr>
          <p:spPr>
            <a:xfrm>
              <a:off x="9211056" y="3568065"/>
              <a:ext cx="2067828"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Coverage metrics</a:t>
              </a:r>
            </a:p>
          </p:txBody>
        </p:sp>
        <p:sp>
          <p:nvSpPr>
            <p:cNvPr id="32" name="TextBox 32"/>
            <p:cNvSpPr txBox="1"/>
            <p:nvPr/>
          </p:nvSpPr>
          <p:spPr>
            <a:xfrm>
              <a:off x="9211056" y="3996690"/>
              <a:ext cx="1919360" cy="352044"/>
            </a:xfrm>
            <a:prstGeom prst="rect">
              <a:avLst/>
            </a:prstGeom>
            <a:noFill/>
            <a:ln>
              <a:noFill/>
            </a:ln>
          </p:spPr>
          <p:txBody>
            <a:bodyPr wrap="none" lIns="0" tIns="0" rIns="0" bIns="0" anchor="t" anchorCtr="0">
              <a:spAutoFit/>
            </a:bodyPr>
            <a:lstStyle/>
            <a:p>
              <a:pPr algn="l" marL="143538" indent="-143538">
                <a:buClr>
                  <a:schemeClr val="accent3"/>
                </a:buClr>
                <a:buSzTx/>
                <a:buFontTx/>
                <a:buChar char="•"/>
              </a:pPr>
              <a:r>
                <a:rPr lang="en-US" sz="1800" dirty="0">
                  <a:solidFill>
                    <a:schemeClr val="accent3"/>
                  </a:solidFill>
                  <a:latin typeface="+mn-lt"/>
                  <a:ea typeface="+mn-ea"/>
                  <a:cs typeface="+mn-cs"/>
                </a:rPr>
                <a:t>Synthesis report</a:t>
              </a:r>
            </a:p>
          </p:txBody>
        </p:sp>
      </p:grpSp>
      <p:sp>
        <p:nvSpPr>
          <p:cNvPr id="34" name="process-timeline-takeaway-slot Placeholder Carrier"/>
          <p:cNvSpPr txBox="1"/>
          <p:nvPr>
            <p:ph type="body" idx="5"/>
          </p:nvPr>
        </p:nvSpPr>
        <p:spPr>
          <a:xfrm>
            <a:off x="829056" y="5644515"/>
            <a:ext cx="9511747" cy="352044"/>
          </a:xfrm>
          <a:prstGeom prst="rect">
            <a:avLst/>
          </a:prstGeom>
          <a:noFill/>
          <a:ln>
            <a:noFill/>
          </a:ln>
        </p:spPr>
        <p:txBody>
          <a:bodyPr wrap="none" lIns="0" tIns="0" rIns="0" bIns="0" anchor="t" anchorCtr="0">
            <a:spAutoFit/>
          </a:bodyPr>
          <a:lstStyle/>
          <a:p>
            <a:pPr algn="l" marL="0" indent="0">
              <a:buNone/>
            </a:pPr>
            <a:r>
              <a:rPr lang="en-US" sz="1800" b="1" dirty="0">
                <a:solidFill>
                  <a:schemeClr val="dk1"/>
                </a:solidFill>
                <a:latin typeface="+mn-lt"/>
                <a:ea typeface="+mn-ea"/>
                <a:cs typeface="+mn-cs"/>
              </a:rPr>
              <a:t>Phase 1 secures working baseline by Week 6; Phase 2 delivers engineering depth.</a:t>
            </a:r>
          </a:p>
        </p:txBody>
      </p:sp>
      <p:sp>
        <p:nvSpPr>
          <p:cNvPr id="3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13 / 15</a:t>
            </a:r>
          </a:p>
        </p:txBody>
      </p:sp>
      <p:sp>
        <p:nvSpPr>
          <p:cNvPr id="36" name="Placeholder Binding obj 1" hidden="1"/>
          <p:cNvSpPr>
            <a:spLocks noGrp="1"/>
          </p:cNvSpPr>
          <p:nvPr>
            <p:ph type="obj" idx="1"/>
          </p:nvPr>
        </p:nvSpPr>
        <p:spPr>
          <a:xfrm>
            <a:off x="762000" y="1428750"/>
            <a:ext cx="2209800" cy="36195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7" name="Placeholder Binding obj 2" hidden="1"/>
          <p:cNvSpPr>
            <a:spLocks noGrp="1"/>
          </p:cNvSpPr>
          <p:nvPr>
            <p:ph type="obj" idx="2"/>
          </p:nvPr>
        </p:nvSpPr>
        <p:spPr>
          <a:xfrm>
            <a:off x="3581400" y="1428750"/>
            <a:ext cx="2209800" cy="36195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8" name="Placeholder Binding obj 3" hidden="1"/>
          <p:cNvSpPr>
            <a:spLocks noGrp="1"/>
          </p:cNvSpPr>
          <p:nvPr>
            <p:ph type="obj" idx="3"/>
          </p:nvPr>
        </p:nvSpPr>
        <p:spPr>
          <a:xfrm>
            <a:off x="6400800" y="1428750"/>
            <a:ext cx="2209800" cy="36195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9" name="Placeholder Binding obj 4" hidden="1"/>
          <p:cNvSpPr>
            <a:spLocks noGrp="1"/>
          </p:cNvSpPr>
          <p:nvPr>
            <p:ph type="obj" idx="4"/>
          </p:nvPr>
        </p:nvSpPr>
        <p:spPr>
          <a:xfrm>
            <a:off x="9220200" y="1428750"/>
            <a:ext cx="2209800" cy="36195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918739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Students Workload Distribution</a:t>
            </a:r>
          </a:p>
        </p:txBody>
      </p:sp>
      <p:grpSp>
        <p:nvGrpSpPr>
          <p:cNvPr id="18" name="three-card-one-slot Proxy Content"/>
          <p:cNvGrpSpPr/>
          <p:nvPr/>
        </p:nvGrpSpPr>
        <p:grpSpPr>
          <a:xfrm>
            <a:off x="827532" y="2011680"/>
            <a:ext cx="3058668" cy="3657409"/>
            <a:chOff x="827532" y="2011680"/>
            <a:chExt cx="3058668" cy="3657409"/>
          </a:xfrm>
        </p:grpSpPr>
        <p:sp>
          <p:nvSpPr>
            <p:cNvPr id="7" name="TextBox 7"/>
            <p:cNvSpPr txBox="1"/>
            <p:nvPr/>
          </p:nvSpPr>
          <p:spPr>
            <a:xfrm>
              <a:off x="827532" y="2011680"/>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1</a:t>
              </a:r>
            </a:p>
          </p:txBody>
        </p:sp>
        <p:sp>
          <p:nvSpPr>
            <p:cNvPr id="8" name="TextBox 8"/>
            <p:cNvSpPr txBox="1"/>
            <p:nvPr/>
          </p:nvSpPr>
          <p:spPr>
            <a:xfrm>
              <a:off x="829056" y="2425065"/>
              <a:ext cx="214915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Algorithms &amp; Data</a:t>
              </a:r>
            </a:p>
          </p:txBody>
        </p:sp>
        <p:sp>
          <p:nvSpPr>
            <p:cNvPr id="9" name="Line 9"/>
            <p:cNvSpPr/>
            <p:nvPr/>
          </p:nvSpPr>
          <p:spPr>
            <a:xfrm>
              <a:off x="838200" y="285750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0" name="TextBox 10"/>
            <p:cNvSpPr txBox="1"/>
            <p:nvPr/>
          </p:nvSpPr>
          <p:spPr>
            <a:xfrm>
              <a:off x="829818" y="3060382"/>
              <a:ext cx="249816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Phase 1: Baseline Core</a:t>
              </a:r>
            </a:p>
          </p:txBody>
        </p:sp>
        <p:sp>
          <p:nvSpPr>
            <p:cNvPr id="11" name="TextBox 11"/>
            <p:cNvSpPr txBox="1"/>
            <p:nvPr/>
          </p:nvSpPr>
          <p:spPr>
            <a:xfrm>
              <a:off x="829818" y="3393758"/>
              <a:ext cx="2355594"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CSV cleaning &amp; repair</a:t>
              </a:r>
            </a:p>
          </p:txBody>
        </p:sp>
        <p:sp>
          <p:nvSpPr>
            <p:cNvPr id="12" name="TextBox 12"/>
            <p:cNvSpPr txBox="1"/>
            <p:nvPr/>
          </p:nvSpPr>
          <p:spPr>
            <a:xfrm>
              <a:off x="829818" y="3727132"/>
              <a:ext cx="2511139"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Baselines &amp; OLS solver</a:t>
              </a:r>
            </a:p>
          </p:txBody>
        </p:sp>
        <p:sp>
          <p:nvSpPr>
            <p:cNvPr id="13" name="TextBox 13"/>
            <p:cNvSpPr txBox="1"/>
            <p:nvPr/>
          </p:nvSpPr>
          <p:spPr>
            <a:xfrm>
              <a:off x="829818" y="4060508"/>
              <a:ext cx="1972270"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C++ golden model</a:t>
              </a:r>
            </a:p>
          </p:txBody>
        </p:sp>
        <p:sp>
          <p:nvSpPr>
            <p:cNvPr id="14" name="Line 14"/>
            <p:cNvSpPr/>
            <p:nvPr/>
          </p:nvSpPr>
          <p:spPr>
            <a:xfrm>
              <a:off x="838200" y="452437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5" name="TextBox 15"/>
            <p:cNvSpPr txBox="1"/>
            <p:nvPr/>
          </p:nvSpPr>
          <p:spPr>
            <a:xfrm>
              <a:off x="829818" y="4679632"/>
              <a:ext cx="207150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Phase 2: Advanced</a:t>
              </a:r>
            </a:p>
          </p:txBody>
        </p:sp>
        <p:sp>
          <p:nvSpPr>
            <p:cNvPr id="16" name="TextBox 16"/>
            <p:cNvSpPr txBox="1"/>
            <p:nvPr/>
          </p:nvSpPr>
          <p:spPr>
            <a:xfrm>
              <a:off x="829818" y="5013008"/>
              <a:ext cx="2328376"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Multi-var (RH, P) data</a:t>
              </a:r>
            </a:p>
          </p:txBody>
        </p:sp>
        <p:sp>
          <p:nvSpPr>
            <p:cNvPr id="17" name="TextBox 17"/>
            <p:cNvSpPr txBox="1"/>
            <p:nvPr/>
          </p:nvSpPr>
          <p:spPr>
            <a:xfrm>
              <a:off x="829818" y="5346382"/>
              <a:ext cx="2816503"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Quantization SNR analysis</a:t>
              </a:r>
            </a:p>
          </p:txBody>
        </p:sp>
      </p:grpSp>
      <p:grpSp>
        <p:nvGrpSpPr>
          <p:cNvPr id="30" name="three-card-two-slot Proxy Content"/>
          <p:cNvGrpSpPr/>
          <p:nvPr/>
        </p:nvGrpSpPr>
        <p:grpSpPr>
          <a:xfrm>
            <a:off x="4561332" y="2011680"/>
            <a:ext cx="3058668" cy="3657409"/>
            <a:chOff x="4561332" y="2011680"/>
            <a:chExt cx="3058668" cy="3657409"/>
          </a:xfrm>
        </p:grpSpPr>
        <p:sp>
          <p:nvSpPr>
            <p:cNvPr id="19" name="TextBox 19"/>
            <p:cNvSpPr txBox="1"/>
            <p:nvPr/>
          </p:nvSpPr>
          <p:spPr>
            <a:xfrm>
              <a:off x="4561332" y="2011680"/>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2</a:t>
              </a:r>
            </a:p>
          </p:txBody>
        </p:sp>
        <p:sp>
          <p:nvSpPr>
            <p:cNvPr id="20" name="TextBox 20"/>
            <p:cNvSpPr txBox="1"/>
            <p:nvPr/>
          </p:nvSpPr>
          <p:spPr>
            <a:xfrm>
              <a:off x="4562856" y="2425065"/>
              <a:ext cx="225969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RTL &amp; Architecture</a:t>
              </a:r>
            </a:p>
          </p:txBody>
        </p:sp>
        <p:sp>
          <p:nvSpPr>
            <p:cNvPr id="21" name="Line 21"/>
            <p:cNvSpPr/>
            <p:nvPr/>
          </p:nvSpPr>
          <p:spPr>
            <a:xfrm>
              <a:off x="4572000" y="285750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2" name="TextBox 22"/>
            <p:cNvSpPr txBox="1"/>
            <p:nvPr/>
          </p:nvSpPr>
          <p:spPr>
            <a:xfrm>
              <a:off x="4563618" y="3060382"/>
              <a:ext cx="249816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Phase 1: Baseline Core</a:t>
              </a:r>
            </a:p>
          </p:txBody>
        </p:sp>
        <p:sp>
          <p:nvSpPr>
            <p:cNvPr id="23" name="TextBox 23"/>
            <p:cNvSpPr txBox="1"/>
            <p:nvPr/>
          </p:nvSpPr>
          <p:spPr>
            <a:xfrm>
              <a:off x="4563618" y="3393758"/>
              <a:ext cx="2284275"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25-stage shift register</a:t>
              </a:r>
            </a:p>
          </p:txBody>
        </p:sp>
        <p:sp>
          <p:nvSpPr>
            <p:cNvPr id="24" name="TextBox 24"/>
            <p:cNvSpPr txBox="1"/>
            <p:nvPr/>
          </p:nvSpPr>
          <p:spPr>
            <a:xfrm>
              <a:off x="4563618" y="3727132"/>
              <a:ext cx="1994802"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Pipelined datapath</a:t>
              </a:r>
            </a:p>
          </p:txBody>
        </p:sp>
        <p:sp>
          <p:nvSpPr>
            <p:cNvPr id="25" name="TextBox 25"/>
            <p:cNvSpPr txBox="1"/>
            <p:nvPr/>
          </p:nvSpPr>
          <p:spPr>
            <a:xfrm>
              <a:off x="4563618" y="4060508"/>
              <a:ext cx="1685301"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Saturation logic</a:t>
              </a:r>
            </a:p>
          </p:txBody>
        </p:sp>
        <p:sp>
          <p:nvSpPr>
            <p:cNvPr id="26" name="Line 26"/>
            <p:cNvSpPr/>
            <p:nvPr/>
          </p:nvSpPr>
          <p:spPr>
            <a:xfrm>
              <a:off x="4572000" y="452437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7" name="TextBox 27"/>
            <p:cNvSpPr txBox="1"/>
            <p:nvPr/>
          </p:nvSpPr>
          <p:spPr>
            <a:xfrm>
              <a:off x="4563618" y="4679632"/>
              <a:ext cx="207150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Phase 2: Advanced</a:t>
              </a:r>
            </a:p>
          </p:txBody>
        </p:sp>
        <p:sp>
          <p:nvSpPr>
            <p:cNvPr id="28" name="TextBox 28"/>
            <p:cNvSpPr txBox="1"/>
            <p:nvPr/>
          </p:nvSpPr>
          <p:spPr>
            <a:xfrm>
              <a:off x="4563618" y="5013008"/>
              <a:ext cx="2734785"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Shared-MAC FSM design</a:t>
              </a:r>
            </a:p>
          </p:txBody>
        </p:sp>
        <p:sp>
          <p:nvSpPr>
            <p:cNvPr id="29" name="TextBox 29"/>
            <p:cNvSpPr txBox="1"/>
            <p:nvPr/>
          </p:nvSpPr>
          <p:spPr>
            <a:xfrm>
              <a:off x="4563618" y="5346382"/>
              <a:ext cx="2360849"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FPGA synthesis study</a:t>
              </a:r>
            </a:p>
          </p:txBody>
        </p:sp>
      </p:grpSp>
      <p:grpSp>
        <p:nvGrpSpPr>
          <p:cNvPr id="42" name="three-card-three-slot Proxy Content"/>
          <p:cNvGrpSpPr/>
          <p:nvPr/>
        </p:nvGrpSpPr>
        <p:grpSpPr>
          <a:xfrm>
            <a:off x="8295132" y="2011680"/>
            <a:ext cx="3058668" cy="3657409"/>
            <a:chOff x="8295132" y="2011680"/>
            <a:chExt cx="3058668" cy="3657409"/>
          </a:xfrm>
        </p:grpSpPr>
        <p:sp>
          <p:nvSpPr>
            <p:cNvPr id="31" name="TextBox 31"/>
            <p:cNvSpPr txBox="1"/>
            <p:nvPr/>
          </p:nvSpPr>
          <p:spPr>
            <a:xfrm>
              <a:off x="8295132" y="2011680"/>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3</a:t>
              </a:r>
            </a:p>
          </p:txBody>
        </p:sp>
        <p:sp>
          <p:nvSpPr>
            <p:cNvPr id="32" name="TextBox 32"/>
            <p:cNvSpPr txBox="1"/>
            <p:nvPr/>
          </p:nvSpPr>
          <p:spPr>
            <a:xfrm>
              <a:off x="8296656" y="2425065"/>
              <a:ext cx="240104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DV &amp; Demonstration</a:t>
              </a:r>
            </a:p>
          </p:txBody>
        </p:sp>
        <p:sp>
          <p:nvSpPr>
            <p:cNvPr id="33" name="Line 33"/>
            <p:cNvSpPr/>
            <p:nvPr/>
          </p:nvSpPr>
          <p:spPr>
            <a:xfrm>
              <a:off x="8305800" y="285750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34" name="TextBox 34"/>
            <p:cNvSpPr txBox="1"/>
            <p:nvPr/>
          </p:nvSpPr>
          <p:spPr>
            <a:xfrm>
              <a:off x="8297418" y="3060382"/>
              <a:ext cx="249816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Phase 1: Baseline Core</a:t>
              </a:r>
            </a:p>
          </p:txBody>
        </p:sp>
        <p:sp>
          <p:nvSpPr>
            <p:cNvPr id="35" name="TextBox 35"/>
            <p:cNvSpPr txBox="1"/>
            <p:nvPr/>
          </p:nvSpPr>
          <p:spPr>
            <a:xfrm>
              <a:off x="8297418" y="3393758"/>
              <a:ext cx="2426466"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Automated test vectors</a:t>
              </a:r>
            </a:p>
          </p:txBody>
        </p:sp>
        <p:sp>
          <p:nvSpPr>
            <p:cNvPr id="36" name="TextBox 36"/>
            <p:cNvSpPr txBox="1"/>
            <p:nvPr/>
          </p:nvSpPr>
          <p:spPr>
            <a:xfrm>
              <a:off x="8297418" y="3727132"/>
              <a:ext cx="2545583"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Bit-exact RTL testbench</a:t>
              </a:r>
            </a:p>
          </p:txBody>
        </p:sp>
        <p:sp>
          <p:nvSpPr>
            <p:cNvPr id="37" name="TextBox 37"/>
            <p:cNvSpPr txBox="1"/>
            <p:nvPr/>
          </p:nvSpPr>
          <p:spPr>
            <a:xfrm>
              <a:off x="8297418" y="4060508"/>
              <a:ext cx="2365570"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Warm-up &amp; reset tests</a:t>
              </a:r>
            </a:p>
          </p:txBody>
        </p:sp>
        <p:sp>
          <p:nvSpPr>
            <p:cNvPr id="38" name="Line 38"/>
            <p:cNvSpPr/>
            <p:nvPr/>
          </p:nvSpPr>
          <p:spPr>
            <a:xfrm>
              <a:off x="8305800" y="452437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39" name="TextBox 39"/>
            <p:cNvSpPr txBox="1"/>
            <p:nvPr/>
          </p:nvSpPr>
          <p:spPr>
            <a:xfrm>
              <a:off x="8297418" y="4679632"/>
              <a:ext cx="207150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Phase 2: Advanced</a:t>
              </a:r>
            </a:p>
          </p:txBody>
        </p:sp>
        <p:sp>
          <p:nvSpPr>
            <p:cNvPr id="40" name="TextBox 40"/>
            <p:cNvSpPr txBox="1"/>
            <p:nvPr/>
          </p:nvSpPr>
          <p:spPr>
            <a:xfrm>
              <a:off x="8297418" y="5013008"/>
              <a:ext cx="2585811"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UART controller &amp; demo</a:t>
              </a:r>
            </a:p>
          </p:txBody>
        </p:sp>
        <p:sp>
          <p:nvSpPr>
            <p:cNvPr id="41" name="TextBox 41"/>
            <p:cNvSpPr txBox="1"/>
            <p:nvPr/>
          </p:nvSpPr>
          <p:spPr>
            <a:xfrm>
              <a:off x="8297418" y="5346382"/>
              <a:ext cx="2439147" cy="322707"/>
            </a:xfrm>
            <a:prstGeom prst="rect">
              <a:avLst/>
            </a:prstGeom>
            <a:noFill/>
            <a:ln>
              <a:noFill/>
            </a:ln>
          </p:spPr>
          <p:txBody>
            <a:bodyPr wrap="none" lIns="0" tIns="0" rIns="0" bIns="0" anchor="t" anchorCtr="0">
              <a:spAutoFit/>
            </a:bodyPr>
            <a:lstStyle/>
            <a:p>
              <a:pPr algn="l" marL="131576" indent="-131576">
                <a:buClr>
                  <a:schemeClr val="accent3"/>
                </a:buClr>
                <a:buSzTx/>
                <a:buFontTx/>
                <a:buChar char="•"/>
              </a:pPr>
              <a:r>
                <a:rPr lang="en-US" sz="1650" dirty="0">
                  <a:solidFill>
                    <a:schemeClr val="accent3"/>
                  </a:solidFill>
                  <a:latin typeface="+mn-lt"/>
                  <a:ea typeface="+mn-ea"/>
                  <a:cs typeface="+mn-cs"/>
                </a:rPr>
                <a:t>Code coverage metrics</a:t>
              </a:r>
            </a:p>
          </p:txBody>
        </p:sp>
      </p:grpSp>
      <p:sp>
        <p:nvSpPr>
          <p:cNvPr id="4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14 / 15</a:t>
            </a:r>
          </a:p>
        </p:txBody>
      </p:sp>
      <p:grpSp>
        <p:nvGrpSpPr>
          <p:cNvPr id="45" name="shared-interface"/>
          <p:cNvGrpSpPr/>
          <p:nvPr/>
        </p:nvGrpSpPr>
        <p:grpSpPr>
          <a:xfrm>
            <a:off x="601218" y="6156008"/>
            <a:ext cx="9184798" cy="322707"/>
            <a:chOff x="601218" y="6156008"/>
            <a:chExt cx="9184798" cy="322707"/>
          </a:xfrm>
        </p:grpSpPr>
        <p:sp>
          <p:nvSpPr>
            <p:cNvPr id="44" name="TextBox 44"/>
            <p:cNvSpPr txBox="1"/>
            <p:nvPr/>
          </p:nvSpPr>
          <p:spPr>
            <a:xfrm>
              <a:off x="601218" y="6156008"/>
              <a:ext cx="91847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Shared arithmetic contract agreed at kickoff: wordlengths, rounding, saturation, valid, latency.</a:t>
              </a:r>
            </a:p>
          </p:txBody>
        </p:sp>
      </p:grpSp>
      <p:sp>
        <p:nvSpPr>
          <p:cNvPr id="46" name="Placeholder Binding obj 1" hidden="1"/>
          <p:cNvSpPr>
            <a:spLocks noGrp="1"/>
          </p:cNvSpPr>
          <p:nvPr>
            <p:ph type="obj" idx="1"/>
          </p:nvPr>
        </p:nvSpPr>
        <p:spPr>
          <a:xfrm>
            <a:off x="838200" y="1828800"/>
            <a:ext cx="3048000" cy="390525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47" name="Placeholder Binding obj 2" hidden="1"/>
          <p:cNvSpPr>
            <a:spLocks noGrp="1"/>
          </p:cNvSpPr>
          <p:nvPr>
            <p:ph type="obj" idx="2"/>
          </p:nvPr>
        </p:nvSpPr>
        <p:spPr>
          <a:xfrm>
            <a:off x="4572000" y="1828800"/>
            <a:ext cx="3048000" cy="390525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48" name="Placeholder Binding obj 3" hidden="1"/>
          <p:cNvSpPr>
            <a:spLocks noGrp="1"/>
          </p:cNvSpPr>
          <p:nvPr>
            <p:ph type="obj" idx="3"/>
          </p:nvPr>
        </p:nvSpPr>
        <p:spPr>
          <a:xfrm>
            <a:off x="8305800" y="1828800"/>
            <a:ext cx="3048000" cy="390525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595808"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One Forecast, Two Claims to Verify</a:t>
            </a:r>
          </a:p>
        </p:txBody>
      </p:sp>
      <p:grpSp>
        <p:nvGrpSpPr>
          <p:cNvPr id="11" name="closing-proofs Proxy Content"/>
          <p:cNvGrpSpPr/>
          <p:nvPr/>
        </p:nvGrpSpPr>
        <p:grpSpPr>
          <a:xfrm>
            <a:off x="977646" y="1896428"/>
            <a:ext cx="8056991" cy="2703575"/>
            <a:chOff x="977646" y="1896428"/>
            <a:chExt cx="8056991" cy="2703575"/>
          </a:xfrm>
        </p:grpSpPr>
        <p:sp>
          <p:nvSpPr>
            <p:cNvPr id="6" name="TextBox 6"/>
            <p:cNvSpPr txBox="1"/>
            <p:nvPr/>
          </p:nvSpPr>
          <p:spPr>
            <a:xfrm>
              <a:off x="977646" y="1896428"/>
              <a:ext cx="7712382"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Phased Linear Model → Temperature +3 Hours</a:t>
              </a:r>
            </a:p>
          </p:txBody>
        </p:sp>
        <p:sp>
          <p:nvSpPr>
            <p:cNvPr id="7" name="TextBox 7"/>
            <p:cNvSpPr txBox="1"/>
            <p:nvPr/>
          </p:nvSpPr>
          <p:spPr>
            <a:xfrm>
              <a:off x="979932" y="2630805"/>
              <a:ext cx="264928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01 Forecast Quality</a:t>
              </a:r>
            </a:p>
          </p:txBody>
        </p:sp>
        <p:sp>
          <p:nvSpPr>
            <p:cNvPr id="8" name="TextBox 8"/>
            <p:cNvSpPr txBox="1"/>
            <p:nvPr/>
          </p:nvSpPr>
          <p:spPr>
            <a:xfrm>
              <a:off x="980694" y="3075622"/>
              <a:ext cx="805394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mn-lt"/>
                  <a:ea typeface="+mn-ea"/>
                  <a:cs typeface="+mn-cs"/>
                </a:rPr>
                <a:t>Prove model outperforms naive baselines on unseen future test data.</a:t>
              </a:r>
            </a:p>
          </p:txBody>
        </p:sp>
        <p:sp>
          <p:nvSpPr>
            <p:cNvPr id="9" name="TextBox 9"/>
            <p:cNvSpPr txBox="1"/>
            <p:nvPr/>
          </p:nvSpPr>
          <p:spPr>
            <a:xfrm>
              <a:off x="979932" y="3773805"/>
              <a:ext cx="345160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02 Hardware Correctness</a:t>
              </a:r>
            </a:p>
          </p:txBody>
        </p:sp>
        <p:sp>
          <p:nvSpPr>
            <p:cNvPr id="10" name="TextBox 10"/>
            <p:cNvSpPr txBox="1"/>
            <p:nvPr/>
          </p:nvSpPr>
          <p:spPr>
            <a:xfrm>
              <a:off x="980694" y="4218622"/>
              <a:ext cx="7504399" cy="381381"/>
            </a:xfrm>
            <a:prstGeom prst="rect">
              <a:avLst/>
            </a:prstGeom>
            <a:noFill/>
            <a:ln>
              <a:noFill/>
            </a:ln>
          </p:spPr>
          <p:txBody>
            <a:bodyPr wrap="none" lIns="0" tIns="0" rIns="0" bIns="0" anchor="t" anchorCtr="0">
              <a:spAutoFit/>
            </a:bodyPr>
            <a:lstStyle/>
            <a:p>
              <a:pPr algn="l"/>
              <a:r>
                <a:rPr lang="en-US" sz="1950" dirty="0">
                  <a:solidFill>
                    <a:schemeClr val="dk1"/>
                  </a:solidFill>
                  <a:latin typeface="+mn-lt"/>
                  <a:ea typeface="+mn-ea"/>
                  <a:cs typeface="+mn-cs"/>
                </a:rPr>
                <a:t>Prove RTL matches the C++ fixed-point golden model bit-for-bit.</a:t>
              </a:r>
            </a:p>
          </p:txBody>
        </p:sp>
      </p:grpSp>
      <p:sp>
        <p:nvSpPr>
          <p:cNvPr id="12" name="closing-questions Placeholder Carrier"/>
          <p:cNvSpPr txBox="1"/>
          <p:nvPr>
            <p:ph type="body" idx="2"/>
          </p:nvPr>
        </p:nvSpPr>
        <p:spPr>
          <a:xfrm>
            <a:off x="601218" y="5432108"/>
            <a:ext cx="9718971" cy="646557"/>
          </a:xfrm>
          <a:prstGeom prst="rect">
            <a:avLst/>
          </a:prstGeom>
          <a:noFill/>
          <a:ln>
            <a:noFill/>
          </a:ln>
        </p:spPr>
        <p:txBody>
          <a:bodyPr wrap="none" lIns="0" tIns="0" rIns="0" bIns="0" anchor="t" anchorCtr="0">
            <a:noAutofit/>
          </a:bodyPr>
          <a:lstStyle/>
          <a:p>
            <a:pPr algn="l" marL="0" indent="0">
              <a:lnSpc>
                <a:spcPts val="2550"/>
              </a:lnSpc>
              <a:buNone/>
            </a:pPr>
            <a:r>
              <a:rPr lang="en-US" sz="1650" dirty="0">
                <a:solidFill>
                  <a:schemeClr val="dk1"/>
                </a:solidFill>
                <a:latin typeface="+mn-lt"/>
                <a:ea typeface="+mn-ea"/>
                <a:cs typeface="+mn-cs"/>
              </a:rPr>
              <a:t>Instructor feedback: 1. Confirm scope (Phase 1 MVP → Phase 2) · 2. Board/tools · 3. Demo expectation.</a:t>
            </a:r>
            <a:br/>
            <a:r>
              <a:rPr lang="en-US" sz="1650" dirty="0">
                <a:solidFill>
                  <a:schemeClr val="dk1"/>
                </a:solidFill>
                <a:latin typeface="+mn-lt"/>
                <a:ea typeface="+mn-ea"/>
                <a:cs typeface="+mn-cs"/>
              </a:rPr>
              <a:t>Multi-variable expansion &amp; architecture exploration follow the baseline core.</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2026-09-24T12:18:35Z</dcterms:created>
  <dcterms:modified xsi:type="dcterms:W3CDTF">2026-09-24T12:18:35Z</dcterms:modified>
  <cp:category/>
  <cp:contentStatus/>
</cp:coreProperties>
</file>