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forecasting system on FPGA using a linear time-series model built from past values. This is a focused, rigorous realization of the assigned weather forecasting topic. Today we present our proposed algorithmic model, hardware micro-architecture, and upgraded twelve-week execution plan.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deliberately narrow the broad weather forecasting topic down to hourly temperature at a specific geographic location. At hour t, the model ingests observations available up to t and outputs a forecast for t plus three hours in degrees Celsius. A linear model provides clear, auditable arithmetic that we can reproduce identically in C++ and RTL within three months. FPGA speedup is not our claim for data that arrives only once an hour; our real objective is mastering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separates offline algorithmic training from FPGA runtime inference. Offline in C++, we clean the NASA CSV dataset, establish baseline metrics, solve for model weights using least squares, and generate a bit-exact fixed-point golden reference alongside test vectors. The FPGA accepts sequential samples, buffers the history, and computes predictions with fixed coefficients on-chip. Our tangible deliverables include the C++ reference suite, synthesizable RTL, testbench, board demo, and comprehensive resource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slide consolidates our mathematical model, physical tap meanings, and arithmetic execution. Relative to our forecast target at t plus three hours, the sample at t minus twenty-one hours acts as the diurnal anchor—exactly the same hour yesterday. The difference T(t) minus T(t minus twenty-four) captures the day-to-day trend, while T(t) minus T(t minus three) tracks the recent three-hour temperature gradient. In our numerical walkthrough, past temperatures of nineteen, twenty-one, eighteen, and twenty degrees Celsius with weights zero-point-five and zero-point-two yield a forecast of twenty-one point nine degrees Celsius through subtraction, multiplication, and an adder tree. A twenty-five sample buffer stores samples t minus twenty-four through t, while the future target stays strictly on the host PC.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formulate the model as an Ordinary Least Squares problem: x one is the day-to-day change, x two is the recent three-hour change, and target y is the offset from the diurnal anchor. C++ fits weights a, b, and constant c on historical training data using the Eigen library. To prevent look-ahead data leakage, we enforce a strict chronological split into training, validation, and held-out test periods. Previously observed history crosses split boundaries only as input buffer context, never as future labels.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establish scientific value, we must answer whether our linear model outperforms simple, no-math heuristics. We evaluate all methods using Mean Absolute Error in degrees Celsius across identical test timestamps. We benchmark against two naive baselines: Persistence, which assumes the temperature remains unchanged from t, and Diurnal, which assumes today exactly repeats yesterday at the same hour. If our linear model does not outperform these baselines, we analyze the residuals and report the findings with full academic integrity.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Fixed-point hardware implementation begins by profiling dynamic ranges across historical records: capturing sub-zero winter temperatures, peak summer heat, and coefficient magnitudes. We select an optimal signed Q-format, such as Q8.8 or Q10.6, balancing integer headroom against fractional precision. Our C++ fixed-point golden model mirrors every RTL truncation, shift, and saturation rule bit-for-bit. This separates statistical forecasting error against ground truth from quantization noise against floating point, enabling one hundred percent bit-exact RTL verification.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ensure project feasibility while demonstrating substantial engineering depth for three students, we divide our roadmap into two distinct phases. Phase one is our Core MVP, executed during Weeks one through six. It establishes a guaranteed working baseline: a single-variable temperature predictor, a twenty-five stage shift register buffer, and a synthesizable RTL core verified against C++. Phase two, running from Weeks seven to twelve, expands into advanced extensions: multi-variable features including relative humidity and pressure, an architectural trade-off study, and code-coverage verification. This two-phase strategy eliminates semester failure risk early.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we map the mathematical taps directly to the hardware datapath. A twenty-five stage shift register receives incoming samples when valid is asserted. Dedicated taps extract the four required indices, feeding two subtraction stages, two fixed-coefficient multipliers, and a pipelined adder tree with saturation logic. A delay of one sample represents one real-world hour in data, whereas hardware latency is only two to four clock cycles. The circuit produces a forecast in nanoseconds, never waiting three real hours.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hardware demonstration replays historical CSV records from a host PC to the FPGA in accelerated time. Samples are transmitted via UART milliseconds apart rather than hours apart, allowing us to demonstrate over one thousand sequential predictions in under two minutes. The FPGA processes each incoming sample, updates its buffer, and streams back the forecast. A host Python dashboard compares the prediction against the held-out target label and plots live error curves without any future data leakage.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Verification proceeds across three hierarchical layers using identical test vectors. In Layer one, C++ compares floating-point against fixed-point arithmetic to measure quantization noise and test boundary conditions. In Layer two, the RTL simulation testbench verifies cycle-by-cycle valid handshakes, reset behavior, and buffer warm-up, requiring zero bit differences against the golden model. In Layer three, physical board tests validate UART timing, packet byte order, and end-to-end scoreboard synchronization.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As part of our Phase two engineering exploration, we conduct an architectural trade-off study comparing two distinct micro-architectures. Architecture A implements a fully parallel pipelined DSP datapath with dedicated multipliers for maximum throughput, targeting high-speed multi-channel sensing. Architecture B implements a resource-shared single-MAC architecture driven by a finite state machine, time-multiplexing multiplications into a single DSP slice or LUT-based multiplier. We will synthesize both architectures on our target FPGA and compare LUTs, DSP slices, and maximum operating frequency.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upgraded twelve-week schedule establishes four concrete milestones, each yielding a working deliverable. Weeks one to three deliver clean NASA data, baselines, and C++ floating-point training. Weeks four to six complete the Phase one Core MVP with a synthesizable RTL core and bit-exact simulation. Weeks seven to nine advance Phase two with multi-variable modeling, the shared-MAC architecture, and UART controller integration. Weeks ten to twelve finalize the live hardware demonstration, code coverage, synthesis resource analysis, and defense report.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workload is evenly distributed across three students across both project phases. Student One leads algorithms and data, delivering the C++ golden model in Phase one and multi-variable modeling in Phase two. Student Two leads RTL design, building the pipelined datapath in Phase one and conducting the architectural trade-off study in Phase two. Student Three leads verification and demo, constructing the bit-exact testbench in Phase one and integrating the UART controller and live PC dashboard in Phase two. All interfaces and arithmetic conventions are agreed upon at kickoff.</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summary, our project delivers a three-hour-ahead temperature forecasting system on FPGA, rigorously backed by two distinct proofs: proving forecasting quality against naive baselines on unseen data, and proving hardware correctness bit-for-bit against a golden fixed-point model. Before we proceed, we welcome the professor's feedback on our three-hour prediction scope, recommended FPGA board and toolchain, and minimum demo expectations. Thank you for your time, and we look forward to your guidance.</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cover-subtitle Placeholder"/>
          <p:cNvSpPr>
            <a:spLocks noGrp="1"/>
          </p:cNvSpPr>
          <p:nvPr>
            <p:ph type="subTitle" idx="1"/>
          </p:nvPr>
        </p:nvSpPr>
        <p:spPr>
          <a:xfrm>
            <a:off x="1066800" y="3333750"/>
            <a:ext cx="10058400" cy="685800"/>
          </a:xfrm>
          <a:prstGeom prst="rect">
            <a:avLst/>
          </a:prstGeom>
          <a:noFill/>
          <a:ln>
            <a:noFill/>
          </a:ln>
        </p:spPr>
        <p:txBody>
          <a:bodyPr wrap="square" lIns="0" tIns="0" rIns="0" bIns="0" anchor="ctr" anchorCtr="0">
            <a:noAutofit/>
          </a:bodyPr>
          <a:lstStyle>
            <a:lvl1pPr marL="0" indent="0">
              <a:buNone/>
              <a:defRPr sz="2550" lang="en-US"/>
            </a:lvl1pPr>
          </a:lstStyle>
          <a:p>
            <a:pPr algn="l" marL="0" indent="0">
              <a:buNone/>
            </a:pPr>
            <a:r>
              <a:rPr lang="en-US" sz="2550" dirty="0">
                <a:solidFill>
                  <a:schemeClr val="accent3"/>
                </a:solidFill>
                <a:latin typeface="+mn-lt"/>
                <a:ea typeface="+mn-ea"/>
                <a:cs typeface="+mn-cs"/>
              </a:rPr>
              <a:t>Click to add subtitle</a:t>
            </a:r>
            <a:endParaRPr lang="en-US"/>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4DE1744A-53FB-4EE8-A32F-D93D442BC6A1}" type="slidenum">
              <a:rPr lang="en-US" sz="1200" dirty="0">
                <a:solidFill>
                  <a:schemeClr val="accent3"/>
                </a:solidFill>
                <a:latin typeface="+mn-lt"/>
                <a:ea typeface="+mn-ea"/>
                <a:cs typeface="+mn-cs"/>
              </a:rPr>
              <a:t>‹#›</a:t>
            </a:fld>
            <a:endParaRPr lang="en-US"/>
          </a:p>
        </p:txBody>
      </p:sp>
    </p:spTree>
    <p:extLst>
      <p:ext uri="{BB962C8B-B14F-4D97-AF65-F5344CB8AC3E}">
        <p14:creationId val="1665232506"/>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01B3E09E-82F6-4BED-B9C2-6A043F0C6796}" type="slidenum">
              <a:rPr lang="en-US" sz="1200" dirty="0">
                <a:solidFill>
                  <a:schemeClr val="accent3"/>
                </a:solidFill>
                <a:latin typeface="+mn-lt"/>
                <a:ea typeface="+mn-ea"/>
                <a:cs typeface="+mn-cs"/>
              </a:rPr>
              <a:t>‹#›</a:t>
            </a:fld>
            <a:endParaRPr lang="en-US"/>
          </a:p>
        </p:txBody>
      </p:sp>
    </p:spTree>
    <p:extLst>
      <p:ext uri="{BB962C8B-B14F-4D97-AF65-F5344CB8AC3E}">
        <p14:creationId val="2513235816"/>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1800" lang="en-US"/>
            </a:lvl1pPr>
          </a:lstStyle>
          <a:p>
            <a:pPr algn="l" marL="0" indent="0">
              <a:buNone/>
            </a:pPr>
            <a:r>
              <a:rPr lang="en-US" sz="1800" b="1" dirty="0">
                <a:solidFill>
                  <a:schemeClr val="accent2"/>
                </a:solidFill>
                <a:latin typeface="+mn-lt"/>
                <a:ea typeface="+mn-ea"/>
                <a:cs typeface="+mn-cs"/>
              </a:rPr>
              <a:t>Click to add text</a:t>
            </a:r>
            <a:endParaRPr lang="en-US"/>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1800" lang="en-US"/>
            </a:lvl1pPr>
          </a:lstStyle>
          <a:p>
            <a:pPr algn="l" marL="0" indent="0">
              <a:buNone/>
            </a:pPr>
            <a:r>
              <a:rPr lang="en-US" sz="1800" b="1" dirty="0">
                <a:solidFill>
                  <a:schemeClr val="accent2"/>
                </a:solidFill>
                <a:latin typeface="+mn-lt"/>
                <a:ea typeface="+mn-ea"/>
                <a:cs typeface="+mn-cs"/>
              </a:rPr>
              <a:t>Click to add text</a:t>
            </a:r>
            <a:endParaRPr lang="en-US"/>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20B6B1B1-C3F9-4D3C-A617-25E287DB2EAE}" type="slidenum">
              <a:rPr lang="en-US" sz="1200" dirty="0">
                <a:solidFill>
                  <a:schemeClr val="accent3"/>
                </a:solidFill>
                <a:latin typeface="+mn-lt"/>
                <a:ea typeface="+mn-ea"/>
                <a:cs typeface="+mn-cs"/>
              </a:rPr>
              <a:t>‹#›</a:t>
            </a:fld>
            <a:endParaRPr lang="en-US"/>
          </a:p>
        </p:txBody>
      </p:sp>
    </p:spTree>
    <p:extLst>
      <p:ext uri="{BB962C8B-B14F-4D97-AF65-F5344CB8AC3E}">
        <p14:creationId val="3386273426"/>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268D9520-BAA1-44E7-9E5F-BF2D9D1AA036}" type="slidenum">
              <a:rPr lang="en-US" sz="1200" dirty="0">
                <a:solidFill>
                  <a:schemeClr val="accent3"/>
                </a:solidFill>
                <a:latin typeface="+mn-lt"/>
                <a:ea typeface="+mn-ea"/>
                <a:cs typeface="+mn-cs"/>
              </a:rPr>
              <a:t>‹#›</a:t>
            </a:fld>
            <a:endParaRPr lang="en-US"/>
          </a:p>
        </p:txBody>
      </p:sp>
    </p:spTree>
    <p:extLst>
      <p:ext uri="{BB962C8B-B14F-4D97-AF65-F5344CB8AC3E}">
        <p14:creationId val="397815577"/>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en-US"/>
            </a:lvl1pPr>
          </a:lstStyle>
          <a:p>
            <a:pPr algn="l" marL="0" indent="0">
              <a:buNone/>
            </a:pPr>
            <a:r>
              <a:rPr lang="en-US" sz="1650" dirty="0">
                <a:solidFill>
                  <a:schemeClr val="dk1"/>
                </a:solidFill>
                <a:latin typeface="+mn-lt"/>
                <a:ea typeface="+mn-ea"/>
                <a:cs typeface="+mn-cs"/>
              </a:rPr>
              <a:t>Click to add text</a:t>
            </a:r>
            <a:endParaRPr lang="en-US"/>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0562A673-B533-4EC4-B60D-175D05D2A7D3}" type="slidenum">
              <a:rPr lang="en-US" sz="1200" dirty="0">
                <a:solidFill>
                  <a:schemeClr val="accent3"/>
                </a:solidFill>
                <a:latin typeface="+mn-lt"/>
                <a:ea typeface="+mn-ea"/>
                <a:cs typeface="+mn-cs"/>
              </a:rPr>
              <a:t>‹#›</a:t>
            </a:fld>
            <a:endParaRPr lang="en-US"/>
          </a:p>
        </p:txBody>
      </p:sp>
    </p:spTree>
    <p:extLst>
      <p:ext uri="{BB962C8B-B14F-4D97-AF65-F5344CB8AC3E}">
        <p14:creationId val="1752219907"/>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a:t>Click to add content</a:t>
            </a:r>
            <a:endParaRPr lang="en-US"/>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1800" lang="en-US"/>
            </a:lvl1pPr>
          </a:lstStyle>
          <a:p>
            <a:pPr algn="l" marL="0" indent="0">
              <a:lnSpc>
                <a:spcPts val="2700"/>
              </a:lnSpc>
              <a:buNone/>
            </a:pPr>
            <a:r>
              <a:rPr lang="en-US" sz="1800" dirty="0">
                <a:solidFill>
                  <a:schemeClr val="dk1"/>
                </a:solidFill>
                <a:latin typeface="+mn-lt"/>
                <a:ea typeface="+mn-ea"/>
                <a:cs typeface="+mn-cs"/>
              </a:rPr>
              <a:t>Click to add text</a:t>
            </a:r>
            <a:endParaRPr lang="en-US"/>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9AA0D888-CB3E-48D8-9200-394F52F5DCDF}" type="slidenum">
              <a:rPr lang="en-US" sz="1200" dirty="0">
                <a:solidFill>
                  <a:schemeClr val="accent3"/>
                </a:solidFill>
                <a:latin typeface="+mn-lt"/>
                <a:ea typeface="+mn-ea"/>
                <a:cs typeface="+mn-cs"/>
              </a:rPr>
              <a:t>‹#›</a:t>
            </a:fld>
            <a:endParaRPr lang="en-US"/>
          </a:p>
        </p:txBody>
      </p:sp>
    </p:spTree>
    <p:extLst>
      <p:ext uri="{BB962C8B-B14F-4D97-AF65-F5344CB8AC3E}">
        <p14:creationId val="185468612"/>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otexts.com/fpp3/simple-methods.html" TargetMode="Externa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717989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TEMPERATURE FORECAST</a:t>
            </a:r>
          </a:p>
        </p:txBody>
      </p:sp>
      <p:sp>
        <p:nvSpPr>
          <p:cNvPr id="5" name="cover-subtitle Placeholder Carrier"/>
          <p:cNvSpPr txBox="1"/>
          <p:nvPr>
            <p:ph type="subTitle" idx="1"/>
          </p:nvPr>
        </p:nvSpPr>
        <p:spPr>
          <a:xfrm>
            <a:off x="1053846" y="3439478"/>
            <a:ext cx="4721868" cy="498729"/>
          </a:xfrm>
          <a:prstGeom prst="rect">
            <a:avLst/>
          </a:prstGeom>
          <a:noFill/>
          <a:ln>
            <a:noFill/>
          </a:ln>
        </p:spPr>
        <p:txBody>
          <a:bodyPr wrap="none" lIns="0" tIns="0" rIns="0" bIns="0" anchor="t" anchorCtr="0">
            <a:spAutoFit/>
          </a:bodyPr>
          <a:lstStyle/>
          <a:p>
            <a:pPr algn="l" marL="0" indent="0">
              <a:buNone/>
            </a:pPr>
            <a:r>
              <a:rPr lang="en-US" sz="2550" dirty="0">
                <a:solidFill>
                  <a:schemeClr val="accent3"/>
                </a:solidFill>
                <a:latin typeface="+mn-lt"/>
                <a:ea typeface="+mn-ea"/>
                <a:cs typeface="+mn-cs"/>
              </a:rPr>
              <a:t>3 HOURS AHEAD ON FPGA</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01 / 15</a:t>
            </a:r>
          </a:p>
        </p:txBody>
      </p:sp>
      <p:grpSp>
        <p:nvGrpSpPr>
          <p:cNvPr id="8" name="cover-model"/>
          <p:cNvGrpSpPr/>
          <p:nvPr/>
        </p:nvGrpSpPr>
        <p:grpSpPr>
          <a:xfrm>
            <a:off x="1056894" y="4228148"/>
            <a:ext cx="7448363" cy="381381"/>
            <a:chOff x="1056894" y="4228148"/>
            <a:chExt cx="7448363" cy="381381"/>
          </a:xfrm>
        </p:grpSpPr>
        <p:sp>
          <p:nvSpPr>
            <p:cNvPr id="7" name="TextBox 7"/>
            <p:cNvSpPr txBox="1"/>
            <p:nvPr/>
          </p:nvSpPr>
          <p:spPr>
            <a:xfrm>
              <a:off x="1056894" y="4228148"/>
              <a:ext cx="7448363" cy="381381"/>
            </a:xfrm>
            <a:prstGeom prst="rect">
              <a:avLst/>
            </a:prstGeom>
            <a:noFill/>
            <a:ln>
              <a:noFill/>
            </a:ln>
          </p:spPr>
          <p:txBody>
            <a:bodyPr wrap="none" lIns="0" tIns="0" rIns="0" bIns="0" anchor="t" anchorCtr="0">
              <a:spAutoFit/>
            </a:bodyPr>
            <a:lstStyle/>
            <a:p>
              <a:pPr algn="l"/>
              <a:r>
                <a:rPr lang="en-US" sz="1950" dirty="0">
                  <a:solidFill>
                    <a:schemeClr val="accent3"/>
                  </a:solidFill>
                  <a:latin typeface="+mn-lt"/>
                  <a:ea typeface="+mn-ea"/>
                  <a:cs typeface="+mn-cs"/>
                </a:rPr>
                <a:t>A linear model from past values · Phased hardware architecture</a:t>
              </a:r>
            </a:p>
          </p:txBody>
        </p:sp>
      </p:grpSp>
      <p:grpSp>
        <p:nvGrpSpPr>
          <p:cNvPr id="10" name="course"/>
          <p:cNvGrpSpPr/>
          <p:nvPr/>
        </p:nvGrpSpPr>
        <p:grpSpPr>
          <a:xfrm>
            <a:off x="1058418" y="812482"/>
            <a:ext cx="4816579" cy="322707"/>
            <a:chOff x="1058418" y="812482"/>
            <a:chExt cx="4816579" cy="322707"/>
          </a:xfrm>
        </p:grpSpPr>
        <p:sp>
          <p:nvSpPr>
            <p:cNvPr id="9" name="TextBox 9"/>
            <p:cNvSpPr txBox="1"/>
            <p:nvPr/>
          </p:nvSpPr>
          <p:spPr>
            <a:xfrm>
              <a:off x="1058418" y="812482"/>
              <a:ext cx="481657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CE436 / PROJECT PROPOSAL / SESSION 1</a:t>
              </a:r>
            </a:p>
          </p:txBody>
        </p:sp>
      </p:grpSp>
      <p:grpSp>
        <p:nvGrpSpPr>
          <p:cNvPr id="19" name="forecast-hook"/>
          <p:cNvGrpSpPr/>
          <p:nvPr/>
        </p:nvGrpSpPr>
        <p:grpSpPr>
          <a:xfrm>
            <a:off x="1058418" y="4914900"/>
            <a:ext cx="9609582" cy="906971"/>
            <a:chOff x="1058418" y="4914900"/>
            <a:chExt cx="9609582" cy="906971"/>
          </a:xfrm>
        </p:grpSpPr>
        <p:sp>
          <p:nvSpPr>
            <p:cNvPr id="11" name="Line 11"/>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2" name="Ellipse 12"/>
            <p:cNvSpPr/>
            <p:nvPr/>
          </p:nvSpPr>
          <p:spPr>
            <a:xfrm>
              <a:off x="1447800" y="4972050"/>
              <a:ext cx="152400" cy="152400"/>
            </a:xfrm>
            <a:prstGeom prst="ellipse">
              <a:avLst/>
            </a:prstGeom>
            <a:solidFill>
              <a:schemeClr val="accent3"/>
            </a:solidFill>
            <a:ln>
              <a:noFill/>
            </a:ln>
          </p:spPr>
        </p:sp>
        <p:sp>
          <p:nvSpPr>
            <p:cNvPr id="13" name="Ellipse 13"/>
            <p:cNvSpPr/>
            <p:nvPr/>
          </p:nvSpPr>
          <p:spPr>
            <a:xfrm>
              <a:off x="4019550" y="4972050"/>
              <a:ext cx="152400" cy="152400"/>
            </a:xfrm>
            <a:prstGeom prst="ellipse">
              <a:avLst/>
            </a:prstGeom>
            <a:solidFill>
              <a:schemeClr val="accent3"/>
            </a:solidFill>
            <a:ln>
              <a:noFill/>
            </a:ln>
          </p:spPr>
        </p:sp>
        <p:sp>
          <p:nvSpPr>
            <p:cNvPr id="14" name="Ellipse 14"/>
            <p:cNvSpPr/>
            <p:nvPr/>
          </p:nvSpPr>
          <p:spPr>
            <a:xfrm>
              <a:off x="6591300" y="4972050"/>
              <a:ext cx="152400" cy="152400"/>
            </a:xfrm>
            <a:prstGeom prst="ellipse">
              <a:avLst/>
            </a:prstGeom>
            <a:solidFill>
              <a:schemeClr val="accent3"/>
            </a:solidFill>
            <a:ln>
              <a:noFill/>
            </a:ln>
          </p:spPr>
        </p:sp>
        <p:sp>
          <p:nvSpPr>
            <p:cNvPr id="15" name="Ellipse 15"/>
            <p:cNvSpPr/>
            <p:nvPr/>
          </p:nvSpPr>
          <p:spPr>
            <a:xfrm>
              <a:off x="10153650" y="4914900"/>
              <a:ext cx="266700" cy="266700"/>
            </a:xfrm>
            <a:prstGeom prst="ellipse">
              <a:avLst/>
            </a:prstGeom>
            <a:solidFill>
              <a:schemeClr val="accent1"/>
            </a:solidFill>
            <a:ln>
              <a:noFill/>
            </a:ln>
          </p:spPr>
        </p:sp>
        <p:sp>
          <p:nvSpPr>
            <p:cNvPr id="16" name="TextBox 16"/>
            <p:cNvSpPr txBox="1"/>
            <p:nvPr/>
          </p:nvSpPr>
          <p:spPr>
            <a:xfrm>
              <a:off x="1058418" y="5394008"/>
              <a:ext cx="96191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Past data</a:t>
              </a:r>
            </a:p>
          </p:txBody>
        </p:sp>
        <p:sp>
          <p:nvSpPr>
            <p:cNvPr id="17" name="TextBox 17"/>
            <p:cNvSpPr txBox="1"/>
            <p:nvPr/>
          </p:nvSpPr>
          <p:spPr>
            <a:xfrm>
              <a:off x="6373368" y="5394008"/>
              <a:ext cx="46952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Now</a:t>
              </a:r>
            </a:p>
          </p:txBody>
        </p:sp>
        <p:sp>
          <p:nvSpPr>
            <p:cNvPr id="18" name="TextBox 18"/>
            <p:cNvSpPr txBox="1"/>
            <p:nvPr/>
          </p:nvSpPr>
          <p:spPr>
            <a:xfrm>
              <a:off x="9605772" y="5264468"/>
              <a:ext cx="807340"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+3 h</a:t>
              </a:r>
            </a:p>
          </p:txBody>
        </p:sp>
      </p:grpSp>
      <p:grpSp>
        <p:nvGrpSpPr>
          <p:cNvPr id="21" name="project-meta"/>
          <p:cNvGrpSpPr/>
          <p:nvPr/>
        </p:nvGrpSpPr>
        <p:grpSpPr>
          <a:xfrm>
            <a:off x="1058418" y="6194108"/>
            <a:ext cx="7279447" cy="322707"/>
            <a:chOff x="1058418" y="6194108"/>
            <a:chExt cx="7279447" cy="322707"/>
          </a:xfrm>
        </p:grpSpPr>
        <p:sp>
          <p:nvSpPr>
            <p:cNvPr id="20" name="TextBox 20"/>
            <p:cNvSpPr txBox="1"/>
            <p:nvPr/>
          </p:nvSpPr>
          <p:spPr>
            <a:xfrm>
              <a:off x="1058418" y="6194108"/>
              <a:ext cx="727944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3 students · 12 weeks · Phase 1 MVP + Phase 2 Architecture Exploration</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47806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testable forecasting task</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01200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ASSIGNED TOPIC</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oundRect">
              <a:avLst>
                <a:gd name="adj" fmla="val 1980"/>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982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INPUT</a:t>
              </a:r>
            </a:p>
          </p:txBody>
        </p:sp>
        <p:sp>
          <p:nvSpPr>
            <p:cNvPr id="17" name="TextBox 17"/>
            <p:cNvSpPr txBox="1"/>
            <p:nvPr/>
          </p:nvSpPr>
          <p:spPr>
            <a:xfrm>
              <a:off x="827532" y="3364230"/>
              <a:ext cx="3223763"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Hourly temperature</a:t>
              </a:r>
              <a:br/>
              <a:r>
                <a:rPr lang="en-US" sz="2100" dirty="0">
                  <a:solidFill>
                    <a:schemeClr val="dk1"/>
                  </a:solidFill>
                  <a:latin typeface="+mn-lt"/>
                  <a:ea typeface="+mn-ea"/>
                  <a:cs typeface="+mn-cs"/>
                </a:rPr>
                <a:t>at one location, up to time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oundRect">
              <a:avLst>
                <a:gd name="adj" fmla="val 1980"/>
              </a:avLst>
            </a:prstGeom>
            <a:solidFill>
              <a:schemeClr val="lt2"/>
            </a:solidFill>
            <a:ln>
              <a:noFill/>
            </a:ln>
          </p:spPr>
        </p:sp>
        <p:sp>
          <p:nvSpPr>
            <p:cNvPr id="20" name="TextBox 20"/>
            <p:cNvSpPr txBox="1"/>
            <p:nvPr/>
          </p:nvSpPr>
          <p:spPr>
            <a:xfrm>
              <a:off x="6579870" y="2795588"/>
              <a:ext cx="1338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OUTPUT</a:t>
              </a:r>
            </a:p>
          </p:txBody>
        </p:sp>
        <p:sp>
          <p:nvSpPr>
            <p:cNvPr id="21" name="TextBox 21"/>
            <p:cNvSpPr txBox="1"/>
            <p:nvPr/>
          </p:nvSpPr>
          <p:spPr>
            <a:xfrm>
              <a:off x="6580632" y="3364230"/>
              <a:ext cx="4179722"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One temperature forecast at t + 3 h</a:t>
              </a:r>
              <a:br/>
              <a:r>
                <a:rPr lang="en-US" sz="2100" dirty="0">
                  <a:solidFill>
                    <a:schemeClr val="dk1"/>
                  </a:solidFill>
                  <a:latin typeface="+mn-lt"/>
                  <a:ea typeface="+mn-ea"/>
                  <a:cs typeface="+mn-cs"/>
                </a:rPr>
                <a:t>Unit: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10844097" cy="826961"/>
            <a:chOff x="598170" y="4786312"/>
            <a:chExt cx="10844097" cy="826961"/>
          </a:xfrm>
        </p:grpSpPr>
        <p:sp>
          <p:nvSpPr>
            <p:cNvPr id="24" name="TextBox 24"/>
            <p:cNvSpPr txBox="1"/>
            <p:nvPr/>
          </p:nvSpPr>
          <p:spPr>
            <a:xfrm>
              <a:off x="598170" y="4786312"/>
              <a:ext cx="46624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a linear time-series model?</a:t>
              </a:r>
            </a:p>
          </p:txBody>
        </p:sp>
        <p:sp>
          <p:nvSpPr>
            <p:cNvPr id="25" name="TextBox 25"/>
            <p:cNvSpPr txBox="1"/>
            <p:nvPr/>
          </p:nvSpPr>
          <p:spPr>
            <a:xfrm>
              <a:off x="598932" y="5202555"/>
              <a:ext cx="1084333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Transparent arithmetic: allows exact bit-level cross-verification between C++ and RTL.</a:t>
              </a:r>
            </a:p>
          </p:txBody>
        </p:sp>
      </p:grpSp>
      <p:grpSp>
        <p:nvGrpSpPr>
          <p:cNvPr id="28" name="scope-caveat"/>
          <p:cNvGrpSpPr/>
          <p:nvPr/>
        </p:nvGrpSpPr>
        <p:grpSpPr>
          <a:xfrm>
            <a:off x="601218" y="5851208"/>
            <a:ext cx="7879415" cy="589407"/>
            <a:chOff x="601218" y="5851208"/>
            <a:chExt cx="7879415" cy="589407"/>
          </a:xfrm>
        </p:grpSpPr>
        <p:sp>
          <p:nvSpPr>
            <p:cNvPr id="27" name="TextBox 27"/>
            <p:cNvSpPr txBox="1"/>
            <p:nvPr/>
          </p:nvSpPr>
          <p:spPr>
            <a:xfrm>
              <a:off x="601218" y="5851208"/>
              <a:ext cx="7879415"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Phase 1 core: 1 variable, fixed coefficients. Phase 2 expands to humidity &amp; pressure.</a:t>
              </a:r>
              <a:br/>
              <a:r>
                <a:rPr lang="en-US" sz="1650" dirty="0">
                  <a:solidFill>
                    <a:schemeClr val="accent3"/>
                  </a:solidFill>
                  <a:latin typeface="+mn-lt"/>
                  <a:ea typeface="+mn-ea"/>
                  <a:cs typeface="+mn-cs"/>
                </a:rPr>
                <a:t>FPGA is for DSP/RTL practice; no speedup claim for data arriving once an hour.</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69604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C++ trains; FPGA forecasts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oundRect">
              <a:avLst>
                <a:gd name="adj" fmla="val 1786"/>
              </a:avLst>
            </a:prstGeom>
            <a:solidFill>
              <a:schemeClr val="lt2"/>
            </a:solidFill>
            <a:ln>
              <a:noFill/>
            </a:ln>
          </p:spPr>
        </p:sp>
        <p:sp>
          <p:nvSpPr>
            <p:cNvPr id="7" name="TextBox 7"/>
            <p:cNvSpPr txBox="1"/>
            <p:nvPr/>
          </p:nvSpPr>
          <p:spPr>
            <a:xfrm>
              <a:off x="829818" y="1679258"/>
              <a:ext cx="501039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OFFLINE / PC (TRAINING &amp; SPECIFICATION)</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243208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Temperature CSV</a:t>
              </a:r>
            </a:p>
          </p:txBody>
        </p:sp>
        <p:sp>
          <p:nvSpPr>
            <p:cNvPr id="13" name="Line 13"/>
            <p:cNvSpPr/>
            <p:nvPr/>
          </p:nvSpPr>
          <p:spPr>
            <a:xfrm>
              <a:off x="3524250" y="2419350"/>
              <a:ext cx="666750" cy="1"/>
            </a:xfrm>
            <a:prstGeom prst="line">
              <a:avLst/>
            </a:prstGeom>
            <a:noFill/>
            <a:ln w="19050">
              <a:solidFill>
                <a:schemeClr val="accent1"/>
              </a:solidFill>
              <a:tailEnd type="triangle" w="lg" len="lg"/>
            </a:ln>
          </p:spPr>
        </p:sp>
        <p:sp>
          <p:nvSpPr>
            <p:cNvPr id="14" name="TextBox 14"/>
            <p:cNvSpPr txBox="1"/>
            <p:nvPr/>
          </p:nvSpPr>
          <p:spPr>
            <a:xfrm>
              <a:off x="4466082" y="2306955"/>
              <a:ext cx="177100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Training</a:t>
              </a:r>
            </a:p>
          </p:txBody>
        </p:sp>
        <p:sp>
          <p:nvSpPr>
            <p:cNvPr id="15" name="Line 15"/>
            <p:cNvSpPr/>
            <p:nvPr/>
          </p:nvSpPr>
          <p:spPr>
            <a:xfrm>
              <a:off x="6477000" y="2419350"/>
              <a:ext cx="666750" cy="1"/>
            </a:xfrm>
            <a:prstGeom prst="line">
              <a:avLst/>
            </a:prstGeom>
            <a:noFill/>
            <a:ln w="19050">
              <a:solidFill>
                <a:schemeClr val="accent1"/>
              </a:solidFill>
              <a:tailEnd type="triangle" w="lg" len="lg"/>
            </a:ln>
          </p:spPr>
        </p:sp>
        <p:sp>
          <p:nvSpPr>
            <p:cNvPr id="16" name="TextBox 16"/>
            <p:cNvSpPr txBox="1"/>
            <p:nvPr/>
          </p:nvSpPr>
          <p:spPr>
            <a:xfrm>
              <a:off x="7418832" y="2306955"/>
              <a:ext cx="201167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Weights a, b, c</a:t>
              </a:r>
            </a:p>
          </p:txBody>
        </p:sp>
        <p:sp>
          <p:nvSpPr>
            <p:cNvPr id="17" name="TextBox 17"/>
            <p:cNvSpPr txBox="1"/>
            <p:nvPr/>
          </p:nvSpPr>
          <p:spPr>
            <a:xfrm>
              <a:off x="829818" y="3060382"/>
              <a:ext cx="900331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Clean CSV → compute baselines → least squares fit → fixed-point reference + test vectors</a:t>
              </a:r>
            </a:p>
          </p:txBody>
        </p:sp>
      </p:grpSp>
      <p:grpSp>
        <p:nvGrpSpPr>
          <p:cNvPr id="38" name="online-flow"/>
          <p:cNvGrpSpPr/>
          <p:nvPr/>
        </p:nvGrpSpPr>
        <p:grpSpPr>
          <a:xfrm>
            <a:off x="609600" y="3867150"/>
            <a:ext cx="10972800" cy="1619250"/>
            <a:chOff x="609600" y="3867150"/>
            <a:chExt cx="10972800" cy="1619250"/>
          </a:xfrm>
        </p:grpSpPr>
        <p:sp>
          <p:nvSpPr>
            <p:cNvPr id="19" name="Rectangle 19"/>
            <p:cNvSpPr/>
            <p:nvPr/>
          </p:nvSpPr>
          <p:spPr>
            <a:xfrm>
              <a:off x="609600" y="3867150"/>
              <a:ext cx="10972800" cy="1619250"/>
            </a:xfrm>
            <a:prstGeom prst="roundRect">
              <a:avLst>
                <a:gd name="adj" fmla="val 2353"/>
              </a:avLst>
            </a:prstGeom>
            <a:solidFill>
              <a:schemeClr val="lt2"/>
            </a:solidFill>
            <a:ln>
              <a:noFill/>
            </a:ln>
          </p:spPr>
        </p:sp>
        <p:sp>
          <p:nvSpPr>
            <p:cNvPr id="20" name="TextBox 20"/>
            <p:cNvSpPr txBox="1"/>
            <p:nvPr/>
          </p:nvSpPr>
          <p:spPr>
            <a:xfrm>
              <a:off x="829818" y="4012882"/>
              <a:ext cx="568847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RUNTIME / FPGA (COEFFICIENTS FIXED ON-CHIP)</a:t>
              </a:r>
            </a:p>
          </p:txBody>
        </p:sp>
        <p:sp>
          <p:nvSpPr>
            <p:cNvPr id="21" name="TextBox 21"/>
            <p:cNvSpPr txBox="1"/>
            <p:nvPr/>
          </p:nvSpPr>
          <p:spPr>
            <a:xfrm>
              <a:off x="827532" y="4583430"/>
              <a:ext cx="1582374"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Sample T(t)</a:t>
              </a:r>
            </a:p>
          </p:txBody>
        </p:sp>
        <p:sp>
          <p:nvSpPr>
            <p:cNvPr id="22" name="Line 22"/>
            <p:cNvSpPr/>
            <p:nvPr/>
          </p:nvSpPr>
          <p:spPr>
            <a:xfrm>
              <a:off x="2286000" y="4714875"/>
              <a:ext cx="1619250" cy="1"/>
            </a:xfrm>
            <a:prstGeom prst="line">
              <a:avLst/>
            </a:prstGeom>
            <a:noFill/>
            <a:ln w="19050">
              <a:solidFill>
                <a:schemeClr val="accent1"/>
              </a:solidFill>
              <a:tailEnd type="triangle" w="lg" len="lg"/>
            </a:ln>
          </p:spPr>
        </p:sp>
        <p:grpSp>
          <p:nvGrpSpPr>
            <p:cNvPr id="33" name="Group 33"/>
            <p:cNvGrpSpPr/>
            <p:nvPr/>
          </p:nvGrpSpPr>
          <p:grpSpPr>
            <a:xfrm>
              <a:off x="4148137" y="4529137"/>
              <a:ext cx="314325" cy="314325"/>
              <a:chOff x="4148137" y="4529137"/>
              <a:chExt cx="314325" cy="314325"/>
            </a:xfrm>
          </p:grpSpPr>
          <p:sp>
            <p:nvSpPr>
              <p:cNvPr id="23" name="Freeform 23"/>
              <p:cNvSpPr/>
              <p:nvPr/>
            </p:nvSpPr>
            <p:spPr>
              <a:xfrm>
                <a:off x="4183062" y="45640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4" name="Freeform 24"/>
              <p:cNvSpPr/>
              <p:nvPr/>
            </p:nvSpPr>
            <p:spPr>
              <a:xfrm>
                <a:off x="4252912" y="46339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5" name="Freeform 25"/>
              <p:cNvSpPr/>
              <p:nvPr/>
            </p:nvSpPr>
            <p:spPr>
              <a:xfrm>
                <a:off x="4148137" y="46513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148137" y="47212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7" name="Freeform 27"/>
              <p:cNvSpPr/>
              <p:nvPr/>
            </p:nvSpPr>
            <p:spPr>
              <a:xfrm>
                <a:off x="4270375" y="45291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340225" y="45291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9" name="Freeform 29"/>
              <p:cNvSpPr/>
              <p:nvPr/>
            </p:nvSpPr>
            <p:spPr>
              <a:xfrm>
                <a:off x="4427537" y="46513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427537" y="47212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1" name="Freeform 31"/>
              <p:cNvSpPr/>
              <p:nvPr/>
            </p:nvSpPr>
            <p:spPr>
              <a:xfrm>
                <a:off x="4340225" y="48085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2" name="Freeform 32"/>
              <p:cNvSpPr/>
              <p:nvPr/>
            </p:nvSpPr>
            <p:spPr>
              <a:xfrm>
                <a:off x="4270375" y="48085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4" name="TextBox 34"/>
            <p:cNvSpPr txBox="1"/>
            <p:nvPr/>
          </p:nvSpPr>
          <p:spPr>
            <a:xfrm>
              <a:off x="4656582" y="4583430"/>
              <a:ext cx="158261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FPGA Core</a:t>
              </a:r>
            </a:p>
          </p:txBody>
        </p:sp>
        <p:sp>
          <p:nvSpPr>
            <p:cNvPr id="35" name="Line 35"/>
            <p:cNvSpPr/>
            <p:nvPr/>
          </p:nvSpPr>
          <p:spPr>
            <a:xfrm>
              <a:off x="6286500" y="4714875"/>
              <a:ext cx="1333500" cy="1"/>
            </a:xfrm>
            <a:prstGeom prst="line">
              <a:avLst/>
            </a:prstGeom>
            <a:noFill/>
            <a:ln w="19050">
              <a:solidFill>
                <a:schemeClr val="accent1"/>
              </a:solidFill>
              <a:tailEnd type="triangle" w="lg" len="lg"/>
            </a:ln>
          </p:spPr>
        </p:sp>
        <p:sp>
          <p:nvSpPr>
            <p:cNvPr id="36" name="TextBox 36"/>
            <p:cNvSpPr txBox="1"/>
            <p:nvPr/>
          </p:nvSpPr>
          <p:spPr>
            <a:xfrm>
              <a:off x="7895082" y="4583430"/>
              <a:ext cx="207880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Forecast T̂(t+3)</a:t>
              </a:r>
            </a:p>
          </p:txBody>
        </p:sp>
        <p:sp>
          <p:nvSpPr>
            <p:cNvPr id="37" name="TextBox 37"/>
            <p:cNvSpPr txBox="1"/>
            <p:nvPr/>
          </p:nvSpPr>
          <p:spPr>
            <a:xfrm>
              <a:off x="4087368" y="5060632"/>
              <a:ext cx="493688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25-Sample Buffer · Arithmetic Pipeline · Valid Out</a:t>
              </a:r>
            </a:p>
          </p:txBody>
        </p:sp>
      </p:grpSp>
      <p:grpSp>
        <p:nvGrpSpPr>
          <p:cNvPr id="41" name="deliverables"/>
          <p:cNvGrpSpPr/>
          <p:nvPr/>
        </p:nvGrpSpPr>
        <p:grpSpPr>
          <a:xfrm>
            <a:off x="601218" y="5772150"/>
            <a:ext cx="10981182" cy="544639"/>
            <a:chOff x="601218" y="5772150"/>
            <a:chExt cx="10981182" cy="544639"/>
          </a:xfrm>
        </p:grpSpPr>
        <p:sp>
          <p:nvSpPr>
            <p:cNvPr id="39" name="Line 39"/>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0" name="TextBox 40"/>
            <p:cNvSpPr txBox="1"/>
            <p:nvPr/>
          </p:nvSpPr>
          <p:spPr>
            <a:xfrm>
              <a:off x="601218" y="5994082"/>
              <a:ext cx="954212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DELIVERABLES: C++ Suite · Synthesizable RTL · Bit-Exact Testbench · Board Demo · Report</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967597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Linear model with diurnal anchor &amp; taps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04 / 15</a:t>
            </a:r>
          </a:p>
        </p:txBody>
      </p:sp>
      <p:grpSp>
        <p:nvGrpSpPr>
          <p:cNvPr id="8" name="formula-box"/>
          <p:cNvGrpSpPr/>
          <p:nvPr/>
        </p:nvGrpSpPr>
        <p:grpSpPr>
          <a:xfrm>
            <a:off x="609600" y="1295400"/>
            <a:ext cx="10972800" cy="914400"/>
            <a:chOff x="609600" y="1295400"/>
            <a:chExt cx="10972800" cy="914400"/>
          </a:xfrm>
        </p:grpSpPr>
        <p:sp>
          <p:nvSpPr>
            <p:cNvPr id="6" name="Rectangle 6"/>
            <p:cNvSpPr/>
            <p:nvPr/>
          </p:nvSpPr>
          <p:spPr>
            <a:xfrm>
              <a:off x="609600" y="1295400"/>
              <a:ext cx="10972800" cy="914400"/>
            </a:xfrm>
            <a:prstGeom prst="roundRect">
              <a:avLst>
                <a:gd name="adj" fmla="val 4167"/>
              </a:avLst>
            </a:prstGeom>
            <a:solidFill>
              <a:schemeClr val="lt2"/>
            </a:solidFill>
            <a:ln>
              <a:noFill/>
            </a:ln>
          </p:spPr>
        </p:sp>
        <p:sp>
          <p:nvSpPr>
            <p:cNvPr id="7" name="TextBox 7"/>
            <p:cNvSpPr txBox="1"/>
            <p:nvPr/>
          </p:nvSpPr>
          <p:spPr>
            <a:xfrm>
              <a:off x="826770" y="1624012"/>
              <a:ext cx="783741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 xml:space="preserve">T̂(t+3) = </a:t>
              </a:r>
              <a:r>
                <a:rPr lang="en-US" sz="2250" b="1" dirty="0">
                  <a:solidFill>
                    <a:schemeClr val="accent2"/>
                  </a:solidFill>
                  <a:latin typeface="+mn-lt"/>
                  <a:ea typeface="+mn-ea"/>
                  <a:cs typeface="+mn-cs"/>
                </a:rPr>
                <a:t>T(t−21)</a:t>
              </a:r>
              <a:r>
                <a:rPr lang="en-US" sz="2250" b="1" dirty="0">
                  <a:solidFill>
                    <a:schemeClr val="dk1"/>
                  </a:solidFill>
                  <a:latin typeface="+mn-lt"/>
                  <a:ea typeface="+mn-ea"/>
                  <a:cs typeface="+mn-cs"/>
                </a:rPr>
                <a:t xml:space="preserve"> + a[T(t) − T(t−24)] + b[T(t) − T(t−3)] + c</a:t>
              </a:r>
            </a:p>
          </p:txBody>
        </p:sp>
      </p:grpSp>
      <p:grpSp>
        <p:nvGrpSpPr>
          <p:cNvPr id="14" name="taps-panel"/>
          <p:cNvGrpSpPr/>
          <p:nvPr/>
        </p:nvGrpSpPr>
        <p:grpSpPr>
          <a:xfrm>
            <a:off x="609600" y="2362200"/>
            <a:ext cx="5334000" cy="2571750"/>
            <a:chOff x="609600" y="2362200"/>
            <a:chExt cx="5334000" cy="2571750"/>
          </a:xfrm>
        </p:grpSpPr>
        <p:sp>
          <p:nvSpPr>
            <p:cNvPr id="9" name="Rectangle 9"/>
            <p:cNvSpPr/>
            <p:nvPr/>
          </p:nvSpPr>
          <p:spPr>
            <a:xfrm>
              <a:off x="609600" y="2362200"/>
              <a:ext cx="5334000" cy="2571750"/>
            </a:xfrm>
            <a:prstGeom prst="roundRect">
              <a:avLst>
                <a:gd name="adj" fmla="val 1481"/>
              </a:avLst>
            </a:prstGeom>
            <a:solidFill>
              <a:schemeClr val="lt2"/>
            </a:solidFill>
            <a:ln>
              <a:noFill/>
            </a:ln>
          </p:spPr>
        </p:sp>
        <p:sp>
          <p:nvSpPr>
            <p:cNvPr id="10" name="TextBox 10"/>
            <p:cNvSpPr txBox="1"/>
            <p:nvPr/>
          </p:nvSpPr>
          <p:spPr>
            <a:xfrm>
              <a:off x="829056" y="2529840"/>
              <a:ext cx="3602992"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TAPS &amp; PHYSICAL MEANING</a:t>
              </a:r>
            </a:p>
          </p:txBody>
        </p:sp>
        <p:sp>
          <p:nvSpPr>
            <p:cNvPr id="11" name="TextBox 11"/>
            <p:cNvSpPr txBox="1"/>
            <p:nvPr/>
          </p:nvSpPr>
          <p:spPr>
            <a:xfrm>
              <a:off x="830580" y="2943225"/>
              <a:ext cx="3456851" cy="521970"/>
            </a:xfrm>
            <a:prstGeom prst="rect">
              <a:avLst/>
            </a:prstGeom>
            <a:noFill/>
            <a:ln>
              <a:noFill/>
            </a:ln>
          </p:spPr>
          <p:txBody>
            <a:bodyPr wrap="none" lIns="0" tIns="0" rIns="0" bIns="0" anchor="t" anchorCtr="0">
              <a:spAutoFit/>
            </a:bodyPr>
            <a:lstStyle/>
            <a:p>
              <a:pPr algn="l">
                <a:lnSpc>
                  <a:spcPts val="1800"/>
                </a:lnSpc>
              </a:pPr>
              <a:r>
                <a:rPr lang="en-US" sz="1500" b="1" dirty="0">
                  <a:solidFill>
                    <a:schemeClr val="accent1"/>
                  </a:solidFill>
                  <a:latin typeface="+mn-lt"/>
                  <a:ea typeface="+mn-ea"/>
                  <a:cs typeface="+mn-cs"/>
                </a:rPr>
                <a:t>T(t−21):</a:t>
              </a:r>
              <a:r>
                <a:rPr lang="en-US" sz="1500" dirty="0">
                  <a:solidFill>
                    <a:schemeClr val="dk1"/>
                  </a:solidFill>
                  <a:latin typeface="+mn-lt"/>
                  <a:ea typeface="+mn-ea"/>
                  <a:cs typeface="+mn-cs"/>
                </a:rPr>
                <a:t xml:space="preserve"> Diurnal anchor</a:t>
              </a:r>
              <a:br/>
              <a:r>
                <a:rPr lang="en-US" sz="1500" dirty="0">
                  <a:solidFill>
                    <a:schemeClr val="accent3"/>
                  </a:solidFill>
                  <a:latin typeface="+mn-lt"/>
                  <a:ea typeface="+mn-ea"/>
                  <a:cs typeface="+mn-cs"/>
                </a:rPr>
                <a:t>Same hour yesterday: (t+3) − 24 = t − 21</a:t>
              </a:r>
            </a:p>
          </p:txBody>
        </p:sp>
        <p:sp>
          <p:nvSpPr>
            <p:cNvPr id="12" name="TextBox 12"/>
            <p:cNvSpPr txBox="1"/>
            <p:nvPr/>
          </p:nvSpPr>
          <p:spPr>
            <a:xfrm>
              <a:off x="830580" y="3514725"/>
              <a:ext cx="3117609" cy="521970"/>
            </a:xfrm>
            <a:prstGeom prst="rect">
              <a:avLst/>
            </a:prstGeom>
            <a:noFill/>
            <a:ln>
              <a:noFill/>
            </a:ln>
          </p:spPr>
          <p:txBody>
            <a:bodyPr wrap="none" lIns="0" tIns="0" rIns="0" bIns="0" anchor="t" anchorCtr="0">
              <a:spAutoFit/>
            </a:bodyPr>
            <a:lstStyle/>
            <a:p>
              <a:pPr algn="l">
                <a:lnSpc>
                  <a:spcPts val="1800"/>
                </a:lnSpc>
              </a:pPr>
              <a:r>
                <a:rPr lang="en-US" sz="1500" b="1" dirty="0">
                  <a:solidFill>
                    <a:schemeClr val="accent1"/>
                  </a:solidFill>
                  <a:latin typeface="+mn-lt"/>
                  <a:ea typeface="+mn-ea"/>
                  <a:cs typeface="+mn-cs"/>
                </a:rPr>
                <a:t>T(t) − T(t−24):</a:t>
              </a:r>
              <a:r>
                <a:rPr lang="en-US" sz="1500" dirty="0">
                  <a:solidFill>
                    <a:schemeClr val="dk1"/>
                  </a:solidFill>
                  <a:latin typeface="+mn-lt"/>
                  <a:ea typeface="+mn-ea"/>
                  <a:cs typeface="+mn-cs"/>
                </a:rPr>
                <a:t xml:space="preserve"> Inter-day trend</a:t>
              </a:r>
              <a:br/>
              <a:r>
                <a:rPr lang="en-US" sz="1500" dirty="0">
                  <a:solidFill>
                    <a:schemeClr val="accent3"/>
                  </a:solidFill>
                  <a:latin typeface="+mn-lt"/>
                  <a:ea typeface="+mn-ea"/>
                  <a:cs typeface="+mn-cs"/>
                </a:rPr>
                <a:t>Today vs. yesterday at current hour t</a:t>
              </a:r>
            </a:p>
          </p:txBody>
        </p:sp>
        <p:sp>
          <p:nvSpPr>
            <p:cNvPr id="13" name="TextBox 13"/>
            <p:cNvSpPr txBox="1"/>
            <p:nvPr/>
          </p:nvSpPr>
          <p:spPr>
            <a:xfrm>
              <a:off x="830580" y="4086225"/>
              <a:ext cx="3573475" cy="521970"/>
            </a:xfrm>
            <a:prstGeom prst="rect">
              <a:avLst/>
            </a:prstGeom>
            <a:noFill/>
            <a:ln>
              <a:noFill/>
            </a:ln>
          </p:spPr>
          <p:txBody>
            <a:bodyPr wrap="none" lIns="0" tIns="0" rIns="0" bIns="0" anchor="t" anchorCtr="0">
              <a:spAutoFit/>
            </a:bodyPr>
            <a:lstStyle/>
            <a:p>
              <a:pPr algn="l">
                <a:lnSpc>
                  <a:spcPts val="1800"/>
                </a:lnSpc>
              </a:pPr>
              <a:r>
                <a:rPr lang="en-US" sz="1500" b="1" dirty="0">
                  <a:solidFill>
                    <a:schemeClr val="accent1"/>
                  </a:solidFill>
                  <a:latin typeface="+mn-lt"/>
                  <a:ea typeface="+mn-ea"/>
                  <a:cs typeface="+mn-cs"/>
                </a:rPr>
                <a:t>T(t) − T(t−3):</a:t>
              </a:r>
              <a:r>
                <a:rPr lang="en-US" sz="1500" dirty="0">
                  <a:solidFill>
                    <a:schemeClr val="dk1"/>
                  </a:solidFill>
                  <a:latin typeface="+mn-lt"/>
                  <a:ea typeface="+mn-ea"/>
                  <a:cs typeface="+mn-cs"/>
                </a:rPr>
                <a:t xml:space="preserve"> Short-term gradient</a:t>
              </a:r>
              <a:br/>
              <a:r>
                <a:rPr lang="en-US" sz="1500" dirty="0">
                  <a:solidFill>
                    <a:schemeClr val="accent3"/>
                  </a:solidFill>
                  <a:latin typeface="+mn-lt"/>
                  <a:ea typeface="+mn-ea"/>
                  <a:cs typeface="+mn-cs"/>
                </a:rPr>
                <a:t>Recent 3-hour temperature rate of change</a:t>
              </a:r>
            </a:p>
          </p:txBody>
        </p:sp>
      </p:grpSp>
      <p:grpSp>
        <p:nvGrpSpPr>
          <p:cNvPr id="21" name="math-walkthrough"/>
          <p:cNvGrpSpPr/>
          <p:nvPr/>
        </p:nvGrpSpPr>
        <p:grpSpPr>
          <a:xfrm>
            <a:off x="6248400" y="2362200"/>
            <a:ext cx="5334000" cy="2571750"/>
            <a:chOff x="6248400" y="2362200"/>
            <a:chExt cx="5334000" cy="2571750"/>
          </a:xfrm>
        </p:grpSpPr>
        <p:sp>
          <p:nvSpPr>
            <p:cNvPr id="15" name="Rectangle 15"/>
            <p:cNvSpPr/>
            <p:nvPr/>
          </p:nvSpPr>
          <p:spPr>
            <a:xfrm>
              <a:off x="6248400" y="2362200"/>
              <a:ext cx="5334000" cy="2571750"/>
            </a:xfrm>
            <a:prstGeom prst="roundRect">
              <a:avLst>
                <a:gd name="adj" fmla="val 1481"/>
              </a:avLst>
            </a:prstGeom>
            <a:solidFill>
              <a:schemeClr val="lt2"/>
            </a:solidFill>
            <a:ln>
              <a:noFill/>
            </a:ln>
          </p:spPr>
        </p:sp>
        <p:sp>
          <p:nvSpPr>
            <p:cNvPr id="16" name="TextBox 16"/>
            <p:cNvSpPr txBox="1"/>
            <p:nvPr/>
          </p:nvSpPr>
          <p:spPr>
            <a:xfrm>
              <a:off x="6467856" y="2529840"/>
              <a:ext cx="4512981"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NUMERICAL ARITHMETIC EXAMPLE</a:t>
              </a:r>
            </a:p>
          </p:txBody>
        </p:sp>
        <p:sp>
          <p:nvSpPr>
            <p:cNvPr id="17" name="TextBox 17"/>
            <p:cNvSpPr txBox="1"/>
            <p:nvPr/>
          </p:nvSpPr>
          <p:spPr>
            <a:xfrm>
              <a:off x="6469380" y="2962275"/>
              <a:ext cx="357759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Consolas"/>
                  <a:ea typeface="Consolas"/>
                  <a:cs typeface="Consolas"/>
                </a:rPr>
                <a:t>Inputs: T(t−24)=19°C, T(t−21)=21°C</a:t>
              </a:r>
              <a:br/>
              <a:r>
                <a:rPr lang="en-US" sz="1500" dirty="0">
                  <a:solidFill>
                    <a:schemeClr val="dk1"/>
                  </a:solidFill>
                  <a:latin typeface="Consolas"/>
                  <a:ea typeface="Consolas"/>
                  <a:cs typeface="Consolas"/>
                </a:rPr>
                <a:t>T(t−3)=18°C, T(t)=20°C</a:t>
              </a:r>
            </a:p>
          </p:txBody>
        </p:sp>
        <p:sp>
          <p:nvSpPr>
            <p:cNvPr id="18" name="TextBox 18"/>
            <p:cNvSpPr txBox="1"/>
            <p:nvPr/>
          </p:nvSpPr>
          <p:spPr>
            <a:xfrm>
              <a:off x="6469380" y="3552825"/>
              <a:ext cx="4054602" cy="293370"/>
            </a:xfrm>
            <a:prstGeom prst="rect">
              <a:avLst/>
            </a:prstGeom>
            <a:noFill/>
            <a:ln>
              <a:noFill/>
            </a:ln>
          </p:spPr>
          <p:txBody>
            <a:bodyPr wrap="none" lIns="0" tIns="0" rIns="0" bIns="0" anchor="t" anchorCtr="0">
              <a:spAutoFit/>
            </a:bodyPr>
            <a:lstStyle/>
            <a:p>
              <a:pPr algn="l"/>
              <a:r>
                <a:rPr lang="en-US" sz="1500" dirty="0">
                  <a:solidFill>
                    <a:schemeClr val="accent3"/>
                  </a:solidFill>
                  <a:latin typeface="Consolas"/>
                  <a:ea typeface="Consolas"/>
                  <a:cs typeface="Consolas"/>
                </a:rPr>
                <a:t>Weights: a = 0.5, b = 0.2, c = 0.0°C</a:t>
              </a:r>
            </a:p>
          </p:txBody>
        </p:sp>
        <p:sp>
          <p:nvSpPr>
            <p:cNvPr id="19" name="TextBox 19"/>
            <p:cNvSpPr txBox="1"/>
            <p:nvPr/>
          </p:nvSpPr>
          <p:spPr>
            <a:xfrm>
              <a:off x="6467856" y="3901440"/>
              <a:ext cx="3647391"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21 + 0.5×(1) + 0.2×(2) = </a:t>
              </a:r>
              <a:r>
                <a:rPr lang="en-US" sz="2250" b="1" dirty="0">
                  <a:solidFill>
                    <a:schemeClr val="accent2"/>
                  </a:solidFill>
                  <a:latin typeface="+mn-lt"/>
                  <a:ea typeface="+mn-ea"/>
                  <a:cs typeface="+mn-cs"/>
                </a:rPr>
                <a:t>21.9°C</a:t>
              </a:r>
            </a:p>
          </p:txBody>
        </p:sp>
        <p:sp>
          <p:nvSpPr>
            <p:cNvPr id="20" name="TextBox 20"/>
            <p:cNvSpPr txBox="1"/>
            <p:nvPr/>
          </p:nvSpPr>
          <p:spPr>
            <a:xfrm>
              <a:off x="6469380" y="4314825"/>
              <a:ext cx="3105912" cy="521970"/>
            </a:xfrm>
            <a:prstGeom prst="rect">
              <a:avLst/>
            </a:prstGeom>
            <a:noFill/>
            <a:ln>
              <a:noFill/>
            </a:ln>
          </p:spPr>
          <p:txBody>
            <a:bodyPr wrap="none" lIns="0" tIns="0" rIns="0" bIns="0" anchor="t" anchorCtr="0">
              <a:spAutoFit/>
            </a:bodyPr>
            <a:lstStyle/>
            <a:p>
              <a:pPr algn="l">
                <a:lnSpc>
                  <a:spcPts val="1800"/>
                </a:lnSpc>
              </a:pPr>
              <a:r>
                <a:rPr lang="en-US" sz="1500" b="1" dirty="0">
                  <a:solidFill>
                    <a:schemeClr val="accent1"/>
                  </a:solidFill>
                  <a:latin typeface="+mn-lt"/>
                  <a:ea typeface="+mn-ea"/>
                  <a:cs typeface="+mn-cs"/>
                </a:rPr>
                <a:t>Hardware datapath:</a:t>
              </a:r>
              <a:br/>
              <a:r>
                <a:rPr lang="en-US" sz="1500" b="1" dirty="0">
                  <a:solidFill>
                    <a:schemeClr val="accent1"/>
                  </a:solidFill>
                  <a:latin typeface="+mn-lt"/>
                  <a:ea typeface="+mn-ea"/>
                  <a:cs typeface="+mn-cs"/>
                </a:rPr>
                <a:t>Subtract → Multiply → Adder Tree</a:t>
              </a:r>
            </a:p>
          </p:txBody>
        </p:sp>
      </p:grpSp>
      <p:grpSp>
        <p:nvGrpSpPr>
          <p:cNvPr id="23" name="bottom-note"/>
          <p:cNvGrpSpPr/>
          <p:nvPr/>
        </p:nvGrpSpPr>
        <p:grpSpPr>
          <a:xfrm>
            <a:off x="601980" y="5153025"/>
            <a:ext cx="7977188" cy="541020"/>
            <a:chOff x="601980" y="5153025"/>
            <a:chExt cx="7977188" cy="541020"/>
          </a:xfrm>
        </p:grpSpPr>
        <p:sp>
          <p:nvSpPr>
            <p:cNvPr id="22" name="TextBox 22"/>
            <p:cNvSpPr txBox="1"/>
            <p:nvPr/>
          </p:nvSpPr>
          <p:spPr>
            <a:xfrm>
              <a:off x="601980" y="5153025"/>
              <a:ext cx="7977188"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3"/>
                  </a:solidFill>
                  <a:latin typeface="+mn-lt"/>
                  <a:ea typeface="+mn-ea"/>
                  <a:cs typeface="+mn-cs"/>
                </a:rPr>
                <a:t>Requires 25-sample buffer (t−24 to t). Future target T(t+3) strictly stays on host PC for scoring.</a:t>
              </a:r>
              <a:br/>
              <a:r>
                <a:rPr lang="en-US" sz="1500" dirty="0">
                  <a:solidFill>
                    <a:schemeClr val="accent3"/>
                  </a:solidFill>
                  <a:latin typeface="+mn-lt"/>
                  <a:ea typeface="+mn-ea"/>
                  <a:cs typeface="+mn-cs"/>
                </a:rPr>
                <a:t>NASA POWER hourly T2M data verified for gaps before buffering.</a:t>
              </a:r>
            </a:p>
          </p:txBody>
        </p:sp>
      </p:grpSp>
      <p:grpSp>
        <p:nvGrpSpPr>
          <p:cNvPr id="25" name="source-link"/>
          <p:cNvGrpSpPr/>
          <p:nvPr/>
        </p:nvGrpSpPr>
        <p:grpSpPr>
          <a:xfrm>
            <a:off x="603504" y="6156960"/>
            <a:ext cx="4494653" cy="234696"/>
            <a:chOff x="603504" y="6156960"/>
            <a:chExt cx="4494653" cy="234696"/>
          </a:xfrm>
        </p:grpSpPr>
        <p:sp>
          <p:nvSpPr>
            <p:cNvPr id="24" name="TextBox 24">
              <a:hlinkClick r:id="rId2"/>
            </p:cNvPr>
            <p:cNvSpPr txBox="1"/>
            <p:nvPr/>
          </p:nvSpPr>
          <p:spPr>
            <a:xfrm>
              <a:off x="603504" y="6156960"/>
              <a:ext cx="449465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Planned source: NASA POWER — hourly API documentation</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524586"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Train on the past, test on the future</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05 / 15</a:t>
            </a:r>
          </a:p>
        </p:txBody>
      </p:sp>
      <p:grpSp>
        <p:nvGrpSpPr>
          <p:cNvPr id="12"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oundRect">
              <a:avLst>
                <a:gd name="adj" fmla="val 2410"/>
              </a:avLst>
            </a:prstGeom>
            <a:solidFill>
              <a:schemeClr val="lt2"/>
            </a:solidFill>
            <a:ln>
              <a:noFill/>
            </a:ln>
          </p:spPr>
        </p:sp>
        <p:sp>
          <p:nvSpPr>
            <p:cNvPr id="7" name="TextBox 7"/>
            <p:cNvSpPr txBox="1"/>
            <p:nvPr/>
          </p:nvSpPr>
          <p:spPr>
            <a:xfrm>
              <a:off x="828294" y="1646872"/>
              <a:ext cx="282514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x₁ = T(t) − T(t−24)</a:t>
              </a:r>
            </a:p>
          </p:txBody>
        </p:sp>
        <p:sp>
          <p:nvSpPr>
            <p:cNvPr id="8" name="TextBox 8"/>
            <p:cNvSpPr txBox="1"/>
            <p:nvPr/>
          </p:nvSpPr>
          <p:spPr>
            <a:xfrm>
              <a:off x="6181344" y="1646872"/>
              <a:ext cx="267749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x₂ = T(t) − T(t−3)</a:t>
              </a:r>
            </a:p>
          </p:txBody>
        </p:sp>
        <p:sp>
          <p:nvSpPr>
            <p:cNvPr id="9" name="TextBox 9"/>
            <p:cNvSpPr txBox="1"/>
            <p:nvPr/>
          </p:nvSpPr>
          <p:spPr>
            <a:xfrm>
              <a:off x="828294" y="2170748"/>
              <a:ext cx="2972791"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y = T(t+3) − T(t−21)</a:t>
              </a:r>
            </a:p>
          </p:txBody>
        </p:sp>
        <p:sp>
          <p:nvSpPr>
            <p:cNvPr id="10" name="TextBox 10"/>
            <p:cNvSpPr txBox="1"/>
            <p:nvPr/>
          </p:nvSpPr>
          <p:spPr>
            <a:xfrm>
              <a:off x="6181344" y="2170748"/>
              <a:ext cx="3936459"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Consolas"/>
                  <a:ea typeface="Consolas"/>
                  <a:cs typeface="Consolas"/>
                </a:rPr>
                <a:t>Target: y = a·x₁ + b·x₂ + c</a:t>
              </a:r>
            </a:p>
          </p:txBody>
        </p:sp>
        <p:sp>
          <p:nvSpPr>
            <p:cNvPr id="11" name="TextBox 11"/>
            <p:cNvSpPr txBox="1"/>
            <p:nvPr/>
          </p:nvSpPr>
          <p:spPr>
            <a:xfrm>
              <a:off x="829818" y="2650808"/>
              <a:ext cx="825483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Formulated as Ordinary Least Squares (OLS) solved offline via C++ (Eigen library).</a:t>
              </a:r>
            </a:p>
          </p:txBody>
        </p:sp>
      </p:grpSp>
      <p:grpSp>
        <p:nvGrpSpPr>
          <p:cNvPr id="16" name="train-stage"/>
          <p:cNvGrpSpPr/>
          <p:nvPr/>
        </p:nvGrpSpPr>
        <p:grpSpPr>
          <a:xfrm>
            <a:off x="598170" y="3390900"/>
            <a:ext cx="3307080" cy="1469898"/>
            <a:chOff x="598170" y="3390900"/>
            <a:chExt cx="3307080" cy="1469898"/>
          </a:xfrm>
        </p:grpSpPr>
        <p:sp>
          <p:nvSpPr>
            <p:cNvPr id="13" name="Line 13"/>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4" name="TextBox 14"/>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15" name="TextBox 15"/>
            <p:cNvSpPr txBox="1"/>
            <p:nvPr/>
          </p:nvSpPr>
          <p:spPr>
            <a:xfrm>
              <a:off x="598932" y="4088130"/>
              <a:ext cx="209647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Fit weights a, b, c</a:t>
              </a:r>
              <a:br/>
              <a:r>
                <a:rPr lang="en-US" sz="2100" dirty="0">
                  <a:solidFill>
                    <a:schemeClr val="dk1"/>
                  </a:solidFill>
                  <a:latin typeface="+mn-lt"/>
                  <a:ea typeface="+mn-ea"/>
                  <a:cs typeface="+mn-cs"/>
                </a:rPr>
                <a:t>on historical data</a:t>
              </a:r>
            </a:p>
          </p:txBody>
        </p:sp>
      </p:grpSp>
      <p:grpSp>
        <p:nvGrpSpPr>
          <p:cNvPr id="20" name="validation-stage"/>
          <p:cNvGrpSpPr/>
          <p:nvPr/>
        </p:nvGrpSpPr>
        <p:grpSpPr>
          <a:xfrm>
            <a:off x="4408170" y="3390900"/>
            <a:ext cx="3307080" cy="1469898"/>
            <a:chOff x="4408170" y="3390900"/>
            <a:chExt cx="3307080" cy="1469898"/>
          </a:xfrm>
        </p:grpSpPr>
        <p:sp>
          <p:nvSpPr>
            <p:cNvPr id="17" name="Line 17"/>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18" name="TextBox 18"/>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VALIDATION</a:t>
              </a:r>
            </a:p>
          </p:txBody>
        </p:sp>
        <p:sp>
          <p:nvSpPr>
            <p:cNvPr id="19" name="TextBox 19"/>
            <p:cNvSpPr txBox="1"/>
            <p:nvPr/>
          </p:nvSpPr>
          <p:spPr>
            <a:xfrm>
              <a:off x="4408932" y="4088130"/>
              <a:ext cx="286718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Tune Q-format bitwidths</a:t>
              </a:r>
              <a:br/>
              <a:r>
                <a:rPr lang="en-US" sz="2100" dirty="0">
                  <a:solidFill>
                    <a:schemeClr val="dk1"/>
                  </a:solidFill>
                  <a:latin typeface="+mn-lt"/>
                  <a:ea typeface="+mn-ea"/>
                  <a:cs typeface="+mn-cs"/>
                </a:rPr>
                <a:t>&amp; feature choices</a:t>
              </a:r>
            </a:p>
          </p:txBody>
        </p:sp>
      </p:grpSp>
      <p:grpSp>
        <p:nvGrpSpPr>
          <p:cNvPr id="24" name="test-stage"/>
          <p:cNvGrpSpPr/>
          <p:nvPr/>
        </p:nvGrpSpPr>
        <p:grpSpPr>
          <a:xfrm>
            <a:off x="8218170" y="3390900"/>
            <a:ext cx="3364230" cy="1469898"/>
            <a:chOff x="8218170" y="3390900"/>
            <a:chExt cx="3364230" cy="1469898"/>
          </a:xfrm>
        </p:grpSpPr>
        <p:sp>
          <p:nvSpPr>
            <p:cNvPr id="21" name="Line 21"/>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2" name="TextBox 22"/>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3" name="TextBox 23"/>
            <p:cNvSpPr txBox="1"/>
            <p:nvPr/>
          </p:nvSpPr>
          <p:spPr>
            <a:xfrm>
              <a:off x="8218932" y="4088130"/>
              <a:ext cx="228994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Unseen future data</a:t>
              </a:r>
              <a:br/>
              <a:r>
                <a:rPr lang="en-US" sz="2100" dirty="0">
                  <a:solidFill>
                    <a:schemeClr val="dk1"/>
                  </a:solidFill>
                  <a:latin typeface="+mn-lt"/>
                  <a:ea typeface="+mn-ea"/>
                  <a:cs typeface="+mn-cs"/>
                </a:rPr>
                <a:t>for final reporting</a:t>
              </a:r>
            </a:p>
          </p:txBody>
        </p:sp>
      </p:grpSp>
      <p:grpSp>
        <p:nvGrpSpPr>
          <p:cNvPr id="26" name="split-contract"/>
          <p:cNvGrpSpPr/>
          <p:nvPr/>
        </p:nvGrpSpPr>
        <p:grpSpPr>
          <a:xfrm>
            <a:off x="601218" y="5289232"/>
            <a:ext cx="7797691" cy="646557"/>
            <a:chOff x="601218" y="5289232"/>
            <a:chExt cx="7797691" cy="646557"/>
          </a:xfrm>
        </p:grpSpPr>
        <p:sp>
          <p:nvSpPr>
            <p:cNvPr id="25" name="TextBox 25"/>
            <p:cNvSpPr txBox="1"/>
            <p:nvPr/>
          </p:nvSpPr>
          <p:spPr>
            <a:xfrm>
              <a:off x="601218" y="5289232"/>
              <a:ext cx="7797691" cy="64655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3"/>
                  </a:solidFill>
                  <a:latin typeface="+mn-lt"/>
                  <a:ea typeface="+mn-ea"/>
                  <a:cs typeface="+mn-cs"/>
                </a:rPr>
                <a:t>Strict chronological split avoids look-ahead data leakage (no randomized k-fold).</a:t>
              </a:r>
              <a:br/>
              <a:r>
                <a:rPr lang="en-US" sz="1650" dirty="0">
                  <a:solidFill>
                    <a:schemeClr val="accent3"/>
                  </a:solidFill>
                  <a:latin typeface="+mn-lt"/>
                  <a:ea typeface="+mn-ea"/>
                  <a:cs typeface="+mn-cs"/>
                </a:rPr>
                <a:t>Past observations remain accessible across split boundaries as input buffer context.</a:t>
              </a:r>
            </a:p>
          </p:txBody>
        </p:sp>
      </p:grpSp>
      <p:grpSp>
        <p:nvGrpSpPr>
          <p:cNvPr id="28" name="training-source"/>
          <p:cNvGrpSpPr/>
          <p:nvPr/>
        </p:nvGrpSpPr>
        <p:grpSpPr>
          <a:xfrm>
            <a:off x="603504" y="6252210"/>
            <a:ext cx="5225909" cy="234696"/>
            <a:chOff x="603504" y="6252210"/>
            <a:chExt cx="5225909" cy="234696"/>
          </a:xfrm>
        </p:grpSpPr>
        <p:sp>
          <p:nvSpPr>
            <p:cNvPr id="27" name="TextBox 27">
              <a:hlinkClick r:id="rId2"/>
            </p:cNvPr>
            <p:cNvSpPr txBox="1"/>
            <p:nvPr/>
          </p:nvSpPr>
          <p:spPr>
            <a:xfrm>
              <a:off x="603504" y="6252210"/>
              <a:ext cx="522590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Implementation reference: Eigen — Solving linear least squares systems</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60959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Algorithmic baseline benchmarking</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06 / 15</a:t>
            </a:r>
          </a:p>
        </p:txBody>
      </p:sp>
      <p:grpSp>
        <p:nvGrpSpPr>
          <p:cNvPr id="14" name="left-card"/>
          <p:cNvGrpSpPr/>
          <p:nvPr/>
        </p:nvGrpSpPr>
        <p:grpSpPr>
          <a:xfrm>
            <a:off x="609600" y="1428750"/>
            <a:ext cx="5257800" cy="4572000"/>
            <a:chOff x="609600" y="1428750"/>
            <a:chExt cx="5257800" cy="4572000"/>
          </a:xfrm>
        </p:grpSpPr>
        <p:sp>
          <p:nvSpPr>
            <p:cNvPr id="6" name="Rectangle 6"/>
            <p:cNvSpPr/>
            <p:nvPr/>
          </p:nvSpPr>
          <p:spPr>
            <a:xfrm>
              <a:off x="609600" y="1428750"/>
              <a:ext cx="5257800" cy="4572000"/>
            </a:xfrm>
            <a:prstGeom prst="roundRect">
              <a:avLst>
                <a:gd name="adj" fmla="val 833"/>
              </a:avLst>
            </a:prstGeom>
            <a:solidFill>
              <a:schemeClr val="lt2"/>
            </a:solidFill>
            <a:ln>
              <a:noFill/>
            </a:ln>
          </p:spPr>
        </p:sp>
        <p:sp>
          <p:nvSpPr>
            <p:cNvPr id="7" name="TextBox 7"/>
            <p:cNvSpPr txBox="1"/>
            <p:nvPr/>
          </p:nvSpPr>
          <p:spPr>
            <a:xfrm>
              <a:off x="828294" y="1656398"/>
              <a:ext cx="3872176"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IS THE FORECAST USEFUL?</a:t>
              </a:r>
            </a:p>
          </p:txBody>
        </p:sp>
        <p:sp>
          <p:nvSpPr>
            <p:cNvPr id="8" name="TextBox 8"/>
            <p:cNvSpPr txBox="1"/>
            <p:nvPr/>
          </p:nvSpPr>
          <p:spPr>
            <a:xfrm>
              <a:off x="827532" y="2116455"/>
              <a:ext cx="381024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Evaluation Metric: MAE (°C)</a:t>
              </a:r>
            </a:p>
          </p:txBody>
        </p:sp>
        <p:sp>
          <p:nvSpPr>
            <p:cNvPr id="9" name="TextBox 9"/>
            <p:cNvSpPr txBox="1"/>
            <p:nvPr/>
          </p:nvSpPr>
          <p:spPr>
            <a:xfrm>
              <a:off x="829818" y="2546032"/>
              <a:ext cx="417267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Mean Absolute Error across all test hours:</a:t>
              </a:r>
            </a:p>
          </p:txBody>
        </p:sp>
        <p:sp>
          <p:nvSpPr>
            <p:cNvPr id="10" name="TextBox 10"/>
            <p:cNvSpPr txBox="1"/>
            <p:nvPr/>
          </p:nvSpPr>
          <p:spPr>
            <a:xfrm>
              <a:off x="829056" y="2996565"/>
              <a:ext cx="440375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Consolas"/>
                  <a:ea typeface="Consolas"/>
                  <a:cs typeface="Consolas"/>
                </a:rPr>
                <a:t>MAE = (1/N) ∑ |T̂(i) − T_true(i)|</a:t>
              </a:r>
            </a:p>
          </p:txBody>
        </p:sp>
        <p:sp>
          <p:nvSpPr>
            <p:cNvPr id="11" name="Line 11"/>
            <p:cNvSpPr/>
            <p:nvPr/>
          </p:nvSpPr>
          <p:spPr>
            <a:xfrm>
              <a:off x="838200" y="36195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2" name="TextBox 12"/>
            <p:cNvSpPr txBox="1"/>
            <p:nvPr/>
          </p:nvSpPr>
          <p:spPr>
            <a:xfrm>
              <a:off x="829056" y="3853815"/>
              <a:ext cx="308453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Core Evaluation Question:</a:t>
              </a:r>
            </a:p>
          </p:txBody>
        </p:sp>
        <p:sp>
          <p:nvSpPr>
            <p:cNvPr id="13" name="TextBox 13"/>
            <p:cNvSpPr txBox="1"/>
            <p:nvPr/>
          </p:nvSpPr>
          <p:spPr>
            <a:xfrm>
              <a:off x="829818" y="4298632"/>
              <a:ext cx="376745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Does our hardware linear model actually</a:t>
              </a:r>
              <a:br/>
              <a:r>
                <a:rPr lang="en-US" sz="1650" dirty="0">
                  <a:solidFill>
                    <a:schemeClr val="dk1"/>
                  </a:solidFill>
                  <a:latin typeface="+mn-lt"/>
                  <a:ea typeface="+mn-ea"/>
                  <a:cs typeface="+mn-cs"/>
                </a:rPr>
                <a:t>outperform simple no-math heuristics?</a:t>
              </a:r>
            </a:p>
          </p:txBody>
        </p:sp>
      </p:grpSp>
      <p:grpSp>
        <p:nvGrpSpPr>
          <p:cNvPr id="24" name="right-card"/>
          <p:cNvGrpSpPr/>
          <p:nvPr/>
        </p:nvGrpSpPr>
        <p:grpSpPr>
          <a:xfrm>
            <a:off x="6324600" y="1428750"/>
            <a:ext cx="5257800" cy="4572000"/>
            <a:chOff x="6324600" y="1428750"/>
            <a:chExt cx="5257800" cy="4572000"/>
          </a:xfrm>
        </p:grpSpPr>
        <p:sp>
          <p:nvSpPr>
            <p:cNvPr id="15" name="Rectangle 15"/>
            <p:cNvSpPr/>
            <p:nvPr/>
          </p:nvSpPr>
          <p:spPr>
            <a:xfrm>
              <a:off x="6324600" y="1428750"/>
              <a:ext cx="5257800" cy="4572000"/>
            </a:xfrm>
            <a:prstGeom prst="roundRect">
              <a:avLst>
                <a:gd name="adj" fmla="val 833"/>
              </a:avLst>
            </a:prstGeom>
            <a:solidFill>
              <a:schemeClr val="lt2"/>
            </a:solidFill>
            <a:ln>
              <a:noFill/>
            </a:ln>
          </p:spPr>
        </p:sp>
        <p:sp>
          <p:nvSpPr>
            <p:cNvPr id="16" name="TextBox 16"/>
            <p:cNvSpPr txBox="1"/>
            <p:nvPr/>
          </p:nvSpPr>
          <p:spPr>
            <a:xfrm>
              <a:off x="6543294" y="1656398"/>
              <a:ext cx="3255975"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TWO NAIVE BASELINES</a:t>
              </a:r>
            </a:p>
          </p:txBody>
        </p:sp>
        <p:sp>
          <p:nvSpPr>
            <p:cNvPr id="17" name="TextBox 17"/>
            <p:cNvSpPr txBox="1"/>
            <p:nvPr/>
          </p:nvSpPr>
          <p:spPr>
            <a:xfrm>
              <a:off x="6542532" y="2116455"/>
              <a:ext cx="374350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Baseline 1: Persistence T(t)</a:t>
              </a:r>
            </a:p>
          </p:txBody>
        </p:sp>
        <p:sp>
          <p:nvSpPr>
            <p:cNvPr id="18" name="TextBox 18"/>
            <p:cNvSpPr txBox="1"/>
            <p:nvPr/>
          </p:nvSpPr>
          <p:spPr>
            <a:xfrm>
              <a:off x="6544818" y="2526982"/>
              <a:ext cx="3767499"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Assumes temperature stays unchanged.</a:t>
              </a:r>
              <a:br/>
              <a:r>
                <a:rPr lang="en-US" sz="1650" dirty="0">
                  <a:solidFill>
                    <a:schemeClr val="accent3"/>
                  </a:solidFill>
                  <a:latin typeface="+mn-lt"/>
                  <a:ea typeface="+mn-ea"/>
                  <a:cs typeface="+mn-cs"/>
                </a:rPr>
                <a:t>Predicts: T̂(t+3) = T(t)</a:t>
              </a:r>
            </a:p>
          </p:txBody>
        </p:sp>
        <p:sp>
          <p:nvSpPr>
            <p:cNvPr id="19" name="TextBox 19"/>
            <p:cNvSpPr txBox="1"/>
            <p:nvPr/>
          </p:nvSpPr>
          <p:spPr>
            <a:xfrm>
              <a:off x="6542532" y="3145155"/>
              <a:ext cx="361525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Baseline 2: Diurnal T(t−21)</a:t>
              </a:r>
            </a:p>
          </p:txBody>
        </p:sp>
        <p:sp>
          <p:nvSpPr>
            <p:cNvPr id="20" name="TextBox 20"/>
            <p:cNvSpPr txBox="1"/>
            <p:nvPr/>
          </p:nvSpPr>
          <p:spPr>
            <a:xfrm>
              <a:off x="6544818" y="3555682"/>
              <a:ext cx="3231512"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Assumes today repeats yesterday.</a:t>
              </a:r>
              <a:br/>
              <a:r>
                <a:rPr lang="en-US" sz="1650" dirty="0">
                  <a:solidFill>
                    <a:schemeClr val="accent3"/>
                  </a:solidFill>
                  <a:latin typeface="+mn-lt"/>
                  <a:ea typeface="+mn-ea"/>
                  <a:cs typeface="+mn-cs"/>
                </a:rPr>
                <a:t>Predicts: T̂(t+3) = T(t−21)</a:t>
              </a:r>
            </a:p>
          </p:txBody>
        </p:sp>
        <p:sp>
          <p:nvSpPr>
            <p:cNvPr id="21" name="Line 21"/>
            <p:cNvSpPr/>
            <p:nvPr/>
          </p:nvSpPr>
          <p:spPr>
            <a:xfrm>
              <a:off x="6553200" y="43243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2" name="TextBox 22"/>
            <p:cNvSpPr txBox="1"/>
            <p:nvPr/>
          </p:nvSpPr>
          <p:spPr>
            <a:xfrm>
              <a:off x="6544818" y="4536758"/>
              <a:ext cx="293767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Honest Scientific Standard:</a:t>
              </a:r>
            </a:p>
          </p:txBody>
        </p:sp>
        <p:sp>
          <p:nvSpPr>
            <p:cNvPr id="23" name="TextBox 23"/>
            <p:cNvSpPr txBox="1"/>
            <p:nvPr/>
          </p:nvSpPr>
          <p:spPr>
            <a:xfrm>
              <a:off x="6544818" y="4917758"/>
              <a:ext cx="4012589"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If the linear model does not beat baselines,</a:t>
              </a:r>
              <a:br/>
              <a:r>
                <a:rPr lang="en-US" sz="1650" dirty="0">
                  <a:solidFill>
                    <a:schemeClr val="accent3"/>
                  </a:solidFill>
                  <a:latin typeface="+mn-lt"/>
                  <a:ea typeface="+mn-ea"/>
                  <a:cs typeface="+mn-cs"/>
                </a:rPr>
                <a:t>we analyze residuals and report honestly.</a:t>
              </a:r>
            </a:p>
          </p:txBody>
        </p:sp>
      </p:grpSp>
      <p:grpSp>
        <p:nvGrpSpPr>
          <p:cNvPr id="26" name="baseline-source"/>
          <p:cNvGrpSpPr/>
          <p:nvPr/>
        </p:nvGrpSpPr>
        <p:grpSpPr>
          <a:xfrm>
            <a:off x="603504" y="6252210"/>
            <a:ext cx="6294994" cy="234696"/>
            <a:chOff x="603504" y="6252210"/>
            <a:chExt cx="6294994" cy="234696"/>
          </a:xfrm>
        </p:grpSpPr>
        <p:sp>
          <p:nvSpPr>
            <p:cNvPr id="25" name="TextBox 25">
              <a:hlinkClick r:id="rId2"/>
            </p:cNvPr>
            <p:cNvSpPr txBox="1"/>
            <p:nvPr/>
          </p:nvSpPr>
          <p:spPr>
            <a:xfrm>
              <a:off x="603504" y="6252210"/>
              <a:ext cx="6294994"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Baseline reference: Forecasting: Principles and Practice — Simple forecasting methods</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665634"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Fixed-point starts with value ranges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07 / 15</a:t>
            </a:r>
          </a:p>
        </p:txBody>
      </p:sp>
      <p:grpSp>
        <p:nvGrpSpPr>
          <p:cNvPr id="9" name="step1"/>
          <p:cNvGrpSpPr/>
          <p:nvPr/>
        </p:nvGrpSpPr>
        <p:grpSpPr>
          <a:xfrm>
            <a:off x="609600" y="1485900"/>
            <a:ext cx="3333750" cy="2286000"/>
            <a:chOff x="609600" y="1485900"/>
            <a:chExt cx="3333750" cy="2286000"/>
          </a:xfrm>
        </p:grpSpPr>
        <p:sp>
          <p:nvSpPr>
            <p:cNvPr id="6" name="Rectangle 6"/>
            <p:cNvSpPr/>
            <p:nvPr/>
          </p:nvSpPr>
          <p:spPr>
            <a:xfrm>
              <a:off x="609600" y="1485900"/>
              <a:ext cx="3333750" cy="2286000"/>
            </a:xfrm>
            <a:prstGeom prst="roundRect">
              <a:avLst>
                <a:gd name="adj" fmla="val 1667"/>
              </a:avLst>
            </a:prstGeom>
            <a:solidFill>
              <a:schemeClr val="lt2"/>
            </a:solidFill>
            <a:ln>
              <a:noFill/>
            </a:ln>
          </p:spPr>
        </p:sp>
        <p:sp>
          <p:nvSpPr>
            <p:cNvPr id="7" name="TextBox 7"/>
            <p:cNvSpPr txBox="1"/>
            <p:nvPr/>
          </p:nvSpPr>
          <p:spPr>
            <a:xfrm>
              <a:off x="828294" y="1675448"/>
              <a:ext cx="2793880"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1. PROFILE RANGES</a:t>
              </a:r>
            </a:p>
          </p:txBody>
        </p:sp>
        <p:sp>
          <p:nvSpPr>
            <p:cNvPr id="8" name="TextBox 8"/>
            <p:cNvSpPr txBox="1"/>
            <p:nvPr/>
          </p:nvSpPr>
          <p:spPr>
            <a:xfrm>
              <a:off x="829818" y="2165032"/>
              <a:ext cx="2559381" cy="12371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Profile dataset min/max:</a:t>
              </a:r>
            </a:p>
            <a:p>
              <a:pPr algn="l" marL="131576" indent="-131576">
                <a:lnSpc>
                  <a:spcPts val="2400"/>
                </a:lnSpc>
                <a:buClr>
                  <a:schemeClr val="dk1"/>
                </a:buClr>
                <a:buSzTx/>
                <a:buFontTx/>
                <a:buChar char="•"/>
              </a:pPr>
              <a:r>
                <a:rPr lang="en-US" sz="1650" dirty="0">
                  <a:solidFill>
                    <a:schemeClr val="dk1"/>
                  </a:solidFill>
                  <a:latin typeface="+mn-lt"/>
                  <a:ea typeface="+mn-ea"/>
                  <a:cs typeface="+mn-cs"/>
                </a:rPr>
                <a:t>Negative winter temps</a:t>
              </a:r>
            </a:p>
            <a:p>
              <a:pPr algn="l" marL="131576" indent="-131576">
                <a:lnSpc>
                  <a:spcPts val="2400"/>
                </a:lnSpc>
                <a:buClr>
                  <a:schemeClr val="dk1"/>
                </a:buClr>
                <a:buSzTx/>
                <a:buFontTx/>
                <a:buChar char="•"/>
              </a:pPr>
              <a:r>
                <a:rPr lang="en-US" sz="1650" dirty="0">
                  <a:solidFill>
                    <a:schemeClr val="dk1"/>
                  </a:solidFill>
                  <a:latin typeface="+mn-lt"/>
                  <a:ea typeface="+mn-ea"/>
                  <a:cs typeface="+mn-cs"/>
                </a:rPr>
                <a:t>High summer peaks</a:t>
              </a:r>
            </a:p>
            <a:p>
              <a:pPr algn="l" marL="131576" indent="-131576">
                <a:lnSpc>
                  <a:spcPts val="2400"/>
                </a:lnSpc>
                <a:buClr>
                  <a:schemeClr val="dk1"/>
                </a:buClr>
                <a:buSzTx/>
                <a:buFontTx/>
                <a:buChar char="•"/>
              </a:pPr>
              <a:r>
                <a:rPr lang="en-US" sz="1650" dirty="0">
                  <a:solidFill>
                    <a:schemeClr val="dk1"/>
                  </a:solidFill>
                  <a:latin typeface="+mn-lt"/>
                  <a:ea typeface="+mn-ea"/>
                  <a:cs typeface="+mn-cs"/>
                </a:rPr>
                <a:t>Dynamic range of weights</a:t>
              </a:r>
            </a:p>
          </p:txBody>
        </p:sp>
      </p:grpSp>
      <p:grpSp>
        <p:nvGrpSpPr>
          <p:cNvPr id="13" name="step2"/>
          <p:cNvGrpSpPr/>
          <p:nvPr/>
        </p:nvGrpSpPr>
        <p:grpSpPr>
          <a:xfrm>
            <a:off x="4419600" y="1485900"/>
            <a:ext cx="3333750" cy="2286000"/>
            <a:chOff x="4419600" y="1485900"/>
            <a:chExt cx="3333750" cy="2286000"/>
          </a:xfrm>
        </p:grpSpPr>
        <p:sp>
          <p:nvSpPr>
            <p:cNvPr id="10" name="Rectangle 10"/>
            <p:cNvSpPr/>
            <p:nvPr/>
          </p:nvSpPr>
          <p:spPr>
            <a:xfrm>
              <a:off x="4419600" y="1485900"/>
              <a:ext cx="3333750" cy="2286000"/>
            </a:xfrm>
            <a:prstGeom prst="roundRect">
              <a:avLst>
                <a:gd name="adj" fmla="val 1667"/>
              </a:avLst>
            </a:prstGeom>
            <a:solidFill>
              <a:schemeClr val="lt2"/>
            </a:solidFill>
            <a:ln>
              <a:noFill/>
            </a:ln>
          </p:spPr>
        </p:sp>
        <p:sp>
          <p:nvSpPr>
            <p:cNvPr id="11" name="TextBox 11"/>
            <p:cNvSpPr txBox="1"/>
            <p:nvPr/>
          </p:nvSpPr>
          <p:spPr>
            <a:xfrm>
              <a:off x="4638294" y="1675448"/>
              <a:ext cx="3101703"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2. CHOOSE Q-FORMAT</a:t>
              </a:r>
            </a:p>
          </p:txBody>
        </p:sp>
        <p:sp>
          <p:nvSpPr>
            <p:cNvPr id="12" name="TextBox 12"/>
            <p:cNvSpPr txBox="1"/>
            <p:nvPr/>
          </p:nvSpPr>
          <p:spPr>
            <a:xfrm>
              <a:off x="4640580" y="2181225"/>
              <a:ext cx="1786757" cy="1207770"/>
            </a:xfrm>
            <a:prstGeom prst="rect">
              <a:avLst/>
            </a:prstGeom>
            <a:noFill/>
            <a:ln>
              <a:noFill/>
            </a:ln>
          </p:spPr>
          <p:txBody>
            <a:bodyPr wrap="none" lIns="0" tIns="0" rIns="0" bIns="0" anchor="t" anchorCtr="0">
              <a:spAutoFit/>
            </a:bodyPr>
            <a:lstStyle/>
            <a:p>
              <a:pPr algn="l">
                <a:lnSpc>
                  <a:spcPts val="2400"/>
                </a:lnSpc>
              </a:pPr>
              <a:r>
                <a:rPr lang="en-US" sz="1500" dirty="0">
                  <a:solidFill>
                    <a:schemeClr val="dk1"/>
                  </a:solidFill>
                  <a:latin typeface="+mn-lt"/>
                  <a:ea typeface="+mn-ea"/>
                  <a:cs typeface="+mn-cs"/>
                </a:rPr>
                <a:t>Signed wordlength:</a:t>
              </a:r>
            </a:p>
            <a:p>
              <a:pPr algn="l" marL="119615" indent="-119615">
                <a:lnSpc>
                  <a:spcPts val="2400"/>
                </a:lnSpc>
                <a:buClr>
                  <a:schemeClr val="dk1"/>
                </a:buClr>
                <a:buSzTx/>
                <a:buFontTx/>
                <a:buChar char="•"/>
              </a:pPr>
              <a:r>
                <a:rPr lang="en-US" sz="1500" dirty="0">
                  <a:solidFill>
                    <a:schemeClr val="dk1"/>
                  </a:solidFill>
                  <a:latin typeface="+mn-lt"/>
                  <a:ea typeface="+mn-ea"/>
                  <a:cs typeface="+mn-cs"/>
                </a:rPr>
                <a:t>Integer guard bits</a:t>
              </a:r>
            </a:p>
            <a:p>
              <a:pPr algn="l" marL="119615" indent="-119615">
                <a:lnSpc>
                  <a:spcPts val="2400"/>
                </a:lnSpc>
                <a:buClr>
                  <a:schemeClr val="dk1"/>
                </a:buClr>
                <a:buSzTx/>
                <a:buFontTx/>
                <a:buChar char="•"/>
              </a:pPr>
              <a:r>
                <a:rPr lang="en-US" sz="1500" dirty="0">
                  <a:solidFill>
                    <a:schemeClr val="dk1"/>
                  </a:solidFill>
                  <a:latin typeface="+mn-lt"/>
                  <a:ea typeface="+mn-ea"/>
                  <a:cs typeface="+mn-cs"/>
                </a:rPr>
                <a:t>Fractional bits</a:t>
              </a:r>
            </a:p>
            <a:p>
              <a:pPr algn="l" marL="119615" indent="-119615">
                <a:lnSpc>
                  <a:spcPts val="2400"/>
                </a:lnSpc>
                <a:buClr>
                  <a:schemeClr val="dk1"/>
                </a:buClr>
                <a:buSzTx/>
                <a:buFontTx/>
                <a:buChar char="•"/>
              </a:pPr>
              <a:r>
                <a:rPr lang="en-US" sz="1500" dirty="0">
                  <a:solidFill>
                    <a:schemeClr val="dk1"/>
                  </a:solidFill>
                  <a:latin typeface="+mn-lt"/>
                  <a:ea typeface="+mn-ea"/>
                  <a:cs typeface="+mn-cs"/>
                </a:rPr>
                <a:t>E.g., Q8.8 or Q10.6</a:t>
              </a:r>
            </a:p>
          </p:txBody>
        </p:sp>
      </p:grpSp>
      <p:grpSp>
        <p:nvGrpSpPr>
          <p:cNvPr id="17" name="step3"/>
          <p:cNvGrpSpPr/>
          <p:nvPr/>
        </p:nvGrpSpPr>
        <p:grpSpPr>
          <a:xfrm>
            <a:off x="8229600" y="1485900"/>
            <a:ext cx="3352800" cy="2286000"/>
            <a:chOff x="8229600" y="1485900"/>
            <a:chExt cx="3352800" cy="2286000"/>
          </a:xfrm>
        </p:grpSpPr>
        <p:sp>
          <p:nvSpPr>
            <p:cNvPr id="14" name="Rectangle 14"/>
            <p:cNvSpPr/>
            <p:nvPr/>
          </p:nvSpPr>
          <p:spPr>
            <a:xfrm>
              <a:off x="8229600" y="1485900"/>
              <a:ext cx="3352800" cy="2286000"/>
            </a:xfrm>
            <a:prstGeom prst="roundRect">
              <a:avLst>
                <a:gd name="adj" fmla="val 1667"/>
              </a:avLst>
            </a:prstGeom>
            <a:solidFill>
              <a:schemeClr val="lt2"/>
            </a:solidFill>
            <a:ln>
              <a:noFill/>
            </a:ln>
          </p:spPr>
        </p:sp>
        <p:sp>
          <p:nvSpPr>
            <p:cNvPr id="15" name="TextBox 15"/>
            <p:cNvSpPr txBox="1"/>
            <p:nvPr/>
          </p:nvSpPr>
          <p:spPr>
            <a:xfrm>
              <a:off x="8448294" y="1675448"/>
              <a:ext cx="3055549"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3. ARITHMETIC RULES</a:t>
              </a:r>
            </a:p>
          </p:txBody>
        </p:sp>
        <p:sp>
          <p:nvSpPr>
            <p:cNvPr id="16" name="TextBox 16"/>
            <p:cNvSpPr txBox="1"/>
            <p:nvPr/>
          </p:nvSpPr>
          <p:spPr>
            <a:xfrm>
              <a:off x="8449818" y="2165032"/>
              <a:ext cx="2664365" cy="12371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Unified C++ &amp; RTL rules:</a:t>
              </a:r>
            </a:p>
            <a:p>
              <a:pPr algn="l" marL="131576" indent="-131576">
                <a:lnSpc>
                  <a:spcPts val="2400"/>
                </a:lnSpc>
                <a:buClr>
                  <a:schemeClr val="dk1"/>
                </a:buClr>
                <a:buSzTx/>
                <a:buFontTx/>
                <a:buChar char="•"/>
              </a:pPr>
              <a:r>
                <a:rPr lang="en-US" sz="1650" dirty="0">
                  <a:solidFill>
                    <a:schemeClr val="dk1"/>
                  </a:solidFill>
                  <a:latin typeface="+mn-lt"/>
                  <a:ea typeface="+mn-ea"/>
                  <a:cs typeface="+mn-cs"/>
                </a:rPr>
                <a:t>Multiplier bit-growth (32b)</a:t>
              </a:r>
            </a:p>
            <a:p>
              <a:pPr algn="l" marL="131576" indent="-131576">
                <a:lnSpc>
                  <a:spcPts val="2400"/>
                </a:lnSpc>
                <a:buClr>
                  <a:schemeClr val="dk1"/>
                </a:buClr>
                <a:buSzTx/>
                <a:buFontTx/>
                <a:buChar char="•"/>
              </a:pPr>
              <a:r>
                <a:rPr lang="en-US" sz="1650" dirty="0">
                  <a:solidFill>
                    <a:schemeClr val="dk1"/>
                  </a:solidFill>
                  <a:latin typeface="+mn-lt"/>
                  <a:ea typeface="+mn-ea"/>
                  <a:cs typeface="+mn-cs"/>
                </a:rPr>
                <a:t>Truncation shift position</a:t>
              </a:r>
            </a:p>
            <a:p>
              <a:pPr algn="l" marL="131576" indent="-131576">
                <a:lnSpc>
                  <a:spcPts val="2400"/>
                </a:lnSpc>
                <a:buClr>
                  <a:schemeClr val="dk1"/>
                </a:buClr>
                <a:buSzTx/>
                <a:buFontTx/>
                <a:buChar char="•"/>
              </a:pPr>
              <a:r>
                <a:rPr lang="en-US" sz="1650" dirty="0">
                  <a:solidFill>
                    <a:schemeClr val="dk1"/>
                  </a:solidFill>
                  <a:latin typeface="+mn-lt"/>
                  <a:ea typeface="+mn-ea"/>
                  <a:cs typeface="+mn-cs"/>
                </a:rPr>
                <a:t>Saturation vs. wrap-around</a:t>
              </a:r>
            </a:p>
          </p:txBody>
        </p:sp>
      </p:grpSp>
      <p:grpSp>
        <p:nvGrpSpPr>
          <p:cNvPr id="22" name="takeaway"/>
          <p:cNvGrpSpPr/>
          <p:nvPr/>
        </p:nvGrpSpPr>
        <p:grpSpPr>
          <a:xfrm>
            <a:off x="609600" y="4095750"/>
            <a:ext cx="10972800" cy="1905000"/>
            <a:chOff x="609600" y="4095750"/>
            <a:chExt cx="10972800" cy="1905000"/>
          </a:xfrm>
        </p:grpSpPr>
        <p:sp>
          <p:nvSpPr>
            <p:cNvPr id="18" name="Rectangle 18"/>
            <p:cNvSpPr/>
            <p:nvPr/>
          </p:nvSpPr>
          <p:spPr>
            <a:xfrm>
              <a:off x="609600" y="4095750"/>
              <a:ext cx="10972800" cy="1905000"/>
            </a:xfrm>
            <a:prstGeom prst="roundRect">
              <a:avLst>
                <a:gd name="adj" fmla="val 2000"/>
              </a:avLst>
            </a:prstGeom>
            <a:solidFill>
              <a:schemeClr val="lt2"/>
            </a:solidFill>
            <a:ln>
              <a:noFill/>
            </a:ln>
          </p:spPr>
        </p:sp>
        <p:sp>
          <p:nvSpPr>
            <p:cNvPr id="19" name="TextBox 19"/>
            <p:cNvSpPr txBox="1"/>
            <p:nvPr/>
          </p:nvSpPr>
          <p:spPr>
            <a:xfrm>
              <a:off x="828294" y="4313872"/>
              <a:ext cx="4858441"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CRUCIAL VERIFICATION PRINCIPLE</a:t>
              </a:r>
            </a:p>
          </p:txBody>
        </p:sp>
        <p:sp>
          <p:nvSpPr>
            <p:cNvPr id="20" name="TextBox 20"/>
            <p:cNvSpPr txBox="1"/>
            <p:nvPr/>
          </p:nvSpPr>
          <p:spPr>
            <a:xfrm>
              <a:off x="829056" y="4758690"/>
              <a:ext cx="8573534"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C++ fixed-point reference mirrors every single RTL truncation &amp; saturation step.</a:t>
              </a:r>
            </a:p>
          </p:txBody>
        </p:sp>
        <p:sp>
          <p:nvSpPr>
            <p:cNvPr id="21" name="TextBox 21"/>
            <p:cNvSpPr txBox="1"/>
            <p:nvPr/>
          </p:nvSpPr>
          <p:spPr>
            <a:xfrm>
              <a:off x="829818" y="5203508"/>
              <a:ext cx="796063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Separates forecast error vs. truth from fixed-point quantization noise vs. floating point.</a:t>
              </a:r>
              <a:br/>
              <a:r>
                <a:rPr lang="en-US" sz="1650" dirty="0">
                  <a:solidFill>
                    <a:schemeClr val="accent3"/>
                  </a:solidFill>
                  <a:latin typeface="+mn-lt"/>
                  <a:ea typeface="+mn-ea"/>
                  <a:cs typeface="+mn-cs"/>
                </a:rPr>
                <a:t>Enables 100% bit-exact RTL verification.</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868478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Core MVP vs. Advanced extensions</a:t>
            </a:r>
          </a:p>
        </p:txBody>
      </p:sp>
      <p:sp>
        <p:nvSpPr>
          <p:cNvPr id="7" name="comparison-left-title-slot Placeholder Carrier"/>
          <p:cNvSpPr txBox="1"/>
          <p:nvPr>
            <p:ph type="body" idx="1"/>
          </p:nvPr>
        </p:nvSpPr>
        <p:spPr>
          <a:xfrm>
            <a:off x="829056" y="1844040"/>
            <a:ext cx="4314863" cy="352044"/>
          </a:xfrm>
          <a:prstGeom prst="rect">
            <a:avLst/>
          </a:prstGeom>
          <a:noFill/>
          <a:ln>
            <a:noFill/>
          </a:ln>
        </p:spPr>
        <p:txBody>
          <a:bodyPr wrap="none" lIns="0" tIns="0" rIns="0" bIns="0" anchor="t" anchorCtr="0">
            <a:spAutoFit/>
          </a:bodyPr>
          <a:lstStyle/>
          <a:p>
            <a:pPr algn="l" marL="0" indent="0">
              <a:buNone/>
            </a:pPr>
            <a:r>
              <a:rPr lang="en-US" sz="1800" b="1" dirty="0">
                <a:solidFill>
                  <a:schemeClr val="accent2"/>
                </a:solidFill>
                <a:latin typeface="+mn-lt"/>
                <a:ea typeface="+mn-ea"/>
                <a:cs typeface="+mn-cs"/>
              </a:rPr>
              <a:t>PHASE 1: CORE MVP (WEEKS 1–6)</a:t>
            </a:r>
          </a:p>
        </p:txBody>
      </p:sp>
      <p:sp>
        <p:nvSpPr>
          <p:cNvPr id="8" name="comparison-right-title-slot Placeholder Carrier"/>
          <p:cNvSpPr txBox="1"/>
          <p:nvPr>
            <p:ph type="body" idx="3"/>
          </p:nvPr>
        </p:nvSpPr>
        <p:spPr>
          <a:xfrm>
            <a:off x="6544056" y="1844040"/>
            <a:ext cx="4741925" cy="352044"/>
          </a:xfrm>
          <a:prstGeom prst="rect">
            <a:avLst/>
          </a:prstGeom>
          <a:noFill/>
          <a:ln>
            <a:noFill/>
          </a:ln>
        </p:spPr>
        <p:txBody>
          <a:bodyPr wrap="none" lIns="0" tIns="0" rIns="0" bIns="0" anchor="t" anchorCtr="0">
            <a:spAutoFit/>
          </a:bodyPr>
          <a:lstStyle/>
          <a:p>
            <a:pPr algn="l" marL="0" indent="0">
              <a:buNone/>
            </a:pPr>
            <a:r>
              <a:rPr lang="en-US" sz="1800" b="1" dirty="0">
                <a:solidFill>
                  <a:schemeClr val="accent2"/>
                </a:solidFill>
                <a:latin typeface="+mn-lt"/>
                <a:ea typeface="+mn-ea"/>
                <a:cs typeface="+mn-cs"/>
              </a:rPr>
              <a:t>PHASE 2: EXTENSIONS (WEEKS 7–12)</a:t>
            </a:r>
          </a:p>
        </p:txBody>
      </p:sp>
      <p:grpSp>
        <p:nvGrpSpPr>
          <p:cNvPr id="17" name="comparison-left-content-slot Proxy Content"/>
          <p:cNvGrpSpPr/>
          <p:nvPr/>
        </p:nvGrpSpPr>
        <p:grpSpPr>
          <a:xfrm>
            <a:off x="829818" y="2507932"/>
            <a:ext cx="4732782" cy="3271838"/>
            <a:chOff x="829818" y="2507932"/>
            <a:chExt cx="4732782" cy="3271838"/>
          </a:xfrm>
        </p:grpSpPr>
        <p:sp>
          <p:nvSpPr>
            <p:cNvPr id="9" name="TextBox 9"/>
            <p:cNvSpPr txBox="1"/>
            <p:nvPr/>
          </p:nvSpPr>
          <p:spPr>
            <a:xfrm>
              <a:off x="829818" y="2507932"/>
              <a:ext cx="336445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Goal: De-risk the hardware flow</a:t>
              </a:r>
            </a:p>
          </p:txBody>
        </p:sp>
        <p:sp>
          <p:nvSpPr>
            <p:cNvPr id="10" name="TextBox 10"/>
            <p:cNvSpPr txBox="1"/>
            <p:nvPr/>
          </p:nvSpPr>
          <p:spPr>
            <a:xfrm>
              <a:off x="830580" y="2933700"/>
              <a:ext cx="3462821"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Single-variable temperature predictor</a:t>
              </a:r>
            </a:p>
          </p:txBody>
        </p:sp>
        <p:sp>
          <p:nvSpPr>
            <p:cNvPr id="11" name="TextBox 11"/>
            <p:cNvSpPr txBox="1"/>
            <p:nvPr/>
          </p:nvSpPr>
          <p:spPr>
            <a:xfrm>
              <a:off x="830580" y="3314700"/>
              <a:ext cx="3299946"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25-stage shift register history buffer</a:t>
              </a:r>
            </a:p>
          </p:txBody>
        </p:sp>
        <p:sp>
          <p:nvSpPr>
            <p:cNvPr id="12" name="TextBox 12"/>
            <p:cNvSpPr txBox="1"/>
            <p:nvPr/>
          </p:nvSpPr>
          <p:spPr>
            <a:xfrm>
              <a:off x="830580" y="3695700"/>
              <a:ext cx="3627765"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Bit-exact fixed-point C++ golden model</a:t>
              </a:r>
            </a:p>
          </p:txBody>
        </p:sp>
        <p:sp>
          <p:nvSpPr>
            <p:cNvPr id="13" name="TextBox 13"/>
            <p:cNvSpPr txBox="1"/>
            <p:nvPr/>
          </p:nvSpPr>
          <p:spPr>
            <a:xfrm>
              <a:off x="830580" y="4076700"/>
              <a:ext cx="3667982"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Synthesizable Verilog RTL &amp; testbench</a:t>
              </a:r>
            </a:p>
          </p:txBody>
        </p:sp>
        <p:sp>
          <p:nvSpPr>
            <p:cNvPr id="14" name="Line 14"/>
            <p:cNvSpPr/>
            <p:nvPr/>
          </p:nvSpPr>
          <p:spPr>
            <a:xfrm>
              <a:off x="838200" y="45720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5" name="TextBox 15"/>
            <p:cNvSpPr txBox="1"/>
            <p:nvPr/>
          </p:nvSpPr>
          <p:spPr>
            <a:xfrm>
              <a:off x="829818" y="4822508"/>
              <a:ext cx="256178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Deliverable Milestone 2:</a:t>
              </a:r>
            </a:p>
          </p:txBody>
        </p:sp>
        <p:sp>
          <p:nvSpPr>
            <p:cNvPr id="16" name="TextBox 16"/>
            <p:cNvSpPr txBox="1"/>
            <p:nvPr/>
          </p:nvSpPr>
          <p:spPr>
            <a:xfrm>
              <a:off x="830580" y="5219700"/>
              <a:ext cx="330788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accent3"/>
                  </a:solidFill>
                  <a:latin typeface="+mn-lt"/>
                  <a:ea typeface="+mn-ea"/>
                  <a:cs typeface="+mn-cs"/>
                </a:rPr>
                <a:t>Guaranteed working silicon baseline.</a:t>
              </a:r>
              <a:br/>
              <a:r>
                <a:rPr lang="en-US" sz="1500" dirty="0">
                  <a:solidFill>
                    <a:schemeClr val="accent3"/>
                  </a:solidFill>
                  <a:latin typeface="+mn-lt"/>
                  <a:ea typeface="+mn-ea"/>
                  <a:cs typeface="+mn-cs"/>
                </a:rPr>
                <a:t>Eliminates end-of-semester failure risk.</a:t>
              </a:r>
            </a:p>
          </p:txBody>
        </p:sp>
      </p:grpSp>
      <p:grpSp>
        <p:nvGrpSpPr>
          <p:cNvPr id="25" name="comparison-right-content-slot Proxy Content"/>
          <p:cNvGrpSpPr/>
          <p:nvPr/>
        </p:nvGrpSpPr>
        <p:grpSpPr>
          <a:xfrm>
            <a:off x="6544818" y="2507932"/>
            <a:ext cx="4732782" cy="3367088"/>
            <a:chOff x="6544818" y="2507932"/>
            <a:chExt cx="4732782" cy="3367088"/>
          </a:xfrm>
        </p:grpSpPr>
        <p:sp>
          <p:nvSpPr>
            <p:cNvPr id="18" name="TextBox 18"/>
            <p:cNvSpPr txBox="1"/>
            <p:nvPr/>
          </p:nvSpPr>
          <p:spPr>
            <a:xfrm>
              <a:off x="6544818" y="2507932"/>
              <a:ext cx="414118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Goal: Engineering depth for 3 students</a:t>
              </a:r>
            </a:p>
          </p:txBody>
        </p:sp>
        <p:sp>
          <p:nvSpPr>
            <p:cNvPr id="19" name="TextBox 19"/>
            <p:cNvSpPr txBox="1"/>
            <p:nvPr/>
          </p:nvSpPr>
          <p:spPr>
            <a:xfrm>
              <a:off x="6545580" y="2933700"/>
              <a:ext cx="3646361" cy="541020"/>
            </a:xfrm>
            <a:prstGeom prst="rect">
              <a:avLst/>
            </a:prstGeom>
            <a:noFill/>
            <a:ln>
              <a:noFill/>
            </a:ln>
          </p:spPr>
          <p:txBody>
            <a:bodyPr wrap="none" lIns="0" tIns="0" rIns="0" bIns="0" anchor="t" anchorCtr="0">
              <a:spAutoFit/>
            </a:bodyPr>
            <a:lstStyle/>
            <a:p>
              <a:pPr algn="l" marL="119615" indent="-119615">
                <a:lnSpc>
                  <a:spcPts val="1950"/>
                </a:lnSpc>
                <a:buClr>
                  <a:schemeClr val="dk1"/>
                </a:buClr>
                <a:buSzTx/>
                <a:buFontTx/>
                <a:buChar char="•"/>
              </a:pPr>
              <a:r>
                <a:rPr lang="en-US" sz="1500" dirty="0">
                  <a:solidFill>
                    <a:schemeClr val="dk1"/>
                  </a:solidFill>
                  <a:latin typeface="+mn-lt"/>
                  <a:ea typeface="+mn-ea"/>
                  <a:cs typeface="+mn-cs"/>
                </a:rPr>
                <a:t>Multi-variable feature expansion:</a:t>
              </a:r>
              <a:br/>
              <a:r>
                <a:rPr lang="en-US" sz="1500" dirty="0">
                  <a:solidFill>
                    <a:schemeClr val="dk1"/>
                  </a:solidFill>
                  <a:latin typeface="+mn-lt"/>
                  <a:ea typeface="+mn-ea"/>
                  <a:cs typeface="+mn-cs"/>
                </a:rPr>
                <a:t>Add Relative Humidity (RH) &amp; Pressure (P)</a:t>
              </a:r>
            </a:p>
          </p:txBody>
        </p:sp>
        <p:sp>
          <p:nvSpPr>
            <p:cNvPr id="20" name="TextBox 20"/>
            <p:cNvSpPr txBox="1"/>
            <p:nvPr/>
          </p:nvSpPr>
          <p:spPr>
            <a:xfrm>
              <a:off x="6545580" y="3552825"/>
              <a:ext cx="3000604" cy="541020"/>
            </a:xfrm>
            <a:prstGeom prst="rect">
              <a:avLst/>
            </a:prstGeom>
            <a:noFill/>
            <a:ln>
              <a:noFill/>
            </a:ln>
          </p:spPr>
          <p:txBody>
            <a:bodyPr wrap="none" lIns="0" tIns="0" rIns="0" bIns="0" anchor="t" anchorCtr="0">
              <a:spAutoFit/>
            </a:bodyPr>
            <a:lstStyle/>
            <a:p>
              <a:pPr algn="l" marL="119615" indent="-119615">
                <a:lnSpc>
                  <a:spcPts val="1950"/>
                </a:lnSpc>
                <a:buClr>
                  <a:schemeClr val="dk1"/>
                </a:buClr>
                <a:buSzTx/>
                <a:buFontTx/>
                <a:buChar char="•"/>
              </a:pPr>
              <a:r>
                <a:rPr lang="en-US" sz="1500" dirty="0">
                  <a:solidFill>
                    <a:schemeClr val="dk1"/>
                  </a:solidFill>
                  <a:latin typeface="+mn-lt"/>
                  <a:ea typeface="+mn-ea"/>
                  <a:cs typeface="+mn-cs"/>
                </a:rPr>
                <a:t>Hardware Trade-off Study:</a:t>
              </a:r>
              <a:br/>
              <a:r>
                <a:rPr lang="en-US" sz="1500" dirty="0">
                  <a:solidFill>
                    <a:schemeClr val="dk1"/>
                  </a:solidFill>
                  <a:latin typeface="+mn-lt"/>
                  <a:ea typeface="+mn-ea"/>
                  <a:cs typeface="+mn-cs"/>
                </a:rPr>
                <a:t>Parallel DSP vs. Shared-MAC FSM</a:t>
              </a:r>
            </a:p>
          </p:txBody>
        </p:sp>
        <p:sp>
          <p:nvSpPr>
            <p:cNvPr id="21" name="TextBox 21"/>
            <p:cNvSpPr txBox="1"/>
            <p:nvPr/>
          </p:nvSpPr>
          <p:spPr>
            <a:xfrm>
              <a:off x="6545580" y="4171950"/>
              <a:ext cx="4046176"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Advanced DV: Code coverage &amp; assertions</a:t>
              </a:r>
            </a:p>
          </p:txBody>
        </p:sp>
        <p:sp>
          <p:nvSpPr>
            <p:cNvPr id="22" name="Line 22"/>
            <p:cNvSpPr/>
            <p:nvPr/>
          </p:nvSpPr>
          <p:spPr>
            <a:xfrm>
              <a:off x="6553200" y="47148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3" name="TextBox 23"/>
            <p:cNvSpPr txBox="1"/>
            <p:nvPr/>
          </p:nvSpPr>
          <p:spPr>
            <a:xfrm>
              <a:off x="6544818" y="4917758"/>
              <a:ext cx="256178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Deliverable Milestone 4:</a:t>
              </a:r>
            </a:p>
          </p:txBody>
        </p:sp>
        <p:sp>
          <p:nvSpPr>
            <p:cNvPr id="24" name="TextBox 24"/>
            <p:cNvSpPr txBox="1"/>
            <p:nvPr/>
          </p:nvSpPr>
          <p:spPr>
            <a:xfrm>
              <a:off x="6545580" y="5314950"/>
              <a:ext cx="3980574"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accent3"/>
                  </a:solidFill>
                  <a:latin typeface="+mn-lt"/>
                  <a:ea typeface="+mn-ea"/>
                  <a:cs typeface="+mn-cs"/>
                </a:rPr>
                <a:t>Full FPGA board demo + architectural trade-off</a:t>
              </a:r>
              <a:br/>
              <a:r>
                <a:rPr lang="en-US" sz="1500" dirty="0">
                  <a:solidFill>
                    <a:schemeClr val="accent3"/>
                  </a:solidFill>
                  <a:latin typeface="+mn-lt"/>
                  <a:ea typeface="+mn-ea"/>
                  <a:cs typeface="+mn-cs"/>
                </a:rPr>
                <a:t>analysis justifying 3 students' effort.</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08 / 15</a:t>
            </a:r>
          </a:p>
        </p:txBody>
      </p:sp>
      <p:sp>
        <p:nvSpPr>
          <p:cNvPr id="27"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8"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939591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From sample history to arithmetic core</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09 / 15</a:t>
            </a:r>
          </a:p>
        </p:txBody>
      </p:sp>
      <p:grpSp>
        <p:nvGrpSpPr>
          <p:cNvPr id="15"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176144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Receive T(t)</a:t>
              </a:r>
            </a:p>
          </p:txBody>
        </p:sp>
        <p:sp>
          <p:nvSpPr>
            <p:cNvPr id="7" name="Rectangle 7"/>
            <p:cNvSpPr/>
            <p:nvPr/>
          </p:nvSpPr>
          <p:spPr>
            <a:xfrm>
              <a:off x="609600" y="2247900"/>
              <a:ext cx="2952750" cy="2552700"/>
            </a:xfrm>
            <a:prstGeom prst="roundRect">
              <a:avLst>
                <a:gd name="adj" fmla="val 1493"/>
              </a:avLst>
            </a:prstGeom>
            <a:solidFill>
              <a:schemeClr val="lt2"/>
            </a:solidFill>
            <a:ln>
              <a:noFill/>
            </a:ln>
          </p:spPr>
        </p:sp>
        <p:sp>
          <p:nvSpPr>
            <p:cNvPr id="8" name="TextBox 8"/>
            <p:cNvSpPr txBox="1"/>
            <p:nvPr/>
          </p:nvSpPr>
          <p:spPr>
            <a:xfrm>
              <a:off x="826770" y="2443162"/>
              <a:ext cx="201485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25 SAMPLES</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T(t−24)…T(t)</a:t>
              </a:r>
            </a:p>
          </p:txBody>
        </p:sp>
        <p:sp>
          <p:nvSpPr>
            <p:cNvPr id="10" name="TextBox 10"/>
            <p:cNvSpPr txBox="1"/>
            <p:nvPr/>
          </p:nvSpPr>
          <p:spPr>
            <a:xfrm>
              <a:off x="829818" y="3603308"/>
              <a:ext cx="146831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Required taps:</a:t>
              </a:r>
            </a:p>
          </p:txBody>
        </p:sp>
        <p:sp>
          <p:nvSpPr>
            <p:cNvPr id="11" name="TextBox 11"/>
            <p:cNvSpPr txBox="1"/>
            <p:nvPr/>
          </p:nvSpPr>
          <p:spPr>
            <a:xfrm>
              <a:off x="828294" y="40090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t−24</a:t>
              </a:r>
            </a:p>
          </p:txBody>
        </p:sp>
        <p:sp>
          <p:nvSpPr>
            <p:cNvPr id="12" name="TextBox 12"/>
            <p:cNvSpPr txBox="1"/>
            <p:nvPr/>
          </p:nvSpPr>
          <p:spPr>
            <a:xfrm>
              <a:off x="2085594" y="40090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t−21</a:t>
              </a:r>
            </a:p>
          </p:txBody>
        </p:sp>
        <p:sp>
          <p:nvSpPr>
            <p:cNvPr id="13" name="TextBox 13"/>
            <p:cNvSpPr txBox="1"/>
            <p:nvPr/>
          </p:nvSpPr>
          <p:spPr>
            <a:xfrm>
              <a:off x="828294" y="43805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t−3</a:t>
              </a:r>
            </a:p>
          </p:txBody>
        </p:sp>
        <p:sp>
          <p:nvSpPr>
            <p:cNvPr id="14" name="TextBox 14"/>
            <p:cNvSpPr txBox="1"/>
            <p:nvPr/>
          </p:nvSpPr>
          <p:spPr>
            <a:xfrm>
              <a:off x="2085594" y="4380548"/>
              <a:ext cx="16419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a:t>
              </a:r>
            </a:p>
          </p:txBody>
        </p:sp>
      </p:grpSp>
      <p:grpSp>
        <p:nvGrpSpPr>
          <p:cNvPr id="31" name="arithmetic-path"/>
          <p:cNvGrpSpPr/>
          <p:nvPr/>
        </p:nvGrpSpPr>
        <p:grpSpPr>
          <a:xfrm>
            <a:off x="3810000" y="1732598"/>
            <a:ext cx="6963966" cy="3098291"/>
            <a:chOff x="3810000" y="1732598"/>
            <a:chExt cx="6963966" cy="3098291"/>
          </a:xfrm>
        </p:grpSpPr>
        <p:sp>
          <p:nvSpPr>
            <p:cNvPr id="16" name="Line 16"/>
            <p:cNvSpPr/>
            <p:nvPr/>
          </p:nvSpPr>
          <p:spPr>
            <a:xfrm>
              <a:off x="3810000" y="2571750"/>
              <a:ext cx="342900" cy="1"/>
            </a:xfrm>
            <a:prstGeom prst="line">
              <a:avLst/>
            </a:prstGeom>
            <a:noFill/>
            <a:ln w="19050">
              <a:solidFill>
                <a:schemeClr val="accent1"/>
              </a:solidFill>
              <a:tailEnd type="triangle" w="lg" len="lg"/>
            </a:ln>
          </p:spPr>
        </p:sp>
        <p:sp>
          <p:nvSpPr>
            <p:cNvPr id="17" name="Line 17"/>
            <p:cNvSpPr/>
            <p:nvPr/>
          </p:nvSpPr>
          <p:spPr>
            <a:xfrm>
              <a:off x="3810000" y="3733800"/>
              <a:ext cx="342900" cy="1"/>
            </a:xfrm>
            <a:prstGeom prst="line">
              <a:avLst/>
            </a:prstGeom>
            <a:noFill/>
            <a:ln w="19050">
              <a:solidFill>
                <a:schemeClr val="accent1"/>
              </a:solidFill>
              <a:tailEnd type="triangle" w="lg" len="lg"/>
            </a:ln>
          </p:spPr>
        </p:sp>
        <p:sp>
          <p:nvSpPr>
            <p:cNvPr id="18" name="Rectangle 18"/>
            <p:cNvSpPr/>
            <p:nvPr/>
          </p:nvSpPr>
          <p:spPr>
            <a:xfrm>
              <a:off x="4305300" y="2209800"/>
              <a:ext cx="3105150" cy="723900"/>
            </a:xfrm>
            <a:prstGeom prst="roundRect">
              <a:avLst>
                <a:gd name="adj" fmla="val 5263"/>
              </a:avLst>
            </a:prstGeom>
            <a:solidFill>
              <a:schemeClr val="lt2"/>
            </a:solidFill>
            <a:ln>
              <a:noFill/>
            </a:ln>
          </p:spPr>
        </p:sp>
        <p:sp>
          <p:nvSpPr>
            <p:cNvPr id="19" name="Rectangle 19"/>
            <p:cNvSpPr/>
            <p:nvPr/>
          </p:nvSpPr>
          <p:spPr>
            <a:xfrm>
              <a:off x="4305300" y="3371850"/>
              <a:ext cx="3105150" cy="723900"/>
            </a:xfrm>
            <a:prstGeom prst="roundRect">
              <a:avLst>
                <a:gd name="adj" fmla="val 5263"/>
              </a:avLst>
            </a:prstGeom>
            <a:solidFill>
              <a:schemeClr val="lt2"/>
            </a:solidFill>
            <a:ln>
              <a:noFill/>
            </a:ln>
          </p:spPr>
        </p:sp>
        <p:sp>
          <p:nvSpPr>
            <p:cNvPr id="20" name="TextBox 20"/>
            <p:cNvSpPr txBox="1"/>
            <p:nvPr/>
          </p:nvSpPr>
          <p:spPr>
            <a:xfrm>
              <a:off x="4485894" y="2437448"/>
              <a:ext cx="1187928"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Δday</a:t>
              </a:r>
            </a:p>
          </p:txBody>
        </p:sp>
        <p:sp>
          <p:nvSpPr>
            <p:cNvPr id="21" name="TextBox 21"/>
            <p:cNvSpPr txBox="1"/>
            <p:nvPr/>
          </p:nvSpPr>
          <p:spPr>
            <a:xfrm>
              <a:off x="4485894" y="3599498"/>
              <a:ext cx="1049541"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Δ3h</a:t>
              </a:r>
            </a:p>
          </p:txBody>
        </p:sp>
        <p:sp>
          <p:nvSpPr>
            <p:cNvPr id="22" name="Line 22"/>
            <p:cNvSpPr/>
            <p:nvPr/>
          </p:nvSpPr>
          <p:spPr>
            <a:xfrm>
              <a:off x="7562850" y="2571750"/>
              <a:ext cx="876300" cy="409575"/>
            </a:xfrm>
            <a:prstGeom prst="line">
              <a:avLst/>
            </a:prstGeom>
            <a:noFill/>
            <a:ln w="19050">
              <a:solidFill>
                <a:schemeClr val="accent1"/>
              </a:solidFill>
              <a:tailEnd type="triangle" w="lg" len="lg"/>
            </a:ln>
          </p:spPr>
        </p:sp>
        <p:sp>
          <p:nvSpPr>
            <p:cNvPr id="23" name="Line 23"/>
            <p:cNvSpPr/>
            <p:nvPr/>
          </p:nvSpPr>
          <p:spPr>
            <a:xfrm flipV="1">
              <a:off x="7562850" y="3324225"/>
              <a:ext cx="876300" cy="409575"/>
            </a:xfrm>
            <a:prstGeom prst="line">
              <a:avLst/>
            </a:prstGeom>
            <a:noFill/>
            <a:ln w="19050">
              <a:solidFill>
                <a:schemeClr val="accent1"/>
              </a:solidFill>
              <a:tailEnd type="triangle" w="lg" len="lg"/>
            </a:ln>
          </p:spPr>
        </p:sp>
        <p:sp>
          <p:nvSpPr>
            <p:cNvPr id="24" name="Ellipse 24"/>
            <p:cNvSpPr/>
            <p:nvPr/>
          </p:nvSpPr>
          <p:spPr>
            <a:xfrm>
              <a:off x="8477250" y="2828925"/>
              <a:ext cx="647700" cy="647700"/>
            </a:xfrm>
            <a:prstGeom prst="ellipse">
              <a:avLst/>
            </a:prstGeom>
            <a:solidFill>
              <a:schemeClr val="lt1"/>
            </a:solidFill>
            <a:ln w="19050">
              <a:solidFill>
                <a:schemeClr val="accent1"/>
              </a:solidFill>
            </a:ln>
          </p:spPr>
        </p:sp>
        <p:sp>
          <p:nvSpPr>
            <p:cNvPr id="25" name="TextBox 25"/>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en-US" sz="2850" dirty="0">
                  <a:solidFill>
                    <a:schemeClr val="dk1"/>
                  </a:solidFill>
                  <a:latin typeface="+mn-lt"/>
                  <a:ea typeface="+mn-ea"/>
                  <a:cs typeface="+mn-cs"/>
                </a:rPr>
                <a:t>+</a:t>
              </a:r>
            </a:p>
          </p:txBody>
        </p:sp>
        <p:sp>
          <p:nvSpPr>
            <p:cNvPr id="26" name="TextBox 26"/>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T(t−21), c</a:t>
              </a:r>
            </a:p>
          </p:txBody>
        </p:sp>
        <p:sp>
          <p:nvSpPr>
            <p:cNvPr id="27" name="Line 27"/>
            <p:cNvSpPr/>
            <p:nvPr/>
          </p:nvSpPr>
          <p:spPr>
            <a:xfrm>
              <a:off x="8801100" y="2095500"/>
              <a:ext cx="1" cy="609600"/>
            </a:xfrm>
            <a:prstGeom prst="line">
              <a:avLst/>
            </a:prstGeom>
            <a:noFill/>
            <a:ln w="19050">
              <a:solidFill>
                <a:schemeClr val="accent1"/>
              </a:solidFill>
              <a:tailEnd type="triangle" w="lg" len="lg"/>
            </a:ln>
          </p:spPr>
        </p:sp>
        <p:sp>
          <p:nvSpPr>
            <p:cNvPr id="28" name="Line 28"/>
            <p:cNvSpPr/>
            <p:nvPr/>
          </p:nvSpPr>
          <p:spPr>
            <a:xfrm>
              <a:off x="9201150" y="3152775"/>
              <a:ext cx="533400" cy="1"/>
            </a:xfrm>
            <a:prstGeom prst="line">
              <a:avLst/>
            </a:prstGeom>
            <a:noFill/>
            <a:ln w="19050">
              <a:solidFill>
                <a:schemeClr val="accent1"/>
              </a:solidFill>
              <a:tailEnd type="triangle" w="lg" len="lg"/>
            </a:ln>
          </p:spPr>
        </p:sp>
        <p:sp>
          <p:nvSpPr>
            <p:cNvPr id="29" name="TextBox 29"/>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T̂(t+3)</a:t>
              </a:r>
            </a:p>
          </p:txBody>
        </p:sp>
        <p:sp>
          <p:nvSpPr>
            <p:cNvPr id="30" name="TextBox 30"/>
            <p:cNvSpPr txBox="1"/>
            <p:nvPr/>
          </p:nvSpPr>
          <p:spPr>
            <a:xfrm>
              <a:off x="4296918" y="4508182"/>
              <a:ext cx="393748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Pipelined datapath with saturation logic.</a:t>
              </a:r>
            </a:p>
          </p:txBody>
        </p:sp>
      </p:grpSp>
      <p:grpSp>
        <p:nvGrpSpPr>
          <p:cNvPr id="33" name="control-contract"/>
          <p:cNvGrpSpPr/>
          <p:nvPr/>
        </p:nvGrpSpPr>
        <p:grpSpPr>
          <a:xfrm>
            <a:off x="601218" y="5346382"/>
            <a:ext cx="8128654" cy="932307"/>
            <a:chOff x="601218" y="5346382"/>
            <a:chExt cx="8128654" cy="932307"/>
          </a:xfrm>
        </p:grpSpPr>
        <p:sp>
          <p:nvSpPr>
            <p:cNvPr id="32" name="TextBox 32"/>
            <p:cNvSpPr txBox="1"/>
            <p:nvPr/>
          </p:nvSpPr>
          <p:spPr>
            <a:xfrm>
              <a:off x="601218" y="5346382"/>
              <a:ext cx="812865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Clock + valid accept samples. Forecast asserted only after 25 valid samples (warm-up).</a:t>
              </a:r>
              <a:br/>
              <a:r>
                <a:rPr lang="en-US" sz="1650" dirty="0">
                  <a:solidFill>
                    <a:schemeClr val="accent3"/>
                  </a:solidFill>
                  <a:latin typeface="+mn-lt"/>
                  <a:ea typeface="+mn-ea"/>
                  <a:cs typeface="+mn-cs"/>
                </a:rPr>
                <a:t>Coefficients fixed on-chip; 1 sample step = 1 hourly interval in data sequence.</a:t>
              </a:r>
              <a:br/>
              <a:r>
                <a:rPr lang="en-US" sz="1650" dirty="0">
                  <a:solidFill>
                    <a:schemeClr val="accent3"/>
                  </a:solidFill>
                  <a:latin typeface="+mn-lt"/>
                  <a:ea typeface="+mn-ea"/>
                  <a:cs typeface="+mn-cs"/>
                </a:rPr>
                <a:t>Hardware latency is 2 to 4 clock cycles (nanoseconds), NOT 3 real hours!</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3291"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Demo by replaying historical data</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10 / 15</a:t>
            </a:r>
          </a:p>
        </p:txBody>
      </p:sp>
      <p:grpSp>
        <p:nvGrpSpPr>
          <p:cNvPr id="28" name="demo-diagram"/>
          <p:cNvGrpSpPr/>
          <p:nvPr/>
        </p:nvGrpSpPr>
        <p:grpSpPr>
          <a:xfrm>
            <a:off x="609600" y="1524000"/>
            <a:ext cx="10973575" cy="3048000"/>
            <a:chOff x="609600" y="1524000"/>
            <a:chExt cx="10973575" cy="3048000"/>
          </a:xfrm>
        </p:grpSpPr>
        <p:sp>
          <p:nvSpPr>
            <p:cNvPr id="6" name="Rectangle 6"/>
            <p:cNvSpPr/>
            <p:nvPr/>
          </p:nvSpPr>
          <p:spPr>
            <a:xfrm>
              <a:off x="609600" y="1524000"/>
              <a:ext cx="3238500" cy="3048000"/>
            </a:xfrm>
            <a:prstGeom prst="roundRect">
              <a:avLst>
                <a:gd name="adj" fmla="val 1250"/>
              </a:avLst>
            </a:prstGeom>
            <a:solidFill>
              <a:schemeClr val="lt2"/>
            </a:solidFill>
            <a:ln>
              <a:noFill/>
            </a:ln>
          </p:spPr>
        </p:sp>
        <p:sp>
          <p:nvSpPr>
            <p:cNvPr id="7" name="TextBox 7"/>
            <p:cNvSpPr txBox="1"/>
            <p:nvPr/>
          </p:nvSpPr>
          <p:spPr>
            <a:xfrm>
              <a:off x="828294" y="1789748"/>
              <a:ext cx="3271563"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HOST PC (PYTHON/C++)</a:t>
              </a:r>
            </a:p>
          </p:txBody>
        </p:sp>
        <p:sp>
          <p:nvSpPr>
            <p:cNvPr id="8" name="TextBox 8"/>
            <p:cNvSpPr txBox="1"/>
            <p:nvPr/>
          </p:nvSpPr>
          <p:spPr>
            <a:xfrm>
              <a:off x="829818" y="2298382"/>
              <a:ext cx="2706856"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Reads chronological CSV</a:t>
              </a:r>
            </a:p>
          </p:txBody>
        </p:sp>
        <p:sp>
          <p:nvSpPr>
            <p:cNvPr id="9" name="TextBox 9"/>
            <p:cNvSpPr txBox="1"/>
            <p:nvPr/>
          </p:nvSpPr>
          <p:spPr>
            <a:xfrm>
              <a:off x="829818" y="2679382"/>
              <a:ext cx="2834765"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Sends samples up to time t</a:t>
              </a:r>
            </a:p>
          </p:txBody>
        </p:sp>
        <p:sp>
          <p:nvSpPr>
            <p:cNvPr id="10" name="TextBox 10"/>
            <p:cNvSpPr txBox="1"/>
            <p:nvPr/>
          </p:nvSpPr>
          <p:spPr>
            <a:xfrm>
              <a:off x="829818" y="3060382"/>
              <a:ext cx="2490752"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Holds T(t+3) for scoring</a:t>
              </a:r>
            </a:p>
          </p:txBody>
        </p:sp>
        <p:sp>
          <p:nvSpPr>
            <p:cNvPr id="11" name="TextBox 11"/>
            <p:cNvSpPr txBox="1"/>
            <p:nvPr/>
          </p:nvSpPr>
          <p:spPr>
            <a:xfrm>
              <a:off x="829818" y="3536632"/>
              <a:ext cx="242045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Live Visual Dashboard</a:t>
              </a:r>
            </a:p>
          </p:txBody>
        </p:sp>
        <p:sp>
          <p:nvSpPr>
            <p:cNvPr id="12" name="Line 12"/>
            <p:cNvSpPr/>
            <p:nvPr/>
          </p:nvSpPr>
          <p:spPr>
            <a:xfrm>
              <a:off x="3848100" y="2667000"/>
              <a:ext cx="723900" cy="1"/>
            </a:xfrm>
            <a:prstGeom prst="line">
              <a:avLst/>
            </a:prstGeom>
            <a:noFill/>
            <a:ln w="28575">
              <a:solidFill>
                <a:schemeClr val="accent1"/>
              </a:solidFill>
              <a:tailEnd type="triangle" w="lg" len="lg"/>
            </a:ln>
          </p:spPr>
        </p:sp>
        <p:sp>
          <p:nvSpPr>
            <p:cNvPr id="13" name="TextBox 13"/>
            <p:cNvSpPr txBox="1"/>
            <p:nvPr/>
          </p:nvSpPr>
          <p:spPr>
            <a:xfrm>
              <a:off x="3898392" y="2378392"/>
              <a:ext cx="1232151"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mn-lt"/>
                  <a:ea typeface="+mn-ea"/>
                  <a:cs typeface="+mn-cs"/>
                </a:rPr>
                <a:t>UART TX: T(t)</a:t>
              </a:r>
            </a:p>
          </p:txBody>
        </p:sp>
        <p:sp>
          <p:nvSpPr>
            <p:cNvPr id="14" name="Rectangle 14"/>
            <p:cNvSpPr/>
            <p:nvPr/>
          </p:nvSpPr>
          <p:spPr>
            <a:xfrm>
              <a:off x="4667250" y="1524000"/>
              <a:ext cx="2857500" cy="3048000"/>
            </a:xfrm>
            <a:prstGeom prst="roundRect">
              <a:avLst>
                <a:gd name="adj" fmla="val 1333"/>
              </a:avLst>
            </a:prstGeom>
            <a:solidFill>
              <a:schemeClr val="lt2"/>
            </a:solidFill>
            <a:ln>
              <a:noFill/>
            </a:ln>
          </p:spPr>
        </p:sp>
        <p:sp>
          <p:nvSpPr>
            <p:cNvPr id="15" name="TextBox 15"/>
            <p:cNvSpPr txBox="1"/>
            <p:nvPr/>
          </p:nvSpPr>
          <p:spPr>
            <a:xfrm>
              <a:off x="4885944" y="1789748"/>
              <a:ext cx="1884335"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FPGA BOARD</a:t>
              </a:r>
            </a:p>
          </p:txBody>
        </p:sp>
        <p:sp>
          <p:nvSpPr>
            <p:cNvPr id="16" name="TextBox 16"/>
            <p:cNvSpPr txBox="1"/>
            <p:nvPr/>
          </p:nvSpPr>
          <p:spPr>
            <a:xfrm>
              <a:off x="4887468" y="2298382"/>
              <a:ext cx="1963511"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UART RX module</a:t>
              </a:r>
            </a:p>
          </p:txBody>
        </p:sp>
        <p:sp>
          <p:nvSpPr>
            <p:cNvPr id="17" name="TextBox 17"/>
            <p:cNvSpPr txBox="1"/>
            <p:nvPr/>
          </p:nvSpPr>
          <p:spPr>
            <a:xfrm>
              <a:off x="4887468" y="2679382"/>
              <a:ext cx="2284275"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25-stage shift register</a:t>
              </a:r>
            </a:p>
          </p:txBody>
        </p:sp>
        <p:sp>
          <p:nvSpPr>
            <p:cNvPr id="18" name="TextBox 18"/>
            <p:cNvSpPr txBox="1"/>
            <p:nvPr/>
          </p:nvSpPr>
          <p:spPr>
            <a:xfrm>
              <a:off x="4887468" y="3060382"/>
              <a:ext cx="1839951"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Computes T̂(t+3)</a:t>
              </a:r>
            </a:p>
          </p:txBody>
        </p:sp>
        <p:sp>
          <p:nvSpPr>
            <p:cNvPr id="19" name="TextBox 19"/>
            <p:cNvSpPr txBox="1"/>
            <p:nvPr/>
          </p:nvSpPr>
          <p:spPr>
            <a:xfrm>
              <a:off x="4887468" y="3441382"/>
              <a:ext cx="1938066"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UART TX module</a:t>
              </a:r>
            </a:p>
          </p:txBody>
        </p:sp>
        <p:sp>
          <p:nvSpPr>
            <p:cNvPr id="20" name="Line 20"/>
            <p:cNvSpPr/>
            <p:nvPr/>
          </p:nvSpPr>
          <p:spPr>
            <a:xfrm>
              <a:off x="7524750" y="3429000"/>
              <a:ext cx="723900" cy="1"/>
            </a:xfrm>
            <a:prstGeom prst="line">
              <a:avLst/>
            </a:prstGeom>
            <a:noFill/>
            <a:ln w="28575">
              <a:solidFill>
                <a:schemeClr val="accent1"/>
              </a:solidFill>
              <a:tailEnd type="triangle" w="lg" len="lg"/>
            </a:ln>
          </p:spPr>
        </p:sp>
        <p:sp>
          <p:nvSpPr>
            <p:cNvPr id="21" name="TextBox 21"/>
            <p:cNvSpPr txBox="1"/>
            <p:nvPr/>
          </p:nvSpPr>
          <p:spPr>
            <a:xfrm>
              <a:off x="7575042" y="3140392"/>
              <a:ext cx="147087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mn-lt"/>
                  <a:ea typeface="+mn-ea"/>
                  <a:cs typeface="+mn-cs"/>
                </a:rPr>
                <a:t>UART RX: T̂(t+3)</a:t>
              </a:r>
            </a:p>
          </p:txBody>
        </p:sp>
        <p:sp>
          <p:nvSpPr>
            <p:cNvPr id="22" name="Rectangle 22"/>
            <p:cNvSpPr/>
            <p:nvPr/>
          </p:nvSpPr>
          <p:spPr>
            <a:xfrm>
              <a:off x="8343900" y="1524000"/>
              <a:ext cx="3238500" cy="3048000"/>
            </a:xfrm>
            <a:prstGeom prst="roundRect">
              <a:avLst>
                <a:gd name="adj" fmla="val 1250"/>
              </a:avLst>
            </a:prstGeom>
            <a:solidFill>
              <a:schemeClr val="lt2"/>
            </a:solidFill>
            <a:ln>
              <a:noFill/>
            </a:ln>
          </p:spPr>
        </p:sp>
        <p:sp>
          <p:nvSpPr>
            <p:cNvPr id="23" name="TextBox 23"/>
            <p:cNvSpPr txBox="1"/>
            <p:nvPr/>
          </p:nvSpPr>
          <p:spPr>
            <a:xfrm>
              <a:off x="8563356" y="1805940"/>
              <a:ext cx="2877397"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SCOREBOARD &amp; PLOT</a:t>
              </a:r>
            </a:p>
          </p:txBody>
        </p:sp>
        <p:sp>
          <p:nvSpPr>
            <p:cNvPr id="24" name="TextBox 24"/>
            <p:cNvSpPr txBox="1"/>
            <p:nvPr/>
          </p:nvSpPr>
          <p:spPr>
            <a:xfrm>
              <a:off x="8564118" y="2298382"/>
              <a:ext cx="2833773"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Matches forecast with label</a:t>
              </a:r>
            </a:p>
          </p:txBody>
        </p:sp>
        <p:sp>
          <p:nvSpPr>
            <p:cNvPr id="25" name="TextBox 25"/>
            <p:cNvSpPr txBox="1"/>
            <p:nvPr/>
          </p:nvSpPr>
          <p:spPr>
            <a:xfrm>
              <a:off x="8564118" y="2679382"/>
              <a:ext cx="2681261"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Calculates real-time MAE</a:t>
              </a:r>
            </a:p>
          </p:txBody>
        </p:sp>
        <p:sp>
          <p:nvSpPr>
            <p:cNvPr id="26" name="TextBox 26"/>
            <p:cNvSpPr txBox="1"/>
            <p:nvPr/>
          </p:nvSpPr>
          <p:spPr>
            <a:xfrm>
              <a:off x="8564118" y="3060382"/>
              <a:ext cx="3019057"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Plots predicted vs. true curve</a:t>
              </a:r>
            </a:p>
          </p:txBody>
        </p:sp>
        <p:sp>
          <p:nvSpPr>
            <p:cNvPr id="27" name="TextBox 27"/>
            <p:cNvSpPr txBox="1"/>
            <p:nvPr/>
          </p:nvSpPr>
          <p:spPr>
            <a:xfrm>
              <a:off x="8564118" y="3536632"/>
              <a:ext cx="271621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No Look-Ahead Leakage!</a:t>
              </a:r>
            </a:p>
          </p:txBody>
        </p:sp>
      </p:grpSp>
      <p:grpSp>
        <p:nvGrpSpPr>
          <p:cNvPr id="30" name="demo-principle"/>
          <p:cNvGrpSpPr/>
          <p:nvPr/>
        </p:nvGrpSpPr>
        <p:grpSpPr>
          <a:xfrm>
            <a:off x="601218" y="5298758"/>
            <a:ext cx="8177270" cy="932307"/>
            <a:chOff x="601218" y="5298758"/>
            <a:chExt cx="8177270" cy="932307"/>
          </a:xfrm>
        </p:grpSpPr>
        <p:sp>
          <p:nvSpPr>
            <p:cNvPr id="29" name="TextBox 29"/>
            <p:cNvSpPr txBox="1"/>
            <p:nvPr/>
          </p:nvSpPr>
          <p:spPr>
            <a:xfrm>
              <a:off x="601218" y="5298758"/>
              <a:ext cx="8177270"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Accelerated Replay: Samples transmitted milliseconds apart instead of hours apart.</a:t>
              </a:r>
              <a:br/>
              <a:r>
                <a:rPr lang="en-US" sz="1650" dirty="0">
                  <a:solidFill>
                    <a:schemeClr val="accent3"/>
                  </a:solidFill>
                  <a:latin typeface="+mn-lt"/>
                  <a:ea typeface="+mn-ea"/>
                  <a:cs typeface="+mn-cs"/>
                </a:rPr>
                <a:t>Enables full demo of 1,000+ predictions in under 2 minutes during the final presentation.</a:t>
              </a:r>
              <a:br/>
              <a:r>
                <a:rPr lang="en-US" sz="1650" dirty="0">
                  <a:solidFill>
                    <a:schemeClr val="accent3"/>
                  </a:solidFill>
                  <a:latin typeface="+mn-lt"/>
                  <a:ea typeface="+mn-ea"/>
                  <a:cs typeface="+mn-cs"/>
                </a:rPr>
                <a:t>Future label T(t+3) never enters the FPGA; strictly preserved on host PC for verification.</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586070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verification layers</a:t>
            </a:r>
          </a:p>
        </p:txBody>
      </p:sp>
      <p:grpSp>
        <p:nvGrpSpPr>
          <p:cNvPr id="12" name="three-card-one-slot Proxy Content"/>
          <p:cNvGrpSpPr/>
          <p:nvPr/>
        </p:nvGrpSpPr>
        <p:grpSpPr>
          <a:xfrm>
            <a:off x="823722" y="1968818"/>
            <a:ext cx="3062478" cy="3462147"/>
            <a:chOff x="823722" y="1968818"/>
            <a:chExt cx="3062478" cy="3462147"/>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01 / C++</a:t>
              </a:r>
            </a:p>
          </p:txBody>
        </p:sp>
        <p:sp>
          <p:nvSpPr>
            <p:cNvPr id="8" name="TextBox 8"/>
            <p:cNvSpPr txBox="1"/>
            <p:nvPr/>
          </p:nvSpPr>
          <p:spPr>
            <a:xfrm>
              <a:off x="827532" y="2630805"/>
              <a:ext cx="2361025"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FLOAT ↔ FIXED</a:t>
              </a:r>
            </a:p>
          </p:txBody>
        </p:sp>
        <p:sp>
          <p:nvSpPr>
            <p:cNvPr id="9" name="TextBox 9"/>
            <p:cNvSpPr txBox="1"/>
            <p:nvPr/>
          </p:nvSpPr>
          <p:spPr>
            <a:xfrm>
              <a:off x="829056" y="3215640"/>
              <a:ext cx="2356180"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Measure precision loss</a:t>
              </a:r>
              <a:br/>
              <a:r>
                <a:rPr lang="en-US" sz="1800" dirty="0">
                  <a:solidFill>
                    <a:schemeClr val="dk1"/>
                  </a:solidFill>
                  <a:latin typeface="+mn-lt"/>
                  <a:ea typeface="+mn-ea"/>
                  <a:cs typeface="+mn-cs"/>
                </a:rPr>
                <a:t>from quantization</a:t>
              </a:r>
            </a:p>
          </p:txBody>
        </p:sp>
        <p:sp>
          <p:nvSpPr>
            <p:cNvPr id="10" name="Line 10"/>
            <p:cNvSpPr/>
            <p:nvPr/>
          </p:nvSpPr>
          <p:spPr>
            <a:xfrm>
              <a:off x="838200" y="400050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51008"/>
              <a:ext cx="2303269" cy="11799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Tests:</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Negative temperatures</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Max dynamic limits</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Quantization SNR drop</a:t>
              </a:r>
            </a:p>
          </p:txBody>
        </p:sp>
      </p:grpSp>
      <p:grpSp>
        <p:nvGrpSpPr>
          <p:cNvPr id="18" name="three-card-two-slot Proxy Content"/>
          <p:cNvGrpSpPr/>
          <p:nvPr/>
        </p:nvGrpSpPr>
        <p:grpSpPr>
          <a:xfrm>
            <a:off x="4557522" y="1968818"/>
            <a:ext cx="3062478" cy="3462147"/>
            <a:chOff x="4557522" y="1968818"/>
            <a:chExt cx="3062478" cy="3462147"/>
          </a:xfrm>
        </p:grpSpPr>
        <p:sp>
          <p:nvSpPr>
            <p:cNvPr id="13" name="TextBox 13"/>
            <p:cNvSpPr txBox="1"/>
            <p:nvPr/>
          </p:nvSpPr>
          <p:spPr>
            <a:xfrm>
              <a:off x="4557522" y="1968818"/>
              <a:ext cx="1538444"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02 / SIM</a:t>
              </a:r>
            </a:p>
          </p:txBody>
        </p:sp>
        <p:sp>
          <p:nvSpPr>
            <p:cNvPr id="14" name="TextBox 14"/>
            <p:cNvSpPr txBox="1"/>
            <p:nvPr/>
          </p:nvSpPr>
          <p:spPr>
            <a:xfrm>
              <a:off x="4561332" y="2630805"/>
              <a:ext cx="241078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TB ↔ RTL CORE</a:t>
              </a:r>
            </a:p>
          </p:txBody>
        </p:sp>
        <p:sp>
          <p:nvSpPr>
            <p:cNvPr id="15" name="TextBox 15"/>
            <p:cNvSpPr txBox="1"/>
            <p:nvPr/>
          </p:nvSpPr>
          <p:spPr>
            <a:xfrm>
              <a:off x="4562856" y="3215640"/>
              <a:ext cx="2457404"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Compare cycle-by-cycle</a:t>
              </a:r>
              <a:br/>
              <a:r>
                <a:rPr lang="en-US" sz="1800" dirty="0">
                  <a:solidFill>
                    <a:schemeClr val="dk1"/>
                  </a:solidFill>
                  <a:latin typeface="+mn-lt"/>
                  <a:ea typeface="+mn-ea"/>
                  <a:cs typeface="+mn-cs"/>
                </a:rPr>
                <a:t>with valid handshake</a:t>
              </a:r>
            </a:p>
          </p:txBody>
        </p:sp>
        <p:sp>
          <p:nvSpPr>
            <p:cNvPr id="16" name="Line 16"/>
            <p:cNvSpPr/>
            <p:nvPr/>
          </p:nvSpPr>
          <p:spPr>
            <a:xfrm>
              <a:off x="4572000" y="400050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251008"/>
              <a:ext cx="2594166" cy="11799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Target: 100% BIT-EXACT</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Reset sequence</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25-sample buffer warm-up</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Pauses/gaps in valid_in</a:t>
              </a:r>
            </a:p>
          </p:txBody>
        </p:sp>
      </p:grpSp>
      <p:grpSp>
        <p:nvGrpSpPr>
          <p:cNvPr id="24" name="three-card-three-slot Proxy Content"/>
          <p:cNvGrpSpPr/>
          <p:nvPr/>
        </p:nvGrpSpPr>
        <p:grpSpPr>
          <a:xfrm>
            <a:off x="8291322" y="1968818"/>
            <a:ext cx="3062478" cy="3462147"/>
            <a:chOff x="8291322" y="1968818"/>
            <a:chExt cx="3062478" cy="3462147"/>
          </a:xfrm>
        </p:grpSpPr>
        <p:sp>
          <p:nvSpPr>
            <p:cNvPr id="19" name="TextBox 19"/>
            <p:cNvSpPr txBox="1"/>
            <p:nvPr/>
          </p:nvSpPr>
          <p:spPr>
            <a:xfrm>
              <a:off x="8291322" y="1968818"/>
              <a:ext cx="2304133"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03 / BOARD</a:t>
              </a:r>
            </a:p>
          </p:txBody>
        </p:sp>
        <p:sp>
          <p:nvSpPr>
            <p:cNvPr id="20" name="TextBox 20"/>
            <p:cNvSpPr txBox="1"/>
            <p:nvPr/>
          </p:nvSpPr>
          <p:spPr>
            <a:xfrm>
              <a:off x="8295132" y="2630805"/>
              <a:ext cx="226161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BOARD ↔ REF.</a:t>
              </a:r>
            </a:p>
          </p:txBody>
        </p:sp>
        <p:sp>
          <p:nvSpPr>
            <p:cNvPr id="21" name="TextBox 21"/>
            <p:cNvSpPr txBox="1"/>
            <p:nvPr/>
          </p:nvSpPr>
          <p:spPr>
            <a:xfrm>
              <a:off x="8296656" y="3215640"/>
              <a:ext cx="2038563" cy="675894"/>
            </a:xfrm>
            <a:prstGeom prst="rect">
              <a:avLst/>
            </a:prstGeom>
            <a:noFill/>
            <a:ln>
              <a:noFill/>
            </a:ln>
          </p:spPr>
          <p:txBody>
            <a:bodyPr wrap="none" lIns="0" tIns="0" rIns="0" bIns="0" anchor="t" anchorCtr="0">
              <a:spAutoFit/>
            </a:bodyPr>
            <a:lstStyle/>
            <a:p>
              <a:pPr algn="l">
                <a:lnSpc>
                  <a:spcPts val="2550"/>
                </a:lnSpc>
              </a:pPr>
              <a:r>
                <a:rPr lang="en-US" sz="1800" dirty="0">
                  <a:solidFill>
                    <a:schemeClr val="dk1"/>
                  </a:solidFill>
                  <a:latin typeface="+mn-lt"/>
                  <a:ea typeface="+mn-ea"/>
                  <a:cs typeface="+mn-cs"/>
                </a:rPr>
                <a:t>Check physical I/O</a:t>
              </a:r>
              <a:br/>
              <a:r>
                <a:rPr lang="en-US" sz="1800" dirty="0">
                  <a:solidFill>
                    <a:schemeClr val="dk1"/>
                  </a:solidFill>
                  <a:latin typeface="+mn-lt"/>
                  <a:ea typeface="+mn-ea"/>
                  <a:cs typeface="+mn-cs"/>
                </a:rPr>
                <a:t>&amp; integrated system</a:t>
              </a:r>
            </a:p>
          </p:txBody>
        </p:sp>
        <p:sp>
          <p:nvSpPr>
            <p:cNvPr id="22" name="Line 22"/>
            <p:cNvSpPr/>
            <p:nvPr/>
          </p:nvSpPr>
          <p:spPr>
            <a:xfrm>
              <a:off x="8305800" y="400050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251008"/>
              <a:ext cx="2280176" cy="11799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Tests:</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UART frame timing</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Packet endianness</a:t>
              </a:r>
            </a:p>
            <a:p>
              <a:pPr algn="l" marL="131576" indent="-131576">
                <a:lnSpc>
                  <a:spcPts val="2250"/>
                </a:lnSpc>
                <a:buClr>
                  <a:schemeClr val="accent3"/>
                </a:buClr>
                <a:buSzTx/>
                <a:buFontTx/>
                <a:buChar char="•"/>
              </a:pPr>
              <a:r>
                <a:rPr lang="en-US" sz="1650" dirty="0">
                  <a:solidFill>
                    <a:schemeClr val="accent3"/>
                  </a:solidFill>
                  <a:latin typeface="+mn-lt"/>
                  <a:ea typeface="+mn-ea"/>
                  <a:cs typeface="+mn-cs"/>
                </a:rPr>
                <a:t>PC logging scoreboard</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11 / 15</a:t>
            </a:r>
          </a:p>
        </p:txBody>
      </p:sp>
      <p:grpSp>
        <p:nvGrpSpPr>
          <p:cNvPr id="27" name="reference-principle"/>
          <p:cNvGrpSpPr/>
          <p:nvPr/>
        </p:nvGrpSpPr>
        <p:grpSpPr>
          <a:xfrm>
            <a:off x="601218" y="6298882"/>
            <a:ext cx="8629015" cy="322707"/>
            <a:chOff x="601218" y="6298882"/>
            <a:chExt cx="8629015" cy="322707"/>
          </a:xfrm>
        </p:grpSpPr>
        <p:sp>
          <p:nvSpPr>
            <p:cNvPr id="26" name="TextBox 26"/>
            <p:cNvSpPr txBox="1"/>
            <p:nvPr/>
          </p:nvSpPr>
          <p:spPr>
            <a:xfrm>
              <a:off x="601218" y="6298882"/>
              <a:ext cx="8629015"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Same test vectors across all 3 tiers; each layer answers a distinct engineering question.</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10601828"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Hardware micro-architecture trade-off study</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12 / 15</a:t>
            </a:r>
          </a:p>
        </p:txBody>
      </p:sp>
      <p:grpSp>
        <p:nvGrpSpPr>
          <p:cNvPr id="16" name="arch-a-panel"/>
          <p:cNvGrpSpPr/>
          <p:nvPr/>
        </p:nvGrpSpPr>
        <p:grpSpPr>
          <a:xfrm>
            <a:off x="609600" y="1428750"/>
            <a:ext cx="5257800" cy="4572000"/>
            <a:chOff x="609600" y="1428750"/>
            <a:chExt cx="5257800" cy="4572000"/>
          </a:xfrm>
        </p:grpSpPr>
        <p:sp>
          <p:nvSpPr>
            <p:cNvPr id="6" name="Rectangle 6"/>
            <p:cNvSpPr/>
            <p:nvPr/>
          </p:nvSpPr>
          <p:spPr>
            <a:xfrm>
              <a:off x="609600" y="1428750"/>
              <a:ext cx="5257800" cy="4572000"/>
            </a:xfrm>
            <a:prstGeom prst="roundRect">
              <a:avLst>
                <a:gd name="adj" fmla="val 833"/>
              </a:avLst>
            </a:prstGeom>
            <a:solidFill>
              <a:schemeClr val="lt2"/>
            </a:solidFill>
            <a:ln>
              <a:noFill/>
            </a:ln>
          </p:spPr>
        </p:sp>
        <p:sp>
          <p:nvSpPr>
            <p:cNvPr id="7" name="TextBox 7"/>
            <p:cNvSpPr txBox="1"/>
            <p:nvPr/>
          </p:nvSpPr>
          <p:spPr>
            <a:xfrm>
              <a:off x="828294" y="1656398"/>
              <a:ext cx="3394438"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ARCH A: PARALLEL DSP</a:t>
              </a:r>
            </a:p>
          </p:txBody>
        </p:sp>
        <p:sp>
          <p:nvSpPr>
            <p:cNvPr id="8" name="TextBox 8"/>
            <p:cNvSpPr txBox="1"/>
            <p:nvPr/>
          </p:nvSpPr>
          <p:spPr>
            <a:xfrm>
              <a:off x="829818" y="2165032"/>
              <a:ext cx="354210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Dedicated Multipliers per Feature</a:t>
              </a:r>
            </a:p>
          </p:txBody>
        </p:sp>
        <p:sp>
          <p:nvSpPr>
            <p:cNvPr id="9" name="TextBox 9"/>
            <p:cNvSpPr txBox="1"/>
            <p:nvPr/>
          </p:nvSpPr>
          <p:spPr>
            <a:xfrm>
              <a:off x="830580" y="2600325"/>
              <a:ext cx="3360246"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l-GR" sz="1500" dirty="0">
                  <a:solidFill>
                    <a:schemeClr val="dk1"/>
                  </a:solidFill>
                  <a:latin typeface="+mn-lt"/>
                  <a:ea typeface="+mn-ea"/>
                  <a:cs typeface="+mn-cs"/>
                </a:rPr>
                <a:t>Parallel multipliers for Δday and Δ3h</a:t>
              </a:r>
            </a:p>
          </p:txBody>
        </p:sp>
        <p:sp>
          <p:nvSpPr>
            <p:cNvPr id="10" name="TextBox 10"/>
            <p:cNvSpPr txBox="1"/>
            <p:nvPr/>
          </p:nvSpPr>
          <p:spPr>
            <a:xfrm>
              <a:off x="830580" y="2981325"/>
              <a:ext cx="2206447"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Latency: 2 clock cycles</a:t>
              </a:r>
            </a:p>
          </p:txBody>
        </p:sp>
        <p:sp>
          <p:nvSpPr>
            <p:cNvPr id="11" name="TextBox 11"/>
            <p:cNvSpPr txBox="1"/>
            <p:nvPr/>
          </p:nvSpPr>
          <p:spPr>
            <a:xfrm>
              <a:off x="830580" y="3362325"/>
              <a:ext cx="3474767"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Throughput: 1 prediction / clock cycle</a:t>
              </a:r>
            </a:p>
          </p:txBody>
        </p:sp>
        <p:sp>
          <p:nvSpPr>
            <p:cNvPr id="12" name="TextBox 12"/>
            <p:cNvSpPr txBox="1"/>
            <p:nvPr/>
          </p:nvSpPr>
          <p:spPr>
            <a:xfrm>
              <a:off x="830580" y="3743325"/>
              <a:ext cx="3343320"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Cost: Higher DSP slice / LUT count</a:t>
              </a:r>
            </a:p>
          </p:txBody>
        </p:sp>
        <p:sp>
          <p:nvSpPr>
            <p:cNvPr id="13" name="Line 13"/>
            <p:cNvSpPr/>
            <p:nvPr/>
          </p:nvSpPr>
          <p:spPr>
            <a:xfrm>
              <a:off x="838200" y="42862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9818" y="4489132"/>
              <a:ext cx="205404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Target Application:</a:t>
              </a:r>
            </a:p>
          </p:txBody>
        </p:sp>
        <p:sp>
          <p:nvSpPr>
            <p:cNvPr id="15" name="TextBox 15"/>
            <p:cNvSpPr txBox="1"/>
            <p:nvPr/>
          </p:nvSpPr>
          <p:spPr>
            <a:xfrm>
              <a:off x="830580" y="4886325"/>
              <a:ext cx="371059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accent3"/>
                  </a:solidFill>
                  <a:latin typeface="+mn-lt"/>
                  <a:ea typeface="+mn-ea"/>
                  <a:cs typeface="+mn-cs"/>
                </a:rPr>
                <a:t>High-speed sensor streams &amp; multi-channel</a:t>
              </a:r>
              <a:br/>
              <a:r>
                <a:rPr lang="en-US" sz="1500" dirty="0">
                  <a:solidFill>
                    <a:schemeClr val="accent3"/>
                  </a:solidFill>
                  <a:latin typeface="+mn-lt"/>
                  <a:ea typeface="+mn-ea"/>
                  <a:cs typeface="+mn-cs"/>
                </a:rPr>
                <a:t>real-time thermal monitoring.</a:t>
              </a:r>
            </a:p>
          </p:txBody>
        </p:sp>
      </p:grpSp>
      <p:grpSp>
        <p:nvGrpSpPr>
          <p:cNvPr id="27" name="arch-b-panel"/>
          <p:cNvGrpSpPr/>
          <p:nvPr/>
        </p:nvGrpSpPr>
        <p:grpSpPr>
          <a:xfrm>
            <a:off x="6324600" y="1428750"/>
            <a:ext cx="5257800" cy="4572000"/>
            <a:chOff x="6324600" y="1428750"/>
            <a:chExt cx="5257800" cy="4572000"/>
          </a:xfrm>
        </p:grpSpPr>
        <p:sp>
          <p:nvSpPr>
            <p:cNvPr id="17" name="Rectangle 17"/>
            <p:cNvSpPr/>
            <p:nvPr/>
          </p:nvSpPr>
          <p:spPr>
            <a:xfrm>
              <a:off x="6324600" y="1428750"/>
              <a:ext cx="5257800" cy="4572000"/>
            </a:xfrm>
            <a:prstGeom prst="roundRect">
              <a:avLst>
                <a:gd name="adj" fmla="val 833"/>
              </a:avLst>
            </a:prstGeom>
            <a:solidFill>
              <a:schemeClr val="lt2"/>
            </a:solidFill>
            <a:ln>
              <a:noFill/>
            </a:ln>
          </p:spPr>
        </p:sp>
        <p:sp>
          <p:nvSpPr>
            <p:cNvPr id="18" name="TextBox 18"/>
            <p:cNvSpPr txBox="1"/>
            <p:nvPr/>
          </p:nvSpPr>
          <p:spPr>
            <a:xfrm>
              <a:off x="6543294" y="1656398"/>
              <a:ext cx="3825689"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ARCH B: SHARED-MAC FSM</a:t>
              </a:r>
            </a:p>
          </p:txBody>
        </p:sp>
        <p:sp>
          <p:nvSpPr>
            <p:cNvPr id="19" name="TextBox 19"/>
            <p:cNvSpPr txBox="1"/>
            <p:nvPr/>
          </p:nvSpPr>
          <p:spPr>
            <a:xfrm>
              <a:off x="6544818" y="2165032"/>
              <a:ext cx="363418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Time-Multiplexed Single Multiplier</a:t>
              </a:r>
            </a:p>
          </p:txBody>
        </p:sp>
        <p:sp>
          <p:nvSpPr>
            <p:cNvPr id="20" name="TextBox 20"/>
            <p:cNvSpPr txBox="1"/>
            <p:nvPr/>
          </p:nvSpPr>
          <p:spPr>
            <a:xfrm>
              <a:off x="6545580" y="2600325"/>
              <a:ext cx="3610815"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1 shared multiplier-accumulator (MAC)</a:t>
              </a:r>
            </a:p>
          </p:txBody>
        </p:sp>
        <p:sp>
          <p:nvSpPr>
            <p:cNvPr id="21" name="TextBox 21"/>
            <p:cNvSpPr txBox="1"/>
            <p:nvPr/>
          </p:nvSpPr>
          <p:spPr>
            <a:xfrm>
              <a:off x="6545580" y="2981325"/>
              <a:ext cx="3755129"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FSM controller cycles through tap inputs</a:t>
              </a:r>
            </a:p>
          </p:txBody>
        </p:sp>
        <p:sp>
          <p:nvSpPr>
            <p:cNvPr id="22" name="TextBox 22"/>
            <p:cNvSpPr txBox="1"/>
            <p:nvPr/>
          </p:nvSpPr>
          <p:spPr>
            <a:xfrm>
              <a:off x="6545580" y="3362325"/>
              <a:ext cx="3502356"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Latency: N+2 cycles (e.g. 5–6 cycles)</a:t>
              </a:r>
            </a:p>
          </p:txBody>
        </p:sp>
        <p:sp>
          <p:nvSpPr>
            <p:cNvPr id="23" name="TextBox 23"/>
            <p:cNvSpPr txBox="1"/>
            <p:nvPr/>
          </p:nvSpPr>
          <p:spPr>
            <a:xfrm>
              <a:off x="6545580" y="3743325"/>
              <a:ext cx="4189935" cy="293370"/>
            </a:xfrm>
            <a:prstGeom prst="rect">
              <a:avLst/>
            </a:prstGeom>
            <a:noFill/>
            <a:ln>
              <a:noFill/>
            </a:ln>
          </p:spPr>
          <p:txBody>
            <a:bodyPr wrap="none" lIns="0" tIns="0" rIns="0" bIns="0" anchor="t" anchorCtr="0">
              <a:spAutoFit/>
            </a:bodyPr>
            <a:lstStyle/>
            <a:p>
              <a:pPr algn="l" marL="119615" indent="-119615">
                <a:buClr>
                  <a:schemeClr val="dk1"/>
                </a:buClr>
                <a:buSzTx/>
                <a:buFontTx/>
                <a:buChar char="•"/>
              </a:pPr>
              <a:r>
                <a:rPr lang="en-US" sz="1500" dirty="0">
                  <a:solidFill>
                    <a:schemeClr val="dk1"/>
                  </a:solidFill>
                  <a:latin typeface="+mn-lt"/>
                  <a:ea typeface="+mn-ea"/>
                  <a:cs typeface="+mn-cs"/>
                </a:rPr>
                <a:t>Cost: Ultra-compact (1 DSP slice or 0 DSPs)</a:t>
              </a:r>
            </a:p>
          </p:txBody>
        </p:sp>
        <p:sp>
          <p:nvSpPr>
            <p:cNvPr id="24" name="Line 24"/>
            <p:cNvSpPr/>
            <p:nvPr/>
          </p:nvSpPr>
          <p:spPr>
            <a:xfrm>
              <a:off x="6553200" y="428625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5" name="TextBox 25"/>
            <p:cNvSpPr txBox="1"/>
            <p:nvPr/>
          </p:nvSpPr>
          <p:spPr>
            <a:xfrm>
              <a:off x="6544818" y="4489132"/>
              <a:ext cx="205404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Target Application:</a:t>
              </a:r>
            </a:p>
          </p:txBody>
        </p:sp>
        <p:sp>
          <p:nvSpPr>
            <p:cNvPr id="26" name="TextBox 26"/>
            <p:cNvSpPr txBox="1"/>
            <p:nvPr/>
          </p:nvSpPr>
          <p:spPr>
            <a:xfrm>
              <a:off x="6545580" y="4886325"/>
              <a:ext cx="406020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accent3"/>
                  </a:solidFill>
                  <a:latin typeface="+mn-lt"/>
                  <a:ea typeface="+mn-ea"/>
                  <a:cs typeface="+mn-cs"/>
                </a:rPr>
                <a:t>Ultra-low-power, area-constrained edge devices</a:t>
              </a:r>
              <a:br/>
              <a:r>
                <a:rPr lang="en-US" sz="1500" dirty="0">
                  <a:solidFill>
                    <a:schemeClr val="accent3"/>
                  </a:solidFill>
                  <a:latin typeface="+mn-lt"/>
                  <a:ea typeface="+mn-ea"/>
                  <a:cs typeface="+mn-cs"/>
                </a:rPr>
                <a:t>&amp; battery-operated IoT weather stations.</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1025000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12 weeks, upgraded two-phase milestones</a:t>
            </a:r>
          </a:p>
        </p:txBody>
      </p:sp>
      <p:grpSp>
        <p:nvGrpSpPr>
          <p:cNvPr id="13" name="process-timeline-one-slot Proxy Content"/>
          <p:cNvGrpSpPr/>
          <p:nvPr/>
        </p:nvGrpSpPr>
        <p:grpSpPr>
          <a:xfrm>
            <a:off x="751332" y="1792605"/>
            <a:ext cx="1895837" cy="2710815"/>
            <a:chOff x="751332" y="1792605"/>
            <a:chExt cx="1895837" cy="2710815"/>
          </a:xfrm>
        </p:grpSpPr>
        <p:sp>
          <p:nvSpPr>
            <p:cNvPr id="10" name="TextBox 10"/>
            <p:cNvSpPr txBox="1"/>
            <p:nvPr/>
          </p:nvSpPr>
          <p:spPr>
            <a:xfrm>
              <a:off x="751332" y="1792605"/>
              <a:ext cx="169808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1–3</a:t>
              </a:r>
            </a:p>
          </p:txBody>
        </p:sp>
        <p:sp>
          <p:nvSpPr>
            <p:cNvPr id="11" name="TextBox 11"/>
            <p:cNvSpPr txBox="1"/>
            <p:nvPr/>
          </p:nvSpPr>
          <p:spPr>
            <a:xfrm>
              <a:off x="752856" y="2901315"/>
              <a:ext cx="186718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Data &amp; Baseline</a:t>
              </a:r>
            </a:p>
          </p:txBody>
        </p:sp>
        <p:sp>
          <p:nvSpPr>
            <p:cNvPr id="12" name="TextBox 12"/>
            <p:cNvSpPr txBox="1"/>
            <p:nvPr/>
          </p:nvSpPr>
          <p:spPr>
            <a:xfrm>
              <a:off x="754380" y="3409950"/>
              <a:ext cx="1892789" cy="1093470"/>
            </a:xfrm>
            <a:prstGeom prst="rect">
              <a:avLst/>
            </a:prstGeom>
            <a:noFill/>
            <a:ln>
              <a:noFill/>
            </a:ln>
          </p:spPr>
          <p:txBody>
            <a:bodyPr wrap="none" lIns="0" tIns="0" rIns="0" bIns="0" anchor="t" anchorCtr="0">
              <a:spAutoFit/>
            </a:bodyPr>
            <a:lstStyle/>
            <a:p>
              <a:pPr algn="l" marL="119615" indent="-119615">
                <a:lnSpc>
                  <a:spcPts val="2100"/>
                </a:lnSpc>
                <a:buClr>
                  <a:schemeClr val="accent3"/>
                </a:buClr>
                <a:buSzTx/>
                <a:buFontTx/>
                <a:buChar char="•"/>
              </a:pPr>
              <a:r>
                <a:rPr lang="en-US" sz="1500" dirty="0">
                  <a:solidFill>
                    <a:schemeClr val="accent3"/>
                  </a:solidFill>
                  <a:latin typeface="+mn-lt"/>
                  <a:ea typeface="+mn-ea"/>
                  <a:cs typeface="+mn-cs"/>
                </a:rPr>
                <a:t>Clean NASA CSV</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Persistence baseline</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Diurnal baseline</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C++ float OLS fit</a:t>
              </a:r>
            </a:p>
          </p:txBody>
        </p:sp>
      </p:grpSp>
      <p:grpSp>
        <p:nvGrpSpPr>
          <p:cNvPr id="17" name="process-timeline-two-slot Proxy Content"/>
          <p:cNvGrpSpPr/>
          <p:nvPr/>
        </p:nvGrpSpPr>
        <p:grpSpPr>
          <a:xfrm>
            <a:off x="3570732" y="1792605"/>
            <a:ext cx="1747018" cy="2710815"/>
            <a:chOff x="3570732" y="1792605"/>
            <a:chExt cx="1747018" cy="2710815"/>
          </a:xfrm>
        </p:grpSpPr>
        <p:sp>
          <p:nvSpPr>
            <p:cNvPr id="14" name="TextBox 14"/>
            <p:cNvSpPr txBox="1"/>
            <p:nvPr/>
          </p:nvSpPr>
          <p:spPr>
            <a:xfrm>
              <a:off x="3570732" y="1792605"/>
              <a:ext cx="169808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4–6</a:t>
              </a:r>
            </a:p>
          </p:txBody>
        </p:sp>
        <p:sp>
          <p:nvSpPr>
            <p:cNvPr id="15" name="TextBox 15"/>
            <p:cNvSpPr txBox="1"/>
            <p:nvPr/>
          </p:nvSpPr>
          <p:spPr>
            <a:xfrm>
              <a:off x="3572256" y="2901315"/>
              <a:ext cx="156944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Phase 1 MVP</a:t>
              </a:r>
            </a:p>
          </p:txBody>
        </p:sp>
        <p:sp>
          <p:nvSpPr>
            <p:cNvPr id="16" name="TextBox 16"/>
            <p:cNvSpPr txBox="1"/>
            <p:nvPr/>
          </p:nvSpPr>
          <p:spPr>
            <a:xfrm>
              <a:off x="3573780" y="3409950"/>
              <a:ext cx="1743970" cy="1093470"/>
            </a:xfrm>
            <a:prstGeom prst="rect">
              <a:avLst/>
            </a:prstGeom>
            <a:noFill/>
            <a:ln>
              <a:noFill/>
            </a:ln>
          </p:spPr>
          <p:txBody>
            <a:bodyPr wrap="none" lIns="0" tIns="0" rIns="0" bIns="0" anchor="t" anchorCtr="0">
              <a:spAutoFit/>
            </a:bodyPr>
            <a:lstStyle/>
            <a:p>
              <a:pPr algn="l" marL="119615" indent="-119615">
                <a:lnSpc>
                  <a:spcPts val="2100"/>
                </a:lnSpc>
                <a:buClr>
                  <a:schemeClr val="accent3"/>
                </a:buClr>
                <a:buSzTx/>
                <a:buFontTx/>
                <a:buChar char="•"/>
              </a:pPr>
              <a:r>
                <a:rPr lang="en-US" sz="1500" dirty="0">
                  <a:solidFill>
                    <a:schemeClr val="accent3"/>
                  </a:solidFill>
                  <a:latin typeface="+mn-lt"/>
                  <a:ea typeface="+mn-ea"/>
                  <a:cs typeface="+mn-cs"/>
                </a:rPr>
                <a:t>Fixed-point profile</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25-stage RTL core</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Bit-exact TB match</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Initial Vivado synth</a:t>
              </a:r>
            </a:p>
          </p:txBody>
        </p:sp>
      </p:grpSp>
      <p:grpSp>
        <p:nvGrpSpPr>
          <p:cNvPr id="21" name="process-timeline-three-slot Proxy Content"/>
          <p:cNvGrpSpPr/>
          <p:nvPr/>
        </p:nvGrpSpPr>
        <p:grpSpPr>
          <a:xfrm>
            <a:off x="6390132" y="1792605"/>
            <a:ext cx="1905743" cy="2710815"/>
            <a:chOff x="6390132" y="1792605"/>
            <a:chExt cx="1905743" cy="2710815"/>
          </a:xfrm>
        </p:grpSpPr>
        <p:sp>
          <p:nvSpPr>
            <p:cNvPr id="18" name="TextBox 18"/>
            <p:cNvSpPr txBox="1"/>
            <p:nvPr/>
          </p:nvSpPr>
          <p:spPr>
            <a:xfrm>
              <a:off x="6390132" y="1792605"/>
              <a:ext cx="169808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7–9</a:t>
              </a:r>
            </a:p>
          </p:txBody>
        </p:sp>
        <p:sp>
          <p:nvSpPr>
            <p:cNvPr id="19" name="TextBox 19"/>
            <p:cNvSpPr txBox="1"/>
            <p:nvPr/>
          </p:nvSpPr>
          <p:spPr>
            <a:xfrm>
              <a:off x="6391656" y="2901315"/>
              <a:ext cx="174821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Phase 2 Scope</a:t>
              </a:r>
            </a:p>
          </p:txBody>
        </p:sp>
        <p:sp>
          <p:nvSpPr>
            <p:cNvPr id="20" name="TextBox 20"/>
            <p:cNvSpPr txBox="1"/>
            <p:nvPr/>
          </p:nvSpPr>
          <p:spPr>
            <a:xfrm>
              <a:off x="6393180" y="3409950"/>
              <a:ext cx="1902695" cy="1093470"/>
            </a:xfrm>
            <a:prstGeom prst="rect">
              <a:avLst/>
            </a:prstGeom>
            <a:noFill/>
            <a:ln>
              <a:noFill/>
            </a:ln>
          </p:spPr>
          <p:txBody>
            <a:bodyPr wrap="none" lIns="0" tIns="0" rIns="0" bIns="0" anchor="t" anchorCtr="0">
              <a:spAutoFit/>
            </a:bodyPr>
            <a:lstStyle/>
            <a:p>
              <a:pPr algn="l" marL="119615" indent="-119615">
                <a:lnSpc>
                  <a:spcPts val="2100"/>
                </a:lnSpc>
                <a:buClr>
                  <a:schemeClr val="accent3"/>
                </a:buClr>
                <a:buSzTx/>
                <a:buFontTx/>
                <a:buChar char="•"/>
              </a:pPr>
              <a:r>
                <a:rPr lang="en-US" sz="1500" dirty="0">
                  <a:solidFill>
                    <a:schemeClr val="accent3"/>
                  </a:solidFill>
                  <a:latin typeface="+mn-lt"/>
                  <a:ea typeface="+mn-ea"/>
                  <a:cs typeface="+mn-cs"/>
                </a:rPr>
                <a:t>Multi-var (T+RH+P)</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Shared-MAC FSM</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Arch trade-off study</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UART controller RTL</a:t>
              </a:r>
            </a:p>
          </p:txBody>
        </p:sp>
      </p:grpSp>
      <p:grpSp>
        <p:nvGrpSpPr>
          <p:cNvPr id="25" name="process-timeline-four-slot Proxy Content"/>
          <p:cNvGrpSpPr/>
          <p:nvPr/>
        </p:nvGrpSpPr>
        <p:grpSpPr>
          <a:xfrm>
            <a:off x="9209532" y="1792605"/>
            <a:ext cx="2030359" cy="2710815"/>
            <a:chOff x="9209532" y="1792605"/>
            <a:chExt cx="2030359" cy="2710815"/>
          </a:xfrm>
        </p:grpSpPr>
        <p:sp>
          <p:nvSpPr>
            <p:cNvPr id="22" name="TextBox 22"/>
            <p:cNvSpPr txBox="1"/>
            <p:nvPr/>
          </p:nvSpPr>
          <p:spPr>
            <a:xfrm>
              <a:off x="9209532" y="1792605"/>
              <a:ext cx="2030359"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WEEKS 10–12</a:t>
              </a:r>
            </a:p>
          </p:txBody>
        </p:sp>
        <p:sp>
          <p:nvSpPr>
            <p:cNvPr id="23" name="TextBox 23"/>
            <p:cNvSpPr txBox="1"/>
            <p:nvPr/>
          </p:nvSpPr>
          <p:spPr>
            <a:xfrm>
              <a:off x="9211056" y="2901315"/>
              <a:ext cx="196379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Demo &amp; Defense</a:t>
              </a:r>
            </a:p>
          </p:txBody>
        </p:sp>
        <p:sp>
          <p:nvSpPr>
            <p:cNvPr id="24" name="TextBox 24"/>
            <p:cNvSpPr txBox="1"/>
            <p:nvPr/>
          </p:nvSpPr>
          <p:spPr>
            <a:xfrm>
              <a:off x="9212580" y="3409950"/>
              <a:ext cx="1902885" cy="1093470"/>
            </a:xfrm>
            <a:prstGeom prst="rect">
              <a:avLst/>
            </a:prstGeom>
            <a:noFill/>
            <a:ln>
              <a:noFill/>
            </a:ln>
          </p:spPr>
          <p:txBody>
            <a:bodyPr wrap="none" lIns="0" tIns="0" rIns="0" bIns="0" anchor="t" anchorCtr="0">
              <a:spAutoFit/>
            </a:bodyPr>
            <a:lstStyle/>
            <a:p>
              <a:pPr algn="l" marL="119615" indent="-119615">
                <a:lnSpc>
                  <a:spcPts val="2100"/>
                </a:lnSpc>
                <a:buClr>
                  <a:schemeClr val="accent3"/>
                </a:buClr>
                <a:buSzTx/>
                <a:buFontTx/>
                <a:buChar char="•"/>
              </a:pPr>
              <a:r>
                <a:rPr lang="en-US" sz="1500" dirty="0">
                  <a:solidFill>
                    <a:schemeClr val="accent3"/>
                  </a:solidFill>
                  <a:latin typeface="+mn-lt"/>
                  <a:ea typeface="+mn-ea"/>
                  <a:cs typeface="+mn-cs"/>
                </a:rPr>
                <a:t>Live UART PC demo</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DV code coverage</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LUT/FF/DSP report</a:t>
              </a:r>
            </a:p>
            <a:p>
              <a:pPr algn="l" marL="119615" indent="-119615">
                <a:lnSpc>
                  <a:spcPts val="2100"/>
                </a:lnSpc>
                <a:buClr>
                  <a:schemeClr val="accent3"/>
                </a:buClr>
                <a:buSzTx/>
                <a:buFontTx/>
                <a:buChar char="•"/>
              </a:pPr>
              <a:r>
                <a:rPr lang="en-US" sz="1500" dirty="0">
                  <a:solidFill>
                    <a:schemeClr val="accent3"/>
                  </a:solidFill>
                  <a:latin typeface="+mn-lt"/>
                  <a:ea typeface="+mn-ea"/>
                  <a:cs typeface="+mn-cs"/>
                </a:rPr>
                <a:t>Final report writing</a:t>
              </a:r>
            </a:p>
          </p:txBody>
        </p:sp>
      </p:grpSp>
      <p:sp>
        <p:nvSpPr>
          <p:cNvPr id="26" name="process-timeline-takeaway-slot Placeholder Carrier"/>
          <p:cNvSpPr txBox="1"/>
          <p:nvPr>
            <p:ph type="body" idx="5"/>
          </p:nvPr>
        </p:nvSpPr>
        <p:spPr>
          <a:xfrm>
            <a:off x="829818" y="5660708"/>
            <a:ext cx="9177219" cy="322707"/>
          </a:xfrm>
          <a:prstGeom prst="rect">
            <a:avLst/>
          </a:prstGeom>
          <a:noFill/>
          <a:ln>
            <a:noFill/>
          </a:ln>
        </p:spPr>
        <p:txBody>
          <a:bodyPr wrap="none" lIns="0" tIns="0" rIns="0" bIns="0" anchor="t" anchorCtr="0">
            <a:spAutoFit/>
          </a:bodyPr>
          <a:lstStyle/>
          <a:p>
            <a:pPr algn="l" marL="0" indent="0">
              <a:buNone/>
            </a:pPr>
            <a:r>
              <a:rPr lang="en-US" sz="1650" dirty="0">
                <a:solidFill>
                  <a:schemeClr val="dk1"/>
                </a:solidFill>
                <a:latin typeface="+mn-lt"/>
                <a:ea typeface="+mn-ea"/>
                <a:cs typeface="+mn-cs"/>
              </a:rPr>
              <a:t>Phase 1 secures a working baseline by Week 6; Phase 2 explores hardware &amp; feature depth.</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880672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students, two-phase workload</a:t>
            </a:r>
          </a:p>
        </p:txBody>
      </p:sp>
      <p:grpSp>
        <p:nvGrpSpPr>
          <p:cNvPr id="14" name="three-card-one-slot Proxy Content"/>
          <p:cNvGrpSpPr/>
          <p:nvPr/>
        </p:nvGrpSpPr>
        <p:grpSpPr>
          <a:xfrm>
            <a:off x="827532" y="2021205"/>
            <a:ext cx="3058668" cy="3272790"/>
            <a:chOff x="827532" y="2021205"/>
            <a:chExt cx="3058668" cy="3272790"/>
          </a:xfrm>
        </p:grpSpPr>
        <p:sp>
          <p:nvSpPr>
            <p:cNvPr id="7" name="TextBox 7"/>
            <p:cNvSpPr txBox="1"/>
            <p:nvPr/>
          </p:nvSpPr>
          <p:spPr>
            <a:xfrm>
              <a:off x="827532" y="202120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1</a:t>
              </a:r>
            </a:p>
          </p:txBody>
        </p:sp>
        <p:sp>
          <p:nvSpPr>
            <p:cNvPr id="8" name="TextBox 8"/>
            <p:cNvSpPr txBox="1"/>
            <p:nvPr/>
          </p:nvSpPr>
          <p:spPr>
            <a:xfrm>
              <a:off x="829056" y="2472690"/>
              <a:ext cx="214915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Algorithms &amp; Data</a:t>
              </a:r>
            </a:p>
          </p:txBody>
        </p:sp>
        <p:sp>
          <p:nvSpPr>
            <p:cNvPr id="9" name="TextBox 9"/>
            <p:cNvSpPr txBox="1"/>
            <p:nvPr/>
          </p:nvSpPr>
          <p:spPr>
            <a:xfrm>
              <a:off x="830580" y="2933700"/>
              <a:ext cx="227105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Phase 1: Baseline Core</a:t>
              </a:r>
            </a:p>
          </p:txBody>
        </p:sp>
        <p:sp>
          <p:nvSpPr>
            <p:cNvPr id="10" name="TextBox 10"/>
            <p:cNvSpPr txBox="1"/>
            <p:nvPr/>
          </p:nvSpPr>
          <p:spPr>
            <a:xfrm>
              <a:off x="830580" y="3219450"/>
              <a:ext cx="2623661" cy="788670"/>
            </a:xfrm>
            <a:prstGeom prst="rect">
              <a:avLst/>
            </a:prstGeom>
            <a:noFill/>
            <a:ln>
              <a:noFill/>
            </a:ln>
          </p:spPr>
          <p:txBody>
            <a:bodyPr wrap="none" lIns="0" tIns="0" rIns="0" bIns="0" anchor="t" anchorCtr="0">
              <a:spAutoFit/>
            </a:bodyPr>
            <a:lstStyle/>
            <a:p>
              <a:pPr algn="l" marL="119615" indent="-119615">
                <a:lnSpc>
                  <a:spcPts val="1950"/>
                </a:lnSpc>
                <a:buClr>
                  <a:schemeClr val="accent3"/>
                </a:buClr>
                <a:buSzTx/>
                <a:buFontTx/>
                <a:buChar char="•"/>
              </a:pPr>
              <a:r>
                <a:rPr lang="en-US" sz="1500" dirty="0">
                  <a:solidFill>
                    <a:schemeClr val="accent3"/>
                  </a:solidFill>
                  <a:latin typeface="+mn-lt"/>
                  <a:ea typeface="+mn-ea"/>
                  <a:cs typeface="+mn-cs"/>
                </a:rPr>
                <a:t>CSV cleaning &amp; gap repair</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Baseline models &amp; OLS fit</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C++ fixed-point golden model</a:t>
              </a:r>
            </a:p>
          </p:txBody>
        </p:sp>
        <p:sp>
          <p:nvSpPr>
            <p:cNvPr id="11" name="Line 11"/>
            <p:cNvSpPr/>
            <p:nvPr/>
          </p:nvSpPr>
          <p:spPr>
            <a:xfrm>
              <a:off x="838200" y="40481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2" name="TextBox 12"/>
            <p:cNvSpPr txBox="1"/>
            <p:nvPr/>
          </p:nvSpPr>
          <p:spPr>
            <a:xfrm>
              <a:off x="830580" y="4219575"/>
              <a:ext cx="255286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Phase 2: Advanced Scope</a:t>
              </a:r>
            </a:p>
          </p:txBody>
        </p:sp>
        <p:sp>
          <p:nvSpPr>
            <p:cNvPr id="13" name="TextBox 13"/>
            <p:cNvSpPr txBox="1"/>
            <p:nvPr/>
          </p:nvSpPr>
          <p:spPr>
            <a:xfrm>
              <a:off x="830580" y="4505325"/>
              <a:ext cx="2400852" cy="788670"/>
            </a:xfrm>
            <a:prstGeom prst="rect">
              <a:avLst/>
            </a:prstGeom>
            <a:noFill/>
            <a:ln>
              <a:noFill/>
            </a:ln>
          </p:spPr>
          <p:txBody>
            <a:bodyPr wrap="none" lIns="0" tIns="0" rIns="0" bIns="0" anchor="t" anchorCtr="0">
              <a:spAutoFit/>
            </a:bodyPr>
            <a:lstStyle/>
            <a:p>
              <a:pPr algn="l" marL="119615" indent="-119615">
                <a:lnSpc>
                  <a:spcPts val="1950"/>
                </a:lnSpc>
                <a:buClr>
                  <a:schemeClr val="accent3"/>
                </a:buClr>
                <a:buSzTx/>
                <a:buFontTx/>
                <a:buChar char="•"/>
              </a:pPr>
              <a:r>
                <a:rPr lang="en-US" sz="1500" dirty="0">
                  <a:solidFill>
                    <a:schemeClr val="accent3"/>
                  </a:solidFill>
                  <a:latin typeface="+mn-lt"/>
                  <a:ea typeface="+mn-ea"/>
                  <a:cs typeface="+mn-cs"/>
                </a:rPr>
                <a:t>Multi-variable data (RH, P)</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ARX / non-linear models</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Quantization SNR analysis</a:t>
              </a:r>
            </a:p>
          </p:txBody>
        </p:sp>
      </p:grpSp>
      <p:grpSp>
        <p:nvGrpSpPr>
          <p:cNvPr id="22" name="three-card-two-slot Proxy Content"/>
          <p:cNvGrpSpPr/>
          <p:nvPr/>
        </p:nvGrpSpPr>
        <p:grpSpPr>
          <a:xfrm>
            <a:off x="4561332" y="2021205"/>
            <a:ext cx="3058668" cy="3272790"/>
            <a:chOff x="4561332" y="2021205"/>
            <a:chExt cx="3058668" cy="3272790"/>
          </a:xfrm>
        </p:grpSpPr>
        <p:sp>
          <p:nvSpPr>
            <p:cNvPr id="15" name="TextBox 15"/>
            <p:cNvSpPr txBox="1"/>
            <p:nvPr/>
          </p:nvSpPr>
          <p:spPr>
            <a:xfrm>
              <a:off x="4561332" y="202120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2</a:t>
              </a:r>
            </a:p>
          </p:txBody>
        </p:sp>
        <p:sp>
          <p:nvSpPr>
            <p:cNvPr id="16" name="TextBox 16"/>
            <p:cNvSpPr txBox="1"/>
            <p:nvPr/>
          </p:nvSpPr>
          <p:spPr>
            <a:xfrm>
              <a:off x="4562856" y="2472690"/>
              <a:ext cx="225969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RTL &amp; Architecture</a:t>
              </a:r>
            </a:p>
          </p:txBody>
        </p:sp>
        <p:sp>
          <p:nvSpPr>
            <p:cNvPr id="17" name="TextBox 17"/>
            <p:cNvSpPr txBox="1"/>
            <p:nvPr/>
          </p:nvSpPr>
          <p:spPr>
            <a:xfrm>
              <a:off x="4564380" y="2933700"/>
              <a:ext cx="227105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Phase 1: Baseline Core</a:t>
              </a:r>
            </a:p>
          </p:txBody>
        </p:sp>
        <p:sp>
          <p:nvSpPr>
            <p:cNvPr id="18" name="TextBox 18"/>
            <p:cNvSpPr txBox="1"/>
            <p:nvPr/>
          </p:nvSpPr>
          <p:spPr>
            <a:xfrm>
              <a:off x="4564380" y="3219450"/>
              <a:ext cx="2687403" cy="788670"/>
            </a:xfrm>
            <a:prstGeom prst="rect">
              <a:avLst/>
            </a:prstGeom>
            <a:noFill/>
            <a:ln>
              <a:noFill/>
            </a:ln>
          </p:spPr>
          <p:txBody>
            <a:bodyPr wrap="none" lIns="0" tIns="0" rIns="0" bIns="0" anchor="t" anchorCtr="0">
              <a:spAutoFit/>
            </a:bodyPr>
            <a:lstStyle/>
            <a:p>
              <a:pPr algn="l" marL="119615" indent="-119615">
                <a:lnSpc>
                  <a:spcPts val="1950"/>
                </a:lnSpc>
                <a:buClr>
                  <a:schemeClr val="accent3"/>
                </a:buClr>
                <a:buSzTx/>
                <a:buFontTx/>
                <a:buChar char="•"/>
              </a:pPr>
              <a:r>
                <a:rPr lang="en-US" sz="1500" dirty="0">
                  <a:solidFill>
                    <a:schemeClr val="accent3"/>
                  </a:solidFill>
                  <a:latin typeface="+mn-lt"/>
                  <a:ea typeface="+mn-ea"/>
                  <a:cs typeface="+mn-cs"/>
                </a:rPr>
                <a:t>25-stage shift register RTL</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Fixed-point pipelined datapath</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Saturation &amp; valid handshake</a:t>
              </a:r>
            </a:p>
          </p:txBody>
        </p:sp>
        <p:sp>
          <p:nvSpPr>
            <p:cNvPr id="19" name="Line 19"/>
            <p:cNvSpPr/>
            <p:nvPr/>
          </p:nvSpPr>
          <p:spPr>
            <a:xfrm>
              <a:off x="4572000" y="40481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0" name="TextBox 20"/>
            <p:cNvSpPr txBox="1"/>
            <p:nvPr/>
          </p:nvSpPr>
          <p:spPr>
            <a:xfrm>
              <a:off x="4564380" y="4219575"/>
              <a:ext cx="255286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Phase 2: Advanced Scope</a:t>
              </a:r>
            </a:p>
          </p:txBody>
        </p:sp>
        <p:sp>
          <p:nvSpPr>
            <p:cNvPr id="21" name="TextBox 21"/>
            <p:cNvSpPr txBox="1"/>
            <p:nvPr/>
          </p:nvSpPr>
          <p:spPr>
            <a:xfrm>
              <a:off x="4564380" y="4505325"/>
              <a:ext cx="2675592" cy="788670"/>
            </a:xfrm>
            <a:prstGeom prst="rect">
              <a:avLst/>
            </a:prstGeom>
            <a:noFill/>
            <a:ln>
              <a:noFill/>
            </a:ln>
          </p:spPr>
          <p:txBody>
            <a:bodyPr wrap="none" lIns="0" tIns="0" rIns="0" bIns="0" anchor="t" anchorCtr="0">
              <a:spAutoFit/>
            </a:bodyPr>
            <a:lstStyle/>
            <a:p>
              <a:pPr algn="l" marL="119615" indent="-119615">
                <a:lnSpc>
                  <a:spcPts val="1950"/>
                </a:lnSpc>
                <a:buClr>
                  <a:schemeClr val="accent3"/>
                </a:buClr>
                <a:buSzTx/>
                <a:buFontTx/>
                <a:buChar char="•"/>
              </a:pPr>
              <a:r>
                <a:rPr lang="en-US" sz="1500" dirty="0">
                  <a:solidFill>
                    <a:schemeClr val="accent3"/>
                  </a:solidFill>
                  <a:latin typeface="+mn-lt"/>
                  <a:ea typeface="+mn-ea"/>
                  <a:cs typeface="+mn-cs"/>
                </a:rPr>
                <a:t>Parallel vs. Shared-MAC FSM</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Area &amp; Fmax optimization</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Synthesis on target FPGA</a:t>
              </a:r>
            </a:p>
          </p:txBody>
        </p:sp>
      </p:grpSp>
      <p:grpSp>
        <p:nvGrpSpPr>
          <p:cNvPr id="30" name="three-card-three-slot Proxy Content"/>
          <p:cNvGrpSpPr/>
          <p:nvPr/>
        </p:nvGrpSpPr>
        <p:grpSpPr>
          <a:xfrm>
            <a:off x="8295132" y="2021205"/>
            <a:ext cx="3058668" cy="3272790"/>
            <a:chOff x="8295132" y="2021205"/>
            <a:chExt cx="3058668" cy="3272790"/>
          </a:xfrm>
        </p:grpSpPr>
        <p:sp>
          <p:nvSpPr>
            <p:cNvPr id="23" name="TextBox 23"/>
            <p:cNvSpPr txBox="1"/>
            <p:nvPr/>
          </p:nvSpPr>
          <p:spPr>
            <a:xfrm>
              <a:off x="8295132" y="2021205"/>
              <a:ext cx="16809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STUDENT 3</a:t>
              </a:r>
            </a:p>
          </p:txBody>
        </p:sp>
        <p:sp>
          <p:nvSpPr>
            <p:cNvPr id="24" name="TextBox 24"/>
            <p:cNvSpPr txBox="1"/>
            <p:nvPr/>
          </p:nvSpPr>
          <p:spPr>
            <a:xfrm>
              <a:off x="8296656" y="2472690"/>
              <a:ext cx="230965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DV &amp; System Demo</a:t>
              </a:r>
            </a:p>
          </p:txBody>
        </p:sp>
        <p:sp>
          <p:nvSpPr>
            <p:cNvPr id="25" name="TextBox 25"/>
            <p:cNvSpPr txBox="1"/>
            <p:nvPr/>
          </p:nvSpPr>
          <p:spPr>
            <a:xfrm>
              <a:off x="8298180" y="2933700"/>
              <a:ext cx="227105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Phase 1: Baseline Core</a:t>
              </a:r>
            </a:p>
          </p:txBody>
        </p:sp>
        <p:sp>
          <p:nvSpPr>
            <p:cNvPr id="26" name="TextBox 26"/>
            <p:cNvSpPr txBox="1"/>
            <p:nvPr/>
          </p:nvSpPr>
          <p:spPr>
            <a:xfrm>
              <a:off x="8298180" y="3219450"/>
              <a:ext cx="2569940" cy="788670"/>
            </a:xfrm>
            <a:prstGeom prst="rect">
              <a:avLst/>
            </a:prstGeom>
            <a:noFill/>
            <a:ln>
              <a:noFill/>
            </a:ln>
          </p:spPr>
          <p:txBody>
            <a:bodyPr wrap="none" lIns="0" tIns="0" rIns="0" bIns="0" anchor="t" anchorCtr="0">
              <a:spAutoFit/>
            </a:bodyPr>
            <a:lstStyle/>
            <a:p>
              <a:pPr algn="l" marL="119615" indent="-119615">
                <a:lnSpc>
                  <a:spcPts val="1950"/>
                </a:lnSpc>
                <a:buClr>
                  <a:schemeClr val="accent3"/>
                </a:buClr>
                <a:buSzTx/>
                <a:buFontTx/>
                <a:buChar char="•"/>
              </a:pPr>
              <a:r>
                <a:rPr lang="en-US" sz="1500" dirty="0">
                  <a:solidFill>
                    <a:schemeClr val="accent3"/>
                  </a:solidFill>
                  <a:latin typeface="+mn-lt"/>
                  <a:ea typeface="+mn-ea"/>
                  <a:cs typeface="+mn-cs"/>
                </a:rPr>
                <a:t>Automated test vector suite</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Bit-exact RTL testbench</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Reset &amp; warm-up verification</a:t>
              </a:r>
            </a:p>
          </p:txBody>
        </p:sp>
        <p:sp>
          <p:nvSpPr>
            <p:cNvPr id="27" name="Line 27"/>
            <p:cNvSpPr/>
            <p:nvPr/>
          </p:nvSpPr>
          <p:spPr>
            <a:xfrm>
              <a:off x="8305800" y="40481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8" name="TextBox 28"/>
            <p:cNvSpPr txBox="1"/>
            <p:nvPr/>
          </p:nvSpPr>
          <p:spPr>
            <a:xfrm>
              <a:off x="8298180" y="4219575"/>
              <a:ext cx="255286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Phase 2: Advanced Scope</a:t>
              </a:r>
            </a:p>
          </p:txBody>
        </p:sp>
        <p:sp>
          <p:nvSpPr>
            <p:cNvPr id="29" name="TextBox 29"/>
            <p:cNvSpPr txBox="1"/>
            <p:nvPr/>
          </p:nvSpPr>
          <p:spPr>
            <a:xfrm>
              <a:off x="8298180" y="4505325"/>
              <a:ext cx="2528106" cy="788670"/>
            </a:xfrm>
            <a:prstGeom prst="rect">
              <a:avLst/>
            </a:prstGeom>
            <a:noFill/>
            <a:ln>
              <a:noFill/>
            </a:ln>
          </p:spPr>
          <p:txBody>
            <a:bodyPr wrap="none" lIns="0" tIns="0" rIns="0" bIns="0" anchor="t" anchorCtr="0">
              <a:spAutoFit/>
            </a:bodyPr>
            <a:lstStyle/>
            <a:p>
              <a:pPr algn="l" marL="119615" indent="-119615">
                <a:lnSpc>
                  <a:spcPts val="1950"/>
                </a:lnSpc>
                <a:buClr>
                  <a:schemeClr val="accent3"/>
                </a:buClr>
                <a:buSzTx/>
                <a:buFontTx/>
                <a:buChar char="•"/>
              </a:pPr>
              <a:r>
                <a:rPr lang="en-US" sz="1500" dirty="0">
                  <a:solidFill>
                    <a:schemeClr val="accent3"/>
                  </a:solidFill>
                  <a:latin typeface="+mn-lt"/>
                  <a:ea typeface="+mn-ea"/>
                  <a:cs typeface="+mn-cs"/>
                </a:rPr>
                <a:t>UART controller integration</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PC live display dashboard</a:t>
              </a:r>
            </a:p>
            <a:p>
              <a:pPr algn="l" marL="119615" indent="-119615">
                <a:lnSpc>
                  <a:spcPts val="1950"/>
                </a:lnSpc>
                <a:buClr>
                  <a:schemeClr val="accent3"/>
                </a:buClr>
                <a:buSzTx/>
                <a:buFontTx/>
                <a:buChar char="•"/>
              </a:pPr>
              <a:r>
                <a:rPr lang="en-US" sz="1500" dirty="0">
                  <a:solidFill>
                    <a:schemeClr val="accent3"/>
                  </a:solidFill>
                  <a:latin typeface="+mn-lt"/>
                  <a:ea typeface="+mn-ea"/>
                  <a:cs typeface="+mn-cs"/>
                </a:rPr>
                <a:t>Code coverage &amp; assertions</a:t>
              </a:r>
            </a:p>
          </p:txBody>
        </p:sp>
      </p:grpSp>
      <p:sp>
        <p:nvSpPr>
          <p:cNvPr id="31"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14 / 15</a:t>
            </a:r>
          </a:p>
        </p:txBody>
      </p:sp>
      <p:grpSp>
        <p:nvGrpSpPr>
          <p:cNvPr id="33" name="shared-interface"/>
          <p:cNvGrpSpPr/>
          <p:nvPr/>
        </p:nvGrpSpPr>
        <p:grpSpPr>
          <a:xfrm>
            <a:off x="601218" y="6289358"/>
            <a:ext cx="9690942" cy="322707"/>
            <a:chOff x="601218" y="6289358"/>
            <a:chExt cx="9690942" cy="322707"/>
          </a:xfrm>
        </p:grpSpPr>
        <p:sp>
          <p:nvSpPr>
            <p:cNvPr id="32" name="TextBox 32"/>
            <p:cNvSpPr txBox="1"/>
            <p:nvPr/>
          </p:nvSpPr>
          <p:spPr>
            <a:xfrm>
              <a:off x="601218" y="6289358"/>
              <a:ext cx="969094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Unified arithmetic specification co-authored early: wordlengths, rounding, saturation, valid, latency.</a:t>
              </a:r>
            </a:p>
          </p:txBody>
        </p:sp>
      </p:grpSp>
      <p:sp>
        <p:nvSpPr>
          <p:cNvPr id="34"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5"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6"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10623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One forecast, two claims to verify</a:t>
            </a:r>
          </a:p>
        </p:txBody>
      </p:sp>
      <p:grpSp>
        <p:nvGrpSpPr>
          <p:cNvPr id="11" name="closing-proofs Proxy Content"/>
          <p:cNvGrpSpPr/>
          <p:nvPr/>
        </p:nvGrpSpPr>
        <p:grpSpPr>
          <a:xfrm>
            <a:off x="977646" y="1896428"/>
            <a:ext cx="8253466" cy="2640520"/>
            <a:chOff x="977646" y="1896428"/>
            <a:chExt cx="8253466" cy="2640520"/>
          </a:xfrm>
        </p:grpSpPr>
        <p:sp>
          <p:nvSpPr>
            <p:cNvPr id="6" name="TextBox 6"/>
            <p:cNvSpPr txBox="1"/>
            <p:nvPr/>
          </p:nvSpPr>
          <p:spPr>
            <a:xfrm>
              <a:off x="977646" y="1896428"/>
              <a:ext cx="6918284"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Phased Linear Model → Temperature +3 h</a:t>
              </a:r>
            </a:p>
          </p:txBody>
        </p:sp>
        <p:sp>
          <p:nvSpPr>
            <p:cNvPr id="7" name="TextBox 7"/>
            <p:cNvSpPr txBox="1"/>
            <p:nvPr/>
          </p:nvSpPr>
          <p:spPr>
            <a:xfrm>
              <a:off x="979932" y="2630805"/>
              <a:ext cx="2592054"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01 Forecast quality</a:t>
              </a:r>
            </a:p>
          </p:txBody>
        </p:sp>
        <p:sp>
          <p:nvSpPr>
            <p:cNvPr id="8" name="TextBox 8"/>
            <p:cNvSpPr txBox="1"/>
            <p:nvPr/>
          </p:nvSpPr>
          <p:spPr>
            <a:xfrm>
              <a:off x="979932" y="3030855"/>
              <a:ext cx="825118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Compare with Persistence and Diurnal baselines on unseen data.</a:t>
              </a:r>
            </a:p>
          </p:txBody>
        </p:sp>
        <p:sp>
          <p:nvSpPr>
            <p:cNvPr id="9" name="TextBox 9"/>
            <p:cNvSpPr txBox="1"/>
            <p:nvPr/>
          </p:nvSpPr>
          <p:spPr>
            <a:xfrm>
              <a:off x="979932" y="3726180"/>
              <a:ext cx="339437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02 Hardware correctness</a:t>
              </a:r>
            </a:p>
          </p:txBody>
        </p:sp>
        <p:sp>
          <p:nvSpPr>
            <p:cNvPr id="10" name="TextBox 10"/>
            <p:cNvSpPr txBox="1"/>
            <p:nvPr/>
          </p:nvSpPr>
          <p:spPr>
            <a:xfrm>
              <a:off x="979932" y="4126230"/>
              <a:ext cx="767859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RTL matches the C++ fixed-point golden reference bit-for-bit.</a:t>
              </a:r>
            </a:p>
          </p:txBody>
        </p:sp>
      </p:grpSp>
      <p:sp>
        <p:nvSpPr>
          <p:cNvPr id="12" name="closing-questions Placeholder Carrier"/>
          <p:cNvSpPr txBox="1"/>
          <p:nvPr>
            <p:ph type="body" idx="2"/>
          </p:nvPr>
        </p:nvSpPr>
        <p:spPr>
          <a:xfrm>
            <a:off x="600456" y="5415915"/>
            <a:ext cx="10170414" cy="694944"/>
          </a:xfrm>
          <a:prstGeom prst="rect">
            <a:avLst/>
          </a:prstGeom>
          <a:noFill/>
          <a:ln>
            <a:noFill/>
          </a:ln>
        </p:spPr>
        <p:txBody>
          <a:bodyPr wrap="none" lIns="0" tIns="0" rIns="0" bIns="0" anchor="t" anchorCtr="0">
            <a:noAutofit/>
          </a:bodyPr>
          <a:lstStyle/>
          <a:p>
            <a:pPr algn="l" marL="0" indent="0">
              <a:lnSpc>
                <a:spcPts val="2700"/>
              </a:lnSpc>
              <a:buNone/>
            </a:pPr>
            <a:r>
              <a:rPr lang="en-US" sz="1800" dirty="0">
                <a:solidFill>
                  <a:schemeClr val="dk1"/>
                </a:solidFill>
                <a:latin typeface="+mn-lt"/>
                <a:ea typeface="+mn-ea"/>
                <a:cs typeface="+mn-cs"/>
              </a:rPr>
              <a:t>Instructor input: 1. Confirm scope (Phase 1 MVP → Phase 2) · 2. Board/tools · 3. Demo expectation.</a:t>
            </a:r>
            <a:br/>
            <a:r>
              <a:rPr lang="en-US" sz="1800" dirty="0">
                <a:solidFill>
                  <a:schemeClr val="dk1"/>
                </a:solidFill>
                <a:latin typeface="+mn-lt"/>
                <a:ea typeface="+mn-ea"/>
                <a:cs typeface="+mn-cs"/>
              </a:rPr>
              <a:t>Multi-variable expansion &amp; architecture exploration follow the baseline core.</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2026-09-24T11:34:25Z</dcterms:created>
  <dcterms:modified xsi:type="dcterms:W3CDTF">2026-09-24T11:34:25Z</dcterms:modified>
  <cp:category/>
  <cp:contentStatus/>
</cp:coreProperties>
</file>