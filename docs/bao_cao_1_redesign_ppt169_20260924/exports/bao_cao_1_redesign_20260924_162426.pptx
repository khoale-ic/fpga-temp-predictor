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Em xin chào thầy và các bạn. Nhóm em đề xuất đồ án dự báo nhiệt độ sau ba giờ trên FPGA, sử dụng mô hình tuyến tính từ các giá trị quá khứ. Đây là một hướng cụ thể trong chủ đề Weather Pattern Forecasting on FPGA using Time Series Analysis mà thầy giao. Nhóm gồm ba thành viên và dự kiến thực hiện trong mười hai tuần, với hai phần chính là chương trình C++ và mạch viết bằng Verilog hoặc SystemVerilog.</a:t>
            </a:r>
          </a:p>
          <a:p>
            <a:pPr/>
            <a:endParaRPr lang="vi-VN" dirty="0"/>
          </a:p>
          <a:p>
            <a:pPr/>
            <a:r>
              <a:rPr lang="vi-VN" dirty="0"/>
              <a:t>Ở buổi đầu, nhóm trình bày bài toán sẽ giải quyết, nguyên lý tính dự báo, cách chuyển phép tính thành mạch và kế hoạch kiểm chứng. Những công thức, kiến trúc và mốc công việc sau đây đang ở mức đề xuất. Nhóm chưa có hệ số huấn luyện, số liệu độ chính xác hay kết quả chạy board để công bố. Sau phần trình bày, nhóm mong nhận góp ý về phạm vi, board và mức demo cần đạt.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Chủ đề dự báo thời tiết khá rộng vì có nhiều đại lượng như nhiệt độ, độ ẩm, áp suất và lượng mưa. Với thời gian ba tháng, trong đó nhóm còn phải học kiến thức DSP, nhóm chọn trước một đại lượng là nhiệt độ tại một địa điểm. Đầu vào là chuỗi nhiệt độ được ghi theo giờ, tính đến thời điểm hiện tại t. Đầu ra là một giá trị ước lượng nhiệt độ tại thời điểm ba giờ sau đó, có đơn vị độ C.</a:t>
            </a:r>
          </a:p>
          <a:p>
            <a:pPr/>
            <a:endParaRPr lang="vi-VN" dirty="0"/>
          </a:p>
          <a:p>
            <a:pPr/>
            <a:r>
              <a:rPr lang="vi-VN" dirty="0"/>
              <a:t>Nhóm chọn mô hình tuyến tính vì từng phép tính có thể giải thích, viết lại trong C++ và đối chiếu với RTL. Đây là lựa chọn về phạm vi thực hiện; nhóm chưa khẳng định mô hình tuyến tính là mô hình dự báo tốt nhất. Phần lõi chỉ dùng nhiệt độ và các hệ số cố định. Nếu hoàn thành sớm, nhóm mới cân nhắc bổ sung độ ẩm hoặc áp suất để kiểm tra có giảm sai số hay không.</a:t>
            </a:r>
          </a:p>
          <a:p>
            <a:pPr/>
            <a:endParaRPr lang="vi-VN" dirty="0"/>
          </a:p>
          <a:p>
            <a:pPr/>
            <a:r>
              <a:rPr lang="vi-VN" dirty="0"/>
              <a:t>Dữ liệu đầu vào chỉ thay đổi theo giờ nên nhóm cũng chưa có cơ sở nói rằng bài toán này cần FPGA để tăng tốc. Giá trị của đồ án là thực hành chuỗi xử lý từ mô hình số đến hiện thực số cố định và kiểm chứng trên phần cứng.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Toàn bộ hệ thống có thể chia thành giai đoạn chuẩn bị trên máy tính và giai đoạn tính dự báo trên FPGA. Trong giai đoạn offline, chương trình C++ đọc dữ liệu CSV, kiểm tra và làm sạch chuỗi thời gian. Từ dữ liệu này, chương trình tạo các cách dự báo đơn giản làm mốc so sánh, sau đó tìm ba hệ số a, b và c của mô hình đề xuất.</a:t>
            </a:r>
          </a:p>
          <a:p>
            <a:pPr/>
            <a:endParaRPr lang="vi-VN" dirty="0"/>
          </a:p>
          <a:p>
            <a:pPr/>
            <a:r>
              <a:rPr lang="vi-VN" dirty="0"/>
              <a:t>C++ còn có một nhiệm vụ quan trọng là tạo mô hình tham chiếu số cố định và bộ dữ liệu kiểm tra. Mô hình tham chiếu sẽ mô phỏng cùng quy tắc số học mà RTL sử dụng. Khi chạy trên FPGA, các hệ số đã được xác định và giữ cố định. Mạch nhận từng mẫu nhiệt độ, lưu lịch sử cần thiết, tính dự báo và xuất kết quả. Việc học hệ số không nằm trong phạm vi lõi FPGA của phương án này.</a:t>
            </a:r>
          </a:p>
          <a:p>
            <a:pPr/>
            <a:endParaRPr lang="vi-VN" dirty="0"/>
          </a:p>
          <a:p>
            <a:pPr/>
            <a:r>
              <a:rPr lang="vi-VN" dirty="0"/>
              <a:t>Đầu ra cuối kỳ vì vậy gồm chương trình C++, mạch RTL, testbench, demo trên board và báo cáo đánh giá. Báo cáo sẽ trình bày riêng sai số dự báo, sai lệch số cố định và tài nguyên phần cứng, để mỗi kết quả đều có phép đối chiếu phù hợp.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Nguồn dữ liệu nhóm dự kiến sử dụng là NASA POWER, với biến nhiệt độ T2M theo giờ. Đây là dữ liệu trên lưới gắn với tọa độ được chọn, không phải nhiệt độ đo bởi một cảm biến đúng tại điểm đó. Nhóm chưa chốt tọa độ và khoảng thời gian lấy dữ liệu. Trước khi tạo mẫu, cần thống nhất mốc thời gian, kiểm tra giờ thiếu hoặc bị lặp và kiểm tra đơn vị nhiệt độ. Tài liệu API theo giờ đã được liên kết ngay trên slide.</a:t>
            </a:r>
          </a:p>
          <a:p>
            <a:pPr/>
            <a:endParaRPr lang="vi-VN" dirty="0"/>
          </a:p>
          <a:p>
            <a:pPr/>
            <a:r>
              <a:rPr lang="vi-VN" dirty="0"/>
              <a:t>Sơ đồ này biểu diễn thứ tự các mốc, không biểu diễn khoảng cách theo tỷ lệ. Ở thời điểm t, nhóm dùng nhiệt độ hiện tại, ba giờ trước, hai mươi mốt giờ trước và hai mươi bốn giờ trước. Mốc dễ nhầm nhất là t trừ hai mươi mốt. Vì mục tiêu nằm ở t cộng ba, thời điểm cùng giờ của ngày hôm trước sẽ là t cộng ba trừ hai mươi bốn, tức t trừ hai mươi mốt.</a:t>
            </a:r>
          </a:p>
          <a:p>
            <a:pPr/>
            <a:endParaRPr lang="vi-VN" dirty="0"/>
          </a:p>
          <a:p>
            <a:pPr/>
            <a:r>
              <a:rPr lang="vi-VN" dirty="0"/>
              <a:t>Để truy cập được đến t trừ hai mươi bốn, bộ đệm cần giữ hai mươi lăm mẫu liên tiếp, tính cả mẫu hiện tại. Nhiệt độ thực tại t cộng ba chỉ dùng làm nhãn huấn luyện hoặc đánh giá; nó không được đưa vào đầu vào dự báo tại thời điểm 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đề xuất bắt đầu từ nhiệt độ cùng giờ ngày hôm trước, tức T tại t trừ hai mươi mốt. Nhóm dùng giá trị này làm mốc nền, rồi cộng hai phần hiệu chỉnh và một độ lệch hằng c. Dấu mũ trên T biểu thị đây là giá trị dự báo, chưa phải nhiệt độ thực.</a:t>
            </a:r>
          </a:p>
          <a:p>
            <a:pPr/>
            <a:endParaRPr lang="vi-VN" dirty="0"/>
          </a:p>
          <a:p>
            <a:pPr/>
            <a:r>
              <a:rPr lang="vi-VN" dirty="0"/>
              <a:t>Phần hiệu chỉnh thứ nhất lấy nhiệt độ hiện tại trừ nhiệt độ cùng giờ hôm trước, rồi nhân với hệ số a. Nếu hôm nay nóng hoặc lạnh hơn hôm trước tại giờ hiện tại, đại lượng này thể hiện sự chênh lệch đó. Phần thứ hai lấy nhiệt độ hiện tại trừ nhiệt độ ba giờ trước, rồi nhân với b. Đại lượng này mô tả biến thiên gần đây. Hệ số c cho phép mô hình có thêm một mức dịch cố định, có cùng đơn vị nhiệt độ; a và b không có đơn vị.</a:t>
            </a:r>
          </a:p>
          <a:p>
            <a:pPr/>
            <a:endParaRPr lang="vi-VN" dirty="0"/>
          </a:p>
          <a:p>
            <a:pPr/>
            <a:r>
              <a:rPr lang="vi-VN" dirty="0"/>
              <a:t>Ba hệ số được ước lượng trên dữ liệu lịch sử bằng C++. Các giải thích trực quan giúp hình thành giả thuyết mô hình, nhưng không bảo đảm các đặc trưng này sẽ dự báo tốt. Nhóm phải kiểm tra trên dữ liệu mới và so với baseline trước khi kết luận. Trong phạm vi hiện tại, FPGA chỉ thực hiện công thức với những hệ số đã học.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minh họa một lần tính, giả sử nhiệt độ hai mươi bốn giờ trước là mười chín độ, hai mươi mốt giờ trước là hai mươi mốt độ, ba giờ trước là mười tám độ và hiện tại là hai mươi độ. Giả sử a bằng không phẩy năm, b bằng không phẩy hai và c bằng không. Tất cả các giá trị này được chọn để giải thích phép tính, chưa phải dữ liệu hay hệ số đo được.</a:t>
            </a:r>
          </a:p>
          <a:p>
            <a:pPr/>
            <a:endParaRPr lang="vi-VN" dirty="0"/>
          </a:p>
          <a:p>
            <a:pPr/>
            <a:r>
              <a:rPr lang="vi-VN" dirty="0"/>
              <a:t>Hiệu liên ngày là hai mươi trừ mười chín, bằng một độ. Nhân với a, phần hiệu chỉnh thứ nhất bằng không phẩy năm độ. Hiệu ba giờ gần nhất là hai mươi trừ mười tám, bằng hai độ; nhân với b cho không phẩy bốn độ. Cộng hai phần này vào mốc nền hai mươi mốt độ, ta được dự báo hai mươi mốt phẩy chín độ C.</a:t>
            </a:r>
          </a:p>
          <a:p>
            <a:pPr/>
            <a:endParaRPr lang="vi-VN" dirty="0"/>
          </a:p>
          <a:p>
            <a:pPr/>
            <a:r>
              <a:rPr lang="vi-VN" dirty="0"/>
              <a:t>Ví dụ này cho thấy lõi phần cứng cần thực hiện các phép trừ, nhân hệ số rồi cộng. Giá trị dự báo không được xem là đúng chỉ vì phép tính đúng. Muốn biết dự báo tốt đến đâu, sau đó vẫn phải so với nhiệt độ thực tại thời điểm mục tiêu.</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tìm hệ số, nhóm chuyển công thức dự báo về bài toán hồi quy đơn giản hơn. Đặc trưng x một là chênh lệch nhiệt độ hiện tại với cùng giờ hôm trước; x hai là chênh lệch với ba giờ trước. Nhãn y là nhiệt độ thực ba giờ sau trừ đi nhiệt độ cùng giờ ngày trước của thời điểm mục tiêu. Khi đó cần tìm a, b và c để biểu thức a nhân x một cộng b nhân x hai cộng c gần y nhất trên tập huấn luyện, theo tiêu chuẩn bình phương tối thiểu.</a:t>
            </a:r>
          </a:p>
          <a:p>
            <a:pPr/>
            <a:endParaRPr lang="vi-VN" dirty="0"/>
          </a:p>
          <a:p>
            <a:pPr/>
            <a:r>
              <a:rPr lang="vi-VN" dirty="0"/>
              <a:t>Dữ liệu được chia thành ba giai đoạn theo thời gian. Train dùng tìm hệ số. Validation dùng xem đặc trưng và cấu hình nào phù hợp. Test là giai đoạn mới hơn được giữ lại để đánh giá cuối. Nhóm chưa chốt tỷ lệ chia vì còn phụ thuộc độ dài và chất lượng dữ liệu.</a:t>
            </a:r>
          </a:p>
          <a:p>
            <a:pPr/>
            <a:endParaRPr lang="vi-VN" dirty="0"/>
          </a:p>
          <a:p>
            <a:pPr/>
            <a:r>
              <a:rPr lang="vi-VN" dirty="0"/>
              <a:t>Một điểm cần chú ý là chia theo thời gian của nhãn: nhãn của mẫu train không được sang giai đoạn validation hoặc test. Tuy nhiên, lịch sử đã quan sát ở giai đoạn trước vẫn có thể dùng làm đầu vào dự báo ở giai đoạn sau. Các vùng trên slide chỉ thể hiện thứ tự, không thể hiện tỷ lệ. Nhóm có thể dùng Eigen trong C++ để giải bài toán bình phương tối thiểu; tài liệu triển khai được liên kết phía dưới.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sẽ đánh giá hai câu hỏi riêng. Câu thứ nhất là mô hình có tạo ra dự báo hữu ích hơn những cách đơn giản hay không. Baseline thứ nhất dự báo bằng nhiệt độ hiện tại T tại t. Baseline thứ hai dự báo bằng nhiệt độ cùng giờ ngày hôm trước của thời điểm mục tiêu, tức T tại t trừ hai mươi mốt. Hai baseline và mô hình nhóm phải được đánh giá trên đúng cùng tập test và cùng các thời điểm hợp lệ.</a:t>
            </a:r>
          </a:p>
          <a:p>
            <a:pPr/>
            <a:endParaRPr lang="vi-VN" dirty="0"/>
          </a:p>
          <a:p>
            <a:pPr/>
            <a:r>
              <a:rPr lang="vi-VN" dirty="0"/>
              <a:t>Thước đo chính dự kiến là MAE, tức lấy trị tuyệt đối của sai số mỗi lần dự báo rồi tính trung bình. Vì nhiệt độ dùng độ C, MAE cũng có đơn vị độ C. Hiện chưa có số liệu để khẳng định mô hình sẽ thắng baseline. Nếu kết quả không tốt hơn, nhóm vẫn cần báo cáo đúng và phân tích giới hạn.</a:t>
            </a:r>
          </a:p>
          <a:p>
            <a:pPr/>
            <a:endParaRPr lang="vi-VN" dirty="0"/>
          </a:p>
          <a:p>
            <a:pPr/>
            <a:r>
              <a:rPr lang="vi-VN" dirty="0"/>
              <a:t>Câu thứ hai là phần cứng có thực hiện đúng phép tính đã đặc tả hay không. Nhóm đo sai lệch giữa C++ số thực và số cố định để thấy tác động của lượng tử hóa. Sau đó yêu cầu RTL khớp bit với reference số cố định khi xét đúng valid và latency. Các số LUT, FF, DSP và độ trễ lấy từ kết quả tổng hợp. Ngưỡng sai lệch lượng tử hóa sẽ được chốt sau thử nghiệm, không đặt một con số tùy ý ở buổi đề xuất.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ban đầu được tính bằng số thực trong C++ để thuận tiện nghiên cứu. Khi chuyển sang FPGA, nhóm dự kiến dùng số cố định. Trước hết phải xem nhiệt độ nằm trong khoảng nào, các hệ số lớn đến đâu và tổng trung gian có thể tăng lên bao nhiêu. Từ đó mới chọn số bit có dấu và số bit phần lẻ. Vì chưa có dữ liệu và hệ số thực nghiệm, nhóm chưa chốt một Q format cụ thể.</a:t>
            </a:r>
          </a:p>
          <a:p>
            <a:pPr/>
            <a:endParaRPr lang="vi-VN" dirty="0"/>
          </a:p>
          <a:p>
            <a:pPr/>
            <a:r>
              <a:rPr lang="vi-VN" dirty="0"/>
              <a:t>Việc thống nhất định dạng đầu vào và đầu ra vẫn chưa đủ. Nhóm còn phải quy định độ rộng của tích và tổng, vị trí dịch bit, cách làm tròn và cách xử lý tràn. Saturation nghĩa là chặn tại biên biểu diễn; wrap là giữ các bit theo độ rộng quy định. Chọn cách nào phải được ghi thành đặc tả và dùng giống nhau trong C++ fixed và RTL.</a:t>
            </a:r>
          </a:p>
          <a:p>
            <a:pPr/>
            <a:endParaRPr lang="vi-VN" dirty="0"/>
          </a:p>
          <a:p>
            <a:pPr/>
            <a:r>
              <a:rPr lang="vi-VN" dirty="0"/>
              <a:t>Mô hình tham chiếu cần làm đúng từng bước như mạch, kể cả những chỗ giảm độ rộng. Các trường hợp nhiệt độ âm, biên biểu diễn và tràn số được kiểm tra có chủ đích. Nhóm sẽ luôn tách sai số dự báo so với thực tế khỏi sai lệch do số cố định so với số thực, vì hai loại sai số có nguyên nhân khác nhau.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Sơ đồ này là kiến trúc chức năng dự kiến của lõi tính toán. Mỗi khi một mẫu mới hợp lệ đến, bộ đệm cập nhật lịch sử và cho phép đọc các mốc hiện tại, ba giờ trước, hai mươi mốt giờ trước và hai mươi bốn giờ trước. Bộ đệm giữ hai mươi lăm mẫu liên tiếp; trước khi đủ dữ liệu, mạch chưa được báo một dự báo hợp lệ.</a:t>
            </a:r>
          </a:p>
          <a:p>
            <a:pPr/>
            <a:endParaRPr lang="vi-VN" dirty="0"/>
          </a:p>
          <a:p>
            <a:pPr/>
            <a:r>
              <a:rPr lang="vi-VN" dirty="0"/>
              <a:t>Nhánh thứ nhất tạo hiệu liên ngày rồi nhân a. Nhánh thứ hai tạo hiệu ba giờ rồi nhân b. Khối cộng nhận hai kết quả, cộng với nhiệt độ tại t trừ hai mươi mốt và độ lệch c. Đầu ra là dự báo cho t cộng ba. Hai nhánh trên slide mô tả phép toán, chưa có nghĩa bắt buộc phải dùng hai bộ nhân chạy song song. Nhóm sẽ quyết định dùng chung hay song song sau khi biết board và các giới hạn tài nguyên.</a:t>
            </a:r>
          </a:p>
          <a:p>
            <a:pPr/>
            <a:endParaRPr lang="vi-VN" dirty="0"/>
          </a:p>
          <a:p>
            <a:pPr/>
            <a:r>
              <a:rPr lang="vi-VN" dirty="0"/>
              <a:t>Clock điều khiển hoạt động mạch, còn valid cho biết khi nào một mẫu thật sự được nhận. Cần phân biệt hai khái niệm thời gian: trễ một mẫu ở đây tương ứng một giờ trong chuỗi dữ liệu; độ trễ tính toán của mạch được tính bằng chu kỳ clock. Mạch không phải chờ ba giờ thực để tạo giá trị dự báo.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dự kiến kiểm chứng theo ba tầng, dùng cùng bộ dữ liệu để thuận tiện truy vết. Tầng thứ nhất nằm trong C++, so mô hình số thực với mô hình số cố định. Mục đích là đánh giá phần sai lệch thêm do lượng tử hóa và kiểm tra các miền giá trị khó, chẳng hạn nhiệt độ âm, gần biên biểu diễn hoặc thay đổi nhanh.</a:t>
            </a:r>
          </a:p>
          <a:p>
            <a:pPr/>
            <a:endParaRPr lang="vi-VN" dirty="0"/>
          </a:p>
          <a:p>
            <a:pPr/>
            <a:r>
              <a:rPr lang="vi-VN" dirty="0"/>
              <a:t>Tầng thứ hai dùng testbench, viết tắt là TB trên slide, để kiểm tra RTL. Với mỗi đầu vào hợp lệ, testbench xác định đầu ra cần so và thời điểm đầu ra xuất hiện. Mục tiêu là khớp bit với reference fixed, không chỉ gần nhau về giá trị. Ngoài phép tính, phải kiểm cả reset, tràn số, trạng thái chưa đủ mẫu và các khoảng gián đoạn valid. Khi có khoảng nghỉ mà không nhận mẫu, bộ đệm không được tự hiểu đó là một mẫu mới.</a:t>
            </a:r>
          </a:p>
          <a:p>
            <a:pPr/>
            <a:endParaRPr lang="vi-VN" dirty="0"/>
          </a:p>
          <a:p>
            <a:pPr/>
            <a:r>
              <a:rPr lang="vi-VN" dirty="0"/>
              <a:t>Tầng thứ ba chạy cùng dữ liệu trên board và đối chiếu với reference. Tầng này kiểm thêm giao tiếp, thứ tự các mẫu, cách đóng gói dữ liệu và log đầu ra. Một lõi đúng trong mô phỏng vẫn có thể tích hợp sai nếu truyền dữ liệu sai dấu hoặc sai thứ tự byte. Vì vậy ba tầng bổ sung cho nhau và mỗi tầng có một câu hỏi kiểm chứng cụ thể.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Kịch bản demo dự kiến là phát lại dữ liệu lịch sử từ máy tính. Nhóm không cần chờ mỗi giờ mới có một mẫu, nhưng vẫn giữ nguyên thứ tự của chuỗi. PC đọc CSV, gửi các mẫu lần lượt vào FPGA. UART là một phương án dự kiến nếu board và công cụ hỗ trợ thuận tiện; giao tiếp cuối cùng sẽ chốt khi biết phần cứng.</a:t>
            </a:r>
          </a:p>
          <a:p>
            <a:pPr/>
            <a:endParaRPr lang="vi-VN" dirty="0"/>
          </a:p>
          <a:p>
            <a:pPr/>
            <a:r>
              <a:rPr lang="vi-VN" dirty="0"/>
              <a:t>Sau khi nhận đủ lịch sử, FPGA tính dự báo và gửi kết quả về. PC ghi log, ghép dự báo với thời điểm mục tiêu rồi đối chiếu với nhiệt độ thực trong CSV. Có thể hiển thị kết quả để người xem nhận ra các đoạn dự báo tốt hoặc sai lệch lớn. Đây mới là kịch bản thiết kế; nhóm chưa có giao diện hay kết quả chạy board để trình diễn ở buổi này.</a:t>
            </a:r>
          </a:p>
          <a:p>
            <a:pPr/>
            <a:endParaRPr lang="vi-VN" dirty="0"/>
          </a:p>
          <a:p>
            <a:pPr/>
            <a:r>
              <a:rPr lang="vi-VN" dirty="0"/>
              <a:t>Điều quan trọng là PC có thể biết toàn bộ dữ liệu lịch sử để đánh giá, nhưng ở mỗi bước chỉ được truyền những mẫu đến thời điểm t vào FPGA. Nhãn tại t cộng ba không được đưa vào đầu vào của phép dự báo. Như vậy việc phát nhanh chỉ rút ngắn thời gian demo, vẫn giữ được điều kiện sử dụng dữ liệu quá khứ của bài toán.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chia mười hai tuần thành bốn giai đoạn với sản phẩm cụ thể. Ba tuần đầu tập trung học những kiến thức cần dùng, lấy và kiểm dữ liệu, tạo CSV sạch cùng hai baseline. Đây là bước quan trọng vì nếu chuỗi thời gian sai thì mô hình và RTL có thể cùng cho ra một kết quả không có ý nghĩa.</a:t>
            </a:r>
          </a:p>
          <a:p>
            <a:pPr/>
            <a:endParaRPr lang="vi-VN" dirty="0"/>
          </a:p>
          <a:p>
            <a:pPr/>
            <a:r>
              <a:rPr lang="vi-VN" dirty="0"/>
              <a:t>Trong tuần bốn đến sáu, nhóm xây chương trình C++, tìm hệ số, thử đặc trưng trên validation và bắt đầu đánh giá số cố định. Tuần bảy đến chín dành cho lõi RTL, testbench và đối chiếu bit. Song song với mô phỏng, nhóm chuẩn bị giao tiếp và điều kiện tích hợp để không dồn toàn bộ việc board vào cuối kỳ.</a:t>
            </a:r>
          </a:p>
          <a:p>
            <a:pPr/>
            <a:endParaRPr lang="vi-VN" dirty="0"/>
          </a:p>
          <a:p>
            <a:pPr/>
            <a:r>
              <a:rPr lang="vi-VN" dirty="0"/>
              <a:t>Ba tuần cuối dùng để hoàn thiện demo, đánh giá cuối trên tập test, lấy báo cáo tài nguyên và tổng hợp các giới hạn. Mỗi giai đoạn phải có thứ có thể chạy hoặc kiểm tra, chẳng hạn file dữ liệu hợp lệ, hệ số kèm phép đánh giá, hoặc testbench khớp reference. Đây là lịch dự kiến theo tuần thực hiện; ngày báo cáo buổi hai sẽ được điều chỉnh theo thông báo chính thức của thầy.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phân công theo ba mảng nhưng thống nhất giao diện chung từ đầu. Người thứ nhất phụ trách dữ liệu và C++, tạo CSV, baseline, hệ số, MAE và reference. Rủi ro chính ở mảng này là giờ bị thiếu, lặp hoặc không cùng chuẩn thời gian; cần phát hiện và xử lý trước khi tạo mẫu, không chỉ xóa một dòng rồi coi các dòng còn lại là liên tiếp.</a:t>
            </a:r>
          </a:p>
          <a:p>
            <a:pPr/>
            <a:endParaRPr lang="vi-VN" dirty="0"/>
          </a:p>
          <a:p>
            <a:pPr/>
            <a:r>
              <a:rPr lang="vi-VN" dirty="0"/>
              <a:t>Người thứ hai phụ trách số cố định và RTL, gồm bộ đệm, lõi số học, tổng hợp và phối hợp tích hợp board. Khi board chưa rõ, vẫn có thể làm lõi tính toán độc lập và kiểm chứng bằng mô phỏng trước. Người thứ ba phụ trách testbench và demo, từ test vector, so bit đến truyền nhận và log kết quả. Rủi ro mô hình có sai số cao là trách nhiệm của cả nhóm: cùng xem lại trên validation và báo cáo trung thực kết quả cuối trên test.</a:t>
            </a:r>
          </a:p>
          <a:p>
            <a:pPr/>
            <a:endParaRPr lang="vi-VN" dirty="0"/>
          </a:p>
          <a:p>
            <a:pPr/>
            <a:r>
              <a:rPr lang="vi-VN" dirty="0"/>
              <a:t>Ba người cần cùng hiểu định dạng dữ liệu và hệ số, dấu của số, quy tắc làm tròn và tràn, valid và latency. Các thỏa thuận này giúp mã C++, RTL và testbench khớp nhau. Trước khi thuyết trình, nhóm thay nhãn Người một, Người hai, Người ba bằng tên thành viên thực tế.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Tóm lại, sản phẩm nhóm hướng đến là một hệ thống dự báo nhiệt độ sau ba giờ từ các giá trị quá khứ. C++ tìm hệ số của mô hình tuyến tính; FPGA thực hiện phép tính số cố định và đưa ra dự báo khi nhận đủ lịch sử. Nhóm cần có hai loại bằng chứng: đánh giá chất lượng dự báo với baseline trên dữ liệu chưa dùng huấn luyện, và chứng minh RTL khớp mô hình tham chiếu số cố định.</a:t>
            </a:r>
          </a:p>
          <a:p>
            <a:pPr/>
            <a:endParaRPr lang="vi-VN" dirty="0"/>
          </a:p>
          <a:p>
            <a:pPr/>
            <a:r>
              <a:rPr lang="vi-VN" dirty="0"/>
              <a:t>Ở buổi đề xuất này, nhóm xin thầy góp ý ba điểm để chốt phạm vi triển khai. Thứ nhất là bài toán dự báo một đại lượng nhiệt độ với đích ba giờ có phù hợp chủ đề được giao hay không. Thứ hai là board FPGA và công cụ nhóm sẽ sử dụng. Thứ ba là mức demo phần cứng tối thiểu cần có ở cuối kỳ. Phần bổ sung độ ẩm hoặc áp suất chỉ được thực hiện khi phần lõi đã hoàn thành và được kiểm chứng. Nhóm xin cảm ơn thầy và các bạn đã theo dõi.</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4" name="cover-subtitle Placeholder"/>
          <p:cNvSpPr>
            <a:spLocks noGrp="1"/>
          </p:cNvSpPr>
          <p:nvPr>
            <p:ph type="subTitle" idx="1"/>
          </p:nvPr>
        </p:nvSpPr>
        <p:spPr>
          <a:xfrm>
            <a:off x="1066800" y="3333750"/>
            <a:ext cx="10058400" cy="685800"/>
          </a:xfrm>
          <a:prstGeom prst="rect">
            <a:avLst/>
          </a:prstGeom>
          <a:noFill/>
          <a:ln>
            <a:noFill/>
          </a:ln>
        </p:spPr>
        <p:txBody>
          <a:bodyPr wrap="square" lIns="0" tIns="0" rIns="0" bIns="0" anchor="ctr" anchorCtr="0">
            <a:noAutofit/>
          </a:bodyPr>
          <a:lstStyle>
            <a:lvl1pPr marL="0" indent="0">
              <a:buNone/>
              <a:defRPr sz="2550" lang="vi-VN"/>
            </a:lvl1pPr>
          </a:lstStyle>
          <a:p>
            <a:pPr algn="l" marL="0" indent="0">
              <a:buNone/>
            </a:pPr>
            <a:r>
              <a:rPr lang="vi-VN" sz="2550" dirty="0">
                <a:solidFill>
                  <a:schemeClr val="accent3"/>
                </a:solidFill>
                <a:latin typeface="+mn-lt"/>
                <a:ea typeface="+mn-ea"/>
                <a:cs typeface="+mn-cs"/>
              </a:rPr>
              <a:t>Click to add subtitle</a:t>
            </a:r>
            <a:endParaRPr lang="vi-VN"/>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7498B171-E540-44B7-9BAC-840E93D479ED}" type="slidenum">
              <a:rPr lang="vi-VN" sz="1200" dirty="0">
                <a:solidFill>
                  <a:schemeClr val="accent3"/>
                </a:solidFill>
                <a:latin typeface="+mn-lt"/>
                <a:ea typeface="+mn-ea"/>
                <a:cs typeface="+mn-cs"/>
              </a:rPr>
              <a:t>‹#›</a:t>
            </a:fld>
            <a:endParaRPr lang="vi-VN"/>
          </a:p>
        </p:txBody>
      </p:sp>
    </p:spTree>
    <p:extLst>
      <p:ext uri="{BB962C8B-B14F-4D97-AF65-F5344CB8AC3E}">
        <p14:creationId val="2907451354"/>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50EC8A20-B5DA-4279-9509-4E3B6D25EE80}" type="slidenum">
              <a:rPr lang="vi-VN" sz="1200" dirty="0">
                <a:solidFill>
                  <a:schemeClr val="accent3"/>
                </a:solidFill>
                <a:latin typeface="+mn-lt"/>
                <a:ea typeface="+mn-ea"/>
                <a:cs typeface="+mn-cs"/>
              </a:rPr>
              <a:t>‹#›</a:t>
            </a:fld>
            <a:endParaRPr lang="vi-VN"/>
          </a:p>
        </p:txBody>
      </p:sp>
    </p:spTree>
    <p:extLst>
      <p:ext uri="{BB962C8B-B14F-4D97-AF65-F5344CB8AC3E}">
        <p14:creationId val="3226105668"/>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32B3E886-A9FF-4A39-8837-DA7073C5E52A}" type="slidenum">
              <a:rPr lang="vi-VN" sz="1200" dirty="0">
                <a:solidFill>
                  <a:schemeClr val="accent3"/>
                </a:solidFill>
                <a:latin typeface="+mn-lt"/>
                <a:ea typeface="+mn-ea"/>
                <a:cs typeface="+mn-cs"/>
              </a:rPr>
              <a:t>‹#›</a:t>
            </a:fld>
            <a:endParaRPr lang="vi-VN"/>
          </a:p>
        </p:txBody>
      </p:sp>
    </p:spTree>
    <p:extLst>
      <p:ext uri="{BB962C8B-B14F-4D97-AF65-F5344CB8AC3E}">
        <p14:creationId val="413751748"/>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9E8B106A-D8F2-4EFC-8429-F7C62D3F043C}" type="slidenum">
              <a:rPr lang="vi-VN" sz="1200" dirty="0">
                <a:solidFill>
                  <a:schemeClr val="accent3"/>
                </a:solidFill>
                <a:latin typeface="+mn-lt"/>
                <a:ea typeface="+mn-ea"/>
                <a:cs typeface="+mn-cs"/>
              </a:rPr>
              <a:t>‹#›</a:t>
            </a:fld>
            <a:endParaRPr lang="vi-VN"/>
          </a:p>
        </p:txBody>
      </p:sp>
    </p:spTree>
    <p:extLst>
      <p:ext uri="{BB962C8B-B14F-4D97-AF65-F5344CB8AC3E}">
        <p14:creationId val="102744743"/>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vi-VN"/>
            </a:lvl1pPr>
          </a:lstStyle>
          <a:p>
            <a:pPr algn="l" marL="0" indent="0">
              <a:buNone/>
            </a:pPr>
            <a:r>
              <a:rPr lang="vi-VN" sz="1650" dirty="0">
                <a:solidFill>
                  <a:schemeClr val="dk1"/>
                </a:solidFill>
                <a:latin typeface="+mn-lt"/>
                <a:ea typeface="+mn-ea"/>
                <a:cs typeface="+mn-cs"/>
              </a:rPr>
              <a:t>Click to add text</a:t>
            </a:r>
            <a:endParaRPr lang="vi-VN"/>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4B57C0FC-49C0-4AC2-9781-478009CFB4FE}" type="slidenum">
              <a:rPr lang="vi-VN" sz="1200" dirty="0">
                <a:solidFill>
                  <a:schemeClr val="accent3"/>
                </a:solidFill>
                <a:latin typeface="+mn-lt"/>
                <a:ea typeface="+mn-ea"/>
                <a:cs typeface="+mn-cs"/>
              </a:rPr>
              <a:t>‹#›</a:t>
            </a:fld>
            <a:endParaRPr lang="vi-VN"/>
          </a:p>
        </p:txBody>
      </p:sp>
    </p:spTree>
    <p:extLst>
      <p:ext uri="{BB962C8B-B14F-4D97-AF65-F5344CB8AC3E}">
        <p14:creationId val="1280980460"/>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vi-VN"/>
              <a:t>Click to add content</a:t>
            </a:r>
            <a:endParaRPr lang="vi-VN"/>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vi-VN"/>
            </a:lvl1pPr>
          </a:lstStyle>
          <a:p>
            <a:pPr algn="l" marL="0" indent="0">
              <a:lnSpc>
                <a:spcPts val="3150"/>
              </a:lnSpc>
              <a:buNone/>
            </a:pPr>
            <a:r>
              <a:rPr lang="vi-VN" sz="2100" dirty="0">
                <a:solidFill>
                  <a:schemeClr val="dk1"/>
                </a:solidFill>
                <a:latin typeface="+mn-lt"/>
                <a:ea typeface="+mn-ea"/>
                <a:cs typeface="+mn-cs"/>
              </a:rPr>
              <a:t>Click to add text</a:t>
            </a:r>
            <a:endParaRPr lang="vi-VN"/>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E0820E46-172A-4002-B46E-C142C2DDF793}" type="slidenum">
              <a:rPr lang="vi-VN" sz="1200" dirty="0">
                <a:solidFill>
                  <a:schemeClr val="accent3"/>
                </a:solidFill>
                <a:latin typeface="+mn-lt"/>
                <a:ea typeface="+mn-ea"/>
                <a:cs typeface="+mn-cs"/>
              </a:rPr>
              <a:t>‹#›</a:t>
            </a:fld>
            <a:endParaRPr lang="vi-VN"/>
          </a:p>
        </p:txBody>
      </p:sp>
    </p:spTree>
    <p:extLst>
      <p:ext uri="{BB962C8B-B14F-4D97-AF65-F5344CB8AC3E}">
        <p14:creationId val="3115310246"/>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vi-VN">
          <a:solidFill>
            <a:schemeClr val="tx1"/>
          </a:solidFill>
          <a:latin typeface="+mn-lt"/>
          <a:ea typeface="+mn-ea"/>
          <a:cs typeface="+mn-cs"/>
        </a:defRPr>
      </a:lvl9pPr>
    </p:bodyStyle>
    <p:otherStyle>
      <a:defPPr>
        <a:defRPr lang="vi-VN"/>
      </a:defPPr>
      <a:lvl1pPr marL="0" algn="l" defTabSz="457200" rtl="0" eaLnBrk="1" latinLnBrk="0" hangingPunct="1">
        <a:defRPr sz="2100" kern="1200" lang="vi-VN">
          <a:solidFill>
            <a:schemeClr val="tx1"/>
          </a:solidFill>
          <a:latin typeface="+mn-lt"/>
          <a:ea typeface="+mn-ea"/>
          <a:cs typeface="+mn-cs"/>
        </a:defRPr>
      </a:lvl1pPr>
      <a:lvl2pPr marL="457200" algn="l" defTabSz="457200" rtl="0" eaLnBrk="1" latinLnBrk="0" hangingPunct="1">
        <a:defRPr sz="1950" kern="1200" lang="vi-VN">
          <a:solidFill>
            <a:schemeClr val="tx1"/>
          </a:solidFill>
          <a:latin typeface="+mn-lt"/>
          <a:ea typeface="+mn-ea"/>
          <a:cs typeface="+mn-cs"/>
        </a:defRPr>
      </a:lvl2pPr>
      <a:lvl3pPr marL="914400" algn="l" defTabSz="457200" rtl="0" eaLnBrk="1" latinLnBrk="0" hangingPunct="1">
        <a:defRPr sz="1850" kern="1200" lang="vi-VN">
          <a:solidFill>
            <a:schemeClr val="tx1"/>
          </a:solidFill>
          <a:latin typeface="+mn-lt"/>
          <a:ea typeface="+mn-ea"/>
          <a:cs typeface="+mn-cs"/>
        </a:defRPr>
      </a:lvl3pPr>
      <a:lvl4pPr marL="1371600" algn="l" defTabSz="457200" rtl="0" eaLnBrk="1" latinLnBrk="0" hangingPunct="1">
        <a:defRPr sz="1700" kern="1200" lang="vi-VN">
          <a:solidFill>
            <a:schemeClr val="tx1"/>
          </a:solidFill>
          <a:latin typeface="+mn-lt"/>
          <a:ea typeface="+mn-ea"/>
          <a:cs typeface="+mn-cs"/>
        </a:defRPr>
      </a:lvl4pPr>
      <a:lvl5pPr marL="1828800" algn="l" defTabSz="457200" rtl="0" eaLnBrk="1" latinLnBrk="0" hangingPunct="1">
        <a:defRPr sz="1600" kern="1200" lang="vi-VN">
          <a:solidFill>
            <a:schemeClr val="tx1"/>
          </a:solidFill>
          <a:latin typeface="+mn-lt"/>
          <a:ea typeface="+mn-ea"/>
          <a:cs typeface="+mn-cs"/>
        </a:defRPr>
      </a:lvl5pPr>
      <a:lvl6pPr marL="2286000" algn="l" defTabSz="457200" rtl="0" eaLnBrk="1" latinLnBrk="0" hangingPunct="1">
        <a:defRPr sz="1450" kern="1200" lang="vi-VN">
          <a:solidFill>
            <a:schemeClr val="tx1"/>
          </a:solidFill>
          <a:latin typeface="+mn-lt"/>
          <a:ea typeface="+mn-ea"/>
          <a:cs typeface="+mn-cs"/>
        </a:defRPr>
      </a:lvl6pPr>
      <a:lvl7pPr marL="2743200" algn="l" defTabSz="457200" rtl="0" eaLnBrk="1" latinLnBrk="0" hangingPunct="1">
        <a:defRPr sz="1300" kern="1200" lang="vi-VN">
          <a:solidFill>
            <a:schemeClr val="tx1"/>
          </a:solidFill>
          <a:latin typeface="+mn-lt"/>
          <a:ea typeface="+mn-ea"/>
          <a:cs typeface="+mn-cs"/>
        </a:defRPr>
      </a:lvl7pPr>
      <a:lvl8pPr marL="3200400" algn="l" defTabSz="457200" rtl="0" eaLnBrk="1" latinLnBrk="0" hangingPunct="1">
        <a:defRPr sz="1200" kern="1200" lang="vi-VN">
          <a:solidFill>
            <a:schemeClr val="tx1"/>
          </a:solidFill>
          <a:latin typeface="+mn-lt"/>
          <a:ea typeface="+mn-ea"/>
          <a:cs typeface="+mn-cs"/>
        </a:defRPr>
      </a:lvl8pPr>
      <a:lvl9pPr marL="3657600" algn="l" defTabSz="457200" rtl="0" eaLnBrk="1" latinLnBrk="0" hangingPunct="1">
        <a:defRPr sz="105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4838700"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DỰ BÁO NHIỆT ĐỘ</a:t>
            </a:r>
          </a:p>
        </p:txBody>
      </p:sp>
      <p:sp>
        <p:nvSpPr>
          <p:cNvPr id="5" name="cover-subtitle Placeholder Carrier"/>
          <p:cNvSpPr txBox="1"/>
          <p:nvPr>
            <p:ph type="subTitle" idx="1"/>
          </p:nvPr>
        </p:nvSpPr>
        <p:spPr>
          <a:xfrm>
            <a:off x="1053846" y="3439478"/>
            <a:ext cx="4016393" cy="498729"/>
          </a:xfrm>
          <a:prstGeom prst="rect">
            <a:avLst/>
          </a:prstGeom>
          <a:noFill/>
          <a:ln>
            <a:noFill/>
          </a:ln>
        </p:spPr>
        <p:txBody>
          <a:bodyPr wrap="none" lIns="0" tIns="0" rIns="0" bIns="0" anchor="t" anchorCtr="0">
            <a:spAutoFit/>
          </a:bodyPr>
          <a:lstStyle/>
          <a:p>
            <a:pPr algn="l" marL="0" indent="0">
              <a:buNone/>
            </a:pPr>
            <a:r>
              <a:rPr lang="vi-VN" sz="2550" dirty="0">
                <a:solidFill>
                  <a:schemeClr val="accent3"/>
                </a:solidFill>
                <a:latin typeface="+mn-lt"/>
                <a:ea typeface="+mn-ea"/>
                <a:cs typeface="+mn-cs"/>
              </a:rPr>
              <a:t>SAU 3 GIỜ TRÊN FPGA</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01 / 15</a:t>
            </a:r>
          </a:p>
        </p:txBody>
      </p:sp>
      <p:grpSp>
        <p:nvGrpSpPr>
          <p:cNvPr id="8" name="cover-model"/>
          <p:cNvGrpSpPr/>
          <p:nvPr/>
        </p:nvGrpSpPr>
        <p:grpSpPr>
          <a:xfrm>
            <a:off x="1056513" y="4220051"/>
            <a:ext cx="4866536" cy="396050"/>
            <a:chOff x="1056513" y="4220051"/>
            <a:chExt cx="4866536" cy="396050"/>
          </a:xfrm>
        </p:grpSpPr>
        <p:sp>
          <p:nvSpPr>
            <p:cNvPr id="7" name="TextBox 7"/>
            <p:cNvSpPr txBox="1"/>
            <p:nvPr/>
          </p:nvSpPr>
          <p:spPr>
            <a:xfrm>
              <a:off x="1056513" y="4220051"/>
              <a:ext cx="4866536" cy="396050"/>
            </a:xfrm>
            <a:prstGeom prst="rect">
              <a:avLst/>
            </a:prstGeom>
            <a:noFill/>
            <a:ln>
              <a:noFill/>
            </a:ln>
          </p:spPr>
          <p:txBody>
            <a:bodyPr wrap="none" lIns="0" tIns="0" rIns="0" bIns="0" anchor="t" anchorCtr="0">
              <a:spAutoFit/>
            </a:bodyPr>
            <a:lstStyle/>
            <a:p>
              <a:pPr algn="l"/>
              <a:r>
                <a:rPr lang="vi-VN" sz="2020" dirty="0">
                  <a:solidFill>
                    <a:schemeClr val="accent3"/>
                  </a:solidFill>
                  <a:latin typeface="+mn-lt"/>
                  <a:ea typeface="+mn-ea"/>
                  <a:cs typeface="+mn-cs"/>
                </a:rPr>
                <a:t>Mô hình tuyến tính từ các giá trị quá khứ</a:t>
              </a:r>
            </a:p>
          </p:txBody>
        </p:sp>
      </p:grpSp>
      <p:grpSp>
        <p:nvGrpSpPr>
          <p:cNvPr id="10" name="course"/>
          <p:cNvGrpSpPr/>
          <p:nvPr/>
        </p:nvGrpSpPr>
        <p:grpSpPr>
          <a:xfrm>
            <a:off x="1058418" y="812482"/>
            <a:ext cx="4046917" cy="322707"/>
            <a:chOff x="1058418" y="812482"/>
            <a:chExt cx="4046917" cy="322707"/>
          </a:xfrm>
        </p:grpSpPr>
        <p:sp>
          <p:nvSpPr>
            <p:cNvPr id="9" name="TextBox 9"/>
            <p:cNvSpPr txBox="1"/>
            <p:nvPr/>
          </p:nvSpPr>
          <p:spPr>
            <a:xfrm>
              <a:off x="1058418" y="812482"/>
              <a:ext cx="404691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CE436 / BÁO CÁO ĐỀ XUẤT / BUỔI 1</a:t>
              </a:r>
            </a:p>
          </p:txBody>
        </p:sp>
      </p:grpSp>
      <p:grpSp>
        <p:nvGrpSpPr>
          <p:cNvPr id="19" name="forecast-hook"/>
          <p:cNvGrpSpPr/>
          <p:nvPr/>
        </p:nvGrpSpPr>
        <p:grpSpPr>
          <a:xfrm>
            <a:off x="1056132" y="4914900"/>
            <a:ext cx="9697906" cy="906971"/>
            <a:chOff x="1056132" y="4914900"/>
            <a:chExt cx="9697906" cy="906971"/>
          </a:xfrm>
        </p:grpSpPr>
        <p:sp>
          <p:nvSpPr>
            <p:cNvPr id="11" name="Line 11"/>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2" name="Ellipse 12"/>
            <p:cNvSpPr/>
            <p:nvPr/>
          </p:nvSpPr>
          <p:spPr>
            <a:xfrm>
              <a:off x="1447800" y="4972050"/>
              <a:ext cx="152400" cy="152400"/>
            </a:xfrm>
            <a:prstGeom prst="ellipse">
              <a:avLst/>
            </a:prstGeom>
            <a:solidFill>
              <a:schemeClr val="accent3"/>
            </a:solidFill>
            <a:ln>
              <a:noFill/>
            </a:ln>
          </p:spPr>
        </p:sp>
        <p:sp>
          <p:nvSpPr>
            <p:cNvPr id="13" name="Ellipse 13"/>
            <p:cNvSpPr/>
            <p:nvPr/>
          </p:nvSpPr>
          <p:spPr>
            <a:xfrm>
              <a:off x="4019550" y="4972050"/>
              <a:ext cx="152400" cy="152400"/>
            </a:xfrm>
            <a:prstGeom prst="ellipse">
              <a:avLst/>
            </a:prstGeom>
            <a:solidFill>
              <a:schemeClr val="accent3"/>
            </a:solidFill>
            <a:ln>
              <a:noFill/>
            </a:ln>
          </p:spPr>
        </p:sp>
        <p:sp>
          <p:nvSpPr>
            <p:cNvPr id="14" name="Ellipse 14"/>
            <p:cNvSpPr/>
            <p:nvPr/>
          </p:nvSpPr>
          <p:spPr>
            <a:xfrm>
              <a:off x="6591300" y="4972050"/>
              <a:ext cx="152400" cy="152400"/>
            </a:xfrm>
            <a:prstGeom prst="ellipse">
              <a:avLst/>
            </a:prstGeom>
            <a:solidFill>
              <a:schemeClr val="accent3"/>
            </a:solidFill>
            <a:ln>
              <a:noFill/>
            </a:ln>
          </p:spPr>
        </p:sp>
        <p:sp>
          <p:nvSpPr>
            <p:cNvPr id="15" name="Ellipse 15"/>
            <p:cNvSpPr/>
            <p:nvPr/>
          </p:nvSpPr>
          <p:spPr>
            <a:xfrm>
              <a:off x="10153650" y="4914900"/>
              <a:ext cx="266700" cy="266700"/>
            </a:xfrm>
            <a:prstGeom prst="ellipse">
              <a:avLst/>
            </a:prstGeom>
            <a:solidFill>
              <a:schemeClr val="accent1"/>
            </a:solidFill>
            <a:ln>
              <a:noFill/>
            </a:ln>
          </p:spPr>
        </p:sp>
        <p:sp>
          <p:nvSpPr>
            <p:cNvPr id="16" name="TextBox 16"/>
            <p:cNvSpPr txBox="1"/>
            <p:nvPr/>
          </p:nvSpPr>
          <p:spPr>
            <a:xfrm>
              <a:off x="1056132" y="5345430"/>
              <a:ext cx="1995269"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Dữ liệu quá khứ</a:t>
              </a:r>
            </a:p>
          </p:txBody>
        </p:sp>
        <p:sp>
          <p:nvSpPr>
            <p:cNvPr id="17" name="TextBox 17"/>
            <p:cNvSpPr txBox="1"/>
            <p:nvPr/>
          </p:nvSpPr>
          <p:spPr>
            <a:xfrm>
              <a:off x="6104382" y="5345430"/>
              <a:ext cx="987673"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Hiện tại</a:t>
              </a:r>
            </a:p>
          </p:txBody>
        </p:sp>
        <p:sp>
          <p:nvSpPr>
            <p:cNvPr id="18" name="TextBox 18"/>
            <p:cNvSpPr txBox="1"/>
            <p:nvPr/>
          </p:nvSpPr>
          <p:spPr>
            <a:xfrm>
              <a:off x="9605772" y="5264468"/>
              <a:ext cx="1148266"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+3 giờ</a:t>
              </a:r>
            </a:p>
          </p:txBody>
        </p:sp>
      </p:grpSp>
      <p:grpSp>
        <p:nvGrpSpPr>
          <p:cNvPr id="21" name="project-meta"/>
          <p:cNvGrpSpPr/>
          <p:nvPr/>
        </p:nvGrpSpPr>
        <p:grpSpPr>
          <a:xfrm>
            <a:off x="1058418" y="6194108"/>
            <a:ext cx="5255852" cy="322707"/>
            <a:chOff x="1058418" y="6194108"/>
            <a:chExt cx="5255852" cy="322707"/>
          </a:xfrm>
        </p:grpSpPr>
        <p:sp>
          <p:nvSpPr>
            <p:cNvPr id="20" name="TextBox 20"/>
            <p:cNvSpPr txBox="1"/>
            <p:nvPr/>
          </p:nvSpPr>
          <p:spPr>
            <a:xfrm>
              <a:off x="1058418" y="6194108"/>
              <a:ext cx="5255852"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3 thành viên · 12 tuần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0050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bài toán có thể kiểm chứng</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25966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CHỦ ĐỀ THẦY GIAO</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149869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VÀO</a:t>
              </a:r>
            </a:p>
          </p:txBody>
        </p:sp>
        <p:sp>
          <p:nvSpPr>
            <p:cNvPr id="17" name="TextBox 17"/>
            <p:cNvSpPr txBox="1"/>
            <p:nvPr/>
          </p:nvSpPr>
          <p:spPr>
            <a:xfrm>
              <a:off x="827532" y="3364230"/>
              <a:ext cx="38015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Nhiệt độ theo giờ</a:t>
              </a:r>
              <a:br/>
              <a:r>
                <a:rPr lang="vi-VN" sz="2100" dirty="0">
                  <a:solidFill>
                    <a:schemeClr val="dk1"/>
                  </a:solidFill>
                  <a:latin typeface="+mn-lt"/>
                  <a:ea typeface="+mn-ea"/>
                  <a:cs typeface="+mn-cs"/>
                </a:rPr>
                <a:t>tại một địa điểm, đến thời điểm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26743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RA</a:t>
              </a:r>
            </a:p>
          </p:txBody>
        </p:sp>
        <p:sp>
          <p:nvSpPr>
            <p:cNvPr id="21" name="TextBox 21"/>
            <p:cNvSpPr txBox="1"/>
            <p:nvPr/>
          </p:nvSpPr>
          <p:spPr>
            <a:xfrm>
              <a:off x="6580632" y="3364230"/>
              <a:ext cx="37652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Một dự báo nhiệt độ tại t + 3 giờ</a:t>
              </a:r>
              <a:br/>
              <a:r>
                <a:rPr lang="vi-VN" sz="2100" dirty="0">
                  <a:solidFill>
                    <a:schemeClr val="dk1"/>
                  </a:solidFill>
                  <a:latin typeface="+mn-lt"/>
                  <a:ea typeface="+mn-ea"/>
                  <a:cs typeface="+mn-cs"/>
                </a:rPr>
                <a:t>Đơn vị: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578005" cy="826961"/>
            <a:chOff x="598170" y="4786312"/>
            <a:chExt cx="8578005" cy="826961"/>
          </a:xfrm>
        </p:grpSpPr>
        <p:sp>
          <p:nvSpPr>
            <p:cNvPr id="24" name="TextBox 24"/>
            <p:cNvSpPr txBox="1"/>
            <p:nvPr/>
          </p:nvSpPr>
          <p:spPr>
            <a:xfrm>
              <a:off x="598170" y="4786312"/>
              <a:ext cx="471174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Vì sao chọn mô hình tuyến tính?</a:t>
              </a:r>
            </a:p>
          </p:txBody>
        </p:sp>
        <p:sp>
          <p:nvSpPr>
            <p:cNvPr id="25" name="TextBox 25"/>
            <p:cNvSpPr txBox="1"/>
            <p:nvPr/>
          </p:nvSpPr>
          <p:spPr>
            <a:xfrm>
              <a:off x="598932" y="5202555"/>
              <a:ext cx="857724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Phép tính rõ ràng, dễ đối chiếu C++ ↔ RTL trong kế hoạch 3 tháng.</a:t>
              </a:r>
            </a:p>
          </p:txBody>
        </p:sp>
      </p:grpSp>
      <p:grpSp>
        <p:nvGrpSpPr>
          <p:cNvPr id="28" name="scope-caveat"/>
          <p:cNvGrpSpPr/>
          <p:nvPr/>
        </p:nvGrpSpPr>
        <p:grpSpPr>
          <a:xfrm>
            <a:off x="601218" y="5851208"/>
            <a:ext cx="8404128" cy="589407"/>
            <a:chOff x="601218" y="5851208"/>
            <a:chExt cx="8404128" cy="589407"/>
          </a:xfrm>
        </p:grpSpPr>
        <p:sp>
          <p:nvSpPr>
            <p:cNvPr id="27" name="TextBox 27"/>
            <p:cNvSpPr txBox="1"/>
            <p:nvPr/>
          </p:nvSpPr>
          <p:spPr>
            <a:xfrm>
              <a:off x="601218" y="5851208"/>
              <a:ext cx="840412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Phạm vi lõi: một biến, hệ số cố định. Độ ẩm/áp suất chỉ mở rộng khi còn thời gian.</a:t>
              </a:r>
              <a:br/>
              <a:r>
                <a:rPr lang="vi-VN" sz="1650" dirty="0">
                  <a:solidFill>
                    <a:schemeClr val="accent3"/>
                  </a:solidFill>
                  <a:latin typeface="+mn-lt"/>
                  <a:ea typeface="+mn-ea"/>
                  <a:cs typeface="+mn-cs"/>
                </a:rPr>
                <a:t>FPGA phục vụ thực hành DSP và RTL; chưa khẳng định lợi ích tốc độ cho dữ liệu theo giờ.</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922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C++ học hệ số, FPGA tính dự báo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232471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OFFLINE / MÁY TÍNH</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181017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CSV nhiệt độ</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213830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 huấn luyện</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168435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Hệ số a, b, c</a:t>
              </a:r>
            </a:p>
          </p:txBody>
        </p:sp>
        <p:sp>
          <p:nvSpPr>
            <p:cNvPr id="17" name="TextBox 17"/>
            <p:cNvSpPr txBox="1"/>
            <p:nvPr/>
          </p:nvSpPr>
          <p:spPr>
            <a:xfrm>
              <a:off x="829818" y="2984182"/>
              <a:ext cx="70560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Làm sạch → baseline → tìm hệ số → reference số cố định + test vector</a:t>
              </a:r>
            </a:p>
          </p:txBody>
        </p:sp>
      </p:grpSp>
      <p:grpSp>
        <p:nvGrpSpPr>
          <p:cNvPr id="37" name="online-flow"/>
          <p:cNvGrpSpPr/>
          <p:nvPr/>
        </p:nvGrpSpPr>
        <p:grpSpPr>
          <a:xfrm>
            <a:off x="601218" y="4012882"/>
            <a:ext cx="9114602" cy="1427607"/>
            <a:chOff x="601218" y="4012882"/>
            <a:chExt cx="9114602" cy="1427607"/>
          </a:xfrm>
        </p:grpSpPr>
        <p:sp>
          <p:nvSpPr>
            <p:cNvPr id="19" name="TextBox 19"/>
            <p:cNvSpPr txBox="1"/>
            <p:nvPr/>
          </p:nvSpPr>
          <p:spPr>
            <a:xfrm>
              <a:off x="601218" y="4012882"/>
              <a:ext cx="358977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KHI CHẠY / HỆ SỐ GIỮ CỐ ĐỊNH</a:t>
              </a:r>
            </a:p>
          </p:txBody>
        </p:sp>
        <p:sp>
          <p:nvSpPr>
            <p:cNvPr id="20" name="TextBox 20"/>
            <p:cNvSpPr txBox="1"/>
            <p:nvPr/>
          </p:nvSpPr>
          <p:spPr>
            <a:xfrm>
              <a:off x="827532" y="4631055"/>
              <a:ext cx="111350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Mẫu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80168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Dự báo T̂(t+3)</a:t>
              </a:r>
            </a:p>
          </p:txBody>
        </p:sp>
        <p:sp>
          <p:nvSpPr>
            <p:cNvPr id="36" name="TextBox 36"/>
            <p:cNvSpPr txBox="1"/>
            <p:nvPr/>
          </p:nvSpPr>
          <p:spPr>
            <a:xfrm>
              <a:off x="4277868" y="5117782"/>
              <a:ext cx="35556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Lưu lịch sử · tính toán · xuất kết quả</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806598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BÀN GIAO: C++ · RTL · Testbench · Demo board · Báo cáo sai số và tài nguyên</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29105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Bốn mốc quá khứ, một đích +3 giờ</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04 / 15</a:t>
            </a:r>
          </a:p>
        </p:txBody>
      </p:sp>
      <p:grpSp>
        <p:nvGrpSpPr>
          <p:cNvPr id="8" name="data-source"/>
          <p:cNvGrpSpPr/>
          <p:nvPr/>
        </p:nvGrpSpPr>
        <p:grpSpPr>
          <a:xfrm>
            <a:off x="598932" y="1583055"/>
            <a:ext cx="8825537" cy="790384"/>
            <a:chOff x="598932" y="1583055"/>
            <a:chExt cx="8825537" cy="790384"/>
          </a:xfrm>
        </p:grpSpPr>
        <p:sp>
          <p:nvSpPr>
            <p:cNvPr id="6" name="TextBox 6"/>
            <p:cNvSpPr txBox="1"/>
            <p:nvPr/>
          </p:nvSpPr>
          <p:spPr>
            <a:xfrm>
              <a:off x="598932" y="1583055"/>
              <a:ext cx="6095150"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 xml:space="preserve">Nguồn dự kiến: </a:t>
              </a:r>
              <a:r>
                <a:rPr lang="vi-VN" sz="2100" b="1" dirty="0">
                  <a:solidFill>
                    <a:schemeClr val="dk1"/>
                  </a:solidFill>
                  <a:latin typeface="+mn-lt"/>
                  <a:ea typeface="+mn-ea"/>
                  <a:cs typeface="+mn-cs"/>
                </a:rPr>
                <a:t>NASA POWER • T2M theo giờ</a:t>
              </a:r>
            </a:p>
          </p:txBody>
        </p:sp>
        <p:sp>
          <p:nvSpPr>
            <p:cNvPr id="7" name="TextBox 7"/>
            <p:cNvSpPr txBox="1"/>
            <p:nvPr/>
          </p:nvSpPr>
          <p:spPr>
            <a:xfrm>
              <a:off x="601218" y="2050732"/>
              <a:ext cx="882325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Dữ liệu lưới; tọa độ và khoảng dữ liệu chưa chốt. Kiểm tra giờ thiếu/lặp, mốc giờ và đơn vị.</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t+3</a:t>
              </a:r>
            </a:p>
          </p:txBody>
        </p:sp>
      </p:grpSp>
      <p:grpSp>
        <p:nvGrpSpPr>
          <p:cNvPr id="24" name="same-hour"/>
          <p:cNvGrpSpPr/>
          <p:nvPr/>
        </p:nvGrpSpPr>
        <p:grpSpPr>
          <a:xfrm>
            <a:off x="595122" y="4416742"/>
            <a:ext cx="7366862" cy="967931"/>
            <a:chOff x="595122" y="4416742"/>
            <a:chExt cx="7366862"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t + 3 − 24 = t − 21</a:t>
              </a:r>
            </a:p>
          </p:txBody>
        </p:sp>
        <p:sp>
          <p:nvSpPr>
            <p:cNvPr id="23" name="TextBox 23"/>
            <p:cNvSpPr txBox="1"/>
            <p:nvPr/>
          </p:nvSpPr>
          <p:spPr>
            <a:xfrm>
              <a:off x="598932" y="4973955"/>
              <a:ext cx="7363052"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Mốc t−21 là cùng giờ ngày trước của thời điểm cần dự báo.</a:t>
              </a:r>
            </a:p>
          </p:txBody>
        </p:sp>
      </p:grpSp>
      <p:grpSp>
        <p:nvGrpSpPr>
          <p:cNvPr id="26" name="causality"/>
          <p:cNvGrpSpPr/>
          <p:nvPr/>
        </p:nvGrpSpPr>
        <p:grpSpPr>
          <a:xfrm>
            <a:off x="601218" y="5603558"/>
            <a:ext cx="6965358" cy="589407"/>
            <a:chOff x="601218" y="5603558"/>
            <a:chExt cx="6965358" cy="589407"/>
          </a:xfrm>
        </p:grpSpPr>
        <p:sp>
          <p:nvSpPr>
            <p:cNvPr id="25" name="TextBox 25"/>
            <p:cNvSpPr txBox="1"/>
            <p:nvPr/>
          </p:nvSpPr>
          <p:spPr>
            <a:xfrm>
              <a:off x="601218" y="5603558"/>
              <a:ext cx="696535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Giữ 25 mẫu liên tiếp. FPGA chỉ thấy dữ liệu đến t; T(t+3) dùng để đánh giá.</a:t>
              </a:r>
              <a:br/>
              <a:r>
                <a:rPr lang="vi-VN" sz="1650" dirty="0">
                  <a:solidFill>
                    <a:schemeClr val="accent3"/>
                  </a:solidFill>
                  <a:latin typeface="+mn-lt"/>
                  <a:ea typeface="+mn-ea"/>
                  <a:cs typeface="+mn-cs"/>
                </a:rPr>
                <a:t>Sơ đồ thể hiện thứ tự mốc, không theo tỷ lệ khoảng cách thời gian.</a:t>
              </a:r>
            </a:p>
          </p:txBody>
        </p:sp>
      </p:grpSp>
      <p:grpSp>
        <p:nvGrpSpPr>
          <p:cNvPr id="28" name="source-link"/>
          <p:cNvGrpSpPr/>
          <p:nvPr/>
        </p:nvGrpSpPr>
        <p:grpSpPr>
          <a:xfrm>
            <a:off x="603504" y="6337935"/>
            <a:ext cx="3959204" cy="234696"/>
            <a:chOff x="603504" y="6337935"/>
            <a:chExt cx="3959204" cy="234696"/>
          </a:xfrm>
        </p:grpSpPr>
        <p:sp>
          <p:nvSpPr>
            <p:cNvPr id="27" name="TextBox 27">
              <a:hlinkClick r:id="rId2"/>
            </p:cNvPr>
            <p:cNvSpPr txBox="1"/>
            <p:nvPr/>
          </p:nvSpPr>
          <p:spPr>
            <a:xfrm>
              <a:off x="603504" y="6337935"/>
              <a:ext cx="395920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dự kiến: NASA POWER — tài liệu API theo giờ</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234176"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Mô hình tuyến tính từ quá khứ</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vi-VN"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T(t−21)</a:t>
              </a:r>
            </a:p>
          </p:txBody>
        </p:sp>
        <p:sp>
          <p:nvSpPr>
            <p:cNvPr id="12" name="TextBox 12"/>
            <p:cNvSpPr txBox="1"/>
            <p:nvPr/>
          </p:nvSpPr>
          <p:spPr>
            <a:xfrm>
              <a:off x="598932" y="4192905"/>
              <a:ext cx="1859646"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cùng giờ</a:t>
              </a:r>
              <a:br/>
              <a:r>
                <a:rPr lang="vi-VN" sz="2100" dirty="0">
                  <a:solidFill>
                    <a:schemeClr val="dk1"/>
                  </a:solidFill>
                  <a:latin typeface="+mn-lt"/>
                  <a:ea typeface="+mn-ea"/>
                  <a:cs typeface="+mn-cs"/>
                </a:rPr>
                <a:t>ngày hôm trước</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a[T(t)−T(t−24)]</a:t>
              </a:r>
            </a:p>
          </p:txBody>
        </p:sp>
        <p:sp>
          <p:nvSpPr>
            <p:cNvPr id="16" name="TextBox 16"/>
            <p:cNvSpPr txBox="1"/>
            <p:nvPr/>
          </p:nvSpPr>
          <p:spPr>
            <a:xfrm>
              <a:off x="4256532" y="4192905"/>
              <a:ext cx="26457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chênh lệch</a:t>
              </a:r>
              <a:br/>
              <a:r>
                <a:rPr lang="vi-VN" sz="2100" dirty="0">
                  <a:solidFill>
                    <a:schemeClr val="dk1"/>
                  </a:solidFill>
                  <a:latin typeface="+mn-lt"/>
                  <a:ea typeface="+mn-ea"/>
                  <a:cs typeface="+mn-cs"/>
                </a:rPr>
                <a:t>so với ngày trước</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b[T(t)−T(t−3)]</a:t>
              </a:r>
            </a:p>
          </p:txBody>
        </p:sp>
        <p:sp>
          <p:nvSpPr>
            <p:cNvPr id="20" name="TextBox 20"/>
            <p:cNvSpPr txBox="1"/>
            <p:nvPr/>
          </p:nvSpPr>
          <p:spPr>
            <a:xfrm>
              <a:off x="7914132" y="4192905"/>
              <a:ext cx="251242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biến thiên</a:t>
              </a:r>
              <a:br/>
              <a:r>
                <a:rPr lang="vi-VN" sz="2100" dirty="0">
                  <a:solidFill>
                    <a:schemeClr val="dk1"/>
                  </a:solidFill>
                  <a:latin typeface="+mn-lt"/>
                  <a:ea typeface="+mn-ea"/>
                  <a:cs typeface="+mn-cs"/>
                </a:rPr>
                <a:t>trong 3 giờ gần nhất</a:t>
              </a:r>
            </a:p>
          </p:txBody>
        </p:sp>
      </p:grpSp>
      <p:grpSp>
        <p:nvGrpSpPr>
          <p:cNvPr id="23" name="coefficient-contract"/>
          <p:cNvGrpSpPr/>
          <p:nvPr/>
        </p:nvGrpSpPr>
        <p:grpSpPr>
          <a:xfrm>
            <a:off x="601218" y="5708332"/>
            <a:ext cx="7367736" cy="627507"/>
            <a:chOff x="601218" y="5708332"/>
            <a:chExt cx="7367736" cy="627507"/>
          </a:xfrm>
        </p:grpSpPr>
        <p:sp>
          <p:nvSpPr>
            <p:cNvPr id="22" name="TextBox 22"/>
            <p:cNvSpPr txBox="1"/>
            <p:nvPr/>
          </p:nvSpPr>
          <p:spPr>
            <a:xfrm>
              <a:off x="601218" y="5708332"/>
              <a:ext cx="736773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 độ lệch hằng. a, b, c được tìm offline trên C++ và giữ cố định khi FPGA chạy.</a:t>
              </a:r>
              <a:br/>
              <a:r>
                <a:rPr lang="vi-VN" sz="1650" dirty="0">
                  <a:solidFill>
                    <a:schemeClr val="accent3"/>
                  </a:solidFill>
                  <a:latin typeface="+mn-lt"/>
                  <a:ea typeface="+mn-ea"/>
                  <a:cs typeface="+mn-cs"/>
                </a:rPr>
                <a:t>Đây là mô hình đề xuất cần đánh giá; chưa có hệ số hoặc kết quả thực nghiệm.</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46821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lượt dự báo được tính thế nào?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06 / 15</a:t>
            </a:r>
          </a:p>
        </p:txBody>
      </p:sp>
      <p:grpSp>
        <p:nvGrpSpPr>
          <p:cNvPr id="7" name="scenario-notice"/>
          <p:cNvGrpSpPr/>
          <p:nvPr/>
        </p:nvGrpSpPr>
        <p:grpSpPr>
          <a:xfrm>
            <a:off x="601218" y="1612582"/>
            <a:ext cx="8377056" cy="322707"/>
            <a:chOff x="601218" y="1612582"/>
            <a:chExt cx="8377056" cy="322707"/>
          </a:xfrm>
        </p:grpSpPr>
        <p:sp>
          <p:nvSpPr>
            <p:cNvPr id="6" name="TextBox 6"/>
            <p:cNvSpPr txBox="1"/>
            <p:nvPr/>
          </p:nvSpPr>
          <p:spPr>
            <a:xfrm>
              <a:off x="601218" y="1612582"/>
              <a:ext cx="837705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MINH HỌA GIẢ ĐỊNH — nhiệt độ và hệ số dưới đây chưa phải kết quả thực nghiệm.</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19420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Hệ số minh họa: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vi-VN"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496823" cy="440055"/>
            <a:chOff x="598170" y="5881688"/>
            <a:chExt cx="6496823" cy="440055"/>
          </a:xfrm>
        </p:grpSpPr>
        <p:sp>
          <p:nvSpPr>
            <p:cNvPr id="16" name="TextBox 16"/>
            <p:cNvSpPr txBox="1"/>
            <p:nvPr/>
          </p:nvSpPr>
          <p:spPr>
            <a:xfrm>
              <a:off x="598170" y="5881688"/>
              <a:ext cx="6496823"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 xml:space="preserve">Mạch cần thực hiện: </a:t>
              </a:r>
              <a:r>
                <a:rPr lang="vi-VN" sz="2250" b="1" dirty="0">
                  <a:solidFill>
                    <a:schemeClr val="dk1"/>
                  </a:solidFill>
                  <a:latin typeface="+mn-lt"/>
                  <a:ea typeface="+mn-ea"/>
                  <a:cs typeface="+mn-cs"/>
                </a:rPr>
                <a:t>trừ → nhân hệ số → cộng</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54494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Học quá khứ, kiểm tra tương lai</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07 / 15</a:t>
            </a:r>
          </a:p>
        </p:txBody>
      </p:sp>
      <p:grpSp>
        <p:nvGrpSpPr>
          <p:cNvPr id="16"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46872"/>
              <a:ext cx="59733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x₁ =</a:t>
              </a:r>
            </a:p>
          </p:txBody>
        </p:sp>
        <p:sp>
          <p:nvSpPr>
            <p:cNvPr id="8" name="TextBox 8"/>
            <p:cNvSpPr txBox="1"/>
            <p:nvPr/>
          </p:nvSpPr>
          <p:spPr>
            <a:xfrm>
              <a:off x="1609344" y="1646872"/>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T(t)−T(t−24)</a:t>
              </a:r>
            </a:p>
          </p:txBody>
        </p:sp>
        <p:sp>
          <p:nvSpPr>
            <p:cNvPr id="9" name="TextBox 9"/>
            <p:cNvSpPr txBox="1"/>
            <p:nvPr/>
          </p:nvSpPr>
          <p:spPr>
            <a:xfrm>
              <a:off x="6181344" y="1646872"/>
              <a:ext cx="59733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x₂ =</a:t>
              </a:r>
            </a:p>
          </p:txBody>
        </p:sp>
        <p:sp>
          <p:nvSpPr>
            <p:cNvPr id="10" name="TextBox 10"/>
            <p:cNvSpPr txBox="1"/>
            <p:nvPr/>
          </p:nvSpPr>
          <p:spPr>
            <a:xfrm>
              <a:off x="6962394" y="1646872"/>
              <a:ext cx="16529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T(t)−T(t−3)</a:t>
              </a:r>
            </a:p>
          </p:txBody>
        </p:sp>
        <p:sp>
          <p:nvSpPr>
            <p:cNvPr id="11" name="TextBox 11"/>
            <p:cNvSpPr txBox="1"/>
            <p:nvPr/>
          </p:nvSpPr>
          <p:spPr>
            <a:xfrm>
              <a:off x="828294" y="2170748"/>
              <a:ext cx="45295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y =</a:t>
              </a:r>
            </a:p>
          </p:txBody>
        </p:sp>
        <p:sp>
          <p:nvSpPr>
            <p:cNvPr id="12" name="TextBox 12"/>
            <p:cNvSpPr txBox="1"/>
            <p:nvPr/>
          </p:nvSpPr>
          <p:spPr>
            <a:xfrm>
              <a:off x="1609344" y="2170748"/>
              <a:ext cx="2098338"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T(t+3)−T(t−21)</a:t>
              </a:r>
            </a:p>
          </p:txBody>
        </p:sp>
        <p:sp>
          <p:nvSpPr>
            <p:cNvPr id="13" name="TextBox 13"/>
            <p:cNvSpPr txBox="1"/>
            <p:nvPr/>
          </p:nvSpPr>
          <p:spPr>
            <a:xfrm>
              <a:off x="6182106" y="2186940"/>
              <a:ext cx="1217752" cy="352044"/>
            </a:xfrm>
            <a:prstGeom prst="rect">
              <a:avLst/>
            </a:prstGeom>
            <a:noFill/>
            <a:ln>
              <a:noFill/>
            </a:ln>
          </p:spPr>
          <p:txBody>
            <a:bodyPr wrap="none" lIns="0" tIns="0" rIns="0" bIns="0" anchor="t" anchorCtr="0">
              <a:spAutoFit/>
            </a:bodyPr>
            <a:lstStyle/>
            <a:p>
              <a:pPr algn="l"/>
              <a:r>
                <a:rPr lang="vi-VN" sz="1800" dirty="0">
                  <a:solidFill>
                    <a:schemeClr val="accent2"/>
                  </a:solidFill>
                  <a:latin typeface="Consolas"/>
                  <a:ea typeface="Consolas"/>
                  <a:cs typeface="Consolas"/>
                </a:rPr>
                <a:t>y≈ax₁+bx₂</a:t>
              </a:r>
            </a:p>
          </p:txBody>
        </p:sp>
        <p:sp>
          <p:nvSpPr>
            <p:cNvPr id="14" name="TextBox 14"/>
            <p:cNvSpPr txBox="1"/>
            <p:nvPr/>
          </p:nvSpPr>
          <p:spPr>
            <a:xfrm>
              <a:off x="7848981" y="2186940"/>
              <a:ext cx="284836" cy="352044"/>
            </a:xfrm>
            <a:prstGeom prst="rect">
              <a:avLst/>
            </a:prstGeom>
            <a:noFill/>
            <a:ln>
              <a:noFill/>
            </a:ln>
          </p:spPr>
          <p:txBody>
            <a:bodyPr wrap="none" lIns="0" tIns="0" rIns="0" bIns="0" anchor="t" anchorCtr="0">
              <a:spAutoFit/>
            </a:bodyPr>
            <a:lstStyle/>
            <a:p>
              <a:pPr algn="l"/>
              <a:r>
                <a:rPr lang="vi-VN" sz="1800" dirty="0">
                  <a:solidFill>
                    <a:schemeClr val="accent2"/>
                  </a:solidFill>
                  <a:latin typeface="Consolas"/>
                  <a:ea typeface="Consolas"/>
                  <a:cs typeface="Consolas"/>
                </a:rPr>
                <a:t>+c</a:t>
              </a:r>
            </a:p>
          </p:txBody>
        </p:sp>
        <p:sp>
          <p:nvSpPr>
            <p:cNvPr id="15" name="TextBox 15"/>
            <p:cNvSpPr txBox="1"/>
            <p:nvPr/>
          </p:nvSpPr>
          <p:spPr>
            <a:xfrm>
              <a:off x="827532" y="2602230"/>
              <a:ext cx="539126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 tìm a, b, c bằng bình phương tối thiểu.</a:t>
              </a:r>
            </a:p>
          </p:txBody>
        </p:sp>
      </p:grpSp>
      <p:grpSp>
        <p:nvGrpSpPr>
          <p:cNvPr id="20" name="train-stage"/>
          <p:cNvGrpSpPr/>
          <p:nvPr/>
        </p:nvGrpSpPr>
        <p:grpSpPr>
          <a:xfrm>
            <a:off x="598170" y="3390900"/>
            <a:ext cx="3307080" cy="1469898"/>
            <a:chOff x="598170" y="3390900"/>
            <a:chExt cx="3307080" cy="1469898"/>
          </a:xfrm>
        </p:grpSpPr>
        <p:sp>
          <p:nvSpPr>
            <p:cNvPr id="17" name="Line 17"/>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8" name="TextBox 18"/>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TRAIN</a:t>
              </a:r>
            </a:p>
          </p:txBody>
        </p:sp>
        <p:sp>
          <p:nvSpPr>
            <p:cNvPr id="19" name="TextBox 19"/>
            <p:cNvSpPr txBox="1"/>
            <p:nvPr/>
          </p:nvSpPr>
          <p:spPr>
            <a:xfrm>
              <a:off x="598932" y="4088130"/>
              <a:ext cx="169674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Tìm hệ số</a:t>
              </a:r>
              <a:br/>
              <a:r>
                <a:rPr lang="vi-VN" sz="2100" dirty="0">
                  <a:solidFill>
                    <a:schemeClr val="dk1"/>
                  </a:solidFill>
                  <a:latin typeface="+mn-lt"/>
                  <a:ea typeface="+mn-ea"/>
                  <a:cs typeface="+mn-cs"/>
                </a:rPr>
                <a:t>trên dữ liệu cũ</a:t>
              </a:r>
            </a:p>
          </p:txBody>
        </p:sp>
      </p:grpSp>
      <p:grpSp>
        <p:nvGrpSpPr>
          <p:cNvPr id="24" name="validation-stage"/>
          <p:cNvGrpSpPr/>
          <p:nvPr/>
        </p:nvGrpSpPr>
        <p:grpSpPr>
          <a:xfrm>
            <a:off x="4408170" y="3390900"/>
            <a:ext cx="3307080" cy="1469898"/>
            <a:chOff x="4408170" y="3390900"/>
            <a:chExt cx="3307080" cy="1469898"/>
          </a:xfrm>
        </p:grpSpPr>
        <p:sp>
          <p:nvSpPr>
            <p:cNvPr id="21" name="Line 21"/>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22" name="TextBox 22"/>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VALIDATION</a:t>
              </a:r>
            </a:p>
          </p:txBody>
        </p:sp>
        <p:sp>
          <p:nvSpPr>
            <p:cNvPr id="23" name="TextBox 23"/>
            <p:cNvSpPr txBox="1"/>
            <p:nvPr/>
          </p:nvSpPr>
          <p:spPr>
            <a:xfrm>
              <a:off x="4408932" y="4088130"/>
              <a:ext cx="184508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Chọn đặc trưng</a:t>
              </a:r>
              <a:br/>
              <a:r>
                <a:rPr lang="vi-VN" sz="2100" dirty="0">
                  <a:solidFill>
                    <a:schemeClr val="dk1"/>
                  </a:solidFill>
                  <a:latin typeface="+mn-lt"/>
                  <a:ea typeface="+mn-ea"/>
                  <a:cs typeface="+mn-cs"/>
                </a:rPr>
                <a:t>và cấu hình</a:t>
              </a:r>
            </a:p>
          </p:txBody>
        </p:sp>
      </p:grpSp>
      <p:grpSp>
        <p:nvGrpSpPr>
          <p:cNvPr id="28" name="test-stage"/>
          <p:cNvGrpSpPr/>
          <p:nvPr/>
        </p:nvGrpSpPr>
        <p:grpSpPr>
          <a:xfrm>
            <a:off x="8218170" y="3390900"/>
            <a:ext cx="3364230" cy="1469898"/>
            <a:chOff x="8218170" y="3390900"/>
            <a:chExt cx="3364230" cy="1469898"/>
          </a:xfrm>
        </p:grpSpPr>
        <p:sp>
          <p:nvSpPr>
            <p:cNvPr id="25" name="Line 25"/>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6" name="TextBox 26"/>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03 TEST</a:t>
              </a:r>
            </a:p>
          </p:txBody>
        </p:sp>
        <p:sp>
          <p:nvSpPr>
            <p:cNvPr id="27" name="TextBox 27"/>
            <p:cNvSpPr txBox="1"/>
            <p:nvPr/>
          </p:nvSpPr>
          <p:spPr>
            <a:xfrm>
              <a:off x="8218932" y="4088130"/>
              <a:ext cx="214149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Đánh giá cuối</a:t>
              </a:r>
              <a:br/>
              <a:r>
                <a:rPr lang="vi-VN" sz="2100" dirty="0">
                  <a:solidFill>
                    <a:schemeClr val="dk1"/>
                  </a:solidFill>
                  <a:latin typeface="+mn-lt"/>
                  <a:ea typeface="+mn-ea"/>
                  <a:cs typeface="+mn-cs"/>
                </a:rPr>
                <a:t>trên giai đoạn mới</a:t>
              </a:r>
            </a:p>
          </p:txBody>
        </p:sp>
      </p:grpSp>
      <p:grpSp>
        <p:nvGrpSpPr>
          <p:cNvPr id="30" name="split-contract"/>
          <p:cNvGrpSpPr/>
          <p:nvPr/>
        </p:nvGrpSpPr>
        <p:grpSpPr>
          <a:xfrm>
            <a:off x="601218" y="5289232"/>
            <a:ext cx="7530850" cy="646557"/>
            <a:chOff x="601218" y="5289232"/>
            <a:chExt cx="7530850" cy="646557"/>
          </a:xfrm>
        </p:grpSpPr>
        <p:sp>
          <p:nvSpPr>
            <p:cNvPr id="29" name="TextBox 29"/>
            <p:cNvSpPr txBox="1"/>
            <p:nvPr/>
          </p:nvSpPr>
          <p:spPr>
            <a:xfrm>
              <a:off x="601218" y="5289232"/>
              <a:ext cx="7530850" cy="646557"/>
            </a:xfrm>
            <a:prstGeom prst="rect">
              <a:avLst/>
            </a:prstGeom>
            <a:noFill/>
            <a:ln>
              <a:noFill/>
            </a:ln>
          </p:spPr>
          <p:txBody>
            <a:bodyPr wrap="none" lIns="0" tIns="0" rIns="0" bIns="0" anchor="t" anchorCtr="0">
              <a:spAutoFit/>
            </a:bodyPr>
            <a:lstStyle/>
            <a:p>
              <a:pPr algn="l">
                <a:lnSpc>
                  <a:spcPts val="2550"/>
                </a:lnSpc>
              </a:pPr>
              <a:r>
                <a:rPr lang="vi-VN" sz="1650" dirty="0">
                  <a:solidFill>
                    <a:schemeClr val="accent3"/>
                  </a:solidFill>
                  <a:latin typeface="+mn-lt"/>
                  <a:ea typeface="+mn-ea"/>
                  <a:cs typeface="+mn-cs"/>
                </a:rPr>
                <a:t>Nhãn train không vượt sang validation/test; vẫn dùng được lịch sử đã quan sát.</a:t>
              </a:r>
              <a:br/>
              <a:r>
                <a:rPr lang="vi-VN" sz="1650" dirty="0">
                  <a:solidFill>
                    <a:schemeClr val="accent3"/>
                  </a:solidFill>
                  <a:latin typeface="+mn-lt"/>
                  <a:ea typeface="+mn-ea"/>
                  <a:cs typeface="+mn-cs"/>
                </a:rPr>
                <a:t>Chia theo thời gian; tỷ lệ chưa chốt. C++ có thể dùng Eigen để giải least squares.</a:t>
              </a:r>
            </a:p>
          </p:txBody>
        </p:sp>
      </p:grpSp>
      <p:grpSp>
        <p:nvGrpSpPr>
          <p:cNvPr id="32" name="training-source"/>
          <p:cNvGrpSpPr/>
          <p:nvPr/>
        </p:nvGrpSpPr>
        <p:grpSpPr>
          <a:xfrm>
            <a:off x="603504" y="6356985"/>
            <a:ext cx="4615195" cy="234696"/>
            <a:chOff x="603504" y="6356985"/>
            <a:chExt cx="4615195" cy="234696"/>
          </a:xfrm>
        </p:grpSpPr>
        <p:sp>
          <p:nvSpPr>
            <p:cNvPr id="31" name="TextBox 31">
              <a:hlinkClick r:id="rId2"/>
            </p:cNvPr>
            <p:cNvSpPr txBox="1"/>
            <p:nvPr/>
          </p:nvSpPr>
          <p:spPr>
            <a:xfrm>
              <a:off x="603504" y="6356985"/>
              <a:ext cx="4615195"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Tài liệu triển khai: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403765"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Hai thước đo, hai câu hỏi riêng</a:t>
            </a:r>
          </a:p>
        </p:txBody>
      </p:sp>
      <p:sp>
        <p:nvSpPr>
          <p:cNvPr id="7" name="comparison-left-title-slot Placeholder Carrier"/>
          <p:cNvSpPr txBox="1"/>
          <p:nvPr>
            <p:ph type="body" idx="1"/>
          </p:nvPr>
        </p:nvSpPr>
        <p:spPr>
          <a:xfrm>
            <a:off x="826770" y="1795462"/>
            <a:ext cx="396991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DỰ BÁO CÓ ÍCH KHÔNG?</a:t>
            </a:r>
          </a:p>
        </p:txBody>
      </p:sp>
      <p:sp>
        <p:nvSpPr>
          <p:cNvPr id="8" name="comparison-right-title-slot Placeholder Carrier"/>
          <p:cNvSpPr txBox="1"/>
          <p:nvPr>
            <p:ph type="body" idx="3"/>
          </p:nvPr>
        </p:nvSpPr>
        <p:spPr>
          <a:xfrm>
            <a:off x="6541770" y="1795462"/>
            <a:ext cx="361409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MẠCH CÓ TÍNH ĐÚNG?</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232437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So cùng tập test:</a:t>
              </a:r>
            </a:p>
          </p:txBody>
        </p:sp>
        <p:sp>
          <p:nvSpPr>
            <p:cNvPr id="10" name="TextBox 10"/>
            <p:cNvSpPr txBox="1"/>
            <p:nvPr/>
          </p:nvSpPr>
          <p:spPr>
            <a:xfrm>
              <a:off x="827532" y="2907030"/>
              <a:ext cx="307318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Giữ nguyên hiện tại: T(t)</a:t>
              </a:r>
            </a:p>
          </p:txBody>
        </p:sp>
        <p:sp>
          <p:nvSpPr>
            <p:cNvPr id="11" name="TextBox 11"/>
            <p:cNvSpPr txBox="1"/>
            <p:nvPr/>
          </p:nvSpPr>
          <p:spPr>
            <a:xfrm>
              <a:off x="827532" y="3326130"/>
              <a:ext cx="365050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Cùng giờ ngày trước: T(t−21)</a:t>
              </a:r>
            </a:p>
          </p:txBody>
        </p:sp>
        <p:sp>
          <p:nvSpPr>
            <p:cNvPr id="12" name="TextBox 12"/>
            <p:cNvSpPr txBox="1"/>
            <p:nvPr/>
          </p:nvSpPr>
          <p:spPr>
            <a:xfrm>
              <a:off x="827532" y="3745230"/>
              <a:ext cx="2844456"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Mô hình nhóm đề xuất</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MAE (°C)</a:t>
              </a:r>
            </a:p>
          </p:txBody>
        </p:sp>
        <p:sp>
          <p:nvSpPr>
            <p:cNvPr id="15" name="TextBox 15"/>
            <p:cNvSpPr txBox="1"/>
            <p:nvPr/>
          </p:nvSpPr>
          <p:spPr>
            <a:xfrm>
              <a:off x="829818" y="4832032"/>
              <a:ext cx="2300314"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Sai số dự báo trung bình</a:t>
              </a:r>
              <a:br/>
              <a:r>
                <a:rPr lang="vi-VN" sz="1650" dirty="0">
                  <a:solidFill>
                    <a:schemeClr val="accent3"/>
                  </a:solidFill>
                  <a:latin typeface="+mn-lt"/>
                  <a:ea typeface="+mn-ea"/>
                  <a:cs typeface="+mn-cs"/>
                </a:rPr>
                <a:t>(giá trị tuyệt đối).</a:t>
              </a:r>
            </a:p>
          </p:txBody>
        </p:sp>
        <p:sp>
          <p:nvSpPr>
            <p:cNvPr id="16" name="TextBox 16"/>
            <p:cNvSpPr txBox="1"/>
            <p:nvPr/>
          </p:nvSpPr>
          <p:spPr>
            <a:xfrm>
              <a:off x="829818" y="5594032"/>
              <a:ext cx="285232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có kết quả để kết luận.</a:t>
              </a:r>
            </a:p>
          </p:txBody>
        </p:sp>
      </p:grpSp>
      <p:grpSp>
        <p:nvGrpSpPr>
          <p:cNvPr id="25" name="comparison-right-content-slot Proxy Content"/>
          <p:cNvGrpSpPr/>
          <p:nvPr/>
        </p:nvGrpSpPr>
        <p:grpSpPr>
          <a:xfrm>
            <a:off x="6542532" y="2459355"/>
            <a:ext cx="3384606" cy="3447859"/>
            <a:chOff x="6542532" y="2459355"/>
            <a:chExt cx="3384606"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Float ↔ fixed</a:t>
              </a:r>
            </a:p>
          </p:txBody>
        </p:sp>
        <p:sp>
          <p:nvSpPr>
            <p:cNvPr id="19" name="TextBox 19"/>
            <p:cNvSpPr txBox="1"/>
            <p:nvPr/>
          </p:nvSpPr>
          <p:spPr>
            <a:xfrm>
              <a:off x="6544818" y="2879408"/>
              <a:ext cx="277806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Đo sai lệch do lượng tử hóa.</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RTL ↔ reference fixed</a:t>
              </a:r>
            </a:p>
          </p:txBody>
        </p:sp>
        <p:sp>
          <p:nvSpPr>
            <p:cNvPr id="21" name="TextBox 21"/>
            <p:cNvSpPr txBox="1"/>
            <p:nvPr/>
          </p:nvSpPr>
          <p:spPr>
            <a:xfrm>
              <a:off x="6544818" y="3822382"/>
              <a:ext cx="338232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Khớp bit với đúng valid và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LUT / FF / DSP / latency</a:t>
              </a:r>
            </a:p>
          </p:txBody>
        </p:sp>
        <p:sp>
          <p:nvSpPr>
            <p:cNvPr id="23" name="TextBox 23"/>
            <p:cNvSpPr txBox="1"/>
            <p:nvPr/>
          </p:nvSpPr>
          <p:spPr>
            <a:xfrm>
              <a:off x="6544818" y="4765358"/>
              <a:ext cx="301289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Lấy từ kết quả tổng hợp mạch.</a:t>
              </a:r>
            </a:p>
          </p:txBody>
        </p:sp>
        <p:sp>
          <p:nvSpPr>
            <p:cNvPr id="24" name="TextBox 24"/>
            <p:cNvSpPr txBox="1"/>
            <p:nvPr/>
          </p:nvSpPr>
          <p:spPr>
            <a:xfrm>
              <a:off x="6544818" y="5308282"/>
              <a:ext cx="1962226" cy="598932"/>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Ngưỡng sai lệch sẽ</a:t>
              </a:r>
              <a:br/>
              <a:r>
                <a:rPr lang="vi-VN" sz="1650" dirty="0">
                  <a:solidFill>
                    <a:schemeClr val="accent3"/>
                  </a:solidFill>
                  <a:latin typeface="+mn-lt"/>
                  <a:ea typeface="+mn-ea"/>
                  <a:cs typeface="+mn-cs"/>
                </a:rPr>
                <a:t>chốt sau thử nghiệm.</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08 / 15</a:t>
            </a:r>
          </a:p>
        </p:txBody>
      </p:sp>
      <p:grpSp>
        <p:nvGrpSpPr>
          <p:cNvPr id="28" name="baseline-source"/>
          <p:cNvGrpSpPr/>
          <p:nvPr/>
        </p:nvGrpSpPr>
        <p:grpSpPr>
          <a:xfrm>
            <a:off x="603504" y="6356985"/>
            <a:ext cx="6071160" cy="234696"/>
            <a:chOff x="603504" y="6356985"/>
            <a:chExt cx="6071160" cy="234696"/>
          </a:xfrm>
        </p:grpSpPr>
        <p:sp>
          <p:nvSpPr>
            <p:cNvPr id="27" name="TextBox 27">
              <a:hlinkClick r:id="rId2"/>
            </p:cNvPr>
            <p:cNvSpPr txBox="1"/>
            <p:nvPr/>
          </p:nvSpPr>
          <p:spPr>
            <a:xfrm>
              <a:off x="603504" y="6356985"/>
              <a:ext cx="607116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baseline: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020468"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Số cố định bắt đầu từ miền giá trị</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215688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C++ SỐ THỰC</a:t>
              </a:r>
            </a:p>
          </p:txBody>
        </p:sp>
        <p:sp>
          <p:nvSpPr>
            <p:cNvPr id="8" name="TextBox 8"/>
            <p:cNvSpPr txBox="1"/>
            <p:nvPr/>
          </p:nvSpPr>
          <p:spPr>
            <a:xfrm>
              <a:off x="827532" y="2259330"/>
              <a:ext cx="166692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đối chiếu</a:t>
              </a:r>
              <a:br/>
              <a:r>
                <a:rPr lang="vi-VN" sz="2100" dirty="0">
                  <a:solidFill>
                    <a:schemeClr val="dk1"/>
                  </a:solidFill>
                  <a:latin typeface="+mn-lt"/>
                  <a:ea typeface="+mn-ea"/>
                  <a:cs typeface="+mn-cs"/>
                </a:rPr>
                <a:t>của mô hình</a:t>
              </a:r>
            </a:p>
          </p:txBody>
        </p:sp>
      </p:grpSp>
      <p:grpSp>
        <p:nvGrpSpPr>
          <p:cNvPr id="13" name="range-decision"/>
          <p:cNvGrpSpPr/>
          <p:nvPr/>
        </p:nvGrpSpPr>
        <p:grpSpPr>
          <a:xfrm>
            <a:off x="4179570" y="1766888"/>
            <a:ext cx="5500755" cy="1282827"/>
            <a:chOff x="4179570" y="1766888"/>
            <a:chExt cx="5500755" cy="1282827"/>
          </a:xfrm>
        </p:grpSpPr>
        <p:sp>
          <p:nvSpPr>
            <p:cNvPr id="10" name="TextBox 10"/>
            <p:cNvSpPr txBox="1"/>
            <p:nvPr/>
          </p:nvSpPr>
          <p:spPr>
            <a:xfrm>
              <a:off x="4179570" y="1766888"/>
              <a:ext cx="526774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PHÂN TÍCH TRƯỚC KHI CHỌN BIT</a:t>
              </a:r>
            </a:p>
          </p:txBody>
        </p:sp>
        <p:sp>
          <p:nvSpPr>
            <p:cNvPr id="11" name="TextBox 11"/>
            <p:cNvSpPr txBox="1"/>
            <p:nvPr/>
          </p:nvSpPr>
          <p:spPr>
            <a:xfrm>
              <a:off x="4180332" y="2259330"/>
              <a:ext cx="549999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Miền nhiệt độ · miền hệ số · tổng trung gian</a:t>
              </a:r>
            </a:p>
          </p:txBody>
        </p:sp>
        <p:sp>
          <p:nvSpPr>
            <p:cNvPr id="12" name="TextBox 12"/>
            <p:cNvSpPr txBox="1"/>
            <p:nvPr/>
          </p:nvSpPr>
          <p:spPr>
            <a:xfrm>
              <a:off x="4182618" y="2727008"/>
              <a:ext cx="483496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chốt Q format khi chưa có dữ liệu và hệ số.</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495221"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C++ FIXED VÀ RTL DÙNG CÙNG QUY TẮC</a:t>
              </a:r>
            </a:p>
          </p:txBody>
        </p:sp>
        <p:sp>
          <p:nvSpPr>
            <p:cNvPr id="16" name="TextBox 16"/>
            <p:cNvSpPr txBox="1"/>
            <p:nvPr/>
          </p:nvSpPr>
          <p:spPr>
            <a:xfrm>
              <a:off x="827532" y="4192905"/>
              <a:ext cx="598761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Số có dấu · số bit phần lẻ · độ rộng tích và tổng</a:t>
              </a:r>
            </a:p>
          </p:txBody>
        </p:sp>
        <p:sp>
          <p:nvSpPr>
            <p:cNvPr id="17" name="TextBox 17"/>
            <p:cNvSpPr txBox="1"/>
            <p:nvPr/>
          </p:nvSpPr>
          <p:spPr>
            <a:xfrm>
              <a:off x="827532" y="4669155"/>
              <a:ext cx="703776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Vị trí dịch bit · làm tròn · xử lý tràn: saturation hoặc wrap</a:t>
              </a:r>
            </a:p>
          </p:txBody>
        </p:sp>
        <p:sp>
          <p:nvSpPr>
            <p:cNvPr id="18" name="TextBox 18"/>
            <p:cNvSpPr txBox="1"/>
            <p:nvPr/>
          </p:nvSpPr>
          <p:spPr>
            <a:xfrm>
              <a:off x="829818" y="5098732"/>
              <a:ext cx="6243829"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Reference C++ mô phỏng từng bước số học mà RTL thực hiện.</a:t>
              </a:r>
            </a:p>
          </p:txBody>
        </p:sp>
      </p:grpSp>
      <p:grpSp>
        <p:nvGrpSpPr>
          <p:cNvPr id="21" name="fixed-boundaries"/>
          <p:cNvGrpSpPr/>
          <p:nvPr/>
        </p:nvGrpSpPr>
        <p:grpSpPr>
          <a:xfrm>
            <a:off x="601218" y="5784532"/>
            <a:ext cx="7751967" cy="608457"/>
            <a:chOff x="601218" y="5784532"/>
            <a:chExt cx="7751967" cy="608457"/>
          </a:xfrm>
        </p:grpSpPr>
        <p:sp>
          <p:nvSpPr>
            <p:cNvPr id="20" name="TextBox 20"/>
            <p:cNvSpPr txBox="1"/>
            <p:nvPr/>
          </p:nvSpPr>
          <p:spPr>
            <a:xfrm>
              <a:off x="601218" y="5784532"/>
              <a:ext cx="775196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 nhiệt độ âm, biên biểu diễn và tràn số.</a:t>
              </a:r>
              <a:br/>
              <a:r>
                <a:rPr lang="vi-VN" sz="1650" dirty="0">
                  <a:solidFill>
                    <a:schemeClr val="accent3"/>
                  </a:solidFill>
                  <a:latin typeface="+mn-lt"/>
                  <a:ea typeface="+mn-ea"/>
                  <a:cs typeface="+mn-cs"/>
                </a:rPr>
                <a:t>Sai số dự báo so với thực tế và sai lệch fixed so với float là hai đại lượng khác nhau.</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124340"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Từ lịch sử mẫu đến lõi số học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10 / 15</a:t>
            </a:r>
          </a:p>
        </p:txBody>
      </p:sp>
      <p:grpSp>
        <p:nvGrpSpPr>
          <p:cNvPr id="12"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208440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Nhận mẫu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583372"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BUFFER 25 MẪU</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T(t−24)…T(t)</a:t>
              </a:r>
            </a:p>
          </p:txBody>
        </p:sp>
        <p:sp>
          <p:nvSpPr>
            <p:cNvPr id="10" name="TextBox 10"/>
            <p:cNvSpPr txBox="1"/>
            <p:nvPr/>
          </p:nvSpPr>
          <p:spPr>
            <a:xfrm>
              <a:off x="829818" y="3603308"/>
              <a:ext cx="169157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Các tap cần đọc:</a:t>
              </a:r>
            </a:p>
          </p:txBody>
        </p:sp>
        <p:sp>
          <p:nvSpPr>
            <p:cNvPr id="11" name="TextBox 11"/>
            <p:cNvSpPr txBox="1"/>
            <p:nvPr/>
          </p:nvSpPr>
          <p:spPr>
            <a:xfrm>
              <a:off x="828294" y="4009072"/>
              <a:ext cx="2618651"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t−24, t−21, t−3, t</a:t>
              </a:r>
            </a:p>
          </p:txBody>
        </p:sp>
      </p:grpSp>
      <p:grpSp>
        <p:nvGrpSpPr>
          <p:cNvPr id="28" name="arithmetic-path"/>
          <p:cNvGrpSpPr/>
          <p:nvPr/>
        </p:nvGrpSpPr>
        <p:grpSpPr>
          <a:xfrm>
            <a:off x="3810000" y="1732598"/>
            <a:ext cx="6963966" cy="3098291"/>
            <a:chOff x="3810000" y="1732598"/>
            <a:chExt cx="6963966" cy="3098291"/>
          </a:xfrm>
        </p:grpSpPr>
        <p:sp>
          <p:nvSpPr>
            <p:cNvPr id="13" name="Line 13"/>
            <p:cNvSpPr/>
            <p:nvPr/>
          </p:nvSpPr>
          <p:spPr>
            <a:xfrm>
              <a:off x="3810000" y="2571750"/>
              <a:ext cx="342900" cy="1"/>
            </a:xfrm>
            <a:prstGeom prst="line">
              <a:avLst/>
            </a:prstGeom>
            <a:noFill/>
            <a:ln w="19050">
              <a:solidFill>
                <a:schemeClr val="accent1"/>
              </a:solidFill>
              <a:tailEnd type="triangle" w="lg" len="lg"/>
            </a:ln>
          </p:spPr>
        </p:sp>
        <p:sp>
          <p:nvSpPr>
            <p:cNvPr id="14" name="Line 14"/>
            <p:cNvSpPr/>
            <p:nvPr/>
          </p:nvSpPr>
          <p:spPr>
            <a:xfrm>
              <a:off x="3810000" y="3733800"/>
              <a:ext cx="342900" cy="1"/>
            </a:xfrm>
            <a:prstGeom prst="line">
              <a:avLst/>
            </a:prstGeom>
            <a:noFill/>
            <a:ln w="19050">
              <a:solidFill>
                <a:schemeClr val="accent1"/>
              </a:solidFill>
              <a:tailEnd type="triangle" w="lg" len="lg"/>
            </a:ln>
          </p:spPr>
        </p:sp>
        <p:sp>
          <p:nvSpPr>
            <p:cNvPr id="15" name="Rectangle 15"/>
            <p:cNvSpPr/>
            <p:nvPr/>
          </p:nvSpPr>
          <p:spPr>
            <a:xfrm>
              <a:off x="4305300" y="2209800"/>
              <a:ext cx="3105150" cy="723900"/>
            </a:xfrm>
            <a:prstGeom prst="rect">
              <a:avLst/>
            </a:prstGeom>
            <a:solidFill>
              <a:schemeClr val="lt2"/>
            </a:solidFill>
            <a:ln>
              <a:noFill/>
            </a:ln>
          </p:spPr>
        </p:sp>
        <p:sp>
          <p:nvSpPr>
            <p:cNvPr id="16" name="Rectangle 16"/>
            <p:cNvSpPr/>
            <p:nvPr/>
          </p:nvSpPr>
          <p:spPr>
            <a:xfrm>
              <a:off x="4305300" y="3371850"/>
              <a:ext cx="3105150" cy="723900"/>
            </a:xfrm>
            <a:prstGeom prst="rect">
              <a:avLst/>
            </a:prstGeom>
            <a:solidFill>
              <a:schemeClr val="lt2"/>
            </a:solidFill>
            <a:ln>
              <a:noFill/>
            </a:ln>
          </p:spPr>
        </p:sp>
        <p:sp>
          <p:nvSpPr>
            <p:cNvPr id="17" name="TextBox 17"/>
            <p:cNvSpPr txBox="1"/>
            <p:nvPr/>
          </p:nvSpPr>
          <p:spPr>
            <a:xfrm>
              <a:off x="4485894" y="2437448"/>
              <a:ext cx="1331490"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a × Δngày</a:t>
              </a:r>
            </a:p>
          </p:txBody>
        </p:sp>
        <p:sp>
          <p:nvSpPr>
            <p:cNvPr id="18" name="TextBox 18"/>
            <p:cNvSpPr txBox="1"/>
            <p:nvPr/>
          </p:nvSpPr>
          <p:spPr>
            <a:xfrm>
              <a:off x="4485894" y="3599498"/>
              <a:ext cx="1333942"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b × Δ3giờ</a:t>
              </a:r>
            </a:p>
          </p:txBody>
        </p:sp>
        <p:sp>
          <p:nvSpPr>
            <p:cNvPr id="19" name="Line 19"/>
            <p:cNvSpPr/>
            <p:nvPr/>
          </p:nvSpPr>
          <p:spPr>
            <a:xfrm>
              <a:off x="7562850" y="2571750"/>
              <a:ext cx="876300" cy="409575"/>
            </a:xfrm>
            <a:prstGeom prst="line">
              <a:avLst/>
            </a:prstGeom>
            <a:noFill/>
            <a:ln w="19050">
              <a:solidFill>
                <a:schemeClr val="accent1"/>
              </a:solidFill>
              <a:tailEnd type="triangle" w="lg" len="lg"/>
            </a:ln>
          </p:spPr>
        </p:sp>
        <p:sp>
          <p:nvSpPr>
            <p:cNvPr id="20" name="Line 20"/>
            <p:cNvSpPr/>
            <p:nvPr/>
          </p:nvSpPr>
          <p:spPr>
            <a:xfrm flipV="1">
              <a:off x="7562850" y="3324225"/>
              <a:ext cx="876300" cy="409575"/>
            </a:xfrm>
            <a:prstGeom prst="line">
              <a:avLst/>
            </a:prstGeom>
            <a:noFill/>
            <a:ln w="19050">
              <a:solidFill>
                <a:schemeClr val="accent1"/>
              </a:solidFill>
              <a:tailEnd type="triangle" w="lg" len="lg"/>
            </a:ln>
          </p:spPr>
        </p:sp>
        <p:sp>
          <p:nvSpPr>
            <p:cNvPr id="21" name="Ellipse 21"/>
            <p:cNvSpPr/>
            <p:nvPr/>
          </p:nvSpPr>
          <p:spPr>
            <a:xfrm>
              <a:off x="8477250" y="2828925"/>
              <a:ext cx="647700" cy="647700"/>
            </a:xfrm>
            <a:prstGeom prst="ellipse">
              <a:avLst/>
            </a:prstGeom>
            <a:solidFill>
              <a:schemeClr val="lt1"/>
            </a:solidFill>
            <a:ln w="19050">
              <a:solidFill>
                <a:schemeClr val="accent1"/>
              </a:solidFill>
            </a:ln>
          </p:spPr>
        </p:sp>
        <p:sp>
          <p:nvSpPr>
            <p:cNvPr id="22" name="TextBox 22"/>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vi-VN" sz="2850" dirty="0">
                  <a:solidFill>
                    <a:schemeClr val="dk1"/>
                  </a:solidFill>
                  <a:latin typeface="+mn-lt"/>
                  <a:ea typeface="+mn-ea"/>
                  <a:cs typeface="+mn-cs"/>
                </a:rPr>
                <a:t>+</a:t>
              </a:r>
            </a:p>
          </p:txBody>
        </p:sp>
        <p:sp>
          <p:nvSpPr>
            <p:cNvPr id="23" name="TextBox 23"/>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T(t−21), c</a:t>
              </a:r>
            </a:p>
          </p:txBody>
        </p:sp>
        <p:sp>
          <p:nvSpPr>
            <p:cNvPr id="24" name="Line 24"/>
            <p:cNvSpPr/>
            <p:nvPr/>
          </p:nvSpPr>
          <p:spPr>
            <a:xfrm>
              <a:off x="8801100" y="2095500"/>
              <a:ext cx="1" cy="609600"/>
            </a:xfrm>
            <a:prstGeom prst="line">
              <a:avLst/>
            </a:prstGeom>
            <a:noFill/>
            <a:ln w="19050">
              <a:solidFill>
                <a:schemeClr val="accent1"/>
              </a:solidFill>
              <a:tailEnd type="triangle" w="lg" len="lg"/>
            </a:ln>
          </p:spPr>
        </p:sp>
        <p:sp>
          <p:nvSpPr>
            <p:cNvPr id="25" name="Line 25"/>
            <p:cNvSpPr/>
            <p:nvPr/>
          </p:nvSpPr>
          <p:spPr>
            <a:xfrm>
              <a:off x="9201150" y="3152775"/>
              <a:ext cx="533400" cy="1"/>
            </a:xfrm>
            <a:prstGeom prst="line">
              <a:avLst/>
            </a:prstGeom>
            <a:noFill/>
            <a:ln w="19050">
              <a:solidFill>
                <a:schemeClr val="accent1"/>
              </a:solidFill>
              <a:tailEnd type="triangle" w="lg" len="lg"/>
            </a:ln>
          </p:spPr>
        </p:sp>
        <p:sp>
          <p:nvSpPr>
            <p:cNvPr id="26" name="TextBox 26"/>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T̂(t+3)</a:t>
              </a:r>
            </a:p>
          </p:txBody>
        </p:sp>
        <p:sp>
          <p:nvSpPr>
            <p:cNvPr id="27" name="TextBox 27"/>
            <p:cNvSpPr txBox="1"/>
            <p:nvPr/>
          </p:nvSpPr>
          <p:spPr>
            <a:xfrm>
              <a:off x="4296918" y="4508182"/>
              <a:ext cx="480364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Sơ đồ chức năng; cách bố trí bộ nhân chưa chốt.</a:t>
              </a:r>
            </a:p>
          </p:txBody>
        </p:sp>
      </p:grpSp>
      <p:grpSp>
        <p:nvGrpSpPr>
          <p:cNvPr id="30" name="control-contract"/>
          <p:cNvGrpSpPr/>
          <p:nvPr/>
        </p:nvGrpSpPr>
        <p:grpSpPr>
          <a:xfrm>
            <a:off x="601218" y="5346382"/>
            <a:ext cx="8002212" cy="932307"/>
            <a:chOff x="601218" y="5346382"/>
            <a:chExt cx="8002212" cy="932307"/>
          </a:xfrm>
        </p:grpSpPr>
        <p:sp>
          <p:nvSpPr>
            <p:cNvPr id="29" name="TextBox 29"/>
            <p:cNvSpPr txBox="1"/>
            <p:nvPr/>
          </p:nvSpPr>
          <p:spPr>
            <a:xfrm>
              <a:off x="601218" y="5346382"/>
              <a:ext cx="8002212"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Clock + valid điều khiển nhận mẫu. Chỉ tạo dự báo khi đủ 25 mẫu hợp lệ.</a:t>
              </a:r>
              <a:br/>
              <a:r>
                <a:rPr lang="vi-VN" sz="1650" dirty="0">
                  <a:solidFill>
                    <a:schemeClr val="accent3"/>
                  </a:solidFill>
                  <a:latin typeface="+mn-lt"/>
                  <a:ea typeface="+mn-ea"/>
                  <a:cs typeface="+mn-cs"/>
                </a:rPr>
                <a:t>Hệ số cố định; chọn dùng chung hay song song bộ nhân sau khi biết board.</a:t>
              </a:r>
              <a:br/>
              <a:r>
                <a:rPr lang="vi-VN" sz="1650" dirty="0">
                  <a:solidFill>
                    <a:schemeClr val="accent3"/>
                  </a:solidFill>
                  <a:latin typeface="+mn-lt"/>
                  <a:ea typeface="+mn-ea"/>
                  <a:cs typeface="+mn-cs"/>
                </a:rPr>
                <a:t>Trễ 1 mẫu = 1 giờ dữ liệu. Latency mạch tính bằng chu kỳ clock, không phải chờ 3 giờ.</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485274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tầng kiểm chứng</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FLOAT ↔ FIXED</a:t>
              </a:r>
            </a:p>
          </p:txBody>
        </p:sp>
        <p:sp>
          <p:nvSpPr>
            <p:cNvPr id="9" name="TextBox 9"/>
            <p:cNvSpPr txBox="1"/>
            <p:nvPr/>
          </p:nvSpPr>
          <p:spPr>
            <a:xfrm>
              <a:off x="827532" y="3183255"/>
              <a:ext cx="200814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Đo phần sai lệch</a:t>
              </a:r>
              <a:br/>
              <a:r>
                <a:rPr lang="vi-VN" sz="2100" dirty="0">
                  <a:solidFill>
                    <a:schemeClr val="dk1"/>
                  </a:solidFill>
                  <a:latin typeface="+mn-lt"/>
                  <a:ea typeface="+mn-ea"/>
                  <a:cs typeface="+mn-cs"/>
                </a:rPr>
                <a:t>do lượng tử hóa</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20691"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a:t>
              </a:r>
              <a:br/>
              <a:r>
                <a:rPr lang="vi-VN" sz="1650" dirty="0">
                  <a:solidFill>
                    <a:schemeClr val="accent3"/>
                  </a:solidFill>
                  <a:latin typeface="+mn-lt"/>
                  <a:ea typeface="+mn-ea"/>
                  <a:cs typeface="+mn-cs"/>
                </a:rPr>
                <a:t>nhiệt độ âm, biên số,</a:t>
              </a:r>
              <a:br/>
              <a:r>
                <a:rPr lang="vi-VN" sz="1650" dirty="0">
                  <a:solidFill>
                    <a:schemeClr val="accent3"/>
                  </a:solidFill>
                  <a:latin typeface="+mn-lt"/>
                  <a:ea typeface="+mn-ea"/>
                  <a:cs typeface="+mn-cs"/>
                </a:rPr>
                <a:t>giá trị biến đổi nhanh.</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TB ↔ RTL</a:t>
              </a:r>
            </a:p>
          </p:txBody>
        </p:sp>
        <p:sp>
          <p:nvSpPr>
            <p:cNvPr id="15" name="TextBox 15"/>
            <p:cNvSpPr txBox="1"/>
            <p:nvPr/>
          </p:nvSpPr>
          <p:spPr>
            <a:xfrm>
              <a:off x="4561332" y="3183255"/>
              <a:ext cx="243801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từng đầu ra</a:t>
              </a:r>
              <a:br/>
              <a:r>
                <a:rPr lang="vi-VN" sz="2100" dirty="0">
                  <a:solidFill>
                    <a:schemeClr val="dk1"/>
                  </a:solidFill>
                  <a:latin typeface="+mn-lt"/>
                  <a:ea typeface="+mn-ea"/>
                  <a:cs typeface="+mn-cs"/>
                </a:rPr>
                <a:t>theo valid và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2008914"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Mục tiêu: khớp bit.</a:t>
              </a:r>
              <a:br/>
              <a:r>
                <a:rPr lang="vi-VN" sz="1650" dirty="0">
                  <a:solidFill>
                    <a:schemeClr val="accent3"/>
                  </a:solidFill>
                  <a:latin typeface="+mn-lt"/>
                  <a:ea typeface="+mn-ea"/>
                  <a:cs typeface="+mn-cs"/>
                </a:rPr>
                <a:t>Test reset, tràn, thiếu</a:t>
              </a:r>
              <a:br/>
              <a:r>
                <a:rPr lang="vi-VN" sz="1650" dirty="0">
                  <a:solidFill>
                    <a:schemeClr val="accent3"/>
                  </a:solidFill>
                  <a:latin typeface="+mn-lt"/>
                  <a:ea typeface="+mn-ea"/>
                  <a:cs typeface="+mn-cs"/>
                </a:rPr>
                <a:t>mẫu, gián đoạn valid.</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BOARD ↔ REF.</a:t>
              </a:r>
            </a:p>
          </p:txBody>
        </p:sp>
        <p:sp>
          <p:nvSpPr>
            <p:cNvPr id="21" name="TextBox 21"/>
            <p:cNvSpPr txBox="1"/>
            <p:nvPr/>
          </p:nvSpPr>
          <p:spPr>
            <a:xfrm>
              <a:off x="8295132" y="3183255"/>
              <a:ext cx="227505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Kiểm tra giao tiếp</a:t>
              </a:r>
              <a:br/>
              <a:r>
                <a:rPr lang="vi-VN" sz="2100" dirty="0">
                  <a:solidFill>
                    <a:schemeClr val="dk1"/>
                  </a:solidFill>
                  <a:latin typeface="+mn-lt"/>
                  <a:ea typeface="+mn-ea"/>
                  <a:cs typeface="+mn-cs"/>
                </a:rPr>
                <a:t>và kết quả tích hợp</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241556"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Dùng cùng test vector;</a:t>
              </a:r>
              <a:br/>
              <a:r>
                <a:rPr lang="vi-VN" sz="1650" dirty="0">
                  <a:solidFill>
                    <a:schemeClr val="accent3"/>
                  </a:solidFill>
                  <a:latin typeface="+mn-lt"/>
                  <a:ea typeface="+mn-ea"/>
                  <a:cs typeface="+mn-cs"/>
                </a:rPr>
                <a:t>kiểm thứ tự mẫu, dữ liệu</a:t>
              </a:r>
              <a:br/>
              <a:r>
                <a:rPr lang="vi-VN" sz="1650" dirty="0">
                  <a:solidFill>
                    <a:schemeClr val="accent3"/>
                  </a:solidFill>
                  <a:latin typeface="+mn-lt"/>
                  <a:ea typeface="+mn-ea"/>
                  <a:cs typeface="+mn-cs"/>
                </a:rPr>
                <a:t>nhận và log đầu ra.</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11 / 15</a:t>
            </a:r>
          </a:p>
        </p:txBody>
      </p:sp>
      <p:grpSp>
        <p:nvGrpSpPr>
          <p:cNvPr id="27" name="reference-principle"/>
          <p:cNvGrpSpPr/>
          <p:nvPr/>
        </p:nvGrpSpPr>
        <p:grpSpPr>
          <a:xfrm>
            <a:off x="601218" y="6298882"/>
            <a:ext cx="6469404" cy="322707"/>
            <a:chOff x="601218" y="6298882"/>
            <a:chExt cx="6469404" cy="322707"/>
          </a:xfrm>
        </p:grpSpPr>
        <p:sp>
          <p:nvSpPr>
            <p:cNvPr id="26" name="TextBox 26"/>
            <p:cNvSpPr txBox="1"/>
            <p:nvPr/>
          </p:nvSpPr>
          <p:spPr>
            <a:xfrm>
              <a:off x="601218" y="6298882"/>
              <a:ext cx="6469404"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dữ liệu và quy tắc số học, mỗi tầng trả lời một câu hỏi riêng.</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76929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Demo bằng cách phát lại dữ liệu</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12 / 15</a:t>
            </a:r>
          </a:p>
        </p:txBody>
      </p:sp>
      <p:grpSp>
        <p:nvGrpSpPr>
          <p:cNvPr id="8" name="demo-principle"/>
          <p:cNvGrpSpPr/>
          <p:nvPr/>
        </p:nvGrpSpPr>
        <p:grpSpPr>
          <a:xfrm>
            <a:off x="598170" y="1604962"/>
            <a:ext cx="7202128" cy="758953"/>
            <a:chOff x="598170" y="1604962"/>
            <a:chExt cx="7202128" cy="758953"/>
          </a:xfrm>
        </p:grpSpPr>
        <p:sp>
          <p:nvSpPr>
            <p:cNvPr id="6" name="TextBox 6"/>
            <p:cNvSpPr txBox="1"/>
            <p:nvPr/>
          </p:nvSpPr>
          <p:spPr>
            <a:xfrm>
              <a:off x="598170" y="1604962"/>
              <a:ext cx="6633674"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Phát nhanh chuỗi lịch sử, vẫn giữ thứ tự thời gian.</a:t>
              </a:r>
            </a:p>
          </p:txBody>
        </p:sp>
        <p:sp>
          <p:nvSpPr>
            <p:cNvPr id="7" name="TextBox 7"/>
            <p:cNvSpPr txBox="1"/>
            <p:nvPr/>
          </p:nvSpPr>
          <p:spPr>
            <a:xfrm>
              <a:off x="601218" y="2041208"/>
              <a:ext cx="719908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Kịch bản đề xuất; chưa có kết quả chạy board hoặc giao diện demo thực.</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CSV</a:t>
              </a:r>
            </a:p>
          </p:txBody>
        </p:sp>
        <p:sp>
          <p:nvSpPr>
            <p:cNvPr id="11" name="TextBox 11"/>
            <p:cNvSpPr txBox="1"/>
            <p:nvPr/>
          </p:nvSpPr>
          <p:spPr>
            <a:xfrm>
              <a:off x="827532" y="3459480"/>
              <a:ext cx="169658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Gửi lần lượt</a:t>
              </a:r>
              <a:br/>
              <a:r>
                <a:rPr lang="vi-VN" sz="2100" dirty="0">
                  <a:solidFill>
                    <a:schemeClr val="dk1"/>
                  </a:solidFill>
                  <a:latin typeface="+mn-lt"/>
                  <a:ea typeface="+mn-ea"/>
                  <a:cs typeface="+mn-cs"/>
                </a:rPr>
                <a:t>các mẫu đến t</a:t>
              </a:r>
            </a:p>
          </p:txBody>
        </p:sp>
        <p:sp>
          <p:nvSpPr>
            <p:cNvPr id="12" name="TextBox 12"/>
            <p:cNvSpPr txBox="1"/>
            <p:nvPr/>
          </p:nvSpPr>
          <p:spPr>
            <a:xfrm>
              <a:off x="829818" y="4479608"/>
              <a:ext cx="258014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UART nếu board phù hợp</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FPGA</a:t>
              </a:r>
            </a:p>
          </p:txBody>
        </p:sp>
        <p:sp>
          <p:nvSpPr>
            <p:cNvPr id="16" name="TextBox 16"/>
            <p:cNvSpPr txBox="1"/>
            <p:nvPr/>
          </p:nvSpPr>
          <p:spPr>
            <a:xfrm>
              <a:off x="4770882" y="3459480"/>
              <a:ext cx="13477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Nhận mẫu</a:t>
              </a:r>
              <a:br/>
              <a:r>
                <a:rPr lang="vi-VN" sz="2100" dirty="0">
                  <a:solidFill>
                    <a:schemeClr val="dk1"/>
                  </a:solidFill>
                  <a:latin typeface="+mn-lt"/>
                  <a:ea typeface="+mn-ea"/>
                  <a:cs typeface="+mn-cs"/>
                </a:rPr>
                <a:t>Tính T̂(t+3)</a:t>
              </a:r>
            </a:p>
          </p:txBody>
        </p:sp>
        <p:sp>
          <p:nvSpPr>
            <p:cNvPr id="17" name="TextBox 17"/>
            <p:cNvSpPr txBox="1"/>
            <p:nvPr/>
          </p:nvSpPr>
          <p:spPr>
            <a:xfrm>
              <a:off x="4773168" y="4479608"/>
              <a:ext cx="184292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Gửi kết quả về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8782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ĐỐI CHIẾU</a:t>
              </a:r>
            </a:p>
          </p:txBody>
        </p:sp>
        <p:sp>
          <p:nvSpPr>
            <p:cNvPr id="21" name="TextBox 21"/>
            <p:cNvSpPr txBox="1"/>
            <p:nvPr/>
          </p:nvSpPr>
          <p:spPr>
            <a:xfrm>
              <a:off x="8714232" y="3459480"/>
              <a:ext cx="129653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kết quả</a:t>
              </a:r>
              <a:br/>
              <a:r>
                <a:rPr lang="vi-VN" sz="2100" dirty="0">
                  <a:solidFill>
                    <a:schemeClr val="dk1"/>
                  </a:solidFill>
                  <a:latin typeface="+mn-lt"/>
                  <a:ea typeface="+mn-ea"/>
                  <a:cs typeface="+mn-cs"/>
                </a:rPr>
                <a:t>theo giờ</a:t>
              </a:r>
            </a:p>
          </p:txBody>
        </p:sp>
        <p:sp>
          <p:nvSpPr>
            <p:cNvPr id="22" name="TextBox 22"/>
            <p:cNvSpPr txBox="1"/>
            <p:nvPr/>
          </p:nvSpPr>
          <p:spPr>
            <a:xfrm>
              <a:off x="8716518" y="4479608"/>
              <a:ext cx="180161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Ghi log và hiển thị</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7909213" cy="627507"/>
            <a:chOff x="601218" y="5603558"/>
            <a:chExt cx="7909213" cy="627507"/>
          </a:xfrm>
        </p:grpSpPr>
        <p:sp>
          <p:nvSpPr>
            <p:cNvPr id="28" name="TextBox 28"/>
            <p:cNvSpPr txBox="1"/>
            <p:nvPr/>
          </p:nvSpPr>
          <p:spPr>
            <a:xfrm>
              <a:off x="601218" y="5603558"/>
              <a:ext cx="7909213"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PC có nhãn T(t+3) trong CSV để đánh giá; nhãn tương lai không được gửi vào FPGA.</a:t>
              </a:r>
              <a:br/>
              <a:r>
                <a:rPr lang="vi-VN" sz="1650" dirty="0">
                  <a:solidFill>
                    <a:schemeClr val="accent3"/>
                  </a:solidFill>
                  <a:latin typeface="+mn-lt"/>
                  <a:ea typeface="+mn-ea"/>
                  <a:cs typeface="+mn-cs"/>
                </a:rPr>
                <a:t>Board, giao tiếp và mức demo tối thiểu cần chốt với thầy.</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40495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12 tuần, bốn mốc bàn giao</a:t>
            </a:r>
          </a:p>
        </p:txBody>
      </p:sp>
      <p:grpSp>
        <p:nvGrpSpPr>
          <p:cNvPr id="13" name="process-timeline-one-slot Proxy Content"/>
          <p:cNvGrpSpPr/>
          <p:nvPr/>
        </p:nvGrpSpPr>
        <p:grpSpPr>
          <a:xfrm>
            <a:off x="750570" y="1776412"/>
            <a:ext cx="1534665" cy="2673477"/>
            <a:chOff x="750570" y="1776412"/>
            <a:chExt cx="1534665" cy="2673477"/>
          </a:xfrm>
        </p:grpSpPr>
        <p:sp>
          <p:nvSpPr>
            <p:cNvPr id="10" name="TextBox 10"/>
            <p:cNvSpPr txBox="1"/>
            <p:nvPr/>
          </p:nvSpPr>
          <p:spPr>
            <a:xfrm>
              <a:off x="7505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1–3</a:t>
              </a:r>
            </a:p>
          </p:txBody>
        </p:sp>
        <p:sp>
          <p:nvSpPr>
            <p:cNvPr id="11" name="TextBox 11"/>
            <p:cNvSpPr txBox="1"/>
            <p:nvPr/>
          </p:nvSpPr>
          <p:spPr>
            <a:xfrm>
              <a:off x="751332" y="2964180"/>
              <a:ext cx="97258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a:t>
              </a:r>
            </a:p>
          </p:txBody>
        </p:sp>
        <p:sp>
          <p:nvSpPr>
            <p:cNvPr id="12" name="TextBox 12"/>
            <p:cNvSpPr txBox="1"/>
            <p:nvPr/>
          </p:nvSpPr>
          <p:spPr>
            <a:xfrm>
              <a:off x="753618" y="3517582"/>
              <a:ext cx="1263377"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Học nền tảng</a:t>
              </a:r>
              <a:br/>
              <a:r>
                <a:rPr lang="vi-VN" sz="1650" dirty="0">
                  <a:solidFill>
                    <a:schemeClr val="accent3"/>
                  </a:solidFill>
                  <a:latin typeface="+mn-lt"/>
                  <a:ea typeface="+mn-ea"/>
                  <a:cs typeface="+mn-cs"/>
                </a:rPr>
                <a:t>CSV sạch</a:t>
              </a:r>
              <a:br/>
              <a:r>
                <a:rPr lang="vi-VN" sz="1650" dirty="0">
                  <a:solidFill>
                    <a:schemeClr val="accent3"/>
                  </a:solidFill>
                  <a:latin typeface="+mn-lt"/>
                  <a:ea typeface="+mn-ea"/>
                  <a:cs typeface="+mn-cs"/>
                </a:rPr>
                <a:t>Hai baseline</a:t>
              </a:r>
            </a:p>
          </p:txBody>
        </p:sp>
      </p:grpSp>
      <p:grpSp>
        <p:nvGrpSpPr>
          <p:cNvPr id="17" name="process-timeline-two-slot Proxy Content"/>
          <p:cNvGrpSpPr/>
          <p:nvPr/>
        </p:nvGrpSpPr>
        <p:grpSpPr>
          <a:xfrm>
            <a:off x="3569970" y="1776412"/>
            <a:ext cx="1745685" cy="2673477"/>
            <a:chOff x="3569970" y="1776412"/>
            <a:chExt cx="1745685" cy="2673477"/>
          </a:xfrm>
        </p:grpSpPr>
        <p:sp>
          <p:nvSpPr>
            <p:cNvPr id="14" name="TextBox 14"/>
            <p:cNvSpPr txBox="1"/>
            <p:nvPr/>
          </p:nvSpPr>
          <p:spPr>
            <a:xfrm>
              <a:off x="35699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4–6</a:t>
              </a:r>
            </a:p>
          </p:txBody>
        </p:sp>
        <p:sp>
          <p:nvSpPr>
            <p:cNvPr id="15" name="TextBox 15"/>
            <p:cNvSpPr txBox="1"/>
            <p:nvPr/>
          </p:nvSpPr>
          <p:spPr>
            <a:xfrm>
              <a:off x="3570732" y="2964180"/>
              <a:ext cx="174492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Mô hình C++</a:t>
              </a:r>
            </a:p>
          </p:txBody>
        </p:sp>
        <p:sp>
          <p:nvSpPr>
            <p:cNvPr id="16" name="TextBox 16"/>
            <p:cNvSpPr txBox="1"/>
            <p:nvPr/>
          </p:nvSpPr>
          <p:spPr>
            <a:xfrm>
              <a:off x="3573018" y="3517582"/>
              <a:ext cx="1566051"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Hệ số, validation</a:t>
              </a:r>
              <a:br/>
              <a:r>
                <a:rPr lang="vi-VN" sz="1650" dirty="0">
                  <a:solidFill>
                    <a:schemeClr val="accent3"/>
                  </a:solidFill>
                  <a:latin typeface="+mn-lt"/>
                  <a:ea typeface="+mn-ea"/>
                  <a:cs typeface="+mn-cs"/>
                </a:rPr>
                <a:t>Chọn đặc trưng</a:t>
              </a:r>
              <a:br/>
              <a:r>
                <a:rPr lang="vi-VN" sz="1650" dirty="0">
                  <a:solidFill>
                    <a:schemeClr val="accent3"/>
                  </a:solidFill>
                  <a:latin typeface="+mn-lt"/>
                  <a:ea typeface="+mn-ea"/>
                  <a:cs typeface="+mn-cs"/>
                </a:rPr>
                <a:t>Bắt đầu fixed</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RTL + testbench</a:t>
              </a:r>
            </a:p>
          </p:txBody>
        </p:sp>
        <p:sp>
          <p:nvSpPr>
            <p:cNvPr id="20" name="TextBox 20"/>
            <p:cNvSpPr txBox="1"/>
            <p:nvPr/>
          </p:nvSpPr>
          <p:spPr>
            <a:xfrm>
              <a:off x="6392418" y="3517582"/>
              <a:ext cx="1659468"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Lõi tính toán</a:t>
              </a:r>
              <a:br/>
              <a:r>
                <a:rPr lang="vi-VN" sz="1650" dirty="0">
                  <a:solidFill>
                    <a:schemeClr val="accent3"/>
                  </a:solidFill>
                  <a:latin typeface="+mn-lt"/>
                  <a:ea typeface="+mn-ea"/>
                  <a:cs typeface="+mn-cs"/>
                </a:rPr>
                <a:t>Đối chiếu bit</a:t>
              </a:r>
              <a:br/>
              <a:r>
                <a:rPr lang="vi-VN" sz="1650" dirty="0">
                  <a:solidFill>
                    <a:schemeClr val="accent3"/>
                  </a:solidFill>
                  <a:latin typeface="+mn-lt"/>
                  <a:ea typeface="+mn-ea"/>
                  <a:cs typeface="+mn-cs"/>
                </a:rPr>
                <a:t>Chuẩn bị tích hợp</a:t>
              </a:r>
            </a:p>
          </p:txBody>
        </p:sp>
      </p:grpSp>
      <p:grpSp>
        <p:nvGrpSpPr>
          <p:cNvPr id="25" name="process-timeline-four-slot Proxy Content"/>
          <p:cNvGrpSpPr/>
          <p:nvPr/>
        </p:nvGrpSpPr>
        <p:grpSpPr>
          <a:xfrm>
            <a:off x="9208770" y="1776412"/>
            <a:ext cx="2240680" cy="2673477"/>
            <a:chOff x="9208770" y="1776412"/>
            <a:chExt cx="2240680" cy="2673477"/>
          </a:xfrm>
        </p:grpSpPr>
        <p:sp>
          <p:nvSpPr>
            <p:cNvPr id="22" name="TextBox 22"/>
            <p:cNvSpPr txBox="1"/>
            <p:nvPr/>
          </p:nvSpPr>
          <p:spPr>
            <a:xfrm>
              <a:off x="9208770" y="1776412"/>
              <a:ext cx="1890677"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10–12</a:t>
              </a:r>
            </a:p>
          </p:txBody>
        </p:sp>
        <p:sp>
          <p:nvSpPr>
            <p:cNvPr id="23" name="TextBox 23"/>
            <p:cNvSpPr txBox="1"/>
            <p:nvPr/>
          </p:nvSpPr>
          <p:spPr>
            <a:xfrm>
              <a:off x="9209532" y="2964180"/>
              <a:ext cx="22399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Board + báo cáo</a:t>
              </a:r>
            </a:p>
          </p:txBody>
        </p:sp>
        <p:sp>
          <p:nvSpPr>
            <p:cNvPr id="24" name="TextBox 24"/>
            <p:cNvSpPr txBox="1"/>
            <p:nvPr/>
          </p:nvSpPr>
          <p:spPr>
            <a:xfrm>
              <a:off x="9211818" y="3517582"/>
              <a:ext cx="1938924"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Demo, đánh giá cuối</a:t>
              </a:r>
              <a:br/>
              <a:r>
                <a:rPr lang="vi-VN" sz="1650" dirty="0">
                  <a:solidFill>
                    <a:schemeClr val="accent3"/>
                  </a:solidFill>
                  <a:latin typeface="+mn-lt"/>
                  <a:ea typeface="+mn-ea"/>
                  <a:cs typeface="+mn-cs"/>
                </a:rPr>
                <a:t>Tài nguyên mạch</a:t>
              </a:r>
              <a:br/>
              <a:r>
                <a:rPr lang="vi-VN" sz="1650" dirty="0">
                  <a:solidFill>
                    <a:schemeClr val="accent3"/>
                  </a:solidFill>
                  <a:latin typeface="+mn-lt"/>
                  <a:ea typeface="+mn-ea"/>
                  <a:cs typeface="+mn-cs"/>
                </a:rPr>
                <a:t>Giới hạn và kết luận</a:t>
              </a:r>
            </a:p>
          </p:txBody>
        </p:sp>
      </p:grpSp>
      <p:sp>
        <p:nvSpPr>
          <p:cNvPr id="26" name="process-timeline-takeaway-slot Placeholder Carrier"/>
          <p:cNvSpPr txBox="1"/>
          <p:nvPr>
            <p:ph type="body" idx="5"/>
          </p:nvPr>
        </p:nvSpPr>
        <p:spPr>
          <a:xfrm>
            <a:off x="829818" y="5660708"/>
            <a:ext cx="8236538" cy="322707"/>
          </a:xfrm>
          <a:prstGeom prst="rect">
            <a:avLst/>
          </a:prstGeom>
          <a:noFill/>
          <a:ln>
            <a:noFill/>
          </a:ln>
        </p:spPr>
        <p:txBody>
          <a:bodyPr wrap="none" lIns="0" tIns="0" rIns="0" bIns="0" anchor="t" anchorCtr="0">
            <a:spAutoFit/>
          </a:bodyPr>
          <a:lstStyle/>
          <a:p>
            <a:pPr algn="l" marL="0" indent="0">
              <a:buNone/>
            </a:pPr>
            <a:r>
              <a:rPr lang="vi-VN" sz="1650" dirty="0">
                <a:solidFill>
                  <a:schemeClr val="dk1"/>
                </a:solidFill>
                <a:latin typeface="+mn-lt"/>
                <a:ea typeface="+mn-ea"/>
                <a:cs typeface="+mn-cs"/>
              </a:rPr>
              <a:t>Mỗi giai đoạn có sản phẩm chạy được; lịch báo cáo buổi 2 theo thông báo của thầy.</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7011719"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người, ba đầu ra phối hợp</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1</a:t>
              </a:r>
            </a:p>
          </p:txBody>
        </p:sp>
        <p:sp>
          <p:nvSpPr>
            <p:cNvPr id="8" name="TextBox 8"/>
            <p:cNvSpPr txBox="1"/>
            <p:nvPr/>
          </p:nvSpPr>
          <p:spPr>
            <a:xfrm>
              <a:off x="827532" y="2573655"/>
              <a:ext cx="18493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 + C++</a:t>
              </a:r>
            </a:p>
          </p:txBody>
        </p:sp>
        <p:sp>
          <p:nvSpPr>
            <p:cNvPr id="9" name="TextBox 9"/>
            <p:cNvSpPr txBox="1"/>
            <p:nvPr/>
          </p:nvSpPr>
          <p:spPr>
            <a:xfrm>
              <a:off x="829818" y="3098482"/>
              <a:ext cx="227600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CSV · baseline</a:t>
              </a:r>
              <a:br/>
              <a:r>
                <a:rPr lang="vi-VN" sz="1650" dirty="0">
                  <a:solidFill>
                    <a:schemeClr val="accent3"/>
                  </a:solidFill>
                  <a:latin typeface="+mn-lt"/>
                  <a:ea typeface="+mn-ea"/>
                  <a:cs typeface="+mn-cs"/>
                </a:rPr>
                <a:t>Hệ số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301561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THIẾU / LỆCH GIỜ</a:t>
              </a:r>
            </a:p>
          </p:txBody>
        </p:sp>
        <p:sp>
          <p:nvSpPr>
            <p:cNvPr id="12" name="TextBox 12"/>
            <p:cNvSpPr txBox="1"/>
            <p:nvPr/>
          </p:nvSpPr>
          <p:spPr>
            <a:xfrm>
              <a:off x="829818" y="4651058"/>
              <a:ext cx="206691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và sửa chuỗi giờ</a:t>
              </a:r>
              <a:br/>
              <a:r>
                <a:rPr lang="vi-VN" sz="1650" dirty="0">
                  <a:solidFill>
                    <a:schemeClr val="accent3"/>
                  </a:solidFill>
                  <a:latin typeface="+mn-lt"/>
                  <a:ea typeface="+mn-ea"/>
                  <a:cs typeface="+mn-cs"/>
                </a:rPr>
                <a:t>trước khi tạo mẫu.</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2</a:t>
              </a:r>
            </a:p>
          </p:txBody>
        </p:sp>
        <p:sp>
          <p:nvSpPr>
            <p:cNvPr id="15" name="TextBox 15"/>
            <p:cNvSpPr txBox="1"/>
            <p:nvPr/>
          </p:nvSpPr>
          <p:spPr>
            <a:xfrm>
              <a:off x="4561332" y="2573655"/>
              <a:ext cx="23854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Số cố định + RTL</a:t>
              </a:r>
            </a:p>
          </p:txBody>
        </p:sp>
        <p:sp>
          <p:nvSpPr>
            <p:cNvPr id="16" name="TextBox 16"/>
            <p:cNvSpPr txBox="1"/>
            <p:nvPr/>
          </p:nvSpPr>
          <p:spPr>
            <a:xfrm>
              <a:off x="4563618" y="3098482"/>
              <a:ext cx="2428307"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Buffer · lõi số học</a:t>
              </a:r>
              <a:br/>
              <a:r>
                <a:rPr lang="vi-VN" sz="1650" dirty="0">
                  <a:solidFill>
                    <a:schemeClr val="accent3"/>
                  </a:solidFill>
                  <a:latin typeface="+mn-lt"/>
                  <a:ea typeface="+mn-ea"/>
                  <a:cs typeface="+mn-cs"/>
                </a:rPr>
                <a:t>Tổng hợp · tích hợp board</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3002520"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BOARD CHƯA RÕ</a:t>
              </a:r>
            </a:p>
          </p:txBody>
        </p:sp>
        <p:sp>
          <p:nvSpPr>
            <p:cNvPr id="19" name="TextBox 19"/>
            <p:cNvSpPr txBox="1"/>
            <p:nvPr/>
          </p:nvSpPr>
          <p:spPr>
            <a:xfrm>
              <a:off x="4563618" y="4651058"/>
              <a:ext cx="2032258"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Hoàn thiện lõi độc lập</a:t>
              </a:r>
              <a:br/>
              <a:r>
                <a:rPr lang="vi-VN" sz="1650" dirty="0">
                  <a:solidFill>
                    <a:schemeClr val="accent3"/>
                  </a:solidFill>
                  <a:latin typeface="+mn-lt"/>
                  <a:ea typeface="+mn-ea"/>
                  <a:cs typeface="+mn-cs"/>
                </a:rPr>
                <a:t>và mô phỏng trước.</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3</a:t>
              </a:r>
            </a:p>
          </p:txBody>
        </p:sp>
        <p:sp>
          <p:nvSpPr>
            <p:cNvPr id="22" name="TextBox 22"/>
            <p:cNvSpPr txBox="1"/>
            <p:nvPr/>
          </p:nvSpPr>
          <p:spPr>
            <a:xfrm>
              <a:off x="8295132" y="2573655"/>
              <a:ext cx="2726990"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Kiểm chứng + demo</a:t>
              </a:r>
            </a:p>
          </p:txBody>
        </p:sp>
        <p:sp>
          <p:nvSpPr>
            <p:cNvPr id="23" name="TextBox 23"/>
            <p:cNvSpPr txBox="1"/>
            <p:nvPr/>
          </p:nvSpPr>
          <p:spPr>
            <a:xfrm>
              <a:off x="8297418" y="3098482"/>
              <a:ext cx="2404880"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Vector · so bit</a:t>
              </a:r>
              <a:br/>
              <a:r>
                <a:rPr lang="vi-VN" sz="1650" dirty="0">
                  <a:solidFill>
                    <a:schemeClr val="accent3"/>
                  </a:solidFill>
                  <a:latin typeface="+mn-lt"/>
                  <a:ea typeface="+mn-ea"/>
                  <a:cs typeface="+mn-cs"/>
                </a:rPr>
                <a:t>Truyền nhận · log kết quả</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363818"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SAI SỐ CAO</a:t>
              </a:r>
            </a:p>
          </p:txBody>
        </p:sp>
        <p:sp>
          <p:nvSpPr>
            <p:cNvPr id="26" name="TextBox 26"/>
            <p:cNvSpPr txBox="1"/>
            <p:nvPr/>
          </p:nvSpPr>
          <p:spPr>
            <a:xfrm>
              <a:off x="8297418" y="4651058"/>
              <a:ext cx="2486730"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Cả nhóm xét lại validation;</a:t>
              </a:r>
              <a:br/>
              <a:r>
                <a:rPr lang="vi-VN" sz="1650" dirty="0">
                  <a:solidFill>
                    <a:schemeClr val="accent3"/>
                  </a:solidFill>
                  <a:latin typeface="+mn-lt"/>
                  <a:ea typeface="+mn-ea"/>
                  <a:cs typeface="+mn-cs"/>
                </a:rPr>
                <a:t>báo cáo đúng kết quả test.</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14 / 15</a:t>
            </a:r>
          </a:p>
        </p:txBody>
      </p:sp>
      <p:grpSp>
        <p:nvGrpSpPr>
          <p:cNvPr id="30" name="shared-interface"/>
          <p:cNvGrpSpPr/>
          <p:nvPr/>
        </p:nvGrpSpPr>
        <p:grpSpPr>
          <a:xfrm>
            <a:off x="601218" y="6289358"/>
            <a:ext cx="7309197" cy="322707"/>
            <a:chOff x="601218" y="6289358"/>
            <a:chExt cx="7309197" cy="322707"/>
          </a:xfrm>
        </p:grpSpPr>
        <p:sp>
          <p:nvSpPr>
            <p:cNvPr id="29" name="TextBox 29"/>
            <p:cNvSpPr txBox="1"/>
            <p:nvPr/>
          </p:nvSpPr>
          <p:spPr>
            <a:xfrm>
              <a:off x="601218" y="6289358"/>
              <a:ext cx="730919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chốt: dữ liệu, hệ số, signedness, rounding/overflow, valid và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94680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dự báo, hai điều cần chứng minh</a:t>
            </a:r>
          </a:p>
        </p:txBody>
      </p:sp>
      <p:grpSp>
        <p:nvGrpSpPr>
          <p:cNvPr id="11" name="closing-proofs Proxy Content"/>
          <p:cNvGrpSpPr/>
          <p:nvPr/>
        </p:nvGrpSpPr>
        <p:grpSpPr>
          <a:xfrm>
            <a:off x="976122" y="1864042"/>
            <a:ext cx="6768175" cy="2891981"/>
            <a:chOff x="976122" y="1864042"/>
            <a:chExt cx="6768175" cy="2891981"/>
          </a:xfrm>
        </p:grpSpPr>
        <p:sp>
          <p:nvSpPr>
            <p:cNvPr id="6" name="TextBox 6"/>
            <p:cNvSpPr txBox="1"/>
            <p:nvPr/>
          </p:nvSpPr>
          <p:spPr>
            <a:xfrm>
              <a:off x="976122" y="1864042"/>
              <a:ext cx="6768175"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Mô hình tuyến tính → nhiệt độ +3 giờ</a:t>
              </a:r>
            </a:p>
          </p:txBody>
        </p:sp>
        <p:sp>
          <p:nvSpPr>
            <p:cNvPr id="7" name="TextBox 7"/>
            <p:cNvSpPr txBox="1"/>
            <p:nvPr/>
          </p:nvSpPr>
          <p:spPr>
            <a:xfrm>
              <a:off x="979170" y="2709862"/>
              <a:ext cx="311460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Chất lượng dự báo</a:t>
              </a:r>
            </a:p>
          </p:txBody>
        </p:sp>
        <p:sp>
          <p:nvSpPr>
            <p:cNvPr id="8" name="TextBox 8"/>
            <p:cNvSpPr txBox="1"/>
            <p:nvPr/>
          </p:nvSpPr>
          <p:spPr>
            <a:xfrm>
              <a:off x="979932" y="3173730"/>
              <a:ext cx="675774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So với baseline trên dữ liệu chưa dùng để huấn luyện.</a:t>
              </a:r>
            </a:p>
          </p:txBody>
        </p:sp>
        <p:sp>
          <p:nvSpPr>
            <p:cNvPr id="9" name="TextBox 9"/>
            <p:cNvSpPr txBox="1"/>
            <p:nvPr/>
          </p:nvSpPr>
          <p:spPr>
            <a:xfrm>
              <a:off x="979170" y="3881438"/>
              <a:ext cx="330035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Độ đúng phần cứng</a:t>
              </a:r>
            </a:p>
          </p:txBody>
        </p:sp>
        <p:sp>
          <p:nvSpPr>
            <p:cNvPr id="10" name="TextBox 10"/>
            <p:cNvSpPr txBox="1"/>
            <p:nvPr/>
          </p:nvSpPr>
          <p:spPr>
            <a:xfrm>
              <a:off x="979932" y="4345305"/>
              <a:ext cx="5283997"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RTL khớp mô hình tham chiếu số cố định.</a:t>
              </a:r>
            </a:p>
          </p:txBody>
        </p:sp>
      </p:grpSp>
      <p:sp>
        <p:nvSpPr>
          <p:cNvPr id="12" name="closing-questions Placeholder Carrier"/>
          <p:cNvSpPr txBox="1"/>
          <p:nvPr>
            <p:ph type="body" idx="2"/>
          </p:nvPr>
        </p:nvSpPr>
        <p:spPr>
          <a:xfrm>
            <a:off x="598932" y="5383530"/>
            <a:ext cx="7871490" cy="810768"/>
          </a:xfrm>
          <a:prstGeom prst="rect">
            <a:avLst/>
          </a:prstGeom>
          <a:noFill/>
          <a:ln>
            <a:noFill/>
          </a:ln>
        </p:spPr>
        <p:txBody>
          <a:bodyPr wrap="none" lIns="0" tIns="0" rIns="0" bIns="0" anchor="t" anchorCtr="0">
            <a:noAutofit/>
          </a:bodyPr>
          <a:lstStyle/>
          <a:p>
            <a:pPr algn="l" marL="0" indent="0">
              <a:lnSpc>
                <a:spcPts val="3150"/>
              </a:lnSpc>
              <a:buNone/>
            </a:pPr>
            <a:r>
              <a:rPr lang="vi-VN" sz="2100" dirty="0">
                <a:solidFill>
                  <a:schemeClr val="dk1"/>
                </a:solidFill>
                <a:latin typeface="+mn-lt"/>
                <a:ea typeface="+mn-ea"/>
                <a:cs typeface="+mn-cs"/>
              </a:rPr>
              <a:t>Xin thầy góp ý: phạm vi +3 giờ · board và công cụ · demo tối thiểu.</a:t>
            </a:r>
            <a:br/>
            <a:r>
              <a:rPr lang="vi-VN" sz="2100" dirty="0">
                <a:solidFill>
                  <a:schemeClr val="dk1"/>
                </a:solidFill>
                <a:latin typeface="+mn-lt"/>
                <a:ea typeface="+mn-ea"/>
                <a:cs typeface="+mn-cs"/>
              </a:rPr>
              <a:t>Mở rộng độ ẩm/áp suất sau khi hoàn thành phần lõi.</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2026-09-24T09:24:27Z</dcterms:created>
  <dcterms:modified xsi:type="dcterms:W3CDTF">2026-09-24T09:24:27Z</dcterms:modified>
  <cp:category/>
  <cp:contentStatus/>
</cp:coreProperties>
</file>