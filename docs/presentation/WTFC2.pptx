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4"/>
  </p:notesMasterIdLst>
  <p:sldIdLst>
    <p:sldId id="256" r:id="rId2"/>
    <p:sldId id="315" r:id="rId3"/>
    <p:sldId id="314" r:id="rId4"/>
    <p:sldId id="257" r:id="rId5"/>
    <p:sldId id="316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6B"/>
    <a:srgbClr val="099D59"/>
    <a:srgbClr val="E0F2F1"/>
    <a:srgbClr val="27AE60"/>
    <a:srgbClr val="E8F5E9"/>
    <a:srgbClr val="0EC358"/>
    <a:srgbClr val="CBD5E1"/>
    <a:srgbClr val="64748B"/>
    <a:srgbClr val="38EF7D"/>
    <a:srgbClr val="1199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37" autoAdjust="0"/>
    <p:restoredTop sz="95033" autoAdjust="0"/>
  </p:normalViewPr>
  <p:slideViewPr>
    <p:cSldViewPr snapToGrid="0" snapToObjects="1" showGuides="1">
      <p:cViewPr>
        <p:scale>
          <a:sx n="90" d="100"/>
          <a:sy n="90" d="100"/>
        </p:scale>
        <p:origin x="-754" y="2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B9C57-9DE0-864D-8892-8E383CD10053}" type="datetimeFigureOut">
              <a:rPr lang="x-none" smtClean="0"/>
              <a:t>T6-09-10-2026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2230F-6A15-1C40-B7C8-A7F6E63A524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66220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2230F-6A15-1C40-B7C8-A7F6E63A524E}" type="slidenum">
              <a:rPr lang="x-none" smtClean="0"/>
              <a:t>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98486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0719B2E-DC3C-7989-BF9C-E418B1F120BA}"/>
              </a:ext>
            </a:extLst>
          </p:cNvPr>
          <p:cNvSpPr/>
          <p:nvPr userDrawn="1"/>
        </p:nvSpPr>
        <p:spPr>
          <a:xfrm>
            <a:off x="-24140" y="0"/>
            <a:ext cx="633743" cy="6858000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1F8ED77-1B03-1740-9FA5-C31B68B30520}"/>
              </a:ext>
            </a:extLst>
          </p:cNvPr>
          <p:cNvSpPr/>
          <p:nvPr userDrawn="1"/>
        </p:nvSpPr>
        <p:spPr>
          <a:xfrm flipV="1">
            <a:off x="-31244" y="0"/>
            <a:ext cx="633743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6A63ACE-37E2-79AD-3312-2CAEC1D54166}"/>
              </a:ext>
            </a:extLst>
          </p:cNvPr>
          <p:cNvSpPr txBox="1"/>
          <p:nvPr userDrawn="1"/>
        </p:nvSpPr>
        <p:spPr>
          <a:xfrm rot="16200000">
            <a:off x="-1816070" y="4465669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23591"/>
            <a:ext cx="9144000" cy="2387600"/>
          </a:xfrm>
          <a:prstGeom prst="roundRect">
            <a:avLst>
              <a:gd name="adj" fmla="val 3901"/>
            </a:avLst>
          </a:prstGeom>
          <a:noFill/>
          <a:ln w="25400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</a:ln>
        </p:spPr>
        <p:txBody>
          <a:bodyPr anchor="ctr"/>
          <a:lstStyle>
            <a:lvl1pPr algn="ctr">
              <a:defRPr sz="6000" b="1">
                <a:gradFill flip="none" rotWithShape="1">
                  <a:gsLst>
                    <a:gs pos="0">
                      <a:srgbClr val="11998E"/>
                    </a:gs>
                    <a:gs pos="100000">
                      <a:srgbClr val="38EF7D"/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3D80-2A77-FF40-B2F3-C1B60766027B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BEC394D7-1EFF-FAA3-89F8-A3FE670BE2B5}"/>
              </a:ext>
            </a:extLst>
          </p:cNvPr>
          <p:cNvGrpSpPr/>
          <p:nvPr userDrawn="1"/>
        </p:nvGrpSpPr>
        <p:grpSpPr>
          <a:xfrm>
            <a:off x="11508227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xmlns="" id="{3358F1D4-800B-8791-DFC5-8A5607735CCD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xmlns="" id="{B20D358D-A251-F06A-7DC9-D456AA16945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2568A42A-7730-4E7F-BB19-5F94929B0802}"/>
              </a:ext>
            </a:extLst>
          </p:cNvPr>
          <p:cNvGrpSpPr/>
          <p:nvPr userDrawn="1"/>
        </p:nvGrpSpPr>
        <p:grpSpPr>
          <a:xfrm>
            <a:off x="4479990" y="131938"/>
            <a:ext cx="3232031" cy="768394"/>
            <a:chOff x="4280055" y="84406"/>
            <a:chExt cx="3631889" cy="863458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xmlns="" id="{2DB618A9-33C1-376A-428B-F9CC7F7D80AF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xmlns="" id="{CB65CCD6-D2F8-CF1A-F92C-147178B9AE40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8" name="Picture 17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0E79988A-FC21-2FFF-EC33-6DB4853FB1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20" name="Picture 19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1E57E620-C26D-491A-ECBF-0FCA22233E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sp>
        <p:nvSpPr>
          <p:cNvPr id="49" name="Text Placeholder 48">
            <a:extLst>
              <a:ext uri="{FF2B5EF4-FFF2-40B4-BE49-F238E27FC236}">
                <a16:creationId xmlns:a16="http://schemas.microsoft.com/office/drawing/2014/main" xmlns="" id="{269B9A8A-4866-4619-F199-78B535360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5542063"/>
            <a:ext cx="9144000" cy="5191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i="1"/>
            </a:lvl1pPr>
          </a:lstStyle>
          <a:p>
            <a:pPr lvl="0"/>
            <a:r>
              <a:rPr lang="x-none" dirty="0"/>
              <a:t>Địa điểm, Ngày Tháng Năm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xmlns="" id="{2A9389A2-74BD-31C8-FDCD-6A93E9D759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284" y="1550070"/>
            <a:ext cx="2365717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x-none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x-none" dirty="0"/>
              <a:t>Loại trình bày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xmlns="" id="{11F19A4B-2FBF-1F37-52BA-2EEAE4CA8E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1" y="4309683"/>
            <a:ext cx="3388243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x-none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x-none" dirty="0"/>
              <a:t>Trình bày: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3573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xmlns="" id="{19DDC379-1E06-2848-14F1-C16A9CCE4619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36403" y="6356358"/>
            <a:ext cx="2743200" cy="365125"/>
          </a:xfrm>
        </p:spPr>
        <p:txBody>
          <a:bodyPr/>
          <a:lstStyle/>
          <a:p>
            <a:fld id="{ACF17CAC-8297-FC4A-82FA-F61255D7A70E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2651" y="635635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742C0F1-5644-4389-360B-5397956CD38A}"/>
              </a:ext>
            </a:extLst>
          </p:cNvPr>
          <p:cNvSpPr/>
          <p:nvPr userDrawn="1"/>
        </p:nvSpPr>
        <p:spPr>
          <a:xfrm>
            <a:off x="-24141" y="0"/>
            <a:ext cx="4056393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71B0644-6BE5-3A17-CB9E-03CC0ADBCAC3}"/>
              </a:ext>
            </a:extLst>
          </p:cNvPr>
          <p:cNvSpPr/>
          <p:nvPr userDrawn="1"/>
        </p:nvSpPr>
        <p:spPr>
          <a:xfrm flipV="1">
            <a:off x="-31244" y="0"/>
            <a:ext cx="1804783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61CABA6-14B3-43D2-ED89-BD749E5AF92A}"/>
              </a:ext>
            </a:extLst>
          </p:cNvPr>
          <p:cNvSpPr txBox="1"/>
          <p:nvPr userDrawn="1"/>
        </p:nvSpPr>
        <p:spPr>
          <a:xfrm rot="16200000">
            <a:off x="-1816070" y="4465669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F6CA6459-D804-2D1E-9BE6-04D9777C2161}"/>
              </a:ext>
            </a:extLst>
          </p:cNvPr>
          <p:cNvGrpSpPr/>
          <p:nvPr userDrawn="1"/>
        </p:nvGrpSpPr>
        <p:grpSpPr>
          <a:xfrm>
            <a:off x="4479990" y="131938"/>
            <a:ext cx="3232031" cy="768394"/>
            <a:chOff x="4280055" y="84406"/>
            <a:chExt cx="3631889" cy="863458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xmlns="" id="{55D6C41E-6B27-7E5A-648B-DD401B12DFC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xmlns="" id="{B567EB7E-D89E-FE6D-1F1D-A9C48547288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5" name="Picture 14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49BDC9CC-F359-3B37-10BB-43B8820735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6" name="Picture 15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D9063C0E-6124-70AB-5990-6A8D28B5DA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7B48FC94-0045-6DC4-777D-4F5E40C1D399}"/>
              </a:ext>
            </a:extLst>
          </p:cNvPr>
          <p:cNvGrpSpPr/>
          <p:nvPr userDrawn="1"/>
        </p:nvGrpSpPr>
        <p:grpSpPr>
          <a:xfrm>
            <a:off x="11508227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19120F02-27FC-FEC5-707D-FDA64409C1B6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73BF5235-1626-C61A-115C-C67CC901507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2289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AA5FA796-6DE2-7146-15EE-C9B175F7F587}"/>
              </a:ext>
            </a:extLst>
          </p:cNvPr>
          <p:cNvSpPr/>
          <p:nvPr userDrawn="1"/>
        </p:nvSpPr>
        <p:spPr>
          <a:xfrm>
            <a:off x="1136823" y="1450428"/>
            <a:ext cx="10210628" cy="4289654"/>
          </a:xfrm>
          <a:prstGeom prst="roundRect">
            <a:avLst>
              <a:gd name="adj" fmla="val 2701"/>
            </a:avLst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2388E92E-709B-64D5-4BEC-56AE8C45F3A5}"/>
              </a:ext>
            </a:extLst>
          </p:cNvPr>
          <p:cNvSpPr/>
          <p:nvPr userDrawn="1"/>
        </p:nvSpPr>
        <p:spPr>
          <a:xfrm>
            <a:off x="1136823" y="1450428"/>
            <a:ext cx="10210628" cy="4289654"/>
          </a:xfrm>
          <a:prstGeom prst="roundRect">
            <a:avLst>
              <a:gd name="adj" fmla="val 2701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363" y="2425390"/>
            <a:ext cx="9177548" cy="1505953"/>
          </a:xfrm>
          <a:prstGeom prst="rect">
            <a:avLst/>
          </a:prstGeom>
          <a:noFill/>
          <a:ln w="12700">
            <a:noFill/>
          </a:ln>
          <a:effectLst/>
        </p:spPr>
        <p:txBody>
          <a:bodyPr anchor="ctr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3365" y="4108239"/>
            <a:ext cx="5564835" cy="7419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xmlns="" id="{4340540A-BFD6-C001-24D2-E0A446DCF91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3364" y="561284"/>
            <a:ext cx="2052637" cy="1785937"/>
          </a:xfrm>
        </p:spPr>
        <p:txBody>
          <a:bodyPr>
            <a:noAutofit/>
          </a:bodyPr>
          <a:lstStyle>
            <a:lvl1pPr marL="0" indent="0">
              <a:buNone/>
              <a:defRPr sz="11500" b="1">
                <a:solidFill>
                  <a:schemeClr val="bg1">
                    <a:alpha val="65236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x-none" dirty="0"/>
              <a:t>01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xmlns="" id="{3801A917-2F30-C5E0-9749-96D2AA3258C3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8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634CFDC-8819-F613-CB53-B010209F03B3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847D5C7-4917-CA09-77DC-A3EC771CB75C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15A5037-1013-FEAC-916D-D7685B8E78E3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8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xmlns="" id="{DCEAF726-95E1-8A34-13F1-109FB98C6990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  <p:extLst>
      <p:ext uri="{BB962C8B-B14F-4D97-AF65-F5344CB8AC3E}">
        <p14:creationId xmlns:p14="http://schemas.microsoft.com/office/powerpoint/2010/main" val="55504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8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634CFDC-8819-F613-CB53-B010209F03B3}"/>
              </a:ext>
            </a:extLst>
          </p:cNvPr>
          <p:cNvSpPr txBox="1"/>
          <p:nvPr userDrawn="1"/>
        </p:nvSpPr>
        <p:spPr>
          <a:xfrm>
            <a:off x="240285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847D5C7-4917-CA09-77DC-A3EC771CB75C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15A5037-1013-FEAC-916D-D7685B8E78E3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8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xmlns="" id="{DCEAF726-95E1-8A34-13F1-109FB98C6990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  <p:extLst>
      <p:ext uri="{BB962C8B-B14F-4D97-AF65-F5344CB8AC3E}">
        <p14:creationId xmlns:p14="http://schemas.microsoft.com/office/powerpoint/2010/main" val="294280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8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634CFDC-8819-F613-CB53-B010209F03B3}"/>
              </a:ext>
            </a:extLst>
          </p:cNvPr>
          <p:cNvSpPr txBox="1"/>
          <p:nvPr userDrawn="1"/>
        </p:nvSpPr>
        <p:spPr>
          <a:xfrm>
            <a:off x="240285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847D5C7-4917-CA09-77DC-A3EC771CB75C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15A5037-1013-FEAC-916D-D7685B8E78E3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8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xmlns="" id="{DCEAF726-95E1-8A34-13F1-109FB98C6990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  <p:extLst>
      <p:ext uri="{BB962C8B-B14F-4D97-AF65-F5344CB8AC3E}">
        <p14:creationId xmlns:p14="http://schemas.microsoft.com/office/powerpoint/2010/main" val="314434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8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634CFDC-8819-F613-CB53-B010209F03B3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847D5C7-4917-CA09-77DC-A3EC771CB75C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15A5037-1013-FEAC-916D-D7685B8E78E3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8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xmlns="" id="{DCEAF726-95E1-8A34-13F1-109FB98C6990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  <p:extLst>
      <p:ext uri="{BB962C8B-B14F-4D97-AF65-F5344CB8AC3E}">
        <p14:creationId xmlns:p14="http://schemas.microsoft.com/office/powerpoint/2010/main" val="411037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8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634CFDC-8819-F613-CB53-B010209F03B3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847D5C7-4917-CA09-77DC-A3EC771CB75C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15A5037-1013-FEAC-916D-D7685B8E78E3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8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xmlns="" id="{DCEAF726-95E1-8A34-13F1-109FB98C6990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  <p:extLst>
      <p:ext uri="{BB962C8B-B14F-4D97-AF65-F5344CB8AC3E}">
        <p14:creationId xmlns:p14="http://schemas.microsoft.com/office/powerpoint/2010/main" val="122161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8983"/>
            <a:ext cx="10980000" cy="841231"/>
          </a:xfrm>
        </p:spPr>
        <p:txBody>
          <a:bodyPr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6856" y="2006213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6000" y="2006213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E05FC-80DB-0148-874D-D86DE9D2ADC5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55501B7-06E2-F246-2BAD-EAF23122D87C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2FA2C82-F7CF-516D-BCFE-BD30ECC9EA5A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1B8F8FF-3914-88F4-7096-A2992F1DABC0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279A1157-FF7F-7C1B-C247-077067BBC028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87F4C074-B87D-1D6E-559E-9B5F5A6D5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xmlns="" id="{051A38B1-9970-6D8A-99F0-1519F63F8C2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CDAB1087-5677-0CD0-2E97-0AC0475A5D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75F57DD9-9F2F-64B5-ABD6-42254D27D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D4EDAAF6-0642-D0AC-8393-BCA7C5A21D37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1D9D6F2C-9702-AFF6-0F7A-DB2E2C1FF67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xmlns="" id="{FFED086E-27AD-496B-CF1A-0F2B00E50490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xmlns="" id="{C849CBBA-8A36-61D9-7C3A-A5B8C98344BA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1903"/>
            <a:ext cx="10980000" cy="989289"/>
          </a:xfrm>
        </p:spPr>
        <p:txBody>
          <a:bodyPr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001" y="1992588"/>
            <a:ext cx="5310000" cy="643036"/>
          </a:xfrm>
        </p:spPr>
        <p:txBody>
          <a:bodyPr anchor="ctr"/>
          <a:lstStyle>
            <a:lvl1pPr marL="0" indent="0">
              <a:buNone/>
              <a:defRPr sz="2400" b="1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6001" y="2747036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6000" y="1992588"/>
            <a:ext cx="5310000" cy="643036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2400" b="1" kern="1200" dirty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marL="0" lvl="0" indent="0" algn="l" defTabSz="91433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6000" y="2747036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D97B-A544-724E-B7AA-E954CECFEC59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9F7C7FE-91AA-777B-FCF1-8DFE0AC663E2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8A62D67D-95A8-A852-CF14-572C6CE00ED0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971CB91-0E23-8BF0-4ADC-5082D6650DF4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5AAD86C4-FCFD-9291-27AD-78AEB135B122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xmlns="" id="{1CF0A3C9-A5C5-7885-0000-B445E4181054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xmlns="" id="{2A842F66-7AA0-4602-5FF9-D5131812A65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6" name="Picture 15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B096FE08-51CC-1D46-80F1-45BD3824B1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7" name="Picture 16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49B7CFC8-73D7-D65B-98B9-1026DEA312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3A207177-F45D-1E4B-327B-7ADB21C03E0D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B944A9A0-279D-4287-22A6-B50BEFA9D41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759E2F26-1088-5258-841C-AB0BAAE822E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21" name="Freeform 20">
            <a:extLst>
              <a:ext uri="{FF2B5EF4-FFF2-40B4-BE49-F238E27FC236}">
                <a16:creationId xmlns:a16="http://schemas.microsoft.com/office/drawing/2014/main" xmlns="" id="{E418F7BB-B3EC-2462-55FF-B70CB9656121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977990"/>
            <a:ext cx="10980000" cy="986400"/>
          </a:xfrm>
        </p:spPr>
        <p:txBody>
          <a:bodyPr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0595-1D13-FB4B-A345-0906822BCC7D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3636FC2-729D-C9CA-CC90-21D4CBEC73A2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AA385C0-495A-0190-FBE8-231CFC660C3A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D6AA5F0-C810-9BFE-4A24-47254E96DDA4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47F5DC64-C53E-D570-F572-A07974B9F1B5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xmlns="" id="{FA9113C1-A485-B1D0-18A2-2B4ACB6C023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581A74BC-FADD-5AAC-4592-F1F01A7FEE2B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2" name="Picture 11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03279EC9-0774-3A5C-2866-2FEBE99211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3" name="Picture 12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40729B2C-F0E2-C8ED-820D-2150BC392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9AD48359-0185-411D-3829-537B58B51408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E6F2E26B-6E6E-A080-698A-20804C4088B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6E87EB44-478E-3F0B-3713-00B3ED19FFD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xmlns="" id="{725A6CA3-8A6F-8240-FE9F-93A63D7F2742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958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71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31" y="1248202"/>
            <a:ext cx="4114799" cy="1399587"/>
          </a:xfrm>
        </p:spPr>
        <p:txBody>
          <a:bodyPr anchor="ctr">
            <a:no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2" y="1247492"/>
            <a:ext cx="6325039" cy="4788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31" y="2777076"/>
            <a:ext cx="4114799" cy="3266917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163-90AE-AD4E-90CC-EF8132230884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9F4E612-1058-8C98-5698-29AC0F96CCFC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7A6C02E4-C8F1-CFE1-7D10-8623040C9C70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D41C53F-A49B-53F0-C3F1-679406363096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B4D11EC5-BDDA-E9D0-4DEA-3DF925376418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1D52B6A8-0087-00B0-3232-F07D0531A071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xmlns="" id="{4A6EF4E7-68D7-4757-F5BC-40A00600395C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FF366716-D0A3-BA9D-EAEF-1DD9CCC2F2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B3C5B766-CE3D-A784-0576-67400911DF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ECC0EBB2-4B0D-F995-4530-D9916005BC53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3F1E5B57-26E0-13A1-B4C3-FBB674F761F8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xmlns="" id="{601CDAB9-F5F1-D42C-1271-4A7D18D9DC0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xmlns="" id="{2AB873A6-A6DD-3337-0E8F-2FC03C939D1C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31" y="1270699"/>
            <a:ext cx="4114799" cy="1162180"/>
          </a:xfrm>
        </p:spPr>
        <p:txBody>
          <a:bodyPr anchor="ctr">
            <a:no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2" y="1270700"/>
            <a:ext cx="6325039" cy="479649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31" y="2561454"/>
            <a:ext cx="4114799" cy="3505740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818E-E997-CB43-BA3A-7A12F66A1845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E772E24-BD94-18AA-FD01-31FA7CF5560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BE4A83D-52D2-F989-EF30-67F8142259A4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C0737FF-EF11-8E07-04CA-FAD856E16DB6}"/>
              </a:ext>
            </a:extLst>
          </p:cNvPr>
          <p:cNvSpPr txBox="1"/>
          <p:nvPr userDrawn="1"/>
        </p:nvSpPr>
        <p:spPr>
          <a:xfrm>
            <a:off x="240285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0AD20DF5-E25A-3691-7DBA-3D6427D54E16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667AD773-D1F6-2C2E-459A-06DB6685C3F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xmlns="" id="{638EDDB1-984D-1061-4FC7-D2B6F17C521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E076CEEA-0F0E-CB1E-716A-FD615E82AB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AE0E7314-9B82-0D4E-10FD-26E7AC94AE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87DE05D-821F-6133-B08D-FBA35FA266C4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C20B1677-C94F-846B-77EE-9A193D11F54B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xmlns="" id="{65A92C3F-4715-4909-6588-378EC050C24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xmlns="" id="{AC99D0E8-C446-4E6E-2E7F-3C5E6A007D9D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29761"/>
            <a:ext cx="10515600" cy="776548"/>
          </a:xfrm>
        </p:spPr>
        <p:txBody>
          <a:bodyPr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792405"/>
            <a:ext cx="10515600" cy="438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75B1-5554-9E4B-9A38-5905F72F5940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BDC0A23-1328-52C6-A081-D12BD93902E5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A5CE3DD9-51D1-E19D-3E06-90C65EDEDC8F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2BB84F3-1D66-E2E8-E826-723A4E767341}"/>
              </a:ext>
            </a:extLst>
          </p:cNvPr>
          <p:cNvSpPr txBox="1"/>
          <p:nvPr userDrawn="1"/>
        </p:nvSpPr>
        <p:spPr>
          <a:xfrm>
            <a:off x="240285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BCEAF201-E1DC-4486-4B93-4B7F751A4654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E5497DE0-0B16-BC6B-6FF5-9B929CD76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329FDB57-B8ED-7771-901B-1E7618CEFA1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70695794-09CF-65D2-FE84-CDEAC81942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07E79F0D-50D3-99AC-B977-26D27AD098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F6E71496-B352-9AE6-2AFB-7F84245DBA7F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741E81DB-4E8D-E98B-BF91-1CFFC0BAEBD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33025DD8-AFB9-10B6-DDE8-D2282F9E5CE3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xmlns="" id="{4F0D81A6-FA21-21F6-FF6F-EFBBD913E859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1038421"/>
            <a:ext cx="2628900" cy="5138542"/>
          </a:xfrm>
        </p:spPr>
        <p:txBody>
          <a:bodyPr vert="eaVert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1038421"/>
            <a:ext cx="7734300" cy="51385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64986-AD58-F748-BD5B-19DAFB14C4B2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F3936-136F-C194-2C47-66CE68C8B563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EAECB53-429D-BB1E-41F9-39259E111926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302EFEB-91F7-F4A9-6DC7-57C29D79F9F9}"/>
              </a:ext>
            </a:extLst>
          </p:cNvPr>
          <p:cNvSpPr txBox="1"/>
          <p:nvPr userDrawn="1"/>
        </p:nvSpPr>
        <p:spPr>
          <a:xfrm>
            <a:off x="240286" y="141426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48202369-F8E5-A40E-96BF-5D9E8B5F1F16}"/>
              </a:ext>
            </a:extLst>
          </p:cNvPr>
          <p:cNvGrpSpPr/>
          <p:nvPr userDrawn="1"/>
        </p:nvGrpSpPr>
        <p:grpSpPr>
          <a:xfrm>
            <a:off x="4479990" y="241694"/>
            <a:ext cx="3232031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xmlns="" id="{548153D4-0D7E-5E40-CC29-BA0D3438A6E0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xmlns="" id="{25D12D13-7CA6-581B-369D-0786B7CDA747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xmlns="" id="{C7D78A2B-7E0F-7276-F0FD-6896232239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xmlns="" id="{774A90A5-5FD0-9383-6265-C82BA61F99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44949A0B-E506-5DE7-2A23-C2CA5436DE0A}"/>
              </a:ext>
            </a:extLst>
          </p:cNvPr>
          <p:cNvGrpSpPr/>
          <p:nvPr userDrawn="1"/>
        </p:nvGrpSpPr>
        <p:grpSpPr>
          <a:xfrm>
            <a:off x="11508227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FD395D56-A0D5-B2F3-8B05-9F07E63BF0C4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7BF5558D-A677-95F7-5700-2D1E71FBD838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800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xmlns="" id="{A797F9EA-0DAE-4EA8-F91E-D25EC18E94F5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8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9Slide.vn - 2019">
            <a:extLst>
              <a:ext uri="{FF2B5EF4-FFF2-40B4-BE49-F238E27FC236}">
                <a16:creationId xmlns:a16="http://schemas.microsoft.com/office/drawing/2014/main" xmlns="" id="{2E2EF8C9-F38D-9516-1D87-18E6996ECB8C}"/>
              </a:ext>
            </a:extLst>
          </p:cNvPr>
          <p:cNvSpPr txBox="1"/>
          <p:nvPr userDrawn="1"/>
        </p:nvSpPr>
        <p:spPr>
          <a:xfrm>
            <a:off x="0" y="-1543110"/>
            <a:ext cx="1219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C3C3C3"/>
                </a:solidFill>
              </a:rPr>
              <a:t>www.9slide.vn</a:t>
            </a:r>
            <a:endParaRPr lang="x-none" sz="2000">
              <a:solidFill>
                <a:srgbClr val="C3C3C3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EE0CA-0453-9B47-838C-B39080F57770}" type="datetime3">
              <a:rPr lang="en-US" smtClean="0"/>
              <a:t>9 October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xmlns="" id="{F631ED36-F92A-CE11-0084-292D548DE0CF}"/>
              </a:ext>
            </a:extLst>
          </p:cNvPr>
          <p:cNvSpPr/>
          <p:nvPr userDrawn="1"/>
        </p:nvSpPr>
        <p:spPr>
          <a:xfrm>
            <a:off x="6" y="1423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4" r:id="rId4"/>
    <p:sldLayoutId id="2147483663" r:id="rId5"/>
    <p:sldLayoutId id="2147483662" r:id="rId6"/>
    <p:sldLayoutId id="2147483661" r:id="rId7"/>
    <p:sldLayoutId id="2147483652" r:id="rId8"/>
    <p:sldLayoutId id="2147483653" r:id="rId9"/>
    <p:sldLayoutId id="2147483654" r:id="rId10"/>
    <p:sldLayoutId id="2147483655" r:id="rId11"/>
    <p:sldLayoutId id="2147483666" r:id="rId12"/>
    <p:sldLayoutId id="2147483665" r:id="rId13"/>
    <p:sldLayoutId id="2147483656" r:id="rId14"/>
    <p:sldLayoutId id="2147483657" r:id="rId15"/>
    <p:sldLayoutId id="2147483658" r:id="rId16"/>
    <p:sldLayoutId id="2147483659" r:id="rId17"/>
  </p:sldLayoutIdLst>
  <p:hf hd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6329C4-99A1-6E4F-4374-1D5CEAAC4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1086"/>
            <a:ext cx="9144000" cy="1837919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3"/>
                </a:solidFill>
              </a:rPr>
              <a:t>TEMPERATURE </a:t>
            </a:r>
            <a:r>
              <a:rPr lang="en-US" sz="4800" dirty="0" smtClean="0">
                <a:solidFill>
                  <a:schemeClr val="accent3"/>
                </a:solidFill>
              </a:rPr>
              <a:t>FORECAST</a:t>
            </a:r>
            <a:br>
              <a:rPr lang="en-US" sz="4800" dirty="0" smtClean="0">
                <a:solidFill>
                  <a:schemeClr val="accent3"/>
                </a:solidFill>
              </a:rPr>
            </a:br>
            <a:r>
              <a:rPr lang="en-US" sz="4800" dirty="0">
                <a:solidFill>
                  <a:schemeClr val="accent3"/>
                </a:solidFill>
              </a:rPr>
              <a:t>3 HOURS AHEAD ON </a:t>
            </a:r>
            <a:r>
              <a:rPr lang="en-US" sz="4800" dirty="0" err="1" smtClean="0">
                <a:solidFill>
                  <a:schemeClr val="accent3"/>
                </a:solidFill>
              </a:rPr>
              <a:t>FPGA</a:t>
            </a:r>
            <a:endParaRPr lang="x-none" sz="4800" dirty="0">
              <a:solidFill>
                <a:schemeClr val="accent3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4CE0914-A039-5855-B5C6-C4237FEC9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4000" y="6209666"/>
            <a:ext cx="9144000" cy="519113"/>
          </a:xfrm>
        </p:spPr>
        <p:txBody>
          <a:bodyPr/>
          <a:lstStyle/>
          <a:p>
            <a:r>
              <a:rPr lang="en-US" dirty="0" err="1">
                <a:latin typeface="+mj-lt"/>
              </a:rPr>
              <a:t>Ngày</a:t>
            </a: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09 </a:t>
            </a:r>
            <a:r>
              <a:rPr lang="en-US" dirty="0" err="1">
                <a:latin typeface="+mj-lt"/>
              </a:rPr>
              <a:t>tháng</a:t>
            </a:r>
            <a:r>
              <a:rPr lang="en-US">
                <a:latin typeface="+mj-lt"/>
              </a:rPr>
              <a:t> </a:t>
            </a:r>
            <a:r>
              <a:rPr lang="en-US" smtClean="0">
                <a:latin typeface="+mj-lt"/>
              </a:rPr>
              <a:t>10 </a:t>
            </a:r>
            <a:r>
              <a:rPr lang="en-US" dirty="0" err="1">
                <a:latin typeface="+mj-lt"/>
              </a:rPr>
              <a:t>năm</a:t>
            </a:r>
            <a:r>
              <a:rPr lang="en-US" dirty="0">
                <a:latin typeface="+mj-lt"/>
              </a:rPr>
              <a:t> 2026</a:t>
            </a:r>
            <a:endParaRPr lang="x-none" dirty="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A21DE20-70D6-DD65-B1D0-08C5B47A04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47704" y="1113543"/>
            <a:ext cx="3055816" cy="4775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 smtClean="0">
                <a:latin typeface="+mj-lt"/>
              </a:rPr>
              <a:t>ĐỒ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>
                <a:latin typeface="+mj-lt"/>
              </a:rPr>
              <a:t>ÁN</a:t>
            </a: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CE436.R11.VMTN</a:t>
            </a:r>
            <a:endParaRPr lang="x-none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01E99C6-9F71-2563-42D3-79554AE1E10D}"/>
              </a:ext>
            </a:extLst>
          </p:cNvPr>
          <p:cNvSpPr txBox="1"/>
          <p:nvPr/>
        </p:nvSpPr>
        <p:spPr>
          <a:xfrm>
            <a:off x="1524000" y="3593565"/>
            <a:ext cx="9144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x-none" sz="2400" b="1" dirty="0">
                <a:solidFill>
                  <a:schemeClr val="accent4"/>
                </a:solidFill>
                <a:latin typeface="+mj-lt"/>
              </a:rPr>
              <a:t>GVHD:</a:t>
            </a:r>
            <a:r>
              <a:rPr lang="en-US" sz="2400" b="1" dirty="0">
                <a:solidFill>
                  <a:schemeClr val="accent4"/>
                </a:solidFill>
                <a:latin typeface="+mj-lt"/>
              </a:rPr>
              <a:t> Ts. </a:t>
            </a:r>
            <a:r>
              <a:rPr lang="en-US" sz="2400" b="1" dirty="0" err="1">
                <a:solidFill>
                  <a:schemeClr val="accent4"/>
                </a:solidFill>
                <a:latin typeface="+mj-lt"/>
              </a:rPr>
              <a:t>Trần</a:t>
            </a:r>
            <a:r>
              <a:rPr lang="en-US" sz="2400" b="1" dirty="0">
                <a:solidFill>
                  <a:schemeClr val="accent4"/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4"/>
                </a:solidFill>
                <a:latin typeface="+mj-lt"/>
              </a:rPr>
              <a:t>Xuân</a:t>
            </a:r>
            <a:r>
              <a:rPr lang="en-US" sz="2400" b="1" dirty="0" smtClean="0">
                <a:solidFill>
                  <a:schemeClr val="accent4"/>
                </a:solidFill>
                <a:latin typeface="+mj-lt"/>
              </a:rPr>
              <a:t> </a:t>
            </a:r>
            <a:r>
              <a:rPr lang="en-US" sz="2400" b="1" dirty="0" err="1" smtClean="0">
                <a:solidFill>
                  <a:schemeClr val="accent4"/>
                </a:solidFill>
                <a:latin typeface="+mj-lt"/>
              </a:rPr>
              <a:t>Phước</a:t>
            </a:r>
            <a:endParaRPr lang="en-US" sz="2400" b="1" dirty="0">
              <a:solidFill>
                <a:schemeClr val="accent4"/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b="1" dirty="0">
                <a:solidFill>
                  <a:schemeClr val="accent4"/>
                </a:solidFill>
                <a:latin typeface="+mj-lt"/>
              </a:rPr>
              <a:t>Thành </a:t>
            </a:r>
            <a:r>
              <a:rPr lang="en-US" sz="2400" b="1" dirty="0" err="1">
                <a:solidFill>
                  <a:schemeClr val="accent4"/>
                </a:solidFill>
                <a:latin typeface="+mj-lt"/>
              </a:rPr>
              <a:t>viên</a:t>
            </a:r>
            <a:r>
              <a:rPr lang="en-US" sz="2400" b="1" dirty="0">
                <a:solidFill>
                  <a:schemeClr val="accent4"/>
                </a:solidFill>
                <a:latin typeface="+mj-lt"/>
              </a:rPr>
              <a:t>:</a:t>
            </a:r>
            <a:endParaRPr lang="x-none" sz="2400" b="1" dirty="0">
              <a:solidFill>
                <a:schemeClr val="accent4"/>
              </a:solidFill>
              <a:latin typeface="+mj-lt"/>
            </a:endParaRP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5019299" algn="l"/>
              </a:tabLst>
            </a:pPr>
            <a:r>
              <a:rPr lang="en-US" sz="2400" b="1" dirty="0" err="1">
                <a:latin typeface="+mj-lt"/>
              </a:rPr>
              <a:t>Nguyễn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 smtClean="0">
                <a:latin typeface="+mj-lt"/>
              </a:rPr>
              <a:t>Nghĩa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b="1" dirty="0" err="1" smtClean="0">
                <a:latin typeface="+mj-lt"/>
              </a:rPr>
              <a:t>Khoa</a:t>
            </a:r>
            <a:r>
              <a:rPr lang="x-none" sz="2400" b="1">
                <a:latin typeface="+mj-lt"/>
              </a:rPr>
              <a:t>	</a:t>
            </a:r>
            <a:r>
              <a:rPr lang="en-US" sz="2400" b="1" dirty="0" smtClean="0">
                <a:latin typeface="+mj-lt"/>
              </a:rPr>
              <a:t>24520832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5019299" algn="l"/>
              </a:tabLst>
            </a:pPr>
            <a:r>
              <a:rPr lang="en-US" sz="2400" b="1" dirty="0" err="1" smtClean="0">
                <a:latin typeface="+mj-lt"/>
              </a:rPr>
              <a:t>Nguyễn</a:t>
            </a:r>
            <a:r>
              <a:rPr lang="en-US" sz="2400" b="1" dirty="0" smtClean="0">
                <a:latin typeface="+mj-lt"/>
              </a:rPr>
              <a:t> Minh </a:t>
            </a:r>
            <a:r>
              <a:rPr lang="en-US" sz="2400" b="1" dirty="0" err="1" smtClean="0">
                <a:latin typeface="+mj-lt"/>
              </a:rPr>
              <a:t>Khoa</a:t>
            </a:r>
            <a:r>
              <a:rPr lang="en-US" sz="2400" b="1" dirty="0">
                <a:latin typeface="+mj-lt"/>
              </a:rPr>
              <a:t>	</a:t>
            </a:r>
            <a:r>
              <a:rPr lang="en-US" sz="2400" b="1" dirty="0" smtClean="0">
                <a:latin typeface="+mj-lt"/>
              </a:rPr>
              <a:t>24520831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5019299" algn="l"/>
              </a:tabLst>
            </a:pPr>
            <a:r>
              <a:rPr lang="en-US" sz="2400" b="1" dirty="0" err="1" smtClean="0">
                <a:latin typeface="+mj-lt"/>
              </a:rPr>
              <a:t>Lê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b="1" dirty="0" err="1" smtClean="0">
                <a:latin typeface="+mj-lt"/>
              </a:rPr>
              <a:t>Đăng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b="1" dirty="0" err="1" smtClean="0">
                <a:latin typeface="+mj-lt"/>
              </a:rPr>
              <a:t>Khoa</a:t>
            </a:r>
            <a:r>
              <a:rPr lang="en-US" sz="2400" b="1" dirty="0" smtClean="0">
                <a:latin typeface="+mj-lt"/>
              </a:rPr>
              <a:t> 	24520816</a:t>
            </a:r>
            <a:endParaRPr lang="x-none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270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09E84C-3683-652F-CF31-A1F9AD73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solidFill>
                  <a:schemeClr val="accent1"/>
                </a:solidFill>
              </a:rPr>
              <a:t>FPGA Edge Temperature Predictor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2</a:t>
            </a:fld>
            <a:endParaRPr lang="en-US" dirty="0">
              <a:latin typeface="+mj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6000" y="1779601"/>
            <a:ext cx="5610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b="1" dirty="0">
                <a:solidFill>
                  <a:srgbClr val="1E3A8A"/>
                </a:solidFill>
                <a:latin typeface="+mj-lt"/>
              </a:rPr>
              <a:t>Dual-Core RTL Design &amp; Bit-Exact DPI-C Verification</a:t>
            </a:r>
          </a:p>
        </p:txBody>
      </p:sp>
      <p:grpSp>
        <p:nvGrpSpPr>
          <p:cNvPr id="98" name="card_platform"/>
          <p:cNvGrpSpPr/>
          <p:nvPr/>
        </p:nvGrpSpPr>
        <p:grpSpPr>
          <a:xfrm>
            <a:off x="1567978" y="2271099"/>
            <a:ext cx="4499324" cy="4188969"/>
            <a:chOff x="571500" y="3000375"/>
            <a:chExt cx="3476625" cy="3000375"/>
          </a:xfrm>
        </p:grpSpPr>
        <p:sp>
          <p:nvSpPr>
            <p:cNvPr id="99" name="Rectangle 12"/>
            <p:cNvSpPr/>
            <p:nvPr/>
          </p:nvSpPr>
          <p:spPr>
            <a:xfrm>
              <a:off x="571500" y="3000375"/>
              <a:ext cx="3476625" cy="3000375"/>
            </a:xfrm>
            <a:prstGeom prst="roundRect">
              <a:avLst>
                <a:gd name="adj" fmla="val 254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00" name="Rectangle 13"/>
            <p:cNvSpPr/>
            <p:nvPr/>
          </p:nvSpPr>
          <p:spPr>
            <a:xfrm>
              <a:off x="571500" y="3000375"/>
              <a:ext cx="3476625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01" name="TextBox 14"/>
            <p:cNvSpPr txBox="1"/>
            <p:nvPr/>
          </p:nvSpPr>
          <p:spPr>
            <a:xfrm>
              <a:off x="757047" y="3152299"/>
              <a:ext cx="1356756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TARGET PLATFORM</a:t>
              </a:r>
            </a:p>
          </p:txBody>
        </p:sp>
        <p:sp>
          <p:nvSpPr>
            <p:cNvPr id="102" name="TextBox 15"/>
            <p:cNvSpPr txBox="1"/>
            <p:nvPr/>
          </p:nvSpPr>
          <p:spPr>
            <a:xfrm>
              <a:off x="757238" y="3569970"/>
              <a:ext cx="910202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FPGA Device:</a:t>
              </a:r>
            </a:p>
          </p:txBody>
        </p:sp>
        <p:sp>
          <p:nvSpPr>
            <p:cNvPr id="103" name="TextBox 16"/>
            <p:cNvSpPr txBox="1"/>
            <p:nvPr/>
          </p:nvSpPr>
          <p:spPr>
            <a:xfrm>
              <a:off x="900112" y="3760470"/>
              <a:ext cx="2137892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Cyclone II EP2C35F672C6 (90nm)</a:t>
              </a:r>
            </a:p>
          </p:txBody>
        </p:sp>
        <p:sp>
          <p:nvSpPr>
            <p:cNvPr id="104" name="TextBox 17"/>
            <p:cNvSpPr txBox="1"/>
            <p:nvPr/>
          </p:nvSpPr>
          <p:spPr>
            <a:xfrm>
              <a:off x="757238" y="4046220"/>
              <a:ext cx="1352594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Development Board:</a:t>
              </a:r>
            </a:p>
          </p:txBody>
        </p:sp>
        <p:sp>
          <p:nvSpPr>
            <p:cNvPr id="105" name="TextBox 18"/>
            <p:cNvSpPr txBox="1"/>
            <p:nvPr/>
          </p:nvSpPr>
          <p:spPr>
            <a:xfrm>
              <a:off x="900112" y="4236720"/>
              <a:ext cx="2056885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Terasic DE2 @ 50 MHz Oscillator</a:t>
              </a:r>
            </a:p>
          </p:txBody>
        </p:sp>
        <p:sp>
          <p:nvSpPr>
            <p:cNvPr id="106" name="TextBox 19"/>
            <p:cNvSpPr txBox="1"/>
            <p:nvPr/>
          </p:nvSpPr>
          <p:spPr>
            <a:xfrm>
              <a:off x="757238" y="4522470"/>
              <a:ext cx="1037979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Serial Interface:</a:t>
              </a:r>
            </a:p>
          </p:txBody>
        </p:sp>
        <p:sp>
          <p:nvSpPr>
            <p:cNvPr id="107" name="TextBox 20"/>
            <p:cNvSpPr txBox="1"/>
            <p:nvPr/>
          </p:nvSpPr>
          <p:spPr>
            <a:xfrm>
              <a:off x="900112" y="4712970"/>
              <a:ext cx="1949123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RS-232 UART @ 115,200 Baud</a:t>
              </a:r>
            </a:p>
          </p:txBody>
        </p:sp>
        <p:sp>
          <p:nvSpPr>
            <p:cNvPr id="108" name="Rectangle 21"/>
            <p:cNvSpPr/>
            <p:nvPr/>
          </p:nvSpPr>
          <p:spPr>
            <a:xfrm>
              <a:off x="762000" y="5191125"/>
              <a:ext cx="3095625" cy="523875"/>
            </a:xfrm>
            <a:prstGeom prst="roundRect">
              <a:avLst>
                <a:gd name="adj" fmla="val 10909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109" name="TextBox 22"/>
            <p:cNvSpPr txBox="1"/>
            <p:nvPr/>
          </p:nvSpPr>
          <p:spPr>
            <a:xfrm>
              <a:off x="900112" y="5332095"/>
              <a:ext cx="2072194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DSP Multiplier Budget: 35 Units</a:t>
              </a:r>
            </a:p>
          </p:txBody>
        </p:sp>
        <p:sp>
          <p:nvSpPr>
            <p:cNvPr id="110" name="TextBox 23"/>
            <p:cNvSpPr txBox="1"/>
            <p:nvPr/>
          </p:nvSpPr>
          <p:spPr>
            <a:xfrm>
              <a:off x="900112" y="5511641"/>
              <a:ext cx="2025523" cy="1322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Predictor uses &lt;6% chip DSP capacity</a:t>
              </a:r>
            </a:p>
          </p:txBody>
        </p:sp>
      </p:grpSp>
      <p:grpSp>
        <p:nvGrpSpPr>
          <p:cNvPr id="111" name="card_scope"/>
          <p:cNvGrpSpPr/>
          <p:nvPr/>
        </p:nvGrpSpPr>
        <p:grpSpPr>
          <a:xfrm>
            <a:off x="6575076" y="2271098"/>
            <a:ext cx="4499324" cy="4188969"/>
            <a:chOff x="4333875" y="3000375"/>
            <a:chExt cx="3476625" cy="3000375"/>
          </a:xfrm>
        </p:grpSpPr>
        <p:sp>
          <p:nvSpPr>
            <p:cNvPr id="112" name="Rectangle 25"/>
            <p:cNvSpPr/>
            <p:nvPr/>
          </p:nvSpPr>
          <p:spPr>
            <a:xfrm>
              <a:off x="4333875" y="3000375"/>
              <a:ext cx="3476625" cy="3000375"/>
            </a:xfrm>
            <a:prstGeom prst="roundRect">
              <a:avLst>
                <a:gd name="adj" fmla="val 254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13" name="Rectangle 26"/>
            <p:cNvSpPr/>
            <p:nvPr/>
          </p:nvSpPr>
          <p:spPr>
            <a:xfrm>
              <a:off x="4333875" y="3000375"/>
              <a:ext cx="3476625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14" name="TextBox 27"/>
            <p:cNvSpPr txBox="1"/>
            <p:nvPr/>
          </p:nvSpPr>
          <p:spPr>
            <a:xfrm>
              <a:off x="4519422" y="3152299"/>
              <a:ext cx="1362455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RTL DESIGN SCOPE</a:t>
              </a:r>
            </a:p>
          </p:txBody>
        </p:sp>
        <p:sp>
          <p:nvSpPr>
            <p:cNvPr id="115" name="TextBox 28"/>
            <p:cNvSpPr txBox="1"/>
            <p:nvPr/>
          </p:nvSpPr>
          <p:spPr>
            <a:xfrm>
              <a:off x="4519612" y="3569970"/>
              <a:ext cx="1148021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Signal Algorithm:</a:t>
              </a:r>
            </a:p>
          </p:txBody>
        </p:sp>
        <p:sp>
          <p:nvSpPr>
            <p:cNvPr id="116" name="TextBox 29"/>
            <p:cNvSpPr txBox="1"/>
            <p:nvPr/>
          </p:nvSpPr>
          <p:spPr>
            <a:xfrm>
              <a:off x="4662488" y="3760470"/>
              <a:ext cx="1715020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3-Tap Diurnal Residual OLS</a:t>
              </a:r>
            </a:p>
          </p:txBody>
        </p:sp>
        <p:sp>
          <p:nvSpPr>
            <p:cNvPr id="117" name="TextBox 30"/>
            <p:cNvSpPr txBox="1"/>
            <p:nvPr/>
          </p:nvSpPr>
          <p:spPr>
            <a:xfrm>
              <a:off x="4519612" y="4046220"/>
              <a:ext cx="815025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Speed Core:</a:t>
              </a:r>
            </a:p>
          </p:txBody>
        </p:sp>
        <p:sp>
          <p:nvSpPr>
            <p:cNvPr id="118" name="TextBox 31"/>
            <p:cNvSpPr txBox="1"/>
            <p:nvPr/>
          </p:nvSpPr>
          <p:spPr>
            <a:xfrm>
              <a:off x="4662488" y="4236720"/>
              <a:ext cx="2266710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6 Stages | II = 1 (50 MSps) | 412 LEs</a:t>
              </a:r>
            </a:p>
          </p:txBody>
        </p:sp>
        <p:sp>
          <p:nvSpPr>
            <p:cNvPr id="119" name="TextBox 32"/>
            <p:cNvSpPr txBox="1"/>
            <p:nvPr/>
          </p:nvSpPr>
          <p:spPr>
            <a:xfrm>
              <a:off x="4519612" y="4522470"/>
              <a:ext cx="1030548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Resource Core:</a:t>
              </a:r>
            </a:p>
          </p:txBody>
        </p:sp>
        <p:sp>
          <p:nvSpPr>
            <p:cNvPr id="120" name="TextBox 33"/>
            <p:cNvSpPr txBox="1"/>
            <p:nvPr/>
          </p:nvSpPr>
          <p:spPr>
            <a:xfrm>
              <a:off x="4662488" y="4712970"/>
              <a:ext cx="2178767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10 States | 1 Shared Mult | 236 LEs</a:t>
              </a:r>
            </a:p>
          </p:txBody>
        </p:sp>
        <p:sp>
          <p:nvSpPr>
            <p:cNvPr id="121" name="Rectangle 34"/>
            <p:cNvSpPr/>
            <p:nvPr/>
          </p:nvSpPr>
          <p:spPr>
            <a:xfrm>
              <a:off x="4524375" y="5191125"/>
              <a:ext cx="3095625" cy="523875"/>
            </a:xfrm>
            <a:prstGeom prst="roundRect">
              <a:avLst>
                <a:gd name="adj" fmla="val 10909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122" name="TextBox 35"/>
            <p:cNvSpPr txBox="1"/>
            <p:nvPr/>
          </p:nvSpPr>
          <p:spPr>
            <a:xfrm>
              <a:off x="4662488" y="5332095"/>
              <a:ext cx="2126745" cy="154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Signed Fixed-Point: Q8.8 / Q2.14</a:t>
              </a:r>
            </a:p>
          </p:txBody>
        </p:sp>
        <p:sp>
          <p:nvSpPr>
            <p:cNvPr id="123" name="TextBox 36"/>
            <p:cNvSpPr txBox="1"/>
            <p:nvPr/>
          </p:nvSpPr>
          <p:spPr>
            <a:xfrm>
              <a:off x="4662488" y="5511641"/>
              <a:ext cx="1771254" cy="1322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LSB = 0.0039°C with sat16 clamp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926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09E84C-3683-652F-CF31-A1F9AD732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529" y="1036775"/>
            <a:ext cx="10980000" cy="890663"/>
          </a:xfrm>
        </p:spPr>
        <p:txBody>
          <a:bodyPr/>
          <a:lstStyle/>
          <a:p>
            <a:r>
              <a:rPr lang="en" dirty="0">
                <a:solidFill>
                  <a:schemeClr val="accent1"/>
                </a:solidFill>
              </a:rPr>
              <a:t>Project Overview: Three Engineering Pillars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3</a:t>
            </a:fld>
            <a:endParaRPr lang="en-US" dirty="0">
              <a:latin typeface="+mj-lt"/>
            </a:endParaRPr>
          </a:p>
        </p:txBody>
      </p:sp>
      <p:grpSp>
        <p:nvGrpSpPr>
          <p:cNvPr id="85" name="pillar_dsp"/>
          <p:cNvGrpSpPr/>
          <p:nvPr/>
        </p:nvGrpSpPr>
        <p:grpSpPr>
          <a:xfrm>
            <a:off x="579632" y="1809750"/>
            <a:ext cx="3381375" cy="4658783"/>
            <a:chOff x="571500" y="1285875"/>
            <a:chExt cx="3524250" cy="4762500"/>
          </a:xfrm>
        </p:grpSpPr>
        <p:sp>
          <p:nvSpPr>
            <p:cNvPr id="86" name="Rectangle 7"/>
            <p:cNvSpPr/>
            <p:nvPr/>
          </p:nvSpPr>
          <p:spPr>
            <a:xfrm>
              <a:off x="571500" y="1285875"/>
              <a:ext cx="3524250" cy="4762500"/>
            </a:xfrm>
            <a:prstGeom prst="roundRect">
              <a:avLst>
                <a:gd name="adj" fmla="val 2162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87" name="Rectangle 8"/>
            <p:cNvSpPr/>
            <p:nvPr/>
          </p:nvSpPr>
          <p:spPr>
            <a:xfrm>
              <a:off x="571500" y="1285875"/>
              <a:ext cx="352425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88" name="TextBox 9"/>
            <p:cNvSpPr txBox="1"/>
            <p:nvPr/>
          </p:nvSpPr>
          <p:spPr>
            <a:xfrm>
              <a:off x="757047" y="1428274"/>
              <a:ext cx="2212054" cy="165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PILLAR 1: SIGNAL PROCESSING</a:t>
              </a:r>
            </a:p>
          </p:txBody>
        </p:sp>
        <p:sp>
          <p:nvSpPr>
            <p:cNvPr id="89" name="Rectangle 10"/>
            <p:cNvSpPr/>
            <p:nvPr/>
          </p:nvSpPr>
          <p:spPr>
            <a:xfrm>
              <a:off x="714375" y="1809750"/>
              <a:ext cx="3238500" cy="5715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90" name="TextBox 11"/>
            <p:cNvSpPr txBox="1"/>
            <p:nvPr/>
          </p:nvSpPr>
          <p:spPr>
            <a:xfrm>
              <a:off x="850392" y="1921192"/>
              <a:ext cx="843722" cy="251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43,800 h</a:t>
              </a:r>
            </a:p>
          </p:txBody>
        </p:sp>
        <p:sp>
          <p:nvSpPr>
            <p:cNvPr id="91" name="TextBox 12"/>
            <p:cNvSpPr txBox="1"/>
            <p:nvPr/>
          </p:nvSpPr>
          <p:spPr>
            <a:xfrm>
              <a:off x="852488" y="2168366"/>
              <a:ext cx="1281455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NASA 5-Yr Telemetry</a:t>
              </a:r>
            </a:p>
          </p:txBody>
        </p:sp>
        <p:sp>
          <p:nvSpPr>
            <p:cNvPr id="92" name="Rectangle 13"/>
            <p:cNvSpPr/>
            <p:nvPr/>
          </p:nvSpPr>
          <p:spPr>
            <a:xfrm>
              <a:off x="714375" y="2476500"/>
              <a:ext cx="3238500" cy="5715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93" name="TextBox 14"/>
            <p:cNvSpPr txBox="1"/>
            <p:nvPr/>
          </p:nvSpPr>
          <p:spPr>
            <a:xfrm>
              <a:off x="850392" y="2587942"/>
              <a:ext cx="1053365" cy="251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3-Tap OLS</a:t>
              </a:r>
            </a:p>
          </p:txBody>
        </p:sp>
        <p:sp>
          <p:nvSpPr>
            <p:cNvPr id="94" name="TextBox 15"/>
            <p:cNvSpPr txBox="1"/>
            <p:nvPr/>
          </p:nvSpPr>
          <p:spPr>
            <a:xfrm>
              <a:off x="852488" y="2835116"/>
              <a:ext cx="1376686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Diurnal Residual Model</a:t>
              </a:r>
            </a:p>
          </p:txBody>
        </p:sp>
        <p:sp>
          <p:nvSpPr>
            <p:cNvPr id="95" name="Rectangle 16"/>
            <p:cNvSpPr/>
            <p:nvPr/>
          </p:nvSpPr>
          <p:spPr>
            <a:xfrm>
              <a:off x="714375" y="3143250"/>
              <a:ext cx="3238500" cy="5715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96" name="TextBox 17"/>
            <p:cNvSpPr txBox="1"/>
            <p:nvPr/>
          </p:nvSpPr>
          <p:spPr>
            <a:xfrm>
              <a:off x="850392" y="3254692"/>
              <a:ext cx="606478" cy="251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74.1%</a:t>
              </a:r>
            </a:p>
          </p:txBody>
        </p:sp>
        <p:sp>
          <p:nvSpPr>
            <p:cNvPr id="97" name="TextBox 18"/>
            <p:cNvSpPr txBox="1"/>
            <p:nvPr/>
          </p:nvSpPr>
          <p:spPr>
            <a:xfrm>
              <a:off x="852488" y="3501866"/>
              <a:ext cx="1182881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Gain vs Persistence</a:t>
              </a:r>
            </a:p>
          </p:txBody>
        </p:sp>
        <p:sp>
          <p:nvSpPr>
            <p:cNvPr id="98" name="Rectangle 19"/>
            <p:cNvSpPr/>
            <p:nvPr/>
          </p:nvSpPr>
          <p:spPr>
            <a:xfrm>
              <a:off x="714375" y="3857625"/>
              <a:ext cx="3238500" cy="2000250"/>
            </a:xfrm>
            <a:prstGeom prst="roundRect">
              <a:avLst>
                <a:gd name="adj" fmla="val 2857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99" name="TextBox 20"/>
            <p:cNvSpPr txBox="1"/>
            <p:nvPr/>
          </p:nvSpPr>
          <p:spPr>
            <a:xfrm>
              <a:off x="804862" y="4027169"/>
              <a:ext cx="1089320" cy="165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Core Highlights:</a:t>
              </a:r>
            </a:p>
          </p:txBody>
        </p:sp>
        <p:sp>
          <p:nvSpPr>
            <p:cNvPr id="100" name="TextBox 21"/>
            <p:cNvSpPr txBox="1"/>
            <p:nvPr/>
          </p:nvSpPr>
          <p:spPr>
            <a:xfrm>
              <a:off x="804862" y="4340066"/>
              <a:ext cx="1968126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Anchor captures &gt;85% variance</a:t>
              </a:r>
            </a:p>
          </p:txBody>
        </p:sp>
        <p:sp>
          <p:nvSpPr>
            <p:cNvPr id="101" name="TextBox 22"/>
            <p:cNvSpPr txBox="1"/>
            <p:nvPr/>
          </p:nvSpPr>
          <p:spPr>
            <a:xfrm>
              <a:off x="804862" y="4721066"/>
              <a:ext cx="2131859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0.538°C MAE on held-out test data</a:t>
              </a:r>
            </a:p>
          </p:txBody>
        </p:sp>
        <p:sp>
          <p:nvSpPr>
            <p:cNvPr id="102" name="TextBox 23"/>
            <p:cNvSpPr txBox="1"/>
            <p:nvPr/>
          </p:nvSpPr>
          <p:spPr>
            <a:xfrm>
              <a:off x="804862" y="5102066"/>
              <a:ext cx="1797711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Zero on-chip matrix inversion</a:t>
              </a:r>
            </a:p>
          </p:txBody>
        </p:sp>
        <p:sp>
          <p:nvSpPr>
            <p:cNvPr id="103" name="Line 24"/>
            <p:cNvSpPr/>
            <p:nvPr/>
          </p:nvSpPr>
          <p:spPr>
            <a:xfrm>
              <a:off x="809625" y="54292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7620">
              <a:solidFill>
                <a:srgbClr val="E2E8F0"/>
              </a:solidFill>
            </a:ln>
          </p:spPr>
        </p:sp>
        <p:sp>
          <p:nvSpPr>
            <p:cNvPr id="104" name="TextBox 25"/>
            <p:cNvSpPr txBox="1"/>
            <p:nvPr/>
          </p:nvSpPr>
          <p:spPr>
            <a:xfrm>
              <a:off x="804862" y="5578316"/>
              <a:ext cx="1495309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Silicon &amp; DPI-C Verified</a:t>
              </a:r>
            </a:p>
          </p:txBody>
        </p:sp>
      </p:grpSp>
      <p:grpSp>
        <p:nvGrpSpPr>
          <p:cNvPr id="105" name="pillar_rtl"/>
          <p:cNvGrpSpPr/>
          <p:nvPr/>
        </p:nvGrpSpPr>
        <p:grpSpPr>
          <a:xfrm>
            <a:off x="4342007" y="1809750"/>
            <a:ext cx="3381375" cy="4658783"/>
            <a:chOff x="4333875" y="1285875"/>
            <a:chExt cx="3524250" cy="4762500"/>
          </a:xfrm>
        </p:grpSpPr>
        <p:sp>
          <p:nvSpPr>
            <p:cNvPr id="106" name="Rectangle 27"/>
            <p:cNvSpPr/>
            <p:nvPr/>
          </p:nvSpPr>
          <p:spPr>
            <a:xfrm>
              <a:off x="4333875" y="1285875"/>
              <a:ext cx="3524250" cy="4762500"/>
            </a:xfrm>
            <a:prstGeom prst="roundRect">
              <a:avLst>
                <a:gd name="adj" fmla="val 2162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07" name="Rectangle 28"/>
            <p:cNvSpPr/>
            <p:nvPr/>
          </p:nvSpPr>
          <p:spPr>
            <a:xfrm>
              <a:off x="4333875" y="1285875"/>
              <a:ext cx="352425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08" name="TextBox 29"/>
            <p:cNvSpPr txBox="1"/>
            <p:nvPr/>
          </p:nvSpPr>
          <p:spPr>
            <a:xfrm>
              <a:off x="4519422" y="1428274"/>
              <a:ext cx="1557126" cy="165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PILLAR 2: RTL DESIGN</a:t>
              </a:r>
            </a:p>
          </p:txBody>
        </p:sp>
        <p:sp>
          <p:nvSpPr>
            <p:cNvPr id="109" name="Rectangle 30"/>
            <p:cNvSpPr/>
            <p:nvPr/>
          </p:nvSpPr>
          <p:spPr>
            <a:xfrm>
              <a:off x="4476750" y="1809750"/>
              <a:ext cx="3238500" cy="5715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110" name="TextBox 31"/>
            <p:cNvSpPr txBox="1"/>
            <p:nvPr/>
          </p:nvSpPr>
          <p:spPr>
            <a:xfrm>
              <a:off x="4612767" y="1921192"/>
              <a:ext cx="1186222" cy="251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Speed Core</a:t>
              </a:r>
            </a:p>
          </p:txBody>
        </p:sp>
        <p:sp>
          <p:nvSpPr>
            <p:cNvPr id="111" name="TextBox 32"/>
            <p:cNvSpPr txBox="1"/>
            <p:nvPr/>
          </p:nvSpPr>
          <p:spPr>
            <a:xfrm>
              <a:off x="4614862" y="2168366"/>
              <a:ext cx="1582187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6 Stages | II = 1 (50 MSps)</a:t>
              </a:r>
            </a:p>
          </p:txBody>
        </p:sp>
        <p:sp>
          <p:nvSpPr>
            <p:cNvPr id="112" name="Rectangle 33"/>
            <p:cNvSpPr/>
            <p:nvPr/>
          </p:nvSpPr>
          <p:spPr>
            <a:xfrm>
              <a:off x="4476750" y="2476500"/>
              <a:ext cx="3238500" cy="5715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113" name="TextBox 34"/>
            <p:cNvSpPr txBox="1"/>
            <p:nvPr/>
          </p:nvSpPr>
          <p:spPr>
            <a:xfrm>
              <a:off x="4612767" y="2587942"/>
              <a:ext cx="972368" cy="251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Resource</a:t>
              </a:r>
            </a:p>
          </p:txBody>
        </p:sp>
        <p:sp>
          <p:nvSpPr>
            <p:cNvPr id="114" name="TextBox 35"/>
            <p:cNvSpPr txBox="1"/>
            <p:nvPr/>
          </p:nvSpPr>
          <p:spPr>
            <a:xfrm>
              <a:off x="4614862" y="2835116"/>
              <a:ext cx="1605577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10 States | -42.7% LE Area</a:t>
              </a:r>
            </a:p>
          </p:txBody>
        </p:sp>
        <p:sp>
          <p:nvSpPr>
            <p:cNvPr id="115" name="Rectangle 36"/>
            <p:cNvSpPr/>
            <p:nvPr/>
          </p:nvSpPr>
          <p:spPr>
            <a:xfrm>
              <a:off x="4476750" y="3143250"/>
              <a:ext cx="3238500" cy="5715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116" name="TextBox 37"/>
            <p:cNvSpPr txBox="1"/>
            <p:nvPr/>
          </p:nvSpPr>
          <p:spPr>
            <a:xfrm>
              <a:off x="4612767" y="3254692"/>
              <a:ext cx="1034185" cy="251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142.3 MHz</a:t>
              </a:r>
            </a:p>
          </p:txBody>
        </p:sp>
        <p:sp>
          <p:nvSpPr>
            <p:cNvPr id="117" name="TextBox 38"/>
            <p:cNvSpPr txBox="1"/>
            <p:nvPr/>
          </p:nvSpPr>
          <p:spPr>
            <a:xfrm>
              <a:off x="4614862" y="3501866"/>
              <a:ext cx="1219637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F_max on Cyclone II</a:t>
              </a:r>
            </a:p>
          </p:txBody>
        </p:sp>
        <p:sp>
          <p:nvSpPr>
            <p:cNvPr id="118" name="Rectangle 39"/>
            <p:cNvSpPr/>
            <p:nvPr/>
          </p:nvSpPr>
          <p:spPr>
            <a:xfrm>
              <a:off x="4476750" y="3857625"/>
              <a:ext cx="3238500" cy="2000250"/>
            </a:xfrm>
            <a:prstGeom prst="roundRect">
              <a:avLst>
                <a:gd name="adj" fmla="val 2857"/>
              </a:avLst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</p:sp>
        <p:sp>
          <p:nvSpPr>
            <p:cNvPr id="119" name="TextBox 40"/>
            <p:cNvSpPr txBox="1"/>
            <p:nvPr/>
          </p:nvSpPr>
          <p:spPr>
            <a:xfrm>
              <a:off x="4567238" y="4027169"/>
              <a:ext cx="1089320" cy="165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Core Highlights:</a:t>
              </a:r>
            </a:p>
          </p:txBody>
        </p:sp>
        <p:sp>
          <p:nvSpPr>
            <p:cNvPr id="120" name="TextBox 41"/>
            <p:cNvSpPr txBox="1"/>
            <p:nvPr/>
          </p:nvSpPr>
          <p:spPr>
            <a:xfrm>
              <a:off x="4567238" y="4340066"/>
              <a:ext cx="1979822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Synthesizable Verilog (EP2C35)</a:t>
              </a:r>
            </a:p>
          </p:txBody>
        </p:sp>
        <p:sp>
          <p:nvSpPr>
            <p:cNvPr id="121" name="TextBox 42"/>
            <p:cNvSpPr txBox="1"/>
            <p:nvPr/>
          </p:nvSpPr>
          <p:spPr>
            <a:xfrm>
              <a:off x="4567238" y="4721066"/>
              <a:ext cx="1979822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 Shared Mult in Resource Core</a:t>
              </a:r>
            </a:p>
          </p:txBody>
        </p:sp>
        <p:sp>
          <p:nvSpPr>
            <p:cNvPr id="122" name="TextBox 43"/>
            <p:cNvSpPr txBox="1"/>
            <p:nvPr/>
          </p:nvSpPr>
          <p:spPr>
            <a:xfrm>
              <a:off x="4567238" y="5102066"/>
              <a:ext cx="2200359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Signed Q8.8 / Q2.14 sat16 datapath</a:t>
              </a:r>
            </a:p>
          </p:txBody>
        </p:sp>
        <p:sp>
          <p:nvSpPr>
            <p:cNvPr id="123" name="Line 44"/>
            <p:cNvSpPr/>
            <p:nvPr/>
          </p:nvSpPr>
          <p:spPr>
            <a:xfrm>
              <a:off x="4572000" y="54292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7620">
              <a:solidFill>
                <a:srgbClr val="E2E8F0"/>
              </a:solidFill>
            </a:ln>
          </p:spPr>
        </p:sp>
        <p:sp>
          <p:nvSpPr>
            <p:cNvPr id="124" name="TextBox 45"/>
            <p:cNvSpPr txBox="1"/>
            <p:nvPr/>
          </p:nvSpPr>
          <p:spPr>
            <a:xfrm>
              <a:off x="4567238" y="5578316"/>
              <a:ext cx="1495309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Silicon &amp; DPI-C Verified</a:t>
              </a:r>
            </a:p>
          </p:txBody>
        </p:sp>
      </p:grpSp>
      <p:grpSp>
        <p:nvGrpSpPr>
          <p:cNvPr id="125" name="pillar_dv"/>
          <p:cNvGrpSpPr/>
          <p:nvPr/>
        </p:nvGrpSpPr>
        <p:grpSpPr>
          <a:xfrm>
            <a:off x="8012992" y="1809750"/>
            <a:ext cx="3381375" cy="4658783"/>
            <a:chOff x="8096250" y="1285875"/>
            <a:chExt cx="3524250" cy="4762500"/>
          </a:xfrm>
        </p:grpSpPr>
        <p:sp>
          <p:nvSpPr>
            <p:cNvPr id="126" name="Rectangle 47"/>
            <p:cNvSpPr/>
            <p:nvPr/>
          </p:nvSpPr>
          <p:spPr>
            <a:xfrm>
              <a:off x="8096250" y="1285875"/>
              <a:ext cx="3524250" cy="4762500"/>
            </a:xfrm>
            <a:prstGeom prst="roundRect">
              <a:avLst>
                <a:gd name="adj" fmla="val 2162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27" name="Rectangle 48"/>
            <p:cNvSpPr/>
            <p:nvPr/>
          </p:nvSpPr>
          <p:spPr>
            <a:xfrm>
              <a:off x="8096250" y="1285875"/>
              <a:ext cx="352425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28" name="TextBox 49"/>
            <p:cNvSpPr txBox="1"/>
            <p:nvPr/>
          </p:nvSpPr>
          <p:spPr>
            <a:xfrm>
              <a:off x="8281797" y="1428274"/>
              <a:ext cx="2273871" cy="165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PILLAR 3: DESIGN VERIFICATION</a:t>
              </a:r>
            </a:p>
          </p:txBody>
        </p:sp>
        <p:sp>
          <p:nvSpPr>
            <p:cNvPr id="129" name="Rectangle 50"/>
            <p:cNvSpPr/>
            <p:nvPr/>
          </p:nvSpPr>
          <p:spPr>
            <a:xfrm>
              <a:off x="8239125" y="1809750"/>
              <a:ext cx="3238500" cy="5715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sp>
        <p:sp>
          <p:nvSpPr>
            <p:cNvPr id="130" name="TextBox 51"/>
            <p:cNvSpPr txBox="1"/>
            <p:nvPr/>
          </p:nvSpPr>
          <p:spPr>
            <a:xfrm>
              <a:off x="8375142" y="1921192"/>
              <a:ext cx="1390051" cy="251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DPI-C Co-Sim</a:t>
              </a:r>
            </a:p>
          </p:txBody>
        </p:sp>
        <p:sp>
          <p:nvSpPr>
            <p:cNvPr id="131" name="TextBox 52"/>
            <p:cNvSpPr txBox="1"/>
            <p:nvPr/>
          </p:nvSpPr>
          <p:spPr>
            <a:xfrm>
              <a:off x="8377238" y="2168366"/>
              <a:ext cx="1428479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Live C++ Golden Oracle</a:t>
              </a:r>
            </a:p>
          </p:txBody>
        </p:sp>
        <p:sp>
          <p:nvSpPr>
            <p:cNvPr id="132" name="Rectangle 53"/>
            <p:cNvSpPr/>
            <p:nvPr/>
          </p:nvSpPr>
          <p:spPr>
            <a:xfrm>
              <a:off x="8239125" y="2476500"/>
              <a:ext cx="3238500" cy="5715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sp>
        <p:sp>
          <p:nvSpPr>
            <p:cNvPr id="133" name="TextBox 54"/>
            <p:cNvSpPr txBox="1"/>
            <p:nvPr/>
          </p:nvSpPr>
          <p:spPr>
            <a:xfrm>
              <a:off x="8375142" y="2587942"/>
              <a:ext cx="778562" cy="251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10,000+</a:t>
              </a:r>
            </a:p>
          </p:txBody>
        </p:sp>
        <p:sp>
          <p:nvSpPr>
            <p:cNvPr id="134" name="TextBox 55"/>
            <p:cNvSpPr txBox="1"/>
            <p:nvPr/>
          </p:nvSpPr>
          <p:spPr>
            <a:xfrm>
              <a:off x="8377238" y="2835116"/>
              <a:ext cx="1344943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Test Vectors Replayed</a:t>
              </a:r>
            </a:p>
          </p:txBody>
        </p:sp>
        <p:sp>
          <p:nvSpPr>
            <p:cNvPr id="135" name="Rectangle 56"/>
            <p:cNvSpPr/>
            <p:nvPr/>
          </p:nvSpPr>
          <p:spPr>
            <a:xfrm>
              <a:off x="8239125" y="3143250"/>
              <a:ext cx="3238500" cy="5715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sp>
        <p:sp>
          <p:nvSpPr>
            <p:cNvPr id="136" name="TextBox 57"/>
            <p:cNvSpPr txBox="1"/>
            <p:nvPr/>
          </p:nvSpPr>
          <p:spPr>
            <a:xfrm>
              <a:off x="8375142" y="3254692"/>
              <a:ext cx="820332" cy="251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0 Errors</a:t>
              </a:r>
            </a:p>
          </p:txBody>
        </p:sp>
        <p:sp>
          <p:nvSpPr>
            <p:cNvPr id="137" name="TextBox 58"/>
            <p:cNvSpPr txBox="1"/>
            <p:nvPr/>
          </p:nvSpPr>
          <p:spPr>
            <a:xfrm>
              <a:off x="8377238" y="3501866"/>
              <a:ext cx="1308187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100% Bit-Exact Match</a:t>
              </a:r>
            </a:p>
          </p:txBody>
        </p:sp>
        <p:sp>
          <p:nvSpPr>
            <p:cNvPr id="138" name="Rectangle 59"/>
            <p:cNvSpPr/>
            <p:nvPr/>
          </p:nvSpPr>
          <p:spPr>
            <a:xfrm>
              <a:off x="8239125" y="3857625"/>
              <a:ext cx="3238500" cy="2000250"/>
            </a:xfrm>
            <a:prstGeom prst="roundRect">
              <a:avLst>
                <a:gd name="adj" fmla="val 2857"/>
              </a:avLst>
            </a:pr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</p:sp>
        <p:sp>
          <p:nvSpPr>
            <p:cNvPr id="139" name="TextBox 60"/>
            <p:cNvSpPr txBox="1"/>
            <p:nvPr/>
          </p:nvSpPr>
          <p:spPr>
            <a:xfrm>
              <a:off x="8329612" y="4027169"/>
              <a:ext cx="1089320" cy="165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Core Highlights:</a:t>
              </a:r>
            </a:p>
          </p:txBody>
        </p:sp>
        <p:sp>
          <p:nvSpPr>
            <p:cNvPr id="140" name="TextBox 61"/>
            <p:cNvSpPr txBox="1"/>
            <p:nvPr/>
          </p:nvSpPr>
          <p:spPr>
            <a:xfrm>
              <a:off x="8329612" y="4340066"/>
              <a:ext cx="1958101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Lockstep cycle-exact assertions</a:t>
              </a:r>
            </a:p>
          </p:txBody>
        </p:sp>
        <p:sp>
          <p:nvSpPr>
            <p:cNvPr id="141" name="TextBox 62"/>
            <p:cNvSpPr txBox="1"/>
            <p:nvPr/>
          </p:nvSpPr>
          <p:spPr>
            <a:xfrm>
              <a:off x="8329612" y="4721066"/>
              <a:ext cx="1944736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6-corner stress regression suite</a:t>
              </a:r>
            </a:p>
          </p:txBody>
        </p:sp>
        <p:sp>
          <p:nvSpPr>
            <p:cNvPr id="142" name="TextBox 63"/>
            <p:cNvSpPr txBox="1"/>
            <p:nvPr/>
          </p:nvSpPr>
          <p:spPr>
            <a:xfrm>
              <a:off x="8329612" y="5102066"/>
              <a:ext cx="2138542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17,520h continuous telemetry pass</a:t>
              </a:r>
            </a:p>
          </p:txBody>
        </p:sp>
        <p:sp>
          <p:nvSpPr>
            <p:cNvPr id="143" name="Line 64"/>
            <p:cNvSpPr/>
            <p:nvPr/>
          </p:nvSpPr>
          <p:spPr>
            <a:xfrm>
              <a:off x="8334375" y="54292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7620">
              <a:solidFill>
                <a:srgbClr val="E2E8F0"/>
              </a:solidFill>
            </a:ln>
          </p:spPr>
        </p:sp>
        <p:sp>
          <p:nvSpPr>
            <p:cNvPr id="144" name="TextBox 65"/>
            <p:cNvSpPr txBox="1"/>
            <p:nvPr/>
          </p:nvSpPr>
          <p:spPr>
            <a:xfrm>
              <a:off x="8329612" y="5578316"/>
              <a:ext cx="1495309" cy="157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Silicon &amp; DPI-C Verified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547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09E84C-3683-652F-CF31-A1F9AD732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1036775"/>
            <a:ext cx="12268200" cy="890663"/>
          </a:xfrm>
        </p:spPr>
        <p:txBody>
          <a:bodyPr>
            <a:noAutofit/>
          </a:bodyPr>
          <a:lstStyle/>
          <a:p>
            <a:r>
              <a:rPr lang="en" sz="3600" dirty="0">
                <a:solidFill>
                  <a:schemeClr val="accent1"/>
                </a:solidFill>
              </a:rPr>
              <a:t>Meteorological Signal &amp; Diurnal Temperature Waveform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4</a:t>
            </a:fld>
            <a:endParaRPr lang="en-US" dirty="0">
              <a:latin typeface="+mj-lt"/>
            </a:endParaRPr>
          </a:p>
        </p:txBody>
      </p:sp>
      <p:grpSp>
        <p:nvGrpSpPr>
          <p:cNvPr id="25" name="data_context"/>
          <p:cNvGrpSpPr/>
          <p:nvPr/>
        </p:nvGrpSpPr>
        <p:grpSpPr>
          <a:xfrm>
            <a:off x="571500" y="1794088"/>
            <a:ext cx="4286250" cy="4762500"/>
            <a:chOff x="571500" y="1285875"/>
            <a:chExt cx="4286250" cy="4762500"/>
          </a:xfrm>
        </p:grpSpPr>
        <p:sp>
          <p:nvSpPr>
            <p:cNvPr id="26" name="Rectangle 7"/>
            <p:cNvSpPr/>
            <p:nvPr/>
          </p:nvSpPr>
          <p:spPr>
            <a:xfrm>
              <a:off x="571500" y="1285875"/>
              <a:ext cx="4286250" cy="4762500"/>
            </a:xfrm>
            <a:prstGeom prst="roundRect">
              <a:avLst>
                <a:gd name="adj" fmla="val 1778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7" name="Rectangle 8"/>
            <p:cNvSpPr/>
            <p:nvPr/>
          </p:nvSpPr>
          <p:spPr>
            <a:xfrm>
              <a:off x="571500" y="1285875"/>
              <a:ext cx="428625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28" name="TextBox 9"/>
            <p:cNvSpPr txBox="1"/>
            <p:nvPr/>
          </p:nvSpPr>
          <p:spPr>
            <a:xfrm>
              <a:off x="757047" y="1437799"/>
              <a:ext cx="282410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DATASET &amp; PROBLEM CONSTRAINTS</a:t>
              </a:r>
            </a:p>
          </p:txBody>
        </p:sp>
        <p:sp>
          <p:nvSpPr>
            <p:cNvPr id="29" name="Rectangle 10"/>
            <p:cNvSpPr/>
            <p:nvPr/>
          </p:nvSpPr>
          <p:spPr>
            <a:xfrm>
              <a:off x="762000" y="1857375"/>
              <a:ext cx="3905250" cy="495300"/>
            </a:xfrm>
            <a:prstGeom prst="roundRect">
              <a:avLst>
                <a:gd name="adj" fmla="val 11538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30" name="TextBox 11"/>
            <p:cNvSpPr txBox="1"/>
            <p:nvPr/>
          </p:nvSpPr>
          <p:spPr>
            <a:xfrm>
              <a:off x="900112" y="1969770"/>
              <a:ext cx="246753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NASA POWER Telemetry (HCMC):</a:t>
              </a:r>
            </a:p>
          </p:txBody>
        </p:sp>
        <p:sp>
          <p:nvSpPr>
            <p:cNvPr id="31" name="TextBox 12"/>
            <p:cNvSpPr txBox="1"/>
            <p:nvPr/>
          </p:nvSpPr>
          <p:spPr>
            <a:xfrm>
              <a:off x="900112" y="2149316"/>
              <a:ext cx="301204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43,800 records (2021–2025) | 5 continuous years</a:t>
              </a:r>
            </a:p>
          </p:txBody>
        </p:sp>
        <p:sp>
          <p:nvSpPr>
            <p:cNvPr id="32" name="Rectangle 13"/>
            <p:cNvSpPr/>
            <p:nvPr/>
          </p:nvSpPr>
          <p:spPr>
            <a:xfrm>
              <a:off x="762000" y="2447925"/>
              <a:ext cx="3905250" cy="495300"/>
            </a:xfrm>
            <a:prstGeom prst="roundRect">
              <a:avLst>
                <a:gd name="adj" fmla="val 11538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33" name="TextBox 14"/>
            <p:cNvSpPr txBox="1"/>
            <p:nvPr/>
          </p:nvSpPr>
          <p:spPr>
            <a:xfrm>
              <a:off x="900112" y="2560320"/>
              <a:ext cx="148758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Causal Data Partition:</a:t>
              </a:r>
            </a:p>
          </p:txBody>
        </p:sp>
        <p:sp>
          <p:nvSpPr>
            <p:cNvPr id="34" name="TextBox 15"/>
            <p:cNvSpPr txBox="1"/>
            <p:nvPr/>
          </p:nvSpPr>
          <p:spPr>
            <a:xfrm>
              <a:off x="900112" y="2739866"/>
              <a:ext cx="27703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Train: 26,280 h | Test: 17,520 h (No leakage)</a:t>
              </a:r>
            </a:p>
          </p:txBody>
        </p:sp>
        <p:sp>
          <p:nvSpPr>
            <p:cNvPr id="35" name="Rectangle 16"/>
            <p:cNvSpPr/>
            <p:nvPr/>
          </p:nvSpPr>
          <p:spPr>
            <a:xfrm>
              <a:off x="762000" y="3038475"/>
              <a:ext cx="3905250" cy="495300"/>
            </a:xfrm>
            <a:prstGeom prst="roundRect">
              <a:avLst>
                <a:gd name="adj" fmla="val 11538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36" name="TextBox 17"/>
            <p:cNvSpPr txBox="1"/>
            <p:nvPr/>
          </p:nvSpPr>
          <p:spPr>
            <a:xfrm>
              <a:off x="900112" y="3150870"/>
              <a:ext cx="182626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Forecast Horizon &amp; Buffer:</a:t>
              </a:r>
            </a:p>
          </p:txBody>
        </p:sp>
        <p:sp>
          <p:nvSpPr>
            <p:cNvPr id="37" name="TextBox 18"/>
            <p:cNvSpPr txBox="1"/>
            <p:nvPr/>
          </p:nvSpPr>
          <p:spPr>
            <a:xfrm>
              <a:off x="900112" y="3330416"/>
              <a:ext cx="215328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t+3 Forecast via 25-tap shift buffer</a:t>
              </a:r>
            </a:p>
          </p:txBody>
        </p:sp>
        <p:sp>
          <p:nvSpPr>
            <p:cNvPr id="38" name="Rectangle 19"/>
            <p:cNvSpPr/>
            <p:nvPr/>
          </p:nvSpPr>
          <p:spPr>
            <a:xfrm>
              <a:off x="762000" y="3667125"/>
              <a:ext cx="3905250" cy="2143125"/>
            </a:xfrm>
            <a:prstGeom prst="roundRect">
              <a:avLst>
                <a:gd name="adj" fmla="val 2667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39" name="TextBox 20"/>
            <p:cNvSpPr txBox="1"/>
            <p:nvPr/>
          </p:nvSpPr>
          <p:spPr>
            <a:xfrm>
              <a:off x="899922" y="3847624"/>
              <a:ext cx="20591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Core Signal Processing Insight:</a:t>
              </a:r>
            </a:p>
          </p:txBody>
        </p:sp>
        <p:sp>
          <p:nvSpPr>
            <p:cNvPr id="40" name="TextBox 21"/>
            <p:cNvSpPr txBox="1"/>
            <p:nvPr/>
          </p:nvSpPr>
          <p:spPr>
            <a:xfrm>
              <a:off x="900112" y="4116943"/>
              <a:ext cx="276883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Solar cyclicity: &gt;85% of total signal energy</a:t>
              </a:r>
            </a:p>
          </p:txBody>
        </p:sp>
        <p:sp>
          <p:nvSpPr>
            <p:cNvPr id="41" name="TextBox 22"/>
            <p:cNvSpPr txBox="1"/>
            <p:nvPr/>
          </p:nvSpPr>
          <p:spPr>
            <a:xfrm>
              <a:off x="900112" y="4364593"/>
              <a:ext cx="302691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Anchor T(t-21): primary 24h harmonic baseline</a:t>
              </a:r>
            </a:p>
          </p:txBody>
        </p:sp>
        <p:sp>
          <p:nvSpPr>
            <p:cNvPr id="42" name="TextBox 23"/>
            <p:cNvSpPr txBox="1"/>
            <p:nvPr/>
          </p:nvSpPr>
          <p:spPr>
            <a:xfrm>
              <a:off x="900112" y="4612243"/>
              <a:ext cx="266739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Linear OLS: learns only the residual delta</a:t>
              </a:r>
            </a:p>
          </p:txBody>
        </p:sp>
        <p:sp>
          <p:nvSpPr>
            <p:cNvPr id="43" name="Line 24"/>
            <p:cNvSpPr/>
            <p:nvPr/>
          </p:nvSpPr>
          <p:spPr>
            <a:xfrm>
              <a:off x="904875" y="4905375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7620">
              <a:solidFill>
                <a:srgbClr val="CBD5E1"/>
              </a:solidFill>
            </a:ln>
          </p:spPr>
        </p:sp>
        <p:sp>
          <p:nvSpPr>
            <p:cNvPr id="44" name="TextBox 25"/>
            <p:cNvSpPr txBox="1"/>
            <p:nvPr/>
          </p:nvSpPr>
          <p:spPr>
            <a:xfrm>
              <a:off x="900112" y="5093970"/>
              <a:ext cx="271753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Bypasses complex multi-layer neural nets</a:t>
              </a:r>
            </a:p>
          </p:txBody>
        </p:sp>
        <p:sp>
          <p:nvSpPr>
            <p:cNvPr id="45" name="TextBox 26"/>
            <p:cNvSpPr txBox="1"/>
            <p:nvPr/>
          </p:nvSpPr>
          <p:spPr>
            <a:xfrm>
              <a:off x="900112" y="5332095"/>
              <a:ext cx="27351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Requires only 3 arithmetic taps in silicon!</a:t>
              </a:r>
            </a:p>
          </p:txBody>
        </p:sp>
      </p:grpSp>
      <p:grpSp>
        <p:nvGrpSpPr>
          <p:cNvPr id="46" name="waveform_chart"/>
          <p:cNvGrpSpPr/>
          <p:nvPr/>
        </p:nvGrpSpPr>
        <p:grpSpPr>
          <a:xfrm>
            <a:off x="5186363" y="1794088"/>
            <a:ext cx="6572250" cy="4762500"/>
            <a:chOff x="5048250" y="1285875"/>
            <a:chExt cx="6572250" cy="4762500"/>
          </a:xfrm>
        </p:grpSpPr>
        <p:sp>
          <p:nvSpPr>
            <p:cNvPr id="47" name="Rectangle 28"/>
            <p:cNvSpPr/>
            <p:nvPr/>
          </p:nvSpPr>
          <p:spPr>
            <a:xfrm>
              <a:off x="5048250" y="1285875"/>
              <a:ext cx="657225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8" name="Rectangle 29"/>
            <p:cNvSpPr/>
            <p:nvPr/>
          </p:nvSpPr>
          <p:spPr>
            <a:xfrm>
              <a:off x="5048250" y="1285875"/>
              <a:ext cx="657225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49" name="TextBox 30"/>
            <p:cNvSpPr txBox="1"/>
            <p:nvPr/>
          </p:nvSpPr>
          <p:spPr>
            <a:xfrm>
              <a:off x="5233797" y="1437799"/>
              <a:ext cx="51634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DIURNAL WAVEFORM &amp; PHYSICAL TAPS (48-HOUR CYCLE)</a:t>
              </a:r>
            </a:p>
          </p:txBody>
        </p:sp>
        <p:sp>
          <p:nvSpPr>
            <p:cNvPr id="50" name="Rectangle 31"/>
            <p:cNvSpPr/>
            <p:nvPr/>
          </p:nvSpPr>
          <p:spPr>
            <a:xfrm>
              <a:off x="5334000" y="1857375"/>
              <a:ext cx="6000750" cy="2476500"/>
            </a:xfrm>
            <a:prstGeom prst="roundRect">
              <a:avLst>
                <a:gd name="adj" fmla="val 2308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1" name="Line 32"/>
            <p:cNvSpPr/>
            <p:nvPr/>
          </p:nvSpPr>
          <p:spPr>
            <a:xfrm>
              <a:off x="5715000" y="2143125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52" name="TextBox 33"/>
            <p:cNvSpPr txBox="1"/>
            <p:nvPr/>
          </p:nvSpPr>
          <p:spPr>
            <a:xfrm>
              <a:off x="5472112" y="2100262"/>
              <a:ext cx="37189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34°C</a:t>
              </a:r>
            </a:p>
          </p:txBody>
        </p:sp>
        <p:sp>
          <p:nvSpPr>
            <p:cNvPr id="53" name="Line 34"/>
            <p:cNvSpPr/>
            <p:nvPr/>
          </p:nvSpPr>
          <p:spPr>
            <a:xfrm>
              <a:off x="5715000" y="2619375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54" name="TextBox 35"/>
            <p:cNvSpPr txBox="1"/>
            <p:nvPr/>
          </p:nvSpPr>
          <p:spPr>
            <a:xfrm>
              <a:off x="5472112" y="2576512"/>
              <a:ext cx="37189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29°C</a:t>
              </a:r>
            </a:p>
          </p:txBody>
        </p:sp>
        <p:sp>
          <p:nvSpPr>
            <p:cNvPr id="55" name="Line 36"/>
            <p:cNvSpPr/>
            <p:nvPr/>
          </p:nvSpPr>
          <p:spPr>
            <a:xfrm>
              <a:off x="5715000" y="3095625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56" name="TextBox 37"/>
            <p:cNvSpPr txBox="1"/>
            <p:nvPr/>
          </p:nvSpPr>
          <p:spPr>
            <a:xfrm>
              <a:off x="5472112" y="3052762"/>
              <a:ext cx="37189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24°C</a:t>
              </a:r>
            </a:p>
          </p:txBody>
        </p:sp>
        <p:sp>
          <p:nvSpPr>
            <p:cNvPr id="57" name="Line 38"/>
            <p:cNvSpPr/>
            <p:nvPr/>
          </p:nvSpPr>
          <p:spPr>
            <a:xfrm>
              <a:off x="5715000" y="3571875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78" name="TextBox 39"/>
            <p:cNvSpPr txBox="1"/>
            <p:nvPr/>
          </p:nvSpPr>
          <p:spPr>
            <a:xfrm>
              <a:off x="5472112" y="3529012"/>
              <a:ext cx="37189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20°C</a:t>
              </a:r>
            </a:p>
          </p:txBody>
        </p:sp>
        <p:sp>
          <p:nvSpPr>
            <p:cNvPr id="79" name="Line 40"/>
            <p:cNvSpPr/>
            <p:nvPr/>
          </p:nvSpPr>
          <p:spPr>
            <a:xfrm>
              <a:off x="5715000" y="38100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</p:sp>
        <p:sp>
          <p:nvSpPr>
            <p:cNvPr id="80" name="TextBox 41"/>
            <p:cNvSpPr txBox="1"/>
            <p:nvPr/>
          </p:nvSpPr>
          <p:spPr>
            <a:xfrm>
              <a:off x="5995988" y="3919538"/>
              <a:ext cx="100668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Day 1 (00:00)</a:t>
              </a:r>
            </a:p>
          </p:txBody>
        </p:sp>
        <p:sp>
          <p:nvSpPr>
            <p:cNvPr id="81" name="TextBox 42"/>
            <p:cNvSpPr txBox="1"/>
            <p:nvPr/>
          </p:nvSpPr>
          <p:spPr>
            <a:xfrm>
              <a:off x="7234238" y="3919538"/>
              <a:ext cx="100668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Day 1 (12:00)</a:t>
              </a:r>
            </a:p>
          </p:txBody>
        </p:sp>
        <p:sp>
          <p:nvSpPr>
            <p:cNvPr id="82" name="TextBox 43"/>
            <p:cNvSpPr txBox="1"/>
            <p:nvPr/>
          </p:nvSpPr>
          <p:spPr>
            <a:xfrm>
              <a:off x="8472488" y="3919538"/>
              <a:ext cx="100668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Day 2 (00:00)</a:t>
              </a:r>
            </a:p>
          </p:txBody>
        </p:sp>
        <p:sp>
          <p:nvSpPr>
            <p:cNvPr id="83" name="TextBox 44"/>
            <p:cNvSpPr txBox="1"/>
            <p:nvPr/>
          </p:nvSpPr>
          <p:spPr>
            <a:xfrm>
              <a:off x="9805988" y="3919538"/>
              <a:ext cx="100668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Day 2 (12:00)</a:t>
              </a:r>
            </a:p>
          </p:txBody>
        </p:sp>
        <p:sp>
          <p:nvSpPr>
            <p:cNvPr id="84" name="TextBox 45"/>
            <p:cNvSpPr txBox="1"/>
            <p:nvPr/>
          </p:nvSpPr>
          <p:spPr>
            <a:xfrm>
              <a:off x="10758488" y="3919538"/>
              <a:ext cx="25167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DC2626"/>
                  </a:solidFill>
                  <a:latin typeface="+mj-lt"/>
                  <a:ea typeface="+mn-ea"/>
                  <a:cs typeface="+mn-cs"/>
                </a:rPr>
                <a:t>t+3</a:t>
              </a:r>
            </a:p>
          </p:txBody>
        </p:sp>
        <p:sp>
          <p:nvSpPr>
            <p:cNvPr id="85" name="Freeform 46"/>
            <p:cNvSpPr/>
            <p:nvPr/>
          </p:nvSpPr>
          <p:spPr>
            <a:xfrm>
              <a:off x="5810250" y="2143125"/>
              <a:ext cx="5191125" cy="1524000"/>
            </a:xfrm>
            <a:custGeom>
              <a:avLst/>
              <a:gdLst/>
              <a:ahLst/>
              <a:cxnLst/>
              <a:rect l="l" t="t" r="r" b="b"/>
              <a:pathLst>
                <a:path w="5191125" h="1524000">
                  <a:moveTo>
                    <a:pt x="0" y="1285875"/>
                  </a:moveTo>
                  <a:cubicBezTo>
                    <a:pt x="285750" y="1476375"/>
                    <a:pt x="666750" y="1381125"/>
                    <a:pt x="952500" y="809625"/>
                  </a:cubicBezTo>
                  <a:cubicBezTo>
                    <a:pt x="1238250" y="142875"/>
                    <a:pt x="1524000" y="0"/>
                    <a:pt x="1809750" y="47625"/>
                  </a:cubicBezTo>
                  <a:cubicBezTo>
                    <a:pt x="2095500" y="190500"/>
                    <a:pt x="2381250" y="952500"/>
                    <a:pt x="2667000" y="1333500"/>
                  </a:cubicBezTo>
                  <a:cubicBezTo>
                    <a:pt x="2952750" y="1524000"/>
                    <a:pt x="3238500" y="1428750"/>
                    <a:pt x="3524250" y="857250"/>
                  </a:cubicBezTo>
                  <a:cubicBezTo>
                    <a:pt x="3810000" y="190500"/>
                    <a:pt x="4095750" y="28575"/>
                    <a:pt x="4381500" y="66675"/>
                  </a:cubicBezTo>
                  <a:cubicBezTo>
                    <a:pt x="4667250" y="238125"/>
                    <a:pt x="4953000" y="904875"/>
                    <a:pt x="5191125" y="1190625"/>
                  </a:cubicBezTo>
                </a:path>
              </a:pathLst>
            </a:custGeom>
            <a:noFill/>
            <a:ln w="23812">
              <a:solidFill>
                <a:srgbClr val="2563EB"/>
              </a:solidFill>
            </a:ln>
          </p:spPr>
        </p:sp>
        <p:sp>
          <p:nvSpPr>
            <p:cNvPr id="86" name="Ellipse 47"/>
            <p:cNvSpPr/>
            <p:nvPr/>
          </p:nvSpPr>
          <p:spPr>
            <a:xfrm>
              <a:off x="7286625" y="2124075"/>
              <a:ext cx="95250" cy="952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87" name="TextBox 48"/>
            <p:cNvSpPr txBox="1"/>
            <p:nvPr/>
          </p:nvSpPr>
          <p:spPr>
            <a:xfrm>
              <a:off x="7043738" y="1966912"/>
              <a:ext cx="54502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4F46E5"/>
                  </a:solidFill>
                  <a:latin typeface="+mj-lt"/>
                  <a:ea typeface="+mn-ea"/>
                  <a:cs typeface="+mn-cs"/>
                </a:rPr>
                <a:t>T(t-24)</a:t>
              </a:r>
            </a:p>
          </p:txBody>
        </p:sp>
        <p:sp>
          <p:nvSpPr>
            <p:cNvPr id="88" name="Ellipse 49"/>
            <p:cNvSpPr/>
            <p:nvPr/>
          </p:nvSpPr>
          <p:spPr>
            <a:xfrm>
              <a:off x="7610475" y="2152650"/>
              <a:ext cx="114300" cy="1143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89" name="TextBox 50"/>
            <p:cNvSpPr txBox="1"/>
            <p:nvPr/>
          </p:nvSpPr>
          <p:spPr>
            <a:xfrm>
              <a:off x="7472362" y="2395538"/>
              <a:ext cx="12791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T(t-21) [Anchor]</a:t>
              </a:r>
            </a:p>
          </p:txBody>
        </p:sp>
        <p:sp>
          <p:nvSpPr>
            <p:cNvPr id="90" name="Ellipse 51"/>
            <p:cNvSpPr/>
            <p:nvPr/>
          </p:nvSpPr>
          <p:spPr>
            <a:xfrm>
              <a:off x="9572625" y="2314575"/>
              <a:ext cx="95250" cy="9525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1" name="TextBox 52"/>
            <p:cNvSpPr txBox="1"/>
            <p:nvPr/>
          </p:nvSpPr>
          <p:spPr>
            <a:xfrm>
              <a:off x="9329738" y="2538412"/>
              <a:ext cx="44563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T(t-3)</a:t>
              </a:r>
            </a:p>
          </p:txBody>
        </p:sp>
        <p:sp>
          <p:nvSpPr>
            <p:cNvPr id="92" name="Ellipse 53"/>
            <p:cNvSpPr/>
            <p:nvPr/>
          </p:nvSpPr>
          <p:spPr>
            <a:xfrm>
              <a:off x="9896475" y="2133600"/>
              <a:ext cx="114300" cy="114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93" name="TextBox 54"/>
            <p:cNvSpPr txBox="1"/>
            <p:nvPr/>
          </p:nvSpPr>
          <p:spPr>
            <a:xfrm>
              <a:off x="9805988" y="1966912"/>
              <a:ext cx="83356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T(t) [Now]</a:t>
              </a:r>
            </a:p>
          </p:txBody>
        </p:sp>
        <p:sp>
          <p:nvSpPr>
            <p:cNvPr id="94" name="Ellipse 55"/>
            <p:cNvSpPr/>
            <p:nvPr/>
          </p:nvSpPr>
          <p:spPr>
            <a:xfrm>
              <a:off x="10229850" y="2181225"/>
              <a:ext cx="114300" cy="114300"/>
            </a:xfrm>
            <a:prstGeom prst="ellipse">
              <a:avLst/>
            </a:prstGeom>
            <a:solidFill>
              <a:srgbClr val="DC2626"/>
            </a:solidFill>
            <a:ln w="19050">
              <a:solidFill>
                <a:srgbClr val="DC2626"/>
              </a:solidFill>
            </a:ln>
          </p:spPr>
        </p:sp>
        <p:sp>
          <p:nvSpPr>
            <p:cNvPr id="95" name="TextBox 56"/>
            <p:cNvSpPr txBox="1"/>
            <p:nvPr/>
          </p:nvSpPr>
          <p:spPr>
            <a:xfrm>
              <a:off x="10329862" y="1824038"/>
              <a:ext cx="85760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DC2626"/>
                  </a:solidFill>
                  <a:latin typeface="+mj-lt"/>
                  <a:ea typeface="+mn-ea"/>
                  <a:cs typeface="+mn-cs"/>
                </a:rPr>
                <a:t>T_hat(t+3)</a:t>
              </a:r>
            </a:p>
          </p:txBody>
        </p:sp>
        <p:sp>
          <p:nvSpPr>
            <p:cNvPr id="96" name="Rectangle 57"/>
            <p:cNvSpPr/>
            <p:nvPr/>
          </p:nvSpPr>
          <p:spPr>
            <a:xfrm>
              <a:off x="5318655" y="4549259"/>
              <a:ext cx="6000750" cy="1381125"/>
            </a:xfrm>
            <a:prstGeom prst="roundRect">
              <a:avLst>
                <a:gd name="adj" fmla="val 4138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97" name="TextBox 58"/>
            <p:cNvSpPr txBox="1"/>
            <p:nvPr/>
          </p:nvSpPr>
          <p:spPr>
            <a:xfrm>
              <a:off x="5472112" y="4617720"/>
              <a:ext cx="449950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HARDWARE TAP MAPPING &amp; PHYSICAL MEANING:</a:t>
              </a:r>
            </a:p>
          </p:txBody>
        </p:sp>
        <p:sp>
          <p:nvSpPr>
            <p:cNvPr id="98" name="TextBox 59"/>
            <p:cNvSpPr txBox="1"/>
            <p:nvPr/>
          </p:nvSpPr>
          <p:spPr>
            <a:xfrm>
              <a:off x="5472112" y="4911566"/>
              <a:ext cx="204838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14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T(t-21) [Diurnal Anchor]:</a:t>
              </a:r>
            </a:p>
          </p:txBody>
        </p:sp>
        <p:sp>
          <p:nvSpPr>
            <p:cNvPr id="99" name="TextBox 60"/>
            <p:cNvSpPr txBox="1"/>
            <p:nvPr/>
          </p:nvSpPr>
          <p:spPr>
            <a:xfrm>
              <a:off x="7588759" y="4930458"/>
              <a:ext cx="308892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24h baseline cycle at target hour ((t+3)-24)</a:t>
              </a:r>
            </a:p>
          </p:txBody>
        </p:sp>
        <p:sp>
          <p:nvSpPr>
            <p:cNvPr id="100" name="TextBox 61"/>
            <p:cNvSpPr txBox="1"/>
            <p:nvPr/>
          </p:nvSpPr>
          <p:spPr>
            <a:xfrm>
              <a:off x="5472112" y="5197316"/>
              <a:ext cx="20710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4F46E5"/>
                </a:buClr>
                <a:buSzTx/>
                <a:buFontTx/>
                <a:buChar char="•"/>
              </a:pPr>
              <a:r>
                <a:rPr lang="en" sz="1400" b="1" dirty="0">
                  <a:solidFill>
                    <a:srgbClr val="4F46E5"/>
                  </a:solidFill>
                  <a:latin typeface="+mj-lt"/>
                  <a:ea typeface="+mn-ea"/>
                  <a:cs typeface="+mn-cs"/>
                </a:rPr>
                <a:t>T(t) - T(t-24) [Inter-Day]:</a:t>
              </a:r>
            </a:p>
          </p:txBody>
        </p:sp>
        <p:sp>
          <p:nvSpPr>
            <p:cNvPr id="101" name="TextBox 62"/>
            <p:cNvSpPr txBox="1"/>
            <p:nvPr/>
          </p:nvSpPr>
          <p:spPr>
            <a:xfrm>
              <a:off x="7511637" y="5197316"/>
              <a:ext cx="317234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24h weather front delta (today vs yesterday)</a:t>
              </a:r>
            </a:p>
          </p:txBody>
        </p:sp>
        <p:sp>
          <p:nvSpPr>
            <p:cNvPr id="102" name="TextBox 63"/>
            <p:cNvSpPr txBox="1"/>
            <p:nvPr/>
          </p:nvSpPr>
          <p:spPr>
            <a:xfrm>
              <a:off x="5472112" y="5483066"/>
              <a:ext cx="193161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D97706"/>
                </a:buClr>
                <a:buSzTx/>
                <a:buFontTx/>
                <a:buChar char="•"/>
              </a:pPr>
              <a:r>
                <a:rPr lang="en" sz="14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T(t) - T(t-3) [Gradient]:</a:t>
              </a:r>
            </a:p>
          </p:txBody>
        </p:sp>
        <p:sp>
          <p:nvSpPr>
            <p:cNvPr id="103" name="TextBox 64"/>
            <p:cNvSpPr txBox="1"/>
            <p:nvPr/>
          </p:nvSpPr>
          <p:spPr>
            <a:xfrm>
              <a:off x="7381875" y="5474459"/>
              <a:ext cx="256640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Short-term 3h heating / cooling rate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49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09E84C-3683-652F-CF31-A1F9AD73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>
                <a:solidFill>
                  <a:schemeClr val="accent1"/>
                </a:solidFill>
              </a:rPr>
              <a:t>Diurnal Residual Ordinary Least Squares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5</a:t>
            </a:fld>
            <a:endParaRPr lang="en-US" dirty="0">
              <a:latin typeface="+mj-lt"/>
            </a:endParaRPr>
          </a:p>
        </p:txBody>
      </p:sp>
      <p:grpSp>
        <p:nvGrpSpPr>
          <p:cNvPr id="35" name="regression-inputs"/>
          <p:cNvGrpSpPr/>
          <p:nvPr/>
        </p:nvGrpSpPr>
        <p:grpSpPr>
          <a:xfrm>
            <a:off x="605363" y="1804151"/>
            <a:ext cx="10972800" cy="1047750"/>
            <a:chOff x="609600" y="1333500"/>
            <a:chExt cx="10972800" cy="1047750"/>
          </a:xfrm>
        </p:grpSpPr>
        <p:sp>
          <p:nvSpPr>
            <p:cNvPr id="36" name="Rectangle 6"/>
            <p:cNvSpPr/>
            <p:nvPr/>
          </p:nvSpPr>
          <p:spPr>
            <a:xfrm>
              <a:off x="609600" y="1333500"/>
              <a:ext cx="10972800" cy="1047750"/>
            </a:xfrm>
            <a:prstGeom prst="roundRect">
              <a:avLst>
                <a:gd name="adj" fmla="val 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7"/>
            <p:cNvSpPr txBox="1"/>
            <p:nvPr/>
          </p:nvSpPr>
          <p:spPr>
            <a:xfrm>
              <a:off x="827532" y="1535430"/>
              <a:ext cx="65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en-US" sz="2100" b="1" dirty="0">
                <a:solidFill>
                  <a:schemeClr val="accent2"/>
                </a:solidFill>
                <a:latin typeface="+mj-lt"/>
                <a:ea typeface="Consolas"/>
                <a:cs typeface="Consolas"/>
              </a:endParaRPr>
            </a:p>
          </p:txBody>
        </p:sp>
        <p:sp>
          <p:nvSpPr>
            <p:cNvPr id="38" name="TextBox 8"/>
            <p:cNvSpPr txBox="1"/>
            <p:nvPr/>
          </p:nvSpPr>
          <p:spPr>
            <a:xfrm>
              <a:off x="829056" y="1977390"/>
              <a:ext cx="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en-US" sz="1800" dirty="0">
                <a:solidFill>
                  <a:schemeClr val="dk1"/>
                </a:solidFill>
                <a:latin typeface="+mj-lt"/>
                <a:ea typeface="+mn-ea"/>
                <a:cs typeface="+mn-cs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606000" y="1844498"/>
            <a:ext cx="1065750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200" b="1" spc="75" dirty="0">
                <a:solidFill>
                  <a:srgbClr val="1E3A8A"/>
                </a:solidFill>
                <a:latin typeface="+mj-lt"/>
              </a:rPr>
              <a:t>PREDICTION EQUATION (OLS FIT IN C++ / PYTHON):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1984" y="2078709"/>
            <a:ext cx="108838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0F172A"/>
                </a:solidFill>
                <a:latin typeface="+mj-lt"/>
              </a:rPr>
              <a:t>T_hat(t+3) = T(t-21) + a · [T(t) - T(t-24)] + b · [T(t) - T(t-3)] + 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56" y="2401874"/>
            <a:ext cx="109721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rgbClr val="2563EB"/>
                </a:solidFill>
                <a:latin typeface="+mj-lt"/>
              </a:rPr>
              <a:t>Coefficients: a = 0.7455 (16'sh2FB6) | b = 0.0091 (16'sh0096) | c = 0.0011 °C (16'sh0000)</a:t>
            </a:r>
          </a:p>
        </p:txBody>
      </p:sp>
      <p:grpSp>
        <p:nvGrpSpPr>
          <p:cNvPr id="68" name="term_anchor"/>
          <p:cNvGrpSpPr/>
          <p:nvPr/>
        </p:nvGrpSpPr>
        <p:grpSpPr>
          <a:xfrm>
            <a:off x="571500" y="2940007"/>
            <a:ext cx="2667000" cy="3524250"/>
            <a:chOff x="571500" y="2524125"/>
            <a:chExt cx="2667000" cy="3524250"/>
          </a:xfrm>
        </p:grpSpPr>
        <p:sp>
          <p:nvSpPr>
            <p:cNvPr id="69" name="Rectangle 12"/>
            <p:cNvSpPr/>
            <p:nvPr/>
          </p:nvSpPr>
          <p:spPr>
            <a:xfrm>
              <a:off x="571500" y="2524125"/>
              <a:ext cx="2667000" cy="3524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0" name="Rectangle 13"/>
            <p:cNvSpPr/>
            <p:nvPr/>
          </p:nvSpPr>
          <p:spPr>
            <a:xfrm>
              <a:off x="571500" y="2524125"/>
              <a:ext cx="2667000" cy="342900"/>
            </a:xfrm>
            <a:prstGeom prst="roundRect">
              <a:avLst>
                <a:gd name="adj" fmla="val 22222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71" name="TextBox 14"/>
            <p:cNvSpPr txBox="1"/>
            <p:nvPr/>
          </p:nvSpPr>
          <p:spPr>
            <a:xfrm>
              <a:off x="709612" y="2654141"/>
              <a:ext cx="132568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latin typeface="+mj-lt"/>
                  <a:ea typeface="+mn-ea"/>
                  <a:cs typeface="+mn-cs"/>
                </a:rPr>
                <a:t>DIURNAL ANCHOR</a:t>
              </a:r>
            </a:p>
          </p:txBody>
        </p:sp>
        <p:sp>
          <p:nvSpPr>
            <p:cNvPr id="72" name="Rectangle 15"/>
            <p:cNvSpPr/>
            <p:nvPr/>
          </p:nvSpPr>
          <p:spPr>
            <a:xfrm>
              <a:off x="714375" y="3000375"/>
              <a:ext cx="2381250" cy="400050"/>
            </a:xfrm>
            <a:prstGeom prst="roundRect">
              <a:avLst>
                <a:gd name="adj" fmla="val 9524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73" name="TextBox 16"/>
            <p:cNvSpPr txBox="1"/>
            <p:nvPr/>
          </p:nvSpPr>
          <p:spPr>
            <a:xfrm>
              <a:off x="1670162" y="3142774"/>
              <a:ext cx="46968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T(t-21)</a:t>
              </a:r>
            </a:p>
          </p:txBody>
        </p:sp>
        <p:sp>
          <p:nvSpPr>
            <p:cNvPr id="74" name="TextBox 17"/>
            <p:cNvSpPr txBox="1"/>
            <p:nvPr/>
          </p:nvSpPr>
          <p:spPr>
            <a:xfrm>
              <a:off x="709612" y="3569970"/>
              <a:ext cx="12279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Physical Function:</a:t>
              </a:r>
            </a:p>
          </p:txBody>
        </p:sp>
        <p:sp>
          <p:nvSpPr>
            <p:cNvPr id="75" name="TextBox 18"/>
            <p:cNvSpPr txBox="1"/>
            <p:nvPr/>
          </p:nvSpPr>
          <p:spPr>
            <a:xfrm>
              <a:off x="709612" y="3816191"/>
              <a:ext cx="118462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24-hr solar baseline</a:t>
              </a:r>
            </a:p>
          </p:txBody>
        </p:sp>
        <p:sp>
          <p:nvSpPr>
            <p:cNvPr id="116" name="TextBox 19"/>
            <p:cNvSpPr txBox="1"/>
            <p:nvPr/>
          </p:nvSpPr>
          <p:spPr>
            <a:xfrm>
              <a:off x="709612" y="4054316"/>
              <a:ext cx="105798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Target: (t+3) - 24</a:t>
              </a:r>
            </a:p>
          </p:txBody>
        </p:sp>
        <p:sp>
          <p:nvSpPr>
            <p:cNvPr id="117" name="TextBox 20"/>
            <p:cNvSpPr txBox="1"/>
            <p:nvPr/>
          </p:nvSpPr>
          <p:spPr>
            <a:xfrm>
              <a:off x="709612" y="4292441"/>
              <a:ext cx="140743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Energy: &gt;85% variance</a:t>
              </a:r>
            </a:p>
          </p:txBody>
        </p:sp>
        <p:sp>
          <p:nvSpPr>
            <p:cNvPr id="118" name="Rectangle 21"/>
            <p:cNvSpPr/>
            <p:nvPr/>
          </p:nvSpPr>
          <p:spPr>
            <a:xfrm>
              <a:off x="714375" y="4810125"/>
              <a:ext cx="2381250" cy="1047750"/>
            </a:xfrm>
            <a:prstGeom prst="roundRect">
              <a:avLst>
                <a:gd name="adj" fmla="val 5455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119" name="TextBox 22"/>
            <p:cNvSpPr txBox="1"/>
            <p:nvPr/>
          </p:nvSpPr>
          <p:spPr>
            <a:xfrm>
              <a:off x="804862" y="4987766"/>
              <a:ext cx="113172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Hardware Budget:</a:t>
              </a:r>
            </a:p>
          </p:txBody>
        </p:sp>
        <p:sp>
          <p:nvSpPr>
            <p:cNvPr id="120" name="TextBox 23"/>
            <p:cNvSpPr txBox="1"/>
            <p:nvPr/>
          </p:nvSpPr>
          <p:spPr>
            <a:xfrm>
              <a:off x="804862" y="5236845"/>
              <a:ext cx="118186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0 Mults (wire tap)</a:t>
              </a:r>
            </a:p>
          </p:txBody>
        </p:sp>
        <p:sp>
          <p:nvSpPr>
            <p:cNvPr id="121" name="TextBox 24"/>
            <p:cNvSpPr txBox="1"/>
            <p:nvPr/>
          </p:nvSpPr>
          <p:spPr>
            <a:xfrm>
              <a:off x="804862" y="5510212"/>
              <a:ext cx="148277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Zero on-chip matrix solve</a:t>
              </a:r>
            </a:p>
          </p:txBody>
        </p:sp>
      </p:grpSp>
      <p:grpSp>
        <p:nvGrpSpPr>
          <p:cNvPr id="122" name="term_trend"/>
          <p:cNvGrpSpPr/>
          <p:nvPr/>
        </p:nvGrpSpPr>
        <p:grpSpPr>
          <a:xfrm>
            <a:off x="3381375" y="2940007"/>
            <a:ext cx="2667000" cy="3524250"/>
            <a:chOff x="3381375" y="2524125"/>
            <a:chExt cx="2667000" cy="3524250"/>
          </a:xfrm>
        </p:grpSpPr>
        <p:sp>
          <p:nvSpPr>
            <p:cNvPr id="123" name="Rectangle 26"/>
            <p:cNvSpPr/>
            <p:nvPr/>
          </p:nvSpPr>
          <p:spPr>
            <a:xfrm>
              <a:off x="3381375" y="2524125"/>
              <a:ext cx="2667000" cy="3524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24" name="Rectangle 27"/>
            <p:cNvSpPr/>
            <p:nvPr/>
          </p:nvSpPr>
          <p:spPr>
            <a:xfrm>
              <a:off x="3381375" y="2524125"/>
              <a:ext cx="2667000" cy="342900"/>
            </a:xfrm>
            <a:prstGeom prst="roundRect">
              <a:avLst>
                <a:gd name="adj" fmla="val 22222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25" name="TextBox 28"/>
            <p:cNvSpPr txBox="1"/>
            <p:nvPr/>
          </p:nvSpPr>
          <p:spPr>
            <a:xfrm>
              <a:off x="3519488" y="2654141"/>
              <a:ext cx="133530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INTER-DAY TREND</a:t>
              </a:r>
            </a:p>
          </p:txBody>
        </p:sp>
        <p:sp>
          <p:nvSpPr>
            <p:cNvPr id="126" name="Rectangle 29"/>
            <p:cNvSpPr/>
            <p:nvPr/>
          </p:nvSpPr>
          <p:spPr>
            <a:xfrm>
              <a:off x="3524250" y="3000375"/>
              <a:ext cx="2381250" cy="400050"/>
            </a:xfrm>
            <a:prstGeom prst="roundRect">
              <a:avLst>
                <a:gd name="adj" fmla="val 9524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127" name="TextBox 30"/>
            <p:cNvSpPr txBox="1"/>
            <p:nvPr/>
          </p:nvSpPr>
          <p:spPr>
            <a:xfrm>
              <a:off x="4124169" y="3142774"/>
              <a:ext cx="118141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a · [T(t) - T(t-24)]</a:t>
              </a:r>
            </a:p>
          </p:txBody>
        </p:sp>
        <p:sp>
          <p:nvSpPr>
            <p:cNvPr id="128" name="TextBox 31"/>
            <p:cNvSpPr txBox="1"/>
            <p:nvPr/>
          </p:nvSpPr>
          <p:spPr>
            <a:xfrm>
              <a:off x="3519488" y="3569970"/>
              <a:ext cx="12279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Physical Function:</a:t>
              </a:r>
            </a:p>
          </p:txBody>
        </p:sp>
        <p:sp>
          <p:nvSpPr>
            <p:cNvPr id="129" name="TextBox 32"/>
            <p:cNvSpPr txBox="1"/>
            <p:nvPr/>
          </p:nvSpPr>
          <p:spPr>
            <a:xfrm>
              <a:off x="3519488" y="3816191"/>
              <a:ext cx="147796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24-hr weather front delta</a:t>
              </a:r>
            </a:p>
          </p:txBody>
        </p:sp>
        <p:sp>
          <p:nvSpPr>
            <p:cNvPr id="130" name="TextBox 33"/>
            <p:cNvSpPr txBox="1"/>
            <p:nvPr/>
          </p:nvSpPr>
          <p:spPr>
            <a:xfrm>
              <a:off x="3519488" y="4054316"/>
              <a:ext cx="123110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Shift from yesterday</a:t>
              </a:r>
            </a:p>
          </p:txBody>
        </p:sp>
        <p:sp>
          <p:nvSpPr>
            <p:cNvPr id="131" name="TextBox 34"/>
            <p:cNvSpPr txBox="1"/>
            <p:nvPr/>
          </p:nvSpPr>
          <p:spPr>
            <a:xfrm>
              <a:off x="3519488" y="4292441"/>
              <a:ext cx="116538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Weight: a = 0.7455</a:t>
              </a:r>
            </a:p>
          </p:txBody>
        </p:sp>
        <p:sp>
          <p:nvSpPr>
            <p:cNvPr id="132" name="Rectangle 35"/>
            <p:cNvSpPr/>
            <p:nvPr/>
          </p:nvSpPr>
          <p:spPr>
            <a:xfrm>
              <a:off x="3524250" y="4810125"/>
              <a:ext cx="2381250" cy="1047750"/>
            </a:xfrm>
            <a:prstGeom prst="roundRect">
              <a:avLst>
                <a:gd name="adj" fmla="val 5455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133" name="TextBox 36"/>
            <p:cNvSpPr txBox="1"/>
            <p:nvPr/>
          </p:nvSpPr>
          <p:spPr>
            <a:xfrm>
              <a:off x="3614738" y="4987766"/>
              <a:ext cx="113172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Hardware Budget:</a:t>
              </a:r>
            </a:p>
          </p:txBody>
        </p:sp>
        <p:sp>
          <p:nvSpPr>
            <p:cNvPr id="134" name="TextBox 37"/>
            <p:cNvSpPr txBox="1"/>
            <p:nvPr/>
          </p:nvSpPr>
          <p:spPr>
            <a:xfrm>
              <a:off x="3614738" y="5236845"/>
              <a:ext cx="97622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1 Sub + 1 Mult</a:t>
              </a:r>
            </a:p>
          </p:txBody>
        </p:sp>
        <p:sp>
          <p:nvSpPr>
            <p:cNvPr id="135" name="TextBox 38"/>
            <p:cNvSpPr txBox="1"/>
            <p:nvPr/>
          </p:nvSpPr>
          <p:spPr>
            <a:xfrm>
              <a:off x="3614738" y="5510212"/>
              <a:ext cx="148277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Zero on-chip matrix solve</a:t>
              </a:r>
            </a:p>
          </p:txBody>
        </p:sp>
      </p:grpSp>
      <p:grpSp>
        <p:nvGrpSpPr>
          <p:cNvPr id="136" name="term_gradient"/>
          <p:cNvGrpSpPr/>
          <p:nvPr/>
        </p:nvGrpSpPr>
        <p:grpSpPr>
          <a:xfrm>
            <a:off x="6191250" y="2940007"/>
            <a:ext cx="2667000" cy="3524250"/>
            <a:chOff x="6191250" y="2524125"/>
            <a:chExt cx="2667000" cy="3524250"/>
          </a:xfrm>
        </p:grpSpPr>
        <p:sp>
          <p:nvSpPr>
            <p:cNvPr id="137" name="Rectangle 40"/>
            <p:cNvSpPr/>
            <p:nvPr/>
          </p:nvSpPr>
          <p:spPr>
            <a:xfrm>
              <a:off x="6191250" y="2524125"/>
              <a:ext cx="2667000" cy="3524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38" name="Rectangle 41"/>
            <p:cNvSpPr/>
            <p:nvPr/>
          </p:nvSpPr>
          <p:spPr>
            <a:xfrm>
              <a:off x="6191250" y="2524125"/>
              <a:ext cx="2667000" cy="342900"/>
            </a:xfrm>
            <a:prstGeom prst="roundRect">
              <a:avLst>
                <a:gd name="adj" fmla="val 22222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39" name="TextBox 42"/>
            <p:cNvSpPr txBox="1"/>
            <p:nvPr/>
          </p:nvSpPr>
          <p:spPr>
            <a:xfrm>
              <a:off x="6329362" y="2654141"/>
              <a:ext cx="176330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latin typeface="+mj-lt"/>
                  <a:ea typeface="+mn-ea"/>
                  <a:cs typeface="+mn-cs"/>
                </a:rPr>
                <a:t>SHORT-TERM GRADIENT</a:t>
              </a:r>
            </a:p>
          </p:txBody>
        </p:sp>
        <p:sp>
          <p:nvSpPr>
            <p:cNvPr id="140" name="Rectangle 43"/>
            <p:cNvSpPr/>
            <p:nvPr/>
          </p:nvSpPr>
          <p:spPr>
            <a:xfrm>
              <a:off x="6334125" y="3000375"/>
              <a:ext cx="2381250" cy="400050"/>
            </a:xfrm>
            <a:prstGeom prst="roundRect">
              <a:avLst>
                <a:gd name="adj" fmla="val 9524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141" name="TextBox 44"/>
            <p:cNvSpPr txBox="1"/>
            <p:nvPr/>
          </p:nvSpPr>
          <p:spPr>
            <a:xfrm>
              <a:off x="6971715" y="3142774"/>
              <a:ext cx="110607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b · [T(t) - T(t-3)]</a:t>
              </a:r>
            </a:p>
          </p:txBody>
        </p:sp>
        <p:sp>
          <p:nvSpPr>
            <p:cNvPr id="142" name="TextBox 45"/>
            <p:cNvSpPr txBox="1"/>
            <p:nvPr/>
          </p:nvSpPr>
          <p:spPr>
            <a:xfrm>
              <a:off x="6329362" y="3569970"/>
              <a:ext cx="12279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Physical Function:</a:t>
              </a:r>
            </a:p>
          </p:txBody>
        </p:sp>
        <p:sp>
          <p:nvSpPr>
            <p:cNvPr id="143" name="TextBox 46"/>
            <p:cNvSpPr txBox="1"/>
            <p:nvPr/>
          </p:nvSpPr>
          <p:spPr>
            <a:xfrm>
              <a:off x="6329362" y="3816191"/>
              <a:ext cx="137698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3-hr micro-climate rate</a:t>
              </a:r>
            </a:p>
          </p:txBody>
        </p:sp>
        <p:sp>
          <p:nvSpPr>
            <p:cNvPr id="144" name="TextBox 47"/>
            <p:cNvSpPr txBox="1"/>
            <p:nvPr/>
          </p:nvSpPr>
          <p:spPr>
            <a:xfrm>
              <a:off x="6329362" y="4054316"/>
              <a:ext cx="129843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Heating / cooling rate</a:t>
              </a:r>
            </a:p>
          </p:txBody>
        </p:sp>
        <p:sp>
          <p:nvSpPr>
            <p:cNvPr id="145" name="TextBox 48"/>
            <p:cNvSpPr txBox="1"/>
            <p:nvPr/>
          </p:nvSpPr>
          <p:spPr>
            <a:xfrm>
              <a:off x="6329362" y="4292441"/>
              <a:ext cx="117339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Weight: b = 0.0091</a:t>
              </a:r>
            </a:p>
          </p:txBody>
        </p:sp>
        <p:sp>
          <p:nvSpPr>
            <p:cNvPr id="146" name="Rectangle 49"/>
            <p:cNvSpPr/>
            <p:nvPr/>
          </p:nvSpPr>
          <p:spPr>
            <a:xfrm>
              <a:off x="6334125" y="4810125"/>
              <a:ext cx="2381250" cy="1047750"/>
            </a:xfrm>
            <a:prstGeom prst="roundRect">
              <a:avLst>
                <a:gd name="adj" fmla="val 5455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147" name="TextBox 50"/>
            <p:cNvSpPr txBox="1"/>
            <p:nvPr/>
          </p:nvSpPr>
          <p:spPr>
            <a:xfrm>
              <a:off x="6424612" y="4987766"/>
              <a:ext cx="113172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Hardware Budget:</a:t>
              </a:r>
            </a:p>
          </p:txBody>
        </p:sp>
        <p:sp>
          <p:nvSpPr>
            <p:cNvPr id="148" name="TextBox 51"/>
            <p:cNvSpPr txBox="1"/>
            <p:nvPr/>
          </p:nvSpPr>
          <p:spPr>
            <a:xfrm>
              <a:off x="6424612" y="5236845"/>
              <a:ext cx="97622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1 Sub + 1 Mult</a:t>
              </a:r>
            </a:p>
          </p:txBody>
        </p:sp>
        <p:sp>
          <p:nvSpPr>
            <p:cNvPr id="149" name="TextBox 52"/>
            <p:cNvSpPr txBox="1"/>
            <p:nvPr/>
          </p:nvSpPr>
          <p:spPr>
            <a:xfrm>
              <a:off x="6424612" y="5510212"/>
              <a:ext cx="148277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Zero on-chip matrix solve</a:t>
              </a:r>
            </a:p>
          </p:txBody>
        </p:sp>
      </p:grpSp>
      <p:grpSp>
        <p:nvGrpSpPr>
          <p:cNvPr id="150" name="term_bias"/>
          <p:cNvGrpSpPr/>
          <p:nvPr/>
        </p:nvGrpSpPr>
        <p:grpSpPr>
          <a:xfrm>
            <a:off x="9001125" y="2940007"/>
            <a:ext cx="2667000" cy="3524250"/>
            <a:chOff x="9001125" y="2524125"/>
            <a:chExt cx="2667000" cy="3524250"/>
          </a:xfrm>
        </p:grpSpPr>
        <p:sp>
          <p:nvSpPr>
            <p:cNvPr id="151" name="Rectangle 54"/>
            <p:cNvSpPr/>
            <p:nvPr/>
          </p:nvSpPr>
          <p:spPr>
            <a:xfrm>
              <a:off x="9001125" y="2524125"/>
              <a:ext cx="2667000" cy="3524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52" name="Rectangle 55"/>
            <p:cNvSpPr/>
            <p:nvPr/>
          </p:nvSpPr>
          <p:spPr>
            <a:xfrm>
              <a:off x="9001125" y="2524125"/>
              <a:ext cx="2667000" cy="342900"/>
            </a:xfrm>
            <a:prstGeom prst="roundRect">
              <a:avLst>
                <a:gd name="adj" fmla="val 22222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53" name="TextBox 56"/>
            <p:cNvSpPr txBox="1"/>
            <p:nvPr/>
          </p:nvSpPr>
          <p:spPr>
            <a:xfrm>
              <a:off x="9139238" y="2654141"/>
              <a:ext cx="130163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latin typeface="+mj-lt"/>
                  <a:ea typeface="+mn-ea"/>
                  <a:cs typeface="+mn-cs"/>
                </a:rPr>
                <a:t>SYSTEMATIC BIAS</a:t>
              </a:r>
            </a:p>
          </p:txBody>
        </p:sp>
        <p:sp>
          <p:nvSpPr>
            <p:cNvPr id="154" name="Rectangle 57"/>
            <p:cNvSpPr/>
            <p:nvPr/>
          </p:nvSpPr>
          <p:spPr>
            <a:xfrm>
              <a:off x="9144000" y="3000375"/>
              <a:ext cx="2381250" cy="400050"/>
            </a:xfrm>
            <a:prstGeom prst="roundRect">
              <a:avLst>
                <a:gd name="adj" fmla="val 9524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155" name="TextBox 58"/>
            <p:cNvSpPr txBox="1"/>
            <p:nvPr/>
          </p:nvSpPr>
          <p:spPr>
            <a:xfrm>
              <a:off x="10300160" y="3142774"/>
              <a:ext cx="6892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56" name="TextBox 59"/>
            <p:cNvSpPr txBox="1"/>
            <p:nvPr/>
          </p:nvSpPr>
          <p:spPr>
            <a:xfrm>
              <a:off x="9139238" y="3569970"/>
              <a:ext cx="12279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Physical Function:</a:t>
              </a:r>
            </a:p>
          </p:txBody>
        </p:sp>
        <p:sp>
          <p:nvSpPr>
            <p:cNvPr id="157" name="TextBox 60"/>
            <p:cNvSpPr txBox="1"/>
            <p:nvPr/>
          </p:nvSpPr>
          <p:spPr>
            <a:xfrm>
              <a:off x="9139238" y="3816191"/>
              <a:ext cx="123271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Micro-climate offset</a:t>
              </a:r>
            </a:p>
          </p:txBody>
        </p:sp>
        <p:sp>
          <p:nvSpPr>
            <p:cNvPr id="158" name="TextBox 61"/>
            <p:cNvSpPr txBox="1"/>
            <p:nvPr/>
          </p:nvSpPr>
          <p:spPr>
            <a:xfrm>
              <a:off x="9139238" y="4054316"/>
              <a:ext cx="133369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Seasonal baseline bias</a:t>
              </a:r>
            </a:p>
          </p:txBody>
        </p:sp>
        <p:sp>
          <p:nvSpPr>
            <p:cNvPr id="159" name="TextBox 62"/>
            <p:cNvSpPr txBox="1"/>
            <p:nvPr/>
          </p:nvSpPr>
          <p:spPr>
            <a:xfrm>
              <a:off x="9139238" y="4292441"/>
              <a:ext cx="128881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Offset: c = 0.0011 °C</a:t>
              </a:r>
            </a:p>
          </p:txBody>
        </p:sp>
        <p:sp>
          <p:nvSpPr>
            <p:cNvPr id="160" name="Rectangle 63"/>
            <p:cNvSpPr/>
            <p:nvPr/>
          </p:nvSpPr>
          <p:spPr>
            <a:xfrm>
              <a:off x="9144000" y="4810125"/>
              <a:ext cx="2381250" cy="1047750"/>
            </a:xfrm>
            <a:prstGeom prst="roundRect">
              <a:avLst>
                <a:gd name="adj" fmla="val 5455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161" name="TextBox 64"/>
            <p:cNvSpPr txBox="1"/>
            <p:nvPr/>
          </p:nvSpPr>
          <p:spPr>
            <a:xfrm>
              <a:off x="9234488" y="4987766"/>
              <a:ext cx="113172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Hardware Budget:</a:t>
              </a:r>
            </a:p>
          </p:txBody>
        </p:sp>
        <p:sp>
          <p:nvSpPr>
            <p:cNvPr id="162" name="TextBox 65"/>
            <p:cNvSpPr txBox="1"/>
            <p:nvPr/>
          </p:nvSpPr>
          <p:spPr>
            <a:xfrm>
              <a:off x="9234488" y="5236845"/>
              <a:ext cx="100873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Adder constant</a:t>
              </a:r>
            </a:p>
          </p:txBody>
        </p:sp>
        <p:sp>
          <p:nvSpPr>
            <p:cNvPr id="163" name="TextBox 66"/>
            <p:cNvSpPr txBox="1"/>
            <p:nvPr/>
          </p:nvSpPr>
          <p:spPr>
            <a:xfrm>
              <a:off x="9234488" y="5510212"/>
              <a:ext cx="148277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Zero on-chip matrix solve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833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 sz="1600">
                <a:latin typeface="+mj-lt"/>
              </a:rPr>
              <a:t>Copyrights 2024 CE-UIT. All Rights Reserved.</a:t>
            </a:r>
            <a:endParaRPr lang="en-US" sz="1600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z="1600" smtClean="0">
                <a:latin typeface="+mj-lt"/>
              </a:rPr>
              <a:pPr/>
              <a:t>6</a:t>
            </a:fld>
            <a:endParaRPr lang="en-US" sz="1600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3600" dirty="0">
                <a:solidFill>
                  <a:schemeClr val="accent1"/>
                </a:solidFill>
              </a:rPr>
              <a:t>Model Comparison: Accuracy vs Silicon Footprint</a:t>
            </a:r>
          </a:p>
        </p:txBody>
      </p:sp>
      <p:grpSp>
        <p:nvGrpSpPr>
          <p:cNvPr id="23" name="tbl_benchmarks"/>
          <p:cNvGrpSpPr/>
          <p:nvPr/>
        </p:nvGrpSpPr>
        <p:grpSpPr>
          <a:xfrm>
            <a:off x="481788" y="1677352"/>
            <a:ext cx="7239000" cy="4762500"/>
            <a:chOff x="571500" y="1285875"/>
            <a:chExt cx="7239000" cy="4762500"/>
          </a:xfrm>
        </p:grpSpPr>
        <p:sp>
          <p:nvSpPr>
            <p:cNvPr id="24" name="Rectangle 7"/>
            <p:cNvSpPr/>
            <p:nvPr/>
          </p:nvSpPr>
          <p:spPr>
            <a:xfrm>
              <a:off x="571500" y="1285875"/>
              <a:ext cx="7239000" cy="4762500"/>
            </a:xfrm>
            <a:prstGeom prst="roundRect">
              <a:avLst>
                <a:gd name="adj" fmla="val 16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25" name="Rectangle 8"/>
            <p:cNvSpPr/>
            <p:nvPr/>
          </p:nvSpPr>
          <p:spPr>
            <a:xfrm>
              <a:off x="571500" y="1285875"/>
              <a:ext cx="723900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26" name="TextBox 9"/>
            <p:cNvSpPr txBox="1"/>
            <p:nvPr/>
          </p:nvSpPr>
          <p:spPr>
            <a:xfrm>
              <a:off x="756666" y="1429702"/>
              <a:ext cx="388843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HELD-OUT TEST SET ACCURACY (17,520 SAMPLES)</a:t>
              </a:r>
            </a:p>
          </p:txBody>
        </p:sp>
        <p:sp>
          <p:nvSpPr>
            <p:cNvPr id="27" name="Rectangle 10"/>
            <p:cNvSpPr/>
            <p:nvPr/>
          </p:nvSpPr>
          <p:spPr>
            <a:xfrm>
              <a:off x="762000" y="1857375"/>
              <a:ext cx="6858000" cy="304800"/>
            </a:xfrm>
            <a:prstGeom prst="roundRect">
              <a:avLst>
                <a:gd name="adj" fmla="val 12500"/>
              </a:avLst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sp>
        <p:sp>
          <p:nvSpPr>
            <p:cNvPr id="28" name="TextBox 11"/>
            <p:cNvSpPr txBox="1"/>
            <p:nvPr/>
          </p:nvSpPr>
          <p:spPr>
            <a:xfrm>
              <a:off x="900112" y="1960245"/>
              <a:ext cx="7309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Architecture</a:t>
              </a:r>
            </a:p>
          </p:txBody>
        </p:sp>
        <p:sp>
          <p:nvSpPr>
            <p:cNvPr id="29" name="TextBox 12"/>
            <p:cNvSpPr txBox="1"/>
            <p:nvPr/>
          </p:nvSpPr>
          <p:spPr>
            <a:xfrm>
              <a:off x="2566988" y="1960245"/>
              <a:ext cx="58990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MAE (°C)</a:t>
              </a:r>
            </a:p>
          </p:txBody>
        </p:sp>
        <p:sp>
          <p:nvSpPr>
            <p:cNvPr id="30" name="TextBox 13"/>
            <p:cNvSpPr txBox="1"/>
            <p:nvPr/>
          </p:nvSpPr>
          <p:spPr>
            <a:xfrm>
              <a:off x="3614738" y="1960245"/>
              <a:ext cx="66845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RMSE (°C)</a:t>
              </a:r>
            </a:p>
          </p:txBody>
        </p:sp>
        <p:sp>
          <p:nvSpPr>
            <p:cNvPr id="35" name="TextBox 14"/>
            <p:cNvSpPr txBox="1"/>
            <p:nvPr/>
          </p:nvSpPr>
          <p:spPr>
            <a:xfrm>
              <a:off x="4710112" y="1960245"/>
              <a:ext cx="59631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DSP Units</a:t>
              </a:r>
            </a:p>
          </p:txBody>
        </p:sp>
        <p:sp>
          <p:nvSpPr>
            <p:cNvPr id="36" name="TextBox 15"/>
            <p:cNvSpPr txBox="1"/>
            <p:nvPr/>
          </p:nvSpPr>
          <p:spPr>
            <a:xfrm>
              <a:off x="6091238" y="1960245"/>
              <a:ext cx="46326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Latency</a:t>
              </a:r>
            </a:p>
          </p:txBody>
        </p:sp>
        <p:sp>
          <p:nvSpPr>
            <p:cNvPr id="37" name="Rectangle 16"/>
            <p:cNvSpPr/>
            <p:nvPr/>
          </p:nvSpPr>
          <p:spPr>
            <a:xfrm>
              <a:off x="762000" y="2238375"/>
              <a:ext cx="6858000" cy="438150"/>
            </a:xfrm>
            <a:prstGeom prst="roundRect">
              <a:avLst>
                <a:gd name="adj" fmla="val 8696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38" name="TextBox 17"/>
            <p:cNvSpPr txBox="1"/>
            <p:nvPr/>
          </p:nvSpPr>
          <p:spPr>
            <a:xfrm>
              <a:off x="899922" y="2409349"/>
              <a:ext cx="128400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Linear OLS (Selected)</a:t>
              </a:r>
            </a:p>
          </p:txBody>
        </p:sp>
        <p:sp>
          <p:nvSpPr>
            <p:cNvPr id="39" name="TextBox 18"/>
            <p:cNvSpPr txBox="1"/>
            <p:nvPr/>
          </p:nvSpPr>
          <p:spPr>
            <a:xfrm>
              <a:off x="2566797" y="2409349"/>
              <a:ext cx="48891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0.538 °C</a:t>
              </a:r>
            </a:p>
          </p:txBody>
        </p:sp>
        <p:sp>
          <p:nvSpPr>
            <p:cNvPr id="40" name="TextBox 19"/>
            <p:cNvSpPr txBox="1"/>
            <p:nvPr/>
          </p:nvSpPr>
          <p:spPr>
            <a:xfrm>
              <a:off x="3614547" y="2409349"/>
              <a:ext cx="48891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0.786 °C</a:t>
              </a:r>
            </a:p>
          </p:txBody>
        </p:sp>
        <p:sp>
          <p:nvSpPr>
            <p:cNvPr id="43" name="TextBox 20"/>
            <p:cNvSpPr txBox="1"/>
            <p:nvPr/>
          </p:nvSpPr>
          <p:spPr>
            <a:xfrm>
              <a:off x="4709922" y="2409349"/>
              <a:ext cx="57227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1–2 Mults</a:t>
              </a:r>
            </a:p>
          </p:txBody>
        </p:sp>
        <p:sp>
          <p:nvSpPr>
            <p:cNvPr id="57" name="TextBox 21"/>
            <p:cNvSpPr txBox="1"/>
            <p:nvPr/>
          </p:nvSpPr>
          <p:spPr>
            <a:xfrm>
              <a:off x="6091047" y="2409349"/>
              <a:ext cx="62517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5–9 Clocks</a:t>
              </a:r>
            </a:p>
          </p:txBody>
        </p:sp>
        <p:sp>
          <p:nvSpPr>
            <p:cNvPr id="58" name="Rectangle 22"/>
            <p:cNvSpPr/>
            <p:nvPr/>
          </p:nvSpPr>
          <p:spPr>
            <a:xfrm>
              <a:off x="762000" y="2752725"/>
              <a:ext cx="6858000" cy="4000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9" name="TextBox 23"/>
            <p:cNvSpPr txBox="1"/>
            <p:nvPr/>
          </p:nvSpPr>
          <p:spPr>
            <a:xfrm>
              <a:off x="900112" y="2912745"/>
              <a:ext cx="107080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Ridge-6 (Multi-var)</a:t>
              </a:r>
            </a:p>
          </p:txBody>
        </p:sp>
        <p:sp>
          <p:nvSpPr>
            <p:cNvPr id="60" name="TextBox 24"/>
            <p:cNvSpPr txBox="1"/>
            <p:nvPr/>
          </p:nvSpPr>
          <p:spPr>
            <a:xfrm>
              <a:off x="2566988" y="2912745"/>
              <a:ext cx="48090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0.509 °C</a:t>
              </a:r>
            </a:p>
          </p:txBody>
        </p:sp>
        <p:sp>
          <p:nvSpPr>
            <p:cNvPr id="61" name="TextBox 25"/>
            <p:cNvSpPr txBox="1"/>
            <p:nvPr/>
          </p:nvSpPr>
          <p:spPr>
            <a:xfrm>
              <a:off x="3614738" y="2912745"/>
              <a:ext cx="48090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0.736 °C</a:t>
              </a:r>
            </a:p>
          </p:txBody>
        </p:sp>
        <p:sp>
          <p:nvSpPr>
            <p:cNvPr id="62" name="TextBox 26"/>
            <p:cNvSpPr txBox="1"/>
            <p:nvPr/>
          </p:nvSpPr>
          <p:spPr>
            <a:xfrm>
              <a:off x="4710112" y="2912745"/>
              <a:ext cx="41517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6 Mults</a:t>
              </a:r>
            </a:p>
          </p:txBody>
        </p:sp>
        <p:sp>
          <p:nvSpPr>
            <p:cNvPr id="63" name="TextBox 27"/>
            <p:cNvSpPr txBox="1"/>
            <p:nvPr/>
          </p:nvSpPr>
          <p:spPr>
            <a:xfrm>
              <a:off x="6091238" y="2912745"/>
              <a:ext cx="54181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14 Clocks</a:t>
              </a:r>
            </a:p>
          </p:txBody>
        </p:sp>
        <p:sp>
          <p:nvSpPr>
            <p:cNvPr id="64" name="Rectangle 28"/>
            <p:cNvSpPr/>
            <p:nvPr/>
          </p:nvSpPr>
          <p:spPr>
            <a:xfrm>
              <a:off x="762000" y="3228975"/>
              <a:ext cx="6858000" cy="4000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5" name="TextBox 29"/>
            <p:cNvSpPr txBox="1"/>
            <p:nvPr/>
          </p:nvSpPr>
          <p:spPr>
            <a:xfrm>
              <a:off x="900112" y="3388995"/>
              <a:ext cx="145392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MLP Neural Net (12-16-1)</a:t>
              </a:r>
            </a:p>
          </p:txBody>
        </p:sp>
        <p:sp>
          <p:nvSpPr>
            <p:cNvPr id="66" name="TextBox 30"/>
            <p:cNvSpPr txBox="1"/>
            <p:nvPr/>
          </p:nvSpPr>
          <p:spPr>
            <a:xfrm>
              <a:off x="2566988" y="3388995"/>
              <a:ext cx="48090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0.382 °C</a:t>
              </a:r>
            </a:p>
          </p:txBody>
        </p:sp>
        <p:sp>
          <p:nvSpPr>
            <p:cNvPr id="67" name="TextBox 31"/>
            <p:cNvSpPr txBox="1"/>
            <p:nvPr/>
          </p:nvSpPr>
          <p:spPr>
            <a:xfrm>
              <a:off x="3614738" y="3388995"/>
              <a:ext cx="48090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0.555 °C</a:t>
              </a:r>
            </a:p>
          </p:txBody>
        </p:sp>
        <p:sp>
          <p:nvSpPr>
            <p:cNvPr id="68" name="TextBox 32"/>
            <p:cNvSpPr txBox="1"/>
            <p:nvPr/>
          </p:nvSpPr>
          <p:spPr>
            <a:xfrm>
              <a:off x="4710112" y="3388995"/>
              <a:ext cx="4825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32 Mults</a:t>
              </a:r>
            </a:p>
          </p:txBody>
        </p:sp>
        <p:sp>
          <p:nvSpPr>
            <p:cNvPr id="69" name="TextBox 33"/>
            <p:cNvSpPr txBox="1"/>
            <p:nvPr/>
          </p:nvSpPr>
          <p:spPr>
            <a:xfrm>
              <a:off x="6091238" y="3388995"/>
              <a:ext cx="54181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48 Clocks</a:t>
              </a:r>
            </a:p>
          </p:txBody>
        </p:sp>
        <p:sp>
          <p:nvSpPr>
            <p:cNvPr id="70" name="Rectangle 34"/>
            <p:cNvSpPr/>
            <p:nvPr/>
          </p:nvSpPr>
          <p:spPr>
            <a:xfrm>
              <a:off x="762000" y="3705225"/>
              <a:ext cx="6858000" cy="4000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1" name="TextBox 35"/>
            <p:cNvSpPr txBox="1"/>
            <p:nvPr/>
          </p:nvSpPr>
          <p:spPr>
            <a:xfrm>
              <a:off x="900112" y="3865245"/>
              <a:ext cx="116378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Diurnal Base: T(t-21)</a:t>
              </a:r>
            </a:p>
          </p:txBody>
        </p:sp>
        <p:sp>
          <p:nvSpPr>
            <p:cNvPr id="72" name="TextBox 36"/>
            <p:cNvSpPr txBox="1"/>
            <p:nvPr/>
          </p:nvSpPr>
          <p:spPr>
            <a:xfrm>
              <a:off x="2566988" y="3865245"/>
              <a:ext cx="48090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DC2626"/>
                  </a:solidFill>
                  <a:latin typeface="+mj-lt"/>
                  <a:ea typeface="+mn-ea"/>
                  <a:cs typeface="+mn-cs"/>
                </a:rPr>
                <a:t>0.832 °C</a:t>
              </a:r>
            </a:p>
          </p:txBody>
        </p:sp>
        <p:sp>
          <p:nvSpPr>
            <p:cNvPr id="73" name="TextBox 37"/>
            <p:cNvSpPr txBox="1"/>
            <p:nvPr/>
          </p:nvSpPr>
          <p:spPr>
            <a:xfrm>
              <a:off x="3614738" y="3865245"/>
              <a:ext cx="48090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DC2626"/>
                  </a:solidFill>
                  <a:latin typeface="+mj-lt"/>
                  <a:ea typeface="+mn-ea"/>
                  <a:cs typeface="+mn-cs"/>
                </a:rPr>
                <a:t>1.187 °C</a:t>
              </a:r>
            </a:p>
          </p:txBody>
        </p:sp>
        <p:sp>
          <p:nvSpPr>
            <p:cNvPr id="74" name="TextBox 38"/>
            <p:cNvSpPr txBox="1"/>
            <p:nvPr/>
          </p:nvSpPr>
          <p:spPr>
            <a:xfrm>
              <a:off x="4710112" y="3865245"/>
              <a:ext cx="41517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0 Mults</a:t>
              </a:r>
            </a:p>
          </p:txBody>
        </p:sp>
        <p:sp>
          <p:nvSpPr>
            <p:cNvPr id="75" name="TextBox 39"/>
            <p:cNvSpPr txBox="1"/>
            <p:nvPr/>
          </p:nvSpPr>
          <p:spPr>
            <a:xfrm>
              <a:off x="6091238" y="3865245"/>
              <a:ext cx="47448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0 Clocks</a:t>
              </a:r>
            </a:p>
          </p:txBody>
        </p:sp>
        <p:sp>
          <p:nvSpPr>
            <p:cNvPr id="76" name="Rectangle 40"/>
            <p:cNvSpPr/>
            <p:nvPr/>
          </p:nvSpPr>
          <p:spPr>
            <a:xfrm>
              <a:off x="762000" y="4181475"/>
              <a:ext cx="6858000" cy="4000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7" name="TextBox 41"/>
            <p:cNvSpPr txBox="1"/>
            <p:nvPr/>
          </p:nvSpPr>
          <p:spPr>
            <a:xfrm>
              <a:off x="900112" y="4341495"/>
              <a:ext cx="88325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Persistence: T(t)</a:t>
              </a:r>
            </a:p>
          </p:txBody>
        </p:sp>
        <p:sp>
          <p:nvSpPr>
            <p:cNvPr id="78" name="TextBox 42"/>
            <p:cNvSpPr txBox="1"/>
            <p:nvPr/>
          </p:nvSpPr>
          <p:spPr>
            <a:xfrm>
              <a:off x="2566988" y="4341495"/>
              <a:ext cx="48090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DC2626"/>
                  </a:solidFill>
                  <a:latin typeface="+mj-lt"/>
                  <a:ea typeface="+mn-ea"/>
                  <a:cs typeface="+mn-cs"/>
                </a:rPr>
                <a:t>2.080 °C</a:t>
              </a:r>
            </a:p>
          </p:txBody>
        </p:sp>
        <p:sp>
          <p:nvSpPr>
            <p:cNvPr id="79" name="TextBox 43"/>
            <p:cNvSpPr txBox="1"/>
            <p:nvPr/>
          </p:nvSpPr>
          <p:spPr>
            <a:xfrm>
              <a:off x="3614738" y="4341495"/>
              <a:ext cx="48090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DC2626"/>
                  </a:solidFill>
                  <a:latin typeface="+mj-lt"/>
                  <a:ea typeface="+mn-ea"/>
                  <a:cs typeface="+mn-cs"/>
                </a:rPr>
                <a:t>2.733 °C</a:t>
              </a:r>
            </a:p>
          </p:txBody>
        </p:sp>
        <p:sp>
          <p:nvSpPr>
            <p:cNvPr id="80" name="TextBox 44"/>
            <p:cNvSpPr txBox="1"/>
            <p:nvPr/>
          </p:nvSpPr>
          <p:spPr>
            <a:xfrm>
              <a:off x="4710112" y="4341495"/>
              <a:ext cx="41517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0 Mults</a:t>
              </a:r>
            </a:p>
          </p:txBody>
        </p:sp>
        <p:sp>
          <p:nvSpPr>
            <p:cNvPr id="81" name="TextBox 45"/>
            <p:cNvSpPr txBox="1"/>
            <p:nvPr/>
          </p:nvSpPr>
          <p:spPr>
            <a:xfrm>
              <a:off x="6091238" y="4341495"/>
              <a:ext cx="47448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0 Clocks</a:t>
              </a:r>
            </a:p>
          </p:txBody>
        </p:sp>
        <p:sp>
          <p:nvSpPr>
            <p:cNvPr id="82" name="Rectangle 46"/>
            <p:cNvSpPr/>
            <p:nvPr/>
          </p:nvSpPr>
          <p:spPr>
            <a:xfrm>
              <a:off x="762000" y="4714875"/>
              <a:ext cx="2190750" cy="1190625"/>
            </a:xfrm>
            <a:prstGeom prst="roundRect">
              <a:avLst>
                <a:gd name="adj" fmla="val 48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83" name="TextBox 47"/>
            <p:cNvSpPr txBox="1"/>
            <p:nvPr/>
          </p:nvSpPr>
          <p:spPr>
            <a:xfrm>
              <a:off x="1420556" y="4834890"/>
              <a:ext cx="8736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74.1%</a:t>
              </a:r>
            </a:p>
          </p:txBody>
        </p:sp>
        <p:sp>
          <p:nvSpPr>
            <p:cNvPr id="84" name="TextBox 48"/>
            <p:cNvSpPr txBox="1"/>
            <p:nvPr/>
          </p:nvSpPr>
          <p:spPr>
            <a:xfrm>
              <a:off x="1217777" y="5168741"/>
              <a:ext cx="12791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ERROR REDUCTION</a:t>
              </a:r>
            </a:p>
          </p:txBody>
        </p:sp>
        <p:sp>
          <p:nvSpPr>
            <p:cNvPr id="85" name="TextBox 49"/>
            <p:cNvSpPr txBox="1"/>
            <p:nvPr/>
          </p:nvSpPr>
          <p:spPr>
            <a:xfrm>
              <a:off x="1325980" y="5386388"/>
              <a:ext cx="1062791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vs 2.080°C Persistence</a:t>
              </a:r>
            </a:p>
          </p:txBody>
        </p:sp>
        <p:sp>
          <p:nvSpPr>
            <p:cNvPr id="86" name="TextBox 50"/>
            <p:cNvSpPr txBox="1"/>
            <p:nvPr/>
          </p:nvSpPr>
          <p:spPr>
            <a:xfrm>
              <a:off x="1238616" y="5576888"/>
              <a:ext cx="1237518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35.3% over Diurnal Base</a:t>
              </a:r>
            </a:p>
          </p:txBody>
        </p:sp>
        <p:sp>
          <p:nvSpPr>
            <p:cNvPr id="87" name="Rectangle 51"/>
            <p:cNvSpPr/>
            <p:nvPr/>
          </p:nvSpPr>
          <p:spPr>
            <a:xfrm>
              <a:off x="3095625" y="4714875"/>
              <a:ext cx="2190750" cy="1190625"/>
            </a:xfrm>
            <a:prstGeom prst="roundRect">
              <a:avLst>
                <a:gd name="adj" fmla="val 48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88" name="TextBox 52"/>
            <p:cNvSpPr txBox="1"/>
            <p:nvPr/>
          </p:nvSpPr>
          <p:spPr>
            <a:xfrm>
              <a:off x="3633155" y="4834890"/>
              <a:ext cx="11156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0.156 °C</a:t>
              </a:r>
            </a:p>
          </p:txBody>
        </p:sp>
        <p:sp>
          <p:nvSpPr>
            <p:cNvPr id="89" name="TextBox 53"/>
            <p:cNvSpPr txBox="1"/>
            <p:nvPr/>
          </p:nvSpPr>
          <p:spPr>
            <a:xfrm>
              <a:off x="3516937" y="5168741"/>
              <a:ext cx="134812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MARGINAL MLP GAP</a:t>
              </a:r>
            </a:p>
          </p:txBody>
        </p:sp>
        <p:sp>
          <p:nvSpPr>
            <p:cNvPr id="90" name="TextBox 54"/>
            <p:cNvSpPr txBox="1"/>
            <p:nvPr/>
          </p:nvSpPr>
          <p:spPr>
            <a:xfrm>
              <a:off x="3637965" y="5386388"/>
              <a:ext cx="1106072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MLP demands 32 DSPs</a:t>
              </a:r>
            </a:p>
          </p:txBody>
        </p:sp>
        <p:sp>
          <p:nvSpPr>
            <p:cNvPr id="91" name="TextBox 55"/>
            <p:cNvSpPr txBox="1"/>
            <p:nvPr/>
          </p:nvSpPr>
          <p:spPr>
            <a:xfrm>
              <a:off x="3609109" y="5576888"/>
              <a:ext cx="11637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94% DSP Silicon Saved</a:t>
              </a:r>
            </a:p>
          </p:txBody>
        </p:sp>
        <p:sp>
          <p:nvSpPr>
            <p:cNvPr id="92" name="Rectangle 56"/>
            <p:cNvSpPr/>
            <p:nvPr/>
          </p:nvSpPr>
          <p:spPr>
            <a:xfrm>
              <a:off x="5429250" y="4714875"/>
              <a:ext cx="2190750" cy="1190625"/>
            </a:xfrm>
            <a:prstGeom prst="roundRect">
              <a:avLst>
                <a:gd name="adj" fmla="val 4800"/>
              </a:avLst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93" name="TextBox 57"/>
            <p:cNvSpPr txBox="1"/>
            <p:nvPr/>
          </p:nvSpPr>
          <p:spPr>
            <a:xfrm>
              <a:off x="6176453" y="4834890"/>
              <a:ext cx="6963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11.6×</a:t>
              </a:r>
            </a:p>
          </p:txBody>
        </p:sp>
        <p:sp>
          <p:nvSpPr>
            <p:cNvPr id="94" name="TextBox 58"/>
            <p:cNvSpPr txBox="1"/>
            <p:nvPr/>
          </p:nvSpPr>
          <p:spPr>
            <a:xfrm>
              <a:off x="5839340" y="5168741"/>
              <a:ext cx="137056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SILICON EFFICIENCY</a:t>
              </a:r>
            </a:p>
          </p:txBody>
        </p:sp>
        <p:sp>
          <p:nvSpPr>
            <p:cNvPr id="95" name="TextBox 59"/>
            <p:cNvSpPr txBox="1"/>
            <p:nvPr/>
          </p:nvSpPr>
          <p:spPr>
            <a:xfrm>
              <a:off x="5932314" y="5386388"/>
              <a:ext cx="118461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Metric: 1 / (MAE × DSP)</a:t>
              </a:r>
            </a:p>
          </p:txBody>
        </p:sp>
        <p:sp>
          <p:nvSpPr>
            <p:cNvPr id="96" name="TextBox 60"/>
            <p:cNvSpPr txBox="1"/>
            <p:nvPr/>
          </p:nvSpPr>
          <p:spPr>
            <a:xfrm>
              <a:off x="5969987" y="5576888"/>
              <a:ext cx="1109278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OLS 0.93 vs MLP 0.08</a:t>
              </a:r>
            </a:p>
          </p:txBody>
        </p:sp>
      </p:grpSp>
      <p:grpSp>
        <p:nvGrpSpPr>
          <p:cNvPr id="97" name="pareto_callout"/>
          <p:cNvGrpSpPr/>
          <p:nvPr/>
        </p:nvGrpSpPr>
        <p:grpSpPr>
          <a:xfrm>
            <a:off x="7911288" y="1677352"/>
            <a:ext cx="3619500" cy="4762500"/>
            <a:chOff x="8001000" y="1285875"/>
            <a:chExt cx="3619500" cy="4762500"/>
          </a:xfrm>
        </p:grpSpPr>
        <p:sp>
          <p:nvSpPr>
            <p:cNvPr id="98" name="Rectangle 62"/>
            <p:cNvSpPr/>
            <p:nvPr/>
          </p:nvSpPr>
          <p:spPr>
            <a:xfrm>
              <a:off x="8001000" y="1285875"/>
              <a:ext cx="3619500" cy="4762500"/>
            </a:xfrm>
            <a:prstGeom prst="roundRect">
              <a:avLst>
                <a:gd name="adj" fmla="val 2105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99" name="Rectangle 63"/>
            <p:cNvSpPr/>
            <p:nvPr/>
          </p:nvSpPr>
          <p:spPr>
            <a:xfrm>
              <a:off x="8001000" y="1285875"/>
              <a:ext cx="361950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00" name="TextBox 64"/>
            <p:cNvSpPr txBox="1"/>
            <p:nvPr/>
          </p:nvSpPr>
          <p:spPr>
            <a:xfrm>
              <a:off x="8186166" y="1429702"/>
              <a:ext cx="201754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SILICON DSP ALLOCATION</a:t>
              </a:r>
            </a:p>
          </p:txBody>
        </p:sp>
        <p:sp>
          <p:nvSpPr>
            <p:cNvPr id="101" name="Rectangle 65"/>
            <p:cNvSpPr/>
            <p:nvPr/>
          </p:nvSpPr>
          <p:spPr>
            <a:xfrm>
              <a:off x="8191500" y="1857375"/>
              <a:ext cx="3238500" cy="904875"/>
            </a:xfrm>
            <a:prstGeom prst="roundRect">
              <a:avLst>
                <a:gd name="adj" fmla="val 631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02" name="TextBox 66"/>
            <p:cNvSpPr txBox="1"/>
            <p:nvPr/>
          </p:nvSpPr>
          <p:spPr>
            <a:xfrm>
              <a:off x="8329612" y="2017395"/>
              <a:ext cx="187230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Cyclone II Multipliers (EP2C35)</a:t>
              </a:r>
            </a:p>
          </p:txBody>
        </p:sp>
        <p:sp>
          <p:nvSpPr>
            <p:cNvPr id="103" name="TextBox 67"/>
            <p:cNvSpPr txBox="1"/>
            <p:nvPr/>
          </p:nvSpPr>
          <p:spPr>
            <a:xfrm>
              <a:off x="8329612" y="2254091"/>
              <a:ext cx="222496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Total Embedded DSP: 35 9×9 Multipliers</a:t>
              </a:r>
            </a:p>
          </p:txBody>
        </p:sp>
        <p:sp>
          <p:nvSpPr>
            <p:cNvPr id="104" name="TextBox 68"/>
            <p:cNvSpPr txBox="1"/>
            <p:nvPr/>
          </p:nvSpPr>
          <p:spPr>
            <a:xfrm>
              <a:off x="8329612" y="2463641"/>
              <a:ext cx="235160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D97706"/>
                </a:buClr>
                <a:buSzTx/>
                <a:buFontTx/>
                <a:buChar char="•"/>
              </a:pPr>
              <a:r>
                <a:rPr lang="en" sz="10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MLP Demands 32 DSPs (91.4% capacity)</a:t>
              </a:r>
            </a:p>
          </p:txBody>
        </p:sp>
        <p:sp>
          <p:nvSpPr>
            <p:cNvPr id="105" name="Rectangle 69"/>
            <p:cNvSpPr/>
            <p:nvPr/>
          </p:nvSpPr>
          <p:spPr>
            <a:xfrm>
              <a:off x="8191500" y="2905125"/>
              <a:ext cx="3238500" cy="904875"/>
            </a:xfrm>
            <a:prstGeom prst="roundRect">
              <a:avLst>
                <a:gd name="adj" fmla="val 6316"/>
              </a:avLst>
            </a:prstGeom>
            <a:solidFill>
              <a:srgbClr val="EFF6FF"/>
            </a:solidFill>
            <a:ln w="9525">
              <a:solidFill>
                <a:srgbClr val="2563EB"/>
              </a:solidFill>
            </a:ln>
          </p:spPr>
        </p:sp>
        <p:sp>
          <p:nvSpPr>
            <p:cNvPr id="106" name="TextBox 70"/>
            <p:cNvSpPr txBox="1"/>
            <p:nvPr/>
          </p:nvSpPr>
          <p:spPr>
            <a:xfrm>
              <a:off x="8329612" y="3065145"/>
              <a:ext cx="173444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Linear OLS Allocation Profile</a:t>
              </a:r>
            </a:p>
          </p:txBody>
        </p:sp>
        <p:sp>
          <p:nvSpPr>
            <p:cNvPr id="107" name="TextBox 71"/>
            <p:cNvSpPr txBox="1"/>
            <p:nvPr/>
          </p:nvSpPr>
          <p:spPr>
            <a:xfrm>
              <a:off x="8329612" y="3301841"/>
              <a:ext cx="211917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E3A8A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Speed Core: 2 DSP units (5.7% budget)</a:t>
              </a:r>
            </a:p>
          </p:txBody>
        </p:sp>
        <p:sp>
          <p:nvSpPr>
            <p:cNvPr id="108" name="TextBox 72"/>
            <p:cNvSpPr txBox="1"/>
            <p:nvPr/>
          </p:nvSpPr>
          <p:spPr>
            <a:xfrm>
              <a:off x="8329612" y="3511391"/>
              <a:ext cx="254236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10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Resource Core: 1 Shared DSP (2.8% budget)</a:t>
              </a:r>
            </a:p>
          </p:txBody>
        </p:sp>
        <p:sp>
          <p:nvSpPr>
            <p:cNvPr id="109" name="Rectangle 73"/>
            <p:cNvSpPr/>
            <p:nvPr/>
          </p:nvSpPr>
          <p:spPr>
            <a:xfrm>
              <a:off x="8191500" y="3952875"/>
              <a:ext cx="3238500" cy="1952625"/>
            </a:xfrm>
            <a:prstGeom prst="roundRect">
              <a:avLst>
                <a:gd name="adj" fmla="val 2927"/>
              </a:avLst>
            </a:prstGeom>
            <a:solidFill>
              <a:srgbClr val="F0FDF4"/>
            </a:solidFill>
            <a:ln w="14288">
              <a:solidFill>
                <a:srgbClr val="16A34A"/>
              </a:solidFill>
            </a:ln>
          </p:spPr>
        </p:sp>
        <p:sp>
          <p:nvSpPr>
            <p:cNvPr id="110" name="TextBox 74"/>
            <p:cNvSpPr txBox="1"/>
            <p:nvPr/>
          </p:nvSpPr>
          <p:spPr>
            <a:xfrm>
              <a:off x="8329422" y="4133374"/>
              <a:ext cx="145552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Pareto Optimal Decision:</a:t>
              </a:r>
            </a:p>
          </p:txBody>
        </p:sp>
        <p:sp>
          <p:nvSpPr>
            <p:cNvPr id="111" name="TextBox 75"/>
            <p:cNvSpPr txBox="1"/>
            <p:nvPr/>
          </p:nvSpPr>
          <p:spPr>
            <a:xfrm>
              <a:off x="8329612" y="4431268"/>
              <a:ext cx="188513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Linear OLS captures diurnal physics</a:t>
              </a:r>
            </a:p>
          </p:txBody>
        </p:sp>
        <p:sp>
          <p:nvSpPr>
            <p:cNvPr id="112" name="TextBox 76"/>
            <p:cNvSpPr txBox="1"/>
            <p:nvPr/>
          </p:nvSpPr>
          <p:spPr>
            <a:xfrm>
              <a:off x="8329612" y="4621768"/>
              <a:ext cx="202299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without exhausting on-chip multipliers.</a:t>
              </a:r>
            </a:p>
          </p:txBody>
        </p:sp>
        <p:sp>
          <p:nvSpPr>
            <p:cNvPr id="113" name="Line 77"/>
            <p:cNvSpPr/>
            <p:nvPr/>
          </p:nvSpPr>
          <p:spPr>
            <a:xfrm>
              <a:off x="8334375" y="4905375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16A34A"/>
              </a:solidFill>
            </a:ln>
          </p:spPr>
        </p:sp>
        <p:sp>
          <p:nvSpPr>
            <p:cNvPr id="114" name="TextBox 78"/>
            <p:cNvSpPr txBox="1"/>
            <p:nvPr/>
          </p:nvSpPr>
          <p:spPr>
            <a:xfrm>
              <a:off x="9403876" y="5059680"/>
              <a:ext cx="813748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8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11.6×</a:t>
              </a:r>
            </a:p>
          </p:txBody>
        </p:sp>
        <p:sp>
          <p:nvSpPr>
            <p:cNvPr id="115" name="TextBox 79"/>
            <p:cNvSpPr txBox="1"/>
            <p:nvPr/>
          </p:nvSpPr>
          <p:spPr>
            <a:xfrm>
              <a:off x="8808071" y="5427345"/>
              <a:ext cx="200535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Higher Accuracy-per-DSP vs MLP</a:t>
              </a:r>
            </a:p>
          </p:txBody>
        </p:sp>
        <p:sp>
          <p:nvSpPr>
            <p:cNvPr id="116" name="TextBox 80"/>
            <p:cNvSpPr txBox="1"/>
            <p:nvPr/>
          </p:nvSpPr>
          <p:spPr>
            <a:xfrm>
              <a:off x="8994822" y="5653088"/>
              <a:ext cx="163185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0 SRAM Blocks (Pure Shift Logic)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678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7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338667" y="946254"/>
            <a:ext cx="12107333" cy="890663"/>
          </a:xfrm>
        </p:spPr>
        <p:txBody>
          <a:bodyPr>
            <a:noAutofit/>
          </a:bodyPr>
          <a:lstStyle/>
          <a:p>
            <a:r>
              <a:rPr lang="en" sz="3600" dirty="0">
                <a:solidFill>
                  <a:schemeClr val="accent1"/>
                </a:solidFill>
              </a:rPr>
              <a:t>Hardware Benchmarks vs Published FPGA Linear Solvers</a:t>
            </a:r>
          </a:p>
        </p:txBody>
      </p:sp>
      <p:grpSp>
        <p:nvGrpSpPr>
          <p:cNvPr id="32" name="prior_art_matrix"/>
          <p:cNvGrpSpPr/>
          <p:nvPr/>
        </p:nvGrpSpPr>
        <p:grpSpPr>
          <a:xfrm>
            <a:off x="571500" y="1643062"/>
            <a:ext cx="11049000" cy="2428875"/>
            <a:chOff x="571500" y="1285875"/>
            <a:chExt cx="11049000" cy="2428875"/>
          </a:xfrm>
        </p:grpSpPr>
        <p:sp>
          <p:nvSpPr>
            <p:cNvPr id="33" name="Rectangle 7"/>
            <p:cNvSpPr/>
            <p:nvPr/>
          </p:nvSpPr>
          <p:spPr>
            <a:xfrm>
              <a:off x="571500" y="1285875"/>
              <a:ext cx="11049000" cy="2428875"/>
            </a:xfrm>
            <a:prstGeom prst="roundRect">
              <a:avLst>
                <a:gd name="adj" fmla="val 313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Rectangle 8"/>
            <p:cNvSpPr/>
            <p:nvPr/>
          </p:nvSpPr>
          <p:spPr>
            <a:xfrm>
              <a:off x="571500" y="1285875"/>
              <a:ext cx="11049000" cy="361950"/>
            </a:xfrm>
            <a:prstGeom prst="roundRect">
              <a:avLst>
                <a:gd name="adj" fmla="val 21053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41" name="TextBox 9"/>
            <p:cNvSpPr txBox="1"/>
            <p:nvPr/>
          </p:nvSpPr>
          <p:spPr>
            <a:xfrm>
              <a:off x="714375" y="1359128"/>
              <a:ext cx="690984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latin typeface="+mj-lt"/>
                  <a:ea typeface="+mn-ea"/>
                  <a:cs typeface="+mn-cs"/>
                </a:rPr>
                <a:t>QUANTITATIVE COMPARISON WITH PUBLISHED FPGA REGRESSION SOLVERS</a:t>
              </a:r>
            </a:p>
          </p:txBody>
        </p:sp>
        <p:sp>
          <p:nvSpPr>
            <p:cNvPr id="42" name="Rectangle 10"/>
            <p:cNvSpPr/>
            <p:nvPr/>
          </p:nvSpPr>
          <p:spPr>
            <a:xfrm>
              <a:off x="714375" y="1714500"/>
              <a:ext cx="10763250" cy="2286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4" name="TextBox 11"/>
            <p:cNvSpPr txBox="1"/>
            <p:nvPr/>
          </p:nvSpPr>
          <p:spPr>
            <a:xfrm>
              <a:off x="804862" y="1777841"/>
              <a:ext cx="97302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Reference / Work</a:t>
              </a:r>
            </a:p>
          </p:txBody>
        </p:sp>
        <p:sp>
          <p:nvSpPr>
            <p:cNvPr id="45" name="TextBox 12"/>
            <p:cNvSpPr txBox="1"/>
            <p:nvPr/>
          </p:nvSpPr>
          <p:spPr>
            <a:xfrm>
              <a:off x="2566988" y="1777841"/>
              <a:ext cx="76944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Target Device</a:t>
              </a:r>
            </a:p>
          </p:txBody>
        </p:sp>
        <p:sp>
          <p:nvSpPr>
            <p:cNvPr id="46" name="TextBox 13"/>
            <p:cNvSpPr txBox="1"/>
            <p:nvPr/>
          </p:nvSpPr>
          <p:spPr>
            <a:xfrm>
              <a:off x="3995738" y="1777841"/>
              <a:ext cx="104836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Arithmetic Format</a:t>
              </a:r>
            </a:p>
          </p:txBody>
        </p:sp>
        <p:sp>
          <p:nvSpPr>
            <p:cNvPr id="47" name="TextBox 14"/>
            <p:cNvSpPr txBox="1"/>
            <p:nvPr/>
          </p:nvSpPr>
          <p:spPr>
            <a:xfrm>
              <a:off x="5376862" y="1777841"/>
              <a:ext cx="86562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Logic Footprint</a:t>
              </a:r>
            </a:p>
          </p:txBody>
        </p:sp>
        <p:sp>
          <p:nvSpPr>
            <p:cNvPr id="48" name="TextBox 15"/>
            <p:cNvSpPr txBox="1"/>
            <p:nvPr/>
          </p:nvSpPr>
          <p:spPr>
            <a:xfrm>
              <a:off x="6662738" y="1777841"/>
              <a:ext cx="88646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DSP Multipliers</a:t>
              </a:r>
            </a:p>
          </p:txBody>
        </p:sp>
        <p:sp>
          <p:nvSpPr>
            <p:cNvPr id="49" name="TextBox 16"/>
            <p:cNvSpPr txBox="1"/>
            <p:nvPr/>
          </p:nvSpPr>
          <p:spPr>
            <a:xfrm>
              <a:off x="7996238" y="1777841"/>
              <a:ext cx="101149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Timing &amp; Latency</a:t>
              </a:r>
            </a:p>
          </p:txBody>
        </p:sp>
        <p:sp>
          <p:nvSpPr>
            <p:cNvPr id="50" name="TextBox 17"/>
            <p:cNvSpPr txBox="1"/>
            <p:nvPr/>
          </p:nvSpPr>
          <p:spPr>
            <a:xfrm>
              <a:off x="9520238" y="1777841"/>
              <a:ext cx="98905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Partition Strategy</a:t>
              </a:r>
            </a:p>
          </p:txBody>
        </p:sp>
        <p:sp>
          <p:nvSpPr>
            <p:cNvPr id="51" name="Rectangle 18"/>
            <p:cNvSpPr/>
            <p:nvPr/>
          </p:nvSpPr>
          <p:spPr>
            <a:xfrm>
              <a:off x="714375" y="1981200"/>
              <a:ext cx="10763250" cy="304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7620">
              <a:solidFill>
                <a:srgbClr val="E2E8F0"/>
              </a:solidFill>
            </a:ln>
          </p:spPr>
        </p:sp>
        <p:sp>
          <p:nvSpPr>
            <p:cNvPr id="52" name="TextBox 19"/>
            <p:cNvSpPr txBox="1"/>
            <p:nvPr/>
          </p:nvSpPr>
          <p:spPr>
            <a:xfrm>
              <a:off x="804862" y="2092166"/>
              <a:ext cx="107882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SBCCI '19 (Ferreira)</a:t>
              </a:r>
            </a:p>
          </p:txBody>
        </p:sp>
        <p:sp>
          <p:nvSpPr>
            <p:cNvPr id="53" name="TextBox 20"/>
            <p:cNvSpPr txBox="1"/>
            <p:nvPr/>
          </p:nvSpPr>
          <p:spPr>
            <a:xfrm>
              <a:off x="2566988" y="2092166"/>
              <a:ext cx="119744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Cyclone IV EP4CE115</a:t>
              </a:r>
            </a:p>
          </p:txBody>
        </p:sp>
        <p:sp>
          <p:nvSpPr>
            <p:cNvPr id="54" name="TextBox 21"/>
            <p:cNvSpPr txBox="1"/>
            <p:nvPr/>
          </p:nvSpPr>
          <p:spPr>
            <a:xfrm>
              <a:off x="3995738" y="2092166"/>
              <a:ext cx="108042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Signed Q16.16 (32b)</a:t>
              </a:r>
            </a:p>
          </p:txBody>
        </p:sp>
        <p:sp>
          <p:nvSpPr>
            <p:cNvPr id="55" name="TextBox 22"/>
            <p:cNvSpPr txBox="1"/>
            <p:nvPr/>
          </p:nvSpPr>
          <p:spPr>
            <a:xfrm>
              <a:off x="5376862" y="2092166"/>
              <a:ext cx="52738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9,158 LEs</a:t>
              </a:r>
            </a:p>
          </p:txBody>
        </p:sp>
        <p:sp>
          <p:nvSpPr>
            <p:cNvPr id="56" name="TextBox 23"/>
            <p:cNvSpPr txBox="1"/>
            <p:nvPr/>
          </p:nvSpPr>
          <p:spPr>
            <a:xfrm>
              <a:off x="6662738" y="2092166"/>
              <a:ext cx="92012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DC2626"/>
                  </a:solidFill>
                  <a:latin typeface="+mj-lt"/>
                  <a:ea typeface="+mn-ea"/>
                  <a:cs typeface="+mn-cs"/>
                </a:rPr>
                <a:t>473 Mults (89%)</a:t>
              </a:r>
            </a:p>
          </p:txBody>
        </p:sp>
        <p:sp>
          <p:nvSpPr>
            <p:cNvPr id="66" name="TextBox 24"/>
            <p:cNvSpPr txBox="1"/>
            <p:nvPr/>
          </p:nvSpPr>
          <p:spPr>
            <a:xfrm>
              <a:off x="7996238" y="2092166"/>
              <a:ext cx="93936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 cycle (no Fmax)</a:t>
              </a:r>
            </a:p>
          </p:txBody>
        </p:sp>
        <p:sp>
          <p:nvSpPr>
            <p:cNvPr id="67" name="TextBox 25"/>
            <p:cNvSpPr txBox="1"/>
            <p:nvPr/>
          </p:nvSpPr>
          <p:spPr>
            <a:xfrm>
              <a:off x="9520238" y="2092166"/>
              <a:ext cx="107882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On-chip batch solver</a:t>
              </a:r>
            </a:p>
          </p:txBody>
        </p:sp>
        <p:sp>
          <p:nvSpPr>
            <p:cNvPr id="68" name="Rectangle 26"/>
            <p:cNvSpPr/>
            <p:nvPr/>
          </p:nvSpPr>
          <p:spPr>
            <a:xfrm>
              <a:off x="714375" y="2314575"/>
              <a:ext cx="10763250" cy="304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7620">
              <a:solidFill>
                <a:srgbClr val="E2E8F0"/>
              </a:solidFill>
            </a:ln>
          </p:spPr>
        </p:sp>
        <p:sp>
          <p:nvSpPr>
            <p:cNvPr id="69" name="TextBox 27"/>
            <p:cNvSpPr txBox="1"/>
            <p:nvPr/>
          </p:nvSpPr>
          <p:spPr>
            <a:xfrm>
              <a:off x="804862" y="2425541"/>
              <a:ext cx="105798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Sensors '22 (Tactile)</a:t>
              </a:r>
            </a:p>
          </p:txBody>
        </p:sp>
        <p:sp>
          <p:nvSpPr>
            <p:cNvPr id="70" name="TextBox 28"/>
            <p:cNvSpPr txBox="1"/>
            <p:nvPr/>
          </p:nvSpPr>
          <p:spPr>
            <a:xfrm>
              <a:off x="2566988" y="2425541"/>
              <a:ext cx="116538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Virtex-6 (xc6vlx240t)</a:t>
              </a:r>
            </a:p>
          </p:txBody>
        </p:sp>
        <p:sp>
          <p:nvSpPr>
            <p:cNvPr id="71" name="TextBox 29"/>
            <p:cNvSpPr txBox="1"/>
            <p:nvPr/>
          </p:nvSpPr>
          <p:spPr>
            <a:xfrm>
              <a:off x="3995738" y="2425541"/>
              <a:ext cx="88485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IEEE Float (32b)</a:t>
              </a:r>
            </a:p>
          </p:txBody>
        </p:sp>
        <p:sp>
          <p:nvSpPr>
            <p:cNvPr id="72" name="TextBox 30"/>
            <p:cNvSpPr txBox="1"/>
            <p:nvPr/>
          </p:nvSpPr>
          <p:spPr>
            <a:xfrm>
              <a:off x="5376862" y="2425541"/>
              <a:ext cx="109966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3,440 LUTs, 198 FFs</a:t>
              </a:r>
            </a:p>
          </p:txBody>
        </p:sp>
        <p:sp>
          <p:nvSpPr>
            <p:cNvPr id="73" name="TextBox 31"/>
            <p:cNvSpPr txBox="1"/>
            <p:nvPr/>
          </p:nvSpPr>
          <p:spPr>
            <a:xfrm>
              <a:off x="6662738" y="2425541"/>
              <a:ext cx="67646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9 DSP Slices</a:t>
              </a:r>
            </a:p>
          </p:txBody>
        </p:sp>
        <p:sp>
          <p:nvSpPr>
            <p:cNvPr id="74" name="TextBox 32"/>
            <p:cNvSpPr txBox="1"/>
            <p:nvPr/>
          </p:nvSpPr>
          <p:spPr>
            <a:xfrm>
              <a:off x="7996238" y="2425541"/>
              <a:ext cx="110767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40.25 ns (24.8 MSps)</a:t>
              </a:r>
            </a:p>
          </p:txBody>
        </p:sp>
        <p:sp>
          <p:nvSpPr>
            <p:cNvPr id="75" name="TextBox 33"/>
            <p:cNvSpPr txBox="1"/>
            <p:nvPr/>
          </p:nvSpPr>
          <p:spPr>
            <a:xfrm>
              <a:off x="9520238" y="2425541"/>
              <a:ext cx="124874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Rolling OLS covariance</a:t>
              </a:r>
            </a:p>
          </p:txBody>
        </p:sp>
        <p:sp>
          <p:nvSpPr>
            <p:cNvPr id="76" name="Rectangle 34"/>
            <p:cNvSpPr/>
            <p:nvPr/>
          </p:nvSpPr>
          <p:spPr>
            <a:xfrm>
              <a:off x="714375" y="2647950"/>
              <a:ext cx="10763250" cy="304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7620">
              <a:solidFill>
                <a:srgbClr val="E2E8F0"/>
              </a:solidFill>
            </a:ln>
          </p:spPr>
        </p:sp>
        <p:sp>
          <p:nvSpPr>
            <p:cNvPr id="77" name="TextBox 35"/>
            <p:cNvSpPr txBox="1"/>
            <p:nvPr/>
          </p:nvSpPr>
          <p:spPr>
            <a:xfrm>
              <a:off x="804862" y="2758916"/>
              <a:ext cx="90730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DCIS '11 (Royer)</a:t>
              </a:r>
            </a:p>
          </p:txBody>
        </p:sp>
        <p:sp>
          <p:nvSpPr>
            <p:cNvPr id="78" name="TextBox 36"/>
            <p:cNvSpPr txBox="1"/>
            <p:nvPr/>
          </p:nvSpPr>
          <p:spPr>
            <a:xfrm>
              <a:off x="2566988" y="2758916"/>
              <a:ext cx="105157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Virtex-5 (XC5VLX)</a:t>
              </a:r>
            </a:p>
          </p:txBody>
        </p:sp>
        <p:sp>
          <p:nvSpPr>
            <p:cNvPr id="79" name="TextBox 37"/>
            <p:cNvSpPr txBox="1"/>
            <p:nvPr/>
          </p:nvSpPr>
          <p:spPr>
            <a:xfrm>
              <a:off x="3995738" y="2758916"/>
              <a:ext cx="103393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Custom Fixed-Point</a:t>
              </a:r>
            </a:p>
          </p:txBody>
        </p:sp>
        <p:sp>
          <p:nvSpPr>
            <p:cNvPr id="80" name="TextBox 38"/>
            <p:cNvSpPr txBox="1"/>
            <p:nvPr/>
          </p:nvSpPr>
          <p:spPr>
            <a:xfrm>
              <a:off x="5376862" y="2758916"/>
              <a:ext cx="6588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66–89 Slices</a:t>
              </a:r>
            </a:p>
          </p:txBody>
        </p:sp>
        <p:sp>
          <p:nvSpPr>
            <p:cNvPr id="81" name="TextBox 39"/>
            <p:cNvSpPr txBox="1"/>
            <p:nvPr/>
          </p:nvSpPr>
          <p:spPr>
            <a:xfrm>
              <a:off x="6662738" y="2758916"/>
              <a:ext cx="66845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5 DSP Slices</a:t>
              </a:r>
            </a:p>
          </p:txBody>
        </p:sp>
        <p:sp>
          <p:nvSpPr>
            <p:cNvPr id="82" name="TextBox 40"/>
            <p:cNvSpPr txBox="1"/>
            <p:nvPr/>
          </p:nvSpPr>
          <p:spPr>
            <a:xfrm>
              <a:off x="7996238" y="2758916"/>
              <a:ext cx="81272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439 MHz Fmax</a:t>
              </a:r>
            </a:p>
          </p:txBody>
        </p:sp>
        <p:sp>
          <p:nvSpPr>
            <p:cNvPr id="83" name="TextBox 41"/>
            <p:cNvSpPr txBox="1"/>
            <p:nvPr/>
          </p:nvSpPr>
          <p:spPr>
            <a:xfrm>
              <a:off x="9520238" y="2758916"/>
              <a:ext cx="94256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Block OLS fitting</a:t>
              </a:r>
            </a:p>
          </p:txBody>
        </p:sp>
        <p:sp>
          <p:nvSpPr>
            <p:cNvPr id="84" name="Rectangle 42"/>
            <p:cNvSpPr/>
            <p:nvPr/>
          </p:nvSpPr>
          <p:spPr>
            <a:xfrm>
              <a:off x="714375" y="2981325"/>
              <a:ext cx="10763250" cy="304800"/>
            </a:xfrm>
            <a:prstGeom prst="roundRect">
              <a:avLst>
                <a:gd name="adj" fmla="val 12500"/>
              </a:avLst>
            </a:prstGeom>
            <a:solidFill>
              <a:srgbClr val="EFF6FF"/>
            </a:solidFill>
            <a:ln w="11430">
              <a:solidFill>
                <a:srgbClr val="2563EB"/>
              </a:solidFill>
            </a:ln>
          </p:spPr>
        </p:sp>
        <p:sp>
          <p:nvSpPr>
            <p:cNvPr id="85" name="TextBox 43"/>
            <p:cNvSpPr txBox="1"/>
            <p:nvPr/>
          </p:nvSpPr>
          <p:spPr>
            <a:xfrm>
              <a:off x="804862" y="3092291"/>
              <a:ext cx="130003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This Work: Speed Core</a:t>
              </a:r>
            </a:p>
          </p:txBody>
        </p:sp>
        <p:sp>
          <p:nvSpPr>
            <p:cNvPr id="86" name="TextBox 44"/>
            <p:cNvSpPr txBox="1"/>
            <p:nvPr/>
          </p:nvSpPr>
          <p:spPr>
            <a:xfrm>
              <a:off x="2566988" y="3092291"/>
              <a:ext cx="105477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Cyclone II EP2C35</a:t>
              </a:r>
            </a:p>
          </p:txBody>
        </p:sp>
        <p:sp>
          <p:nvSpPr>
            <p:cNvPr id="87" name="TextBox 45"/>
            <p:cNvSpPr txBox="1"/>
            <p:nvPr/>
          </p:nvSpPr>
          <p:spPr>
            <a:xfrm>
              <a:off x="3995738" y="3092291"/>
              <a:ext cx="108363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Signed Q8.8 / Q2.14</a:t>
              </a:r>
            </a:p>
          </p:txBody>
        </p:sp>
        <p:sp>
          <p:nvSpPr>
            <p:cNvPr id="88" name="TextBox 46"/>
            <p:cNvSpPr txBox="1"/>
            <p:nvPr/>
          </p:nvSpPr>
          <p:spPr>
            <a:xfrm>
              <a:off x="5376862" y="3092291"/>
              <a:ext cx="85119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412 LEs (1.2%)</a:t>
              </a:r>
            </a:p>
          </p:txBody>
        </p:sp>
        <p:sp>
          <p:nvSpPr>
            <p:cNvPr id="89" name="TextBox 47"/>
            <p:cNvSpPr txBox="1"/>
            <p:nvPr/>
          </p:nvSpPr>
          <p:spPr>
            <a:xfrm>
              <a:off x="6662738" y="3092291"/>
              <a:ext cx="85279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2 Mults (5.7%)</a:t>
              </a:r>
            </a:p>
          </p:txBody>
        </p:sp>
        <p:sp>
          <p:nvSpPr>
            <p:cNvPr id="90" name="TextBox 48"/>
            <p:cNvSpPr txBox="1"/>
            <p:nvPr/>
          </p:nvSpPr>
          <p:spPr>
            <a:xfrm>
              <a:off x="7996238" y="3092291"/>
              <a:ext cx="123751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5 clk (II=1) | 142 MHz</a:t>
              </a:r>
            </a:p>
          </p:txBody>
        </p:sp>
        <p:sp>
          <p:nvSpPr>
            <p:cNvPr id="91" name="TextBox 49"/>
            <p:cNvSpPr txBox="1"/>
            <p:nvPr/>
          </p:nvSpPr>
          <p:spPr>
            <a:xfrm>
              <a:off x="9520238" y="3092291"/>
              <a:ext cx="133850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Diurnal Edge Streaming</a:t>
              </a:r>
            </a:p>
          </p:txBody>
        </p:sp>
        <p:sp>
          <p:nvSpPr>
            <p:cNvPr id="92" name="Rectangle 50"/>
            <p:cNvSpPr/>
            <p:nvPr/>
          </p:nvSpPr>
          <p:spPr>
            <a:xfrm>
              <a:off x="714375" y="3314700"/>
              <a:ext cx="10763250" cy="304800"/>
            </a:xfrm>
            <a:prstGeom prst="roundRect">
              <a:avLst>
                <a:gd name="adj" fmla="val 12500"/>
              </a:avLst>
            </a:prstGeom>
            <a:solidFill>
              <a:srgbClr val="F0FDF4"/>
            </a:solidFill>
            <a:ln w="11430">
              <a:solidFill>
                <a:srgbClr val="16A34A"/>
              </a:solidFill>
            </a:ln>
          </p:spPr>
        </p:sp>
        <p:sp>
          <p:nvSpPr>
            <p:cNvPr id="93" name="TextBox 51"/>
            <p:cNvSpPr txBox="1"/>
            <p:nvPr/>
          </p:nvSpPr>
          <p:spPr>
            <a:xfrm>
              <a:off x="804862" y="3425666"/>
              <a:ext cx="148117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This Work: Resource Core</a:t>
              </a:r>
            </a:p>
          </p:txBody>
        </p:sp>
        <p:sp>
          <p:nvSpPr>
            <p:cNvPr id="94" name="TextBox 52"/>
            <p:cNvSpPr txBox="1"/>
            <p:nvPr/>
          </p:nvSpPr>
          <p:spPr>
            <a:xfrm>
              <a:off x="2566988" y="3425666"/>
              <a:ext cx="100508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Cyclone II EP2C35</a:t>
              </a:r>
            </a:p>
          </p:txBody>
        </p:sp>
        <p:sp>
          <p:nvSpPr>
            <p:cNvPr id="95" name="TextBox 53"/>
            <p:cNvSpPr txBox="1"/>
            <p:nvPr/>
          </p:nvSpPr>
          <p:spPr>
            <a:xfrm>
              <a:off x="3995738" y="3425666"/>
              <a:ext cx="105798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Signed Q8.8 / Q2.14</a:t>
              </a:r>
            </a:p>
          </p:txBody>
        </p:sp>
        <p:sp>
          <p:nvSpPr>
            <p:cNvPr id="96" name="TextBox 54"/>
            <p:cNvSpPr txBox="1"/>
            <p:nvPr/>
          </p:nvSpPr>
          <p:spPr>
            <a:xfrm>
              <a:off x="5376862" y="3425666"/>
              <a:ext cx="85119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236 LEs (0.7%)</a:t>
              </a:r>
            </a:p>
          </p:txBody>
        </p:sp>
        <p:sp>
          <p:nvSpPr>
            <p:cNvPr id="97" name="TextBox 55"/>
            <p:cNvSpPr txBox="1"/>
            <p:nvPr/>
          </p:nvSpPr>
          <p:spPr>
            <a:xfrm>
              <a:off x="6662738" y="3425666"/>
              <a:ext cx="119744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1 Shared Mult (2.8%)</a:t>
              </a:r>
            </a:p>
          </p:txBody>
        </p:sp>
        <p:sp>
          <p:nvSpPr>
            <p:cNvPr id="98" name="TextBox 56"/>
            <p:cNvSpPr txBox="1"/>
            <p:nvPr/>
          </p:nvSpPr>
          <p:spPr>
            <a:xfrm>
              <a:off x="7996238" y="3425666"/>
              <a:ext cx="123751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9 clk (II=10) | 118 MHz</a:t>
              </a:r>
            </a:p>
          </p:txBody>
        </p:sp>
        <p:sp>
          <p:nvSpPr>
            <p:cNvPr id="99" name="TextBox 57"/>
            <p:cNvSpPr txBox="1"/>
            <p:nvPr/>
          </p:nvSpPr>
          <p:spPr>
            <a:xfrm>
              <a:off x="9520238" y="3425666"/>
              <a:ext cx="119263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Time-Muxed Edge IoT</a:t>
              </a:r>
            </a:p>
          </p:txBody>
        </p:sp>
      </p:grpSp>
      <p:grpSp>
        <p:nvGrpSpPr>
          <p:cNvPr id="100" name="card_superiority"/>
          <p:cNvGrpSpPr/>
          <p:nvPr/>
        </p:nvGrpSpPr>
        <p:grpSpPr>
          <a:xfrm>
            <a:off x="571500" y="4214812"/>
            <a:ext cx="5381625" cy="2190750"/>
            <a:chOff x="571500" y="3857625"/>
            <a:chExt cx="5381625" cy="2190750"/>
          </a:xfrm>
        </p:grpSpPr>
        <p:sp>
          <p:nvSpPr>
            <p:cNvPr id="101" name="Rectangle 59"/>
            <p:cNvSpPr/>
            <p:nvPr/>
          </p:nvSpPr>
          <p:spPr>
            <a:xfrm>
              <a:off x="571500" y="3857625"/>
              <a:ext cx="5381625" cy="219075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4288">
              <a:solidFill>
                <a:srgbClr val="16A34A"/>
              </a:solidFill>
            </a:ln>
          </p:spPr>
        </p:sp>
        <p:sp>
          <p:nvSpPr>
            <p:cNvPr id="102" name="Rectangle 60"/>
            <p:cNvSpPr/>
            <p:nvPr/>
          </p:nvSpPr>
          <p:spPr>
            <a:xfrm>
              <a:off x="571500" y="3857625"/>
              <a:ext cx="5381625" cy="323850"/>
            </a:xfrm>
            <a:prstGeom prst="roundRect">
              <a:avLst>
                <a:gd name="adj" fmla="val 23529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03" name="TextBox 61"/>
            <p:cNvSpPr txBox="1"/>
            <p:nvPr/>
          </p:nvSpPr>
          <p:spPr>
            <a:xfrm>
              <a:off x="757238" y="3970020"/>
              <a:ext cx="41515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latin typeface="+mj-lt"/>
                  <a:ea typeface="+mn-ea"/>
                  <a:cs typeface="+mn-cs"/>
                </a:rPr>
                <a:t>ENGINEERING ADVANTAGES (KEY DIFFERENTIATORS)</a:t>
              </a:r>
            </a:p>
          </p:txBody>
        </p:sp>
        <p:sp>
          <p:nvSpPr>
            <p:cNvPr id="104" name="TextBox 62"/>
            <p:cNvSpPr txBox="1"/>
            <p:nvPr/>
          </p:nvSpPr>
          <p:spPr>
            <a:xfrm>
              <a:off x="757238" y="4292441"/>
              <a:ext cx="374416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E3A8A"/>
                </a:buClr>
                <a:buSzTx/>
                <a:buFontTx/>
                <a:buChar char="•"/>
              </a:pPr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99.5% DSP Savings: </a:t>
              </a: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Uses 1–2 mults vs 473 in SBCCI '19.</a:t>
              </a:r>
            </a:p>
          </p:txBody>
        </p:sp>
        <p:sp>
          <p:nvSpPr>
            <p:cNvPr id="105" name="TextBox 63"/>
            <p:cNvSpPr txBox="1"/>
            <p:nvPr/>
          </p:nvSpPr>
          <p:spPr>
            <a:xfrm>
              <a:off x="757238" y="4673441"/>
              <a:ext cx="425321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E3A8A"/>
                </a:buClr>
                <a:buSzTx/>
                <a:buFontTx/>
                <a:buChar char="•"/>
              </a:pPr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II = 1 Streaming: </a:t>
              </a: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50 MSps @ 142.3 MHz F_max (0 bubble stalls).</a:t>
              </a:r>
            </a:p>
          </p:txBody>
        </p:sp>
        <p:sp>
          <p:nvSpPr>
            <p:cNvPr id="106" name="TextBox 64"/>
            <p:cNvSpPr txBox="1"/>
            <p:nvPr/>
          </p:nvSpPr>
          <p:spPr>
            <a:xfrm>
              <a:off x="757238" y="5054441"/>
              <a:ext cx="383553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E3A8A"/>
                </a:buClr>
                <a:buSzTx/>
                <a:buFontTx/>
                <a:buChar char="•"/>
              </a:pPr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Diurnal Anchor: </a:t>
              </a: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&gt;85% variance captured at zero logic cost.</a:t>
              </a:r>
            </a:p>
          </p:txBody>
        </p:sp>
        <p:sp>
          <p:nvSpPr>
            <p:cNvPr id="107" name="TextBox 65"/>
            <p:cNvSpPr txBox="1"/>
            <p:nvPr/>
          </p:nvSpPr>
          <p:spPr>
            <a:xfrm>
              <a:off x="757238" y="5435441"/>
              <a:ext cx="358829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E3A8A"/>
                </a:buClr>
                <a:buSzTx/>
                <a:buFontTx/>
                <a:buChar char="•"/>
              </a:pPr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DPI-C Verified: </a:t>
              </a: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100% bit-exact across 10,000+ vectors.</a:t>
              </a:r>
            </a:p>
          </p:txBody>
        </p:sp>
      </p:grpSp>
      <p:grpSp>
        <p:nvGrpSpPr>
          <p:cNvPr id="108" name="card_inferiority"/>
          <p:cNvGrpSpPr/>
          <p:nvPr/>
        </p:nvGrpSpPr>
        <p:grpSpPr>
          <a:xfrm>
            <a:off x="6238875" y="4214812"/>
            <a:ext cx="5381625" cy="2190750"/>
            <a:chOff x="6238875" y="3857625"/>
            <a:chExt cx="5381625" cy="2190750"/>
          </a:xfrm>
        </p:grpSpPr>
        <p:sp>
          <p:nvSpPr>
            <p:cNvPr id="109" name="Rectangle 67"/>
            <p:cNvSpPr/>
            <p:nvPr/>
          </p:nvSpPr>
          <p:spPr>
            <a:xfrm>
              <a:off x="6238875" y="3857625"/>
              <a:ext cx="5381625" cy="219075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4288">
              <a:solidFill>
                <a:srgbClr val="D97706"/>
              </a:solidFill>
            </a:ln>
          </p:spPr>
        </p:sp>
        <p:sp>
          <p:nvSpPr>
            <p:cNvPr id="110" name="Rectangle 68"/>
            <p:cNvSpPr/>
            <p:nvPr/>
          </p:nvSpPr>
          <p:spPr>
            <a:xfrm>
              <a:off x="6238875" y="3857625"/>
              <a:ext cx="5381625" cy="323850"/>
            </a:xfrm>
            <a:prstGeom prst="roundRect">
              <a:avLst>
                <a:gd name="adj" fmla="val 23529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11" name="TextBox 69"/>
            <p:cNvSpPr txBox="1"/>
            <p:nvPr/>
          </p:nvSpPr>
          <p:spPr>
            <a:xfrm>
              <a:off x="6424612" y="3970020"/>
              <a:ext cx="406406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latin typeface="+mj-lt"/>
                  <a:ea typeface="+mn-ea"/>
                  <a:cs typeface="+mn-cs"/>
                </a:rPr>
                <a:t>ARCHITECTURAL BOUNDARIES &amp; DESIGN DECISIONS</a:t>
              </a:r>
            </a:p>
          </p:txBody>
        </p:sp>
        <p:sp>
          <p:nvSpPr>
            <p:cNvPr id="112" name="TextBox 70"/>
            <p:cNvSpPr txBox="1"/>
            <p:nvPr/>
          </p:nvSpPr>
          <p:spPr>
            <a:xfrm>
              <a:off x="6424612" y="4292441"/>
              <a:ext cx="402424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E3A8A"/>
                </a:buClr>
                <a:buSzTx/>
                <a:buFontTx/>
                <a:buChar char="•"/>
              </a:pPr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Offline Partition: </a:t>
              </a: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Weights fitted in C++, reloadable via UART.</a:t>
              </a:r>
            </a:p>
          </p:txBody>
        </p:sp>
        <p:sp>
          <p:nvSpPr>
            <p:cNvPr id="113" name="TextBox 71"/>
            <p:cNvSpPr txBox="1"/>
            <p:nvPr/>
          </p:nvSpPr>
          <p:spPr>
            <a:xfrm>
              <a:off x="6424612" y="4673441"/>
              <a:ext cx="391773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E3A8A"/>
                </a:buClr>
                <a:buSzTx/>
                <a:buFontTx/>
                <a:buChar char="•"/>
              </a:pPr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Bounded Range: </a:t>
              </a: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Q8.8 [-128°C, +128°C] tailored for sensors.</a:t>
              </a:r>
            </a:p>
          </p:txBody>
        </p:sp>
        <p:sp>
          <p:nvSpPr>
            <p:cNvPr id="114" name="TextBox 72"/>
            <p:cNvSpPr txBox="1"/>
            <p:nvPr/>
          </p:nvSpPr>
          <p:spPr>
            <a:xfrm>
              <a:off x="6424612" y="5054441"/>
              <a:ext cx="380379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E3A8A"/>
                </a:buClr>
                <a:buSzTx/>
                <a:buFontTx/>
                <a:buChar char="•"/>
              </a:pPr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3-Tap Scope: </a:t>
              </a: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Local edge predictor vs generic matrix solver.</a:t>
              </a:r>
            </a:p>
          </p:txBody>
        </p:sp>
        <p:sp>
          <p:nvSpPr>
            <p:cNvPr id="115" name="TextBox 73"/>
            <p:cNvSpPr txBox="1"/>
            <p:nvPr/>
          </p:nvSpPr>
          <p:spPr>
            <a:xfrm>
              <a:off x="6424612" y="5435441"/>
              <a:ext cx="380219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E3A8A"/>
                </a:buClr>
                <a:buSzTx/>
                <a:buFontTx/>
                <a:buChar char="•"/>
              </a:pPr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Target Silicon: </a:t>
              </a: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90nm Cyclone II; portable to modern ASIC.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2729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8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605999" y="953377"/>
            <a:ext cx="11518267" cy="890663"/>
          </a:xfrm>
        </p:spPr>
        <p:txBody>
          <a:bodyPr>
            <a:normAutofit fontScale="90000"/>
          </a:bodyPr>
          <a:lstStyle/>
          <a:p>
            <a:r>
              <a:rPr lang="en" dirty="0">
                <a:solidFill>
                  <a:schemeClr val="accent1"/>
                </a:solidFill>
              </a:rPr>
              <a:t>Precision Contract: Signed Q8.8 &amp; Q2.14 Bitfields</a:t>
            </a:r>
          </a:p>
        </p:txBody>
      </p:sp>
      <p:grpSp>
        <p:nvGrpSpPr>
          <p:cNvPr id="28" name="bitfield_visual"/>
          <p:cNvGrpSpPr/>
          <p:nvPr/>
        </p:nvGrpSpPr>
        <p:grpSpPr>
          <a:xfrm>
            <a:off x="455740" y="1666875"/>
            <a:ext cx="7239000" cy="4762500"/>
            <a:chOff x="571500" y="1285875"/>
            <a:chExt cx="7239000" cy="4762500"/>
          </a:xfrm>
        </p:grpSpPr>
        <p:sp>
          <p:nvSpPr>
            <p:cNvPr id="29" name="Rectangle 7"/>
            <p:cNvSpPr/>
            <p:nvPr/>
          </p:nvSpPr>
          <p:spPr>
            <a:xfrm>
              <a:off x="571500" y="1285875"/>
              <a:ext cx="72390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0" name="Rectangle 8"/>
            <p:cNvSpPr/>
            <p:nvPr/>
          </p:nvSpPr>
          <p:spPr>
            <a:xfrm>
              <a:off x="571500" y="1285875"/>
              <a:ext cx="723900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32" name="TextBox 9"/>
            <p:cNvSpPr txBox="1"/>
            <p:nvPr/>
          </p:nvSpPr>
          <p:spPr>
            <a:xfrm>
              <a:off x="756666" y="1362789"/>
              <a:ext cx="339836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00" b="1" dirty="0">
                  <a:latin typeface="+mj-lt"/>
                  <a:ea typeface="+mn-ea"/>
                  <a:cs typeface="+mn-cs"/>
                </a:rPr>
                <a:t>REGISTER BITFIELD STRUCTURE</a:t>
              </a:r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757047" y="1847374"/>
              <a:ext cx="318234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1. Temperature Telemetry: Signed Q8.8 (16 Bits)</a:t>
              </a:r>
            </a:p>
          </p:txBody>
        </p:sp>
        <p:sp>
          <p:nvSpPr>
            <p:cNvPr id="34" name="TextBox 11"/>
            <p:cNvSpPr txBox="1"/>
            <p:nvPr/>
          </p:nvSpPr>
          <p:spPr>
            <a:xfrm>
              <a:off x="900112" y="2090738"/>
              <a:ext cx="39273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Bit 15</a:t>
              </a:r>
            </a:p>
          </p:txBody>
        </p:sp>
        <p:sp>
          <p:nvSpPr>
            <p:cNvPr id="35" name="TextBox 12"/>
            <p:cNvSpPr txBox="1"/>
            <p:nvPr/>
          </p:nvSpPr>
          <p:spPr>
            <a:xfrm>
              <a:off x="1328738" y="2090738"/>
              <a:ext cx="15388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6" name="TextBox 13"/>
            <p:cNvSpPr txBox="1"/>
            <p:nvPr/>
          </p:nvSpPr>
          <p:spPr>
            <a:xfrm>
              <a:off x="3567112" y="2090738"/>
              <a:ext cx="7694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TextBox 14"/>
            <p:cNvSpPr txBox="1"/>
            <p:nvPr/>
          </p:nvSpPr>
          <p:spPr>
            <a:xfrm>
              <a:off x="4186238" y="2090738"/>
              <a:ext cx="7694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8" name="TextBox 15"/>
            <p:cNvSpPr txBox="1"/>
            <p:nvPr/>
          </p:nvSpPr>
          <p:spPr>
            <a:xfrm>
              <a:off x="6996112" y="2090738"/>
              <a:ext cx="7694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Rectangle 16"/>
            <p:cNvSpPr/>
            <p:nvPr/>
          </p:nvSpPr>
          <p:spPr>
            <a:xfrm>
              <a:off x="762000" y="2266950"/>
              <a:ext cx="428625" cy="400050"/>
            </a:xfrm>
            <a:prstGeom prst="rect">
              <a:avLst/>
            </a:prstGeom>
            <a:solidFill>
              <a:srgbClr val="FFFBEB"/>
            </a:solidFill>
            <a:ln w="14288">
              <a:solidFill>
                <a:srgbClr val="D97706"/>
              </a:solidFill>
            </a:ln>
          </p:spPr>
        </p:sp>
        <p:sp>
          <p:nvSpPr>
            <p:cNvPr id="40" name="TextBox 17"/>
            <p:cNvSpPr txBox="1"/>
            <p:nvPr/>
          </p:nvSpPr>
          <p:spPr>
            <a:xfrm>
              <a:off x="929070" y="2417445"/>
              <a:ext cx="849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1" name="Rectangle 18"/>
            <p:cNvSpPr/>
            <p:nvPr/>
          </p:nvSpPr>
          <p:spPr>
            <a:xfrm>
              <a:off x="1190625" y="2266950"/>
              <a:ext cx="2714625" cy="400050"/>
            </a:xfrm>
            <a:prstGeom prst="rect">
              <a:avLst/>
            </a:prstGeom>
            <a:solidFill>
              <a:srgbClr val="EFF6FF"/>
            </a:solidFill>
            <a:ln w="14288">
              <a:solidFill>
                <a:srgbClr val="1E3A8A"/>
              </a:solidFill>
            </a:ln>
          </p:spPr>
        </p:sp>
        <p:sp>
          <p:nvSpPr>
            <p:cNvPr id="42" name="TextBox 19"/>
            <p:cNvSpPr txBox="1"/>
            <p:nvPr/>
          </p:nvSpPr>
          <p:spPr>
            <a:xfrm>
              <a:off x="1861097" y="2417445"/>
              <a:ext cx="136415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Integer: 7 Bits [14:8]</a:t>
              </a:r>
            </a:p>
          </p:txBody>
        </p:sp>
        <p:sp>
          <p:nvSpPr>
            <p:cNvPr id="43" name="Line 20"/>
            <p:cNvSpPr/>
            <p:nvPr/>
          </p:nvSpPr>
          <p:spPr>
            <a:xfrm>
              <a:off x="3905250" y="2219325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23812">
              <a:solidFill>
                <a:srgbClr val="DC2626"/>
              </a:solidFill>
              <a:custDash>
                <a:ds d="120000" sp="80000"/>
              </a:custDash>
            </a:ln>
          </p:spPr>
        </p:sp>
        <p:sp>
          <p:nvSpPr>
            <p:cNvPr id="44" name="TextBox 21"/>
            <p:cNvSpPr txBox="1"/>
            <p:nvPr/>
          </p:nvSpPr>
          <p:spPr>
            <a:xfrm>
              <a:off x="3514118" y="2776538"/>
              <a:ext cx="7822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DC2626"/>
                  </a:solidFill>
                  <a:latin typeface="+mj-lt"/>
                  <a:ea typeface="+mn-ea"/>
                  <a:cs typeface="+mn-cs"/>
                </a:rPr>
                <a:t>Radix Point</a:t>
              </a:r>
            </a:p>
          </p:txBody>
        </p:sp>
        <p:sp>
          <p:nvSpPr>
            <p:cNvPr id="45" name="Rectangle 22"/>
            <p:cNvSpPr/>
            <p:nvPr/>
          </p:nvSpPr>
          <p:spPr>
            <a:xfrm>
              <a:off x="3905250" y="2266950"/>
              <a:ext cx="3333750" cy="400050"/>
            </a:xfrm>
            <a:prstGeom prst="rect">
              <a:avLst/>
            </a:prstGeom>
            <a:solidFill>
              <a:srgbClr val="F8FAFC"/>
            </a:solidFill>
            <a:ln w="14288">
              <a:solidFill>
                <a:srgbClr val="2563EB"/>
              </a:solidFill>
            </a:ln>
          </p:spPr>
        </p:sp>
        <p:sp>
          <p:nvSpPr>
            <p:cNvPr id="46" name="TextBox 23"/>
            <p:cNvSpPr txBox="1"/>
            <p:nvPr/>
          </p:nvSpPr>
          <p:spPr>
            <a:xfrm>
              <a:off x="4825125" y="2417445"/>
              <a:ext cx="149399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Fractional: 8 Bits [7:0]</a:t>
              </a:r>
            </a:p>
          </p:txBody>
        </p:sp>
        <p:sp>
          <p:nvSpPr>
            <p:cNvPr id="47" name="TextBox 24"/>
            <p:cNvSpPr txBox="1"/>
            <p:nvPr/>
          </p:nvSpPr>
          <p:spPr>
            <a:xfrm>
              <a:off x="757238" y="3035141"/>
              <a:ext cx="559127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Range: [-128.000 °C, +127.996 °C] | LSB = 2^-8 = 0.0039 °C (25.6x below sensor noise)</a:t>
              </a:r>
            </a:p>
          </p:txBody>
        </p:sp>
        <p:sp>
          <p:nvSpPr>
            <p:cNvPr id="48" name="TextBox 25"/>
            <p:cNvSpPr txBox="1"/>
            <p:nvPr/>
          </p:nvSpPr>
          <p:spPr>
            <a:xfrm>
              <a:off x="757047" y="3466624"/>
              <a:ext cx="269144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2. Model Weights: Signed Q2.14 (16 Bits)</a:t>
              </a:r>
            </a:p>
          </p:txBody>
        </p:sp>
        <p:sp>
          <p:nvSpPr>
            <p:cNvPr id="49" name="TextBox 26"/>
            <p:cNvSpPr txBox="1"/>
            <p:nvPr/>
          </p:nvSpPr>
          <p:spPr>
            <a:xfrm>
              <a:off x="900112" y="3709988"/>
              <a:ext cx="39273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Bit 15</a:t>
              </a:r>
            </a:p>
          </p:txBody>
        </p:sp>
        <p:sp>
          <p:nvSpPr>
            <p:cNvPr id="50" name="TextBox 27"/>
            <p:cNvSpPr txBox="1"/>
            <p:nvPr/>
          </p:nvSpPr>
          <p:spPr>
            <a:xfrm>
              <a:off x="1328738" y="3709988"/>
              <a:ext cx="15388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1" name="TextBox 28"/>
            <p:cNvSpPr txBox="1"/>
            <p:nvPr/>
          </p:nvSpPr>
          <p:spPr>
            <a:xfrm>
              <a:off x="1709738" y="3709988"/>
              <a:ext cx="15388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2" name="TextBox 29"/>
            <p:cNvSpPr txBox="1"/>
            <p:nvPr/>
          </p:nvSpPr>
          <p:spPr>
            <a:xfrm>
              <a:off x="6996112" y="3709988"/>
              <a:ext cx="7694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30"/>
            <p:cNvSpPr/>
            <p:nvPr/>
          </p:nvSpPr>
          <p:spPr>
            <a:xfrm>
              <a:off x="762000" y="3886200"/>
              <a:ext cx="428625" cy="400050"/>
            </a:xfrm>
            <a:prstGeom prst="rect">
              <a:avLst/>
            </a:prstGeom>
            <a:solidFill>
              <a:srgbClr val="FFFBEB"/>
            </a:solidFill>
            <a:ln w="14288">
              <a:solidFill>
                <a:srgbClr val="D97706"/>
              </a:solidFill>
            </a:ln>
          </p:spPr>
        </p:sp>
        <p:sp>
          <p:nvSpPr>
            <p:cNvPr id="54" name="TextBox 31"/>
            <p:cNvSpPr txBox="1"/>
            <p:nvPr/>
          </p:nvSpPr>
          <p:spPr>
            <a:xfrm>
              <a:off x="929070" y="4036695"/>
              <a:ext cx="849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55" name="Rectangle 32"/>
            <p:cNvSpPr/>
            <p:nvPr/>
          </p:nvSpPr>
          <p:spPr>
            <a:xfrm>
              <a:off x="1190625" y="3886200"/>
              <a:ext cx="428625" cy="400050"/>
            </a:xfrm>
            <a:prstGeom prst="rect">
              <a:avLst/>
            </a:prstGeom>
            <a:solidFill>
              <a:srgbClr val="EFF6FF"/>
            </a:solidFill>
            <a:ln w="14288">
              <a:solidFill>
                <a:srgbClr val="1E3A8A"/>
              </a:solidFill>
            </a:ln>
          </p:spPr>
        </p:sp>
        <p:sp>
          <p:nvSpPr>
            <p:cNvPr id="56" name="TextBox 33"/>
            <p:cNvSpPr txBox="1"/>
            <p:nvPr/>
          </p:nvSpPr>
          <p:spPr>
            <a:xfrm>
              <a:off x="1332047" y="4044791"/>
              <a:ext cx="13625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I0</a:t>
              </a:r>
            </a:p>
          </p:txBody>
        </p:sp>
        <p:sp>
          <p:nvSpPr>
            <p:cNvPr id="57" name="Line 34"/>
            <p:cNvSpPr/>
            <p:nvPr/>
          </p:nvSpPr>
          <p:spPr>
            <a:xfrm>
              <a:off x="1619250" y="3838575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23812">
              <a:solidFill>
                <a:srgbClr val="DC2626"/>
              </a:solidFill>
              <a:custDash>
                <a:ds d="120000" sp="80000"/>
              </a:custDash>
            </a:ln>
          </p:spPr>
        </p:sp>
        <p:sp>
          <p:nvSpPr>
            <p:cNvPr id="58" name="TextBox 35"/>
            <p:cNvSpPr txBox="1"/>
            <p:nvPr/>
          </p:nvSpPr>
          <p:spPr>
            <a:xfrm>
              <a:off x="1228118" y="4395788"/>
              <a:ext cx="7822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DC2626"/>
                  </a:solidFill>
                  <a:latin typeface="+mj-lt"/>
                  <a:ea typeface="+mn-ea"/>
                  <a:cs typeface="+mn-cs"/>
                </a:rPr>
                <a:t>Radix Point</a:t>
              </a:r>
            </a:p>
          </p:txBody>
        </p:sp>
        <p:sp>
          <p:nvSpPr>
            <p:cNvPr id="59" name="Rectangle 36"/>
            <p:cNvSpPr/>
            <p:nvPr/>
          </p:nvSpPr>
          <p:spPr>
            <a:xfrm>
              <a:off x="1619250" y="3886200"/>
              <a:ext cx="5619750" cy="400050"/>
            </a:xfrm>
            <a:prstGeom prst="rect">
              <a:avLst/>
            </a:prstGeom>
            <a:solidFill>
              <a:srgbClr val="F8FAFC"/>
            </a:solidFill>
            <a:ln w="14288">
              <a:solidFill>
                <a:srgbClr val="4F46E5"/>
              </a:solidFill>
            </a:ln>
          </p:spPr>
        </p:sp>
        <p:sp>
          <p:nvSpPr>
            <p:cNvPr id="60" name="TextBox 37"/>
            <p:cNvSpPr txBox="1"/>
            <p:nvPr/>
          </p:nvSpPr>
          <p:spPr>
            <a:xfrm>
              <a:off x="3605181" y="4036695"/>
              <a:ext cx="164788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4F46E5"/>
                  </a:solidFill>
                  <a:latin typeface="+mj-lt"/>
                  <a:ea typeface="+mn-ea"/>
                  <a:cs typeface="+mn-cs"/>
                </a:rPr>
                <a:t>Fractional: 14 Bits [13:0]</a:t>
              </a:r>
            </a:p>
          </p:txBody>
        </p:sp>
        <p:sp>
          <p:nvSpPr>
            <p:cNvPr id="61" name="TextBox 38"/>
            <p:cNvSpPr txBox="1"/>
            <p:nvPr/>
          </p:nvSpPr>
          <p:spPr>
            <a:xfrm>
              <a:off x="757238" y="4654391"/>
              <a:ext cx="407162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Range: [-2.0000, +1.9999] | Resolution LSB = 2^-14 = 0.000061</a:t>
              </a:r>
            </a:p>
          </p:txBody>
        </p:sp>
        <p:sp>
          <p:nvSpPr>
            <p:cNvPr id="62" name="Rectangle 39"/>
            <p:cNvSpPr/>
            <p:nvPr/>
          </p:nvSpPr>
          <p:spPr>
            <a:xfrm>
              <a:off x="762000" y="5000625"/>
              <a:ext cx="6477000" cy="809625"/>
            </a:xfrm>
            <a:prstGeom prst="roundRect">
              <a:avLst>
                <a:gd name="adj" fmla="val 7059"/>
              </a:avLst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sp>
        <p:sp>
          <p:nvSpPr>
            <p:cNvPr id="63" name="TextBox 40"/>
            <p:cNvSpPr txBox="1"/>
            <p:nvPr/>
          </p:nvSpPr>
          <p:spPr>
            <a:xfrm>
              <a:off x="900112" y="5149691"/>
              <a:ext cx="381110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Hardware Quantized Weight Constants (Verilog / DPI-C):</a:t>
              </a:r>
            </a:p>
          </p:txBody>
        </p:sp>
        <p:sp>
          <p:nvSpPr>
            <p:cNvPr id="64" name="TextBox 41"/>
            <p:cNvSpPr txBox="1"/>
            <p:nvPr/>
          </p:nvSpPr>
          <p:spPr>
            <a:xfrm>
              <a:off x="900112" y="5359241"/>
              <a:ext cx="387400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COEF_A = 16'sh2FB6; // a = 0.7455 × 16384 = 12214 (Q2.14)</a:t>
              </a:r>
            </a:p>
          </p:txBody>
        </p:sp>
        <p:sp>
          <p:nvSpPr>
            <p:cNvPr id="65" name="TextBox 42"/>
            <p:cNvSpPr txBox="1"/>
            <p:nvPr/>
          </p:nvSpPr>
          <p:spPr>
            <a:xfrm>
              <a:off x="900112" y="5568791"/>
              <a:ext cx="565058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COEF_B = 16'sh0096; // b = 0.0091 × 16384 = 150 (Q2.14) | COEF_C = 16'sh0000; (Q8.8)</a:t>
              </a:r>
            </a:p>
          </p:txBody>
        </p:sp>
      </p:grpSp>
      <p:grpSp>
        <p:nvGrpSpPr>
          <p:cNvPr id="66" name="quant_table"/>
          <p:cNvGrpSpPr/>
          <p:nvPr/>
        </p:nvGrpSpPr>
        <p:grpSpPr>
          <a:xfrm>
            <a:off x="7885240" y="1666875"/>
            <a:ext cx="3619500" cy="4762500"/>
            <a:chOff x="8001000" y="1285875"/>
            <a:chExt cx="3619500" cy="4762500"/>
          </a:xfrm>
        </p:grpSpPr>
        <p:sp>
          <p:nvSpPr>
            <p:cNvPr id="67" name="Rectangle 44"/>
            <p:cNvSpPr/>
            <p:nvPr/>
          </p:nvSpPr>
          <p:spPr>
            <a:xfrm>
              <a:off x="8001000" y="1285875"/>
              <a:ext cx="3619500" cy="4762500"/>
            </a:xfrm>
            <a:prstGeom prst="roundRect">
              <a:avLst>
                <a:gd name="adj" fmla="val 21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9" name="Rectangle 45"/>
            <p:cNvSpPr/>
            <p:nvPr/>
          </p:nvSpPr>
          <p:spPr>
            <a:xfrm>
              <a:off x="8001000" y="1285875"/>
              <a:ext cx="361950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90" name="TextBox 46"/>
            <p:cNvSpPr txBox="1"/>
            <p:nvPr/>
          </p:nvSpPr>
          <p:spPr>
            <a:xfrm>
              <a:off x="8186165" y="1362789"/>
              <a:ext cx="254550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00" b="1" dirty="0">
                  <a:latin typeface="+mj-lt"/>
                  <a:ea typeface="+mn-ea"/>
                  <a:cs typeface="+mn-cs"/>
                </a:rPr>
                <a:t>FORMAT</a:t>
              </a:r>
              <a:r>
                <a:rPr lang="en" sz="1200" b="1" dirty="0">
                  <a:latin typeface="+mj-lt"/>
                  <a:ea typeface="+mn-ea"/>
                  <a:cs typeface="+mn-cs"/>
                </a:rPr>
                <a:t> </a:t>
              </a:r>
              <a:r>
                <a:rPr lang="en" sz="1600" b="1" dirty="0">
                  <a:latin typeface="+mj-lt"/>
                  <a:ea typeface="+mn-ea"/>
                  <a:cs typeface="+mn-cs"/>
                </a:rPr>
                <a:t>SPECIFICATION</a:t>
              </a:r>
              <a:endParaRPr lang="en" sz="1200" b="1" dirty="0"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1" name="TextBox 47"/>
            <p:cNvSpPr txBox="1"/>
            <p:nvPr/>
          </p:nvSpPr>
          <p:spPr>
            <a:xfrm>
              <a:off x="8186547" y="1847374"/>
              <a:ext cx="109805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Signal Mapping:</a:t>
              </a:r>
            </a:p>
          </p:txBody>
        </p:sp>
        <p:sp>
          <p:nvSpPr>
            <p:cNvPr id="92" name="Rectangle 48"/>
            <p:cNvSpPr/>
            <p:nvPr/>
          </p:nvSpPr>
          <p:spPr>
            <a:xfrm>
              <a:off x="8191500" y="2095500"/>
              <a:ext cx="3238500" cy="419100"/>
            </a:xfrm>
            <a:prstGeom prst="roundRect">
              <a:avLst>
                <a:gd name="adj" fmla="val 13636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93" name="TextBox 49"/>
            <p:cNvSpPr txBox="1"/>
            <p:nvPr/>
          </p:nvSpPr>
          <p:spPr>
            <a:xfrm>
              <a:off x="8329612" y="2187416"/>
              <a:ext cx="188352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T(t), T(t-24), T(t-21), T(t-3):</a:t>
              </a:r>
            </a:p>
          </p:txBody>
        </p:sp>
        <p:sp>
          <p:nvSpPr>
            <p:cNvPr id="94" name="TextBox 50"/>
            <p:cNvSpPr txBox="1"/>
            <p:nvPr/>
          </p:nvSpPr>
          <p:spPr>
            <a:xfrm>
              <a:off x="8329612" y="2343864"/>
              <a:ext cx="208550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Signed Q8.8 (16b) | Radix at bit 8</a:t>
              </a:r>
            </a:p>
          </p:txBody>
        </p:sp>
        <p:sp>
          <p:nvSpPr>
            <p:cNvPr id="95" name="Rectangle 51"/>
            <p:cNvSpPr/>
            <p:nvPr/>
          </p:nvSpPr>
          <p:spPr>
            <a:xfrm>
              <a:off x="8191500" y="2571750"/>
              <a:ext cx="3238500" cy="419100"/>
            </a:xfrm>
            <a:prstGeom prst="roundRect">
              <a:avLst>
                <a:gd name="adj" fmla="val 13636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96" name="TextBox 52"/>
            <p:cNvSpPr txBox="1"/>
            <p:nvPr/>
          </p:nvSpPr>
          <p:spPr>
            <a:xfrm>
              <a:off x="8329612" y="2663666"/>
              <a:ext cx="110767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Coefficients a, b:</a:t>
              </a:r>
            </a:p>
          </p:txBody>
        </p:sp>
        <p:sp>
          <p:nvSpPr>
            <p:cNvPr id="97" name="TextBox 53"/>
            <p:cNvSpPr txBox="1"/>
            <p:nvPr/>
          </p:nvSpPr>
          <p:spPr>
            <a:xfrm>
              <a:off x="8329612" y="2820114"/>
              <a:ext cx="223939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Signed Q2.14 (16b) | Radix at bit 14</a:t>
              </a:r>
            </a:p>
          </p:txBody>
        </p:sp>
        <p:sp>
          <p:nvSpPr>
            <p:cNvPr id="98" name="Rectangle 54"/>
            <p:cNvSpPr/>
            <p:nvPr/>
          </p:nvSpPr>
          <p:spPr>
            <a:xfrm>
              <a:off x="8191500" y="3048000"/>
              <a:ext cx="3238500" cy="419100"/>
            </a:xfrm>
            <a:prstGeom prst="roundRect">
              <a:avLst>
                <a:gd name="adj" fmla="val 13636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99" name="TextBox 55"/>
            <p:cNvSpPr txBox="1"/>
            <p:nvPr/>
          </p:nvSpPr>
          <p:spPr>
            <a:xfrm>
              <a:off x="8329612" y="3139916"/>
              <a:ext cx="124713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Multipliers P1, P2:</a:t>
              </a:r>
            </a:p>
          </p:txBody>
        </p:sp>
        <p:sp>
          <p:nvSpPr>
            <p:cNvPr id="100" name="TextBox 56"/>
            <p:cNvSpPr txBox="1"/>
            <p:nvPr/>
          </p:nvSpPr>
          <p:spPr>
            <a:xfrm>
              <a:off x="8329612" y="3296364"/>
              <a:ext cx="231063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Signed Q11.22 (33b) | Radix at bit 22</a:t>
              </a:r>
            </a:p>
          </p:txBody>
        </p:sp>
        <p:sp>
          <p:nvSpPr>
            <p:cNvPr id="101" name="Rectangle 57"/>
            <p:cNvSpPr/>
            <p:nvPr/>
          </p:nvSpPr>
          <p:spPr>
            <a:xfrm>
              <a:off x="8191500" y="3524250"/>
              <a:ext cx="3238500" cy="419100"/>
            </a:xfrm>
            <a:prstGeom prst="roundRect">
              <a:avLst>
                <a:gd name="adj" fmla="val 13636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102" name="TextBox 58"/>
            <p:cNvSpPr txBox="1"/>
            <p:nvPr/>
          </p:nvSpPr>
          <p:spPr>
            <a:xfrm>
              <a:off x="8329612" y="3616166"/>
              <a:ext cx="119789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Accumulator Bus:</a:t>
              </a:r>
            </a:p>
          </p:txBody>
        </p:sp>
        <p:sp>
          <p:nvSpPr>
            <p:cNvPr id="103" name="TextBox 59"/>
            <p:cNvSpPr txBox="1"/>
            <p:nvPr/>
          </p:nvSpPr>
          <p:spPr>
            <a:xfrm>
              <a:off x="8329612" y="3772614"/>
              <a:ext cx="242534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Signed Q13.22 (35b) | Shifted to Q13.8</a:t>
              </a:r>
            </a:p>
          </p:txBody>
        </p:sp>
        <p:sp>
          <p:nvSpPr>
            <p:cNvPr id="104" name="Rectangle 60"/>
            <p:cNvSpPr/>
            <p:nvPr/>
          </p:nvSpPr>
          <p:spPr>
            <a:xfrm>
              <a:off x="8191500" y="4048125"/>
              <a:ext cx="3238500" cy="1809750"/>
            </a:xfrm>
            <a:prstGeom prst="roundRect">
              <a:avLst>
                <a:gd name="adj" fmla="val 3158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105" name="TextBox 61"/>
            <p:cNvSpPr txBox="1"/>
            <p:nvPr/>
          </p:nvSpPr>
          <p:spPr>
            <a:xfrm>
              <a:off x="8329612" y="4208145"/>
              <a:ext cx="165705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latin typeface="+mj-lt"/>
                  <a:ea typeface="+mn-ea"/>
                  <a:cs typeface="+mn-cs"/>
                </a:rPr>
                <a:t>Quantization Loss Audit:</a:t>
              </a:r>
            </a:p>
          </p:txBody>
        </p:sp>
        <p:sp>
          <p:nvSpPr>
            <p:cNvPr id="106" name="TextBox 62"/>
            <p:cNvSpPr txBox="1"/>
            <p:nvPr/>
          </p:nvSpPr>
          <p:spPr>
            <a:xfrm>
              <a:off x="8329612" y="4459843"/>
              <a:ext cx="205505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Floating-Point MAE: 0.5378 °C</a:t>
              </a:r>
            </a:p>
          </p:txBody>
        </p:sp>
        <p:sp>
          <p:nvSpPr>
            <p:cNvPr id="107" name="TextBox 63"/>
            <p:cNvSpPr txBox="1"/>
            <p:nvPr/>
          </p:nvSpPr>
          <p:spPr>
            <a:xfrm>
              <a:off x="8329612" y="4688443"/>
              <a:ext cx="223298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Fixed-Point Q8.8 MAE: 0.5381 °C</a:t>
              </a:r>
            </a:p>
          </p:txBody>
        </p:sp>
        <p:sp>
          <p:nvSpPr>
            <p:cNvPr id="108" name="TextBox 64"/>
            <p:cNvSpPr txBox="1"/>
            <p:nvPr/>
          </p:nvSpPr>
          <p:spPr>
            <a:xfrm>
              <a:off x="8329612" y="4917043"/>
              <a:ext cx="272831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Precision Loss: 0.0003 °C (0.05% relative)</a:t>
              </a:r>
            </a:p>
          </p:txBody>
        </p:sp>
        <p:sp>
          <p:nvSpPr>
            <p:cNvPr id="109" name="Line 65"/>
            <p:cNvSpPr/>
            <p:nvPr/>
          </p:nvSpPr>
          <p:spPr>
            <a:xfrm>
              <a:off x="8334375" y="518160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7620">
              <a:solidFill>
                <a:srgbClr val="16A34A"/>
              </a:solidFill>
            </a:ln>
          </p:spPr>
        </p:sp>
        <p:sp>
          <p:nvSpPr>
            <p:cNvPr id="110" name="TextBox 66"/>
            <p:cNvSpPr txBox="1"/>
            <p:nvPr/>
          </p:nvSpPr>
          <p:spPr>
            <a:xfrm>
              <a:off x="8329612" y="5340191"/>
              <a:ext cx="164192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latin typeface="+mj-lt"/>
                  <a:ea typeface="+mn-ea"/>
                  <a:cs typeface="+mn-cs"/>
                </a:rPr>
                <a:t>Negligible Precision Loss</a:t>
              </a:r>
            </a:p>
          </p:txBody>
        </p:sp>
        <p:sp>
          <p:nvSpPr>
            <p:cNvPr id="111" name="TextBox 67"/>
            <p:cNvSpPr txBox="1"/>
            <p:nvPr/>
          </p:nvSpPr>
          <p:spPr>
            <a:xfrm>
              <a:off x="8329612" y="5557838"/>
              <a:ext cx="239604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Masked by physical sensor noise floor.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54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9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1408200" cy="890663"/>
          </a:xfrm>
        </p:spPr>
        <p:txBody>
          <a:bodyPr>
            <a:normAutofit fontScale="90000"/>
          </a:bodyPr>
          <a:lstStyle/>
          <a:p>
            <a:r>
              <a:rPr lang="en" dirty="0">
                <a:solidFill>
                  <a:schemeClr val="accent1"/>
                </a:solidFill>
              </a:rPr>
              <a:t>Binary Radix Alignment &amp; Arithmetic Bit Growth</a:t>
            </a:r>
          </a:p>
        </p:txBody>
      </p:sp>
      <p:grpSp>
        <p:nvGrpSpPr>
          <p:cNvPr id="51" name="growth_s0"/>
          <p:cNvGrpSpPr/>
          <p:nvPr/>
        </p:nvGrpSpPr>
        <p:grpSpPr>
          <a:xfrm>
            <a:off x="549973" y="1790748"/>
            <a:ext cx="5429250" cy="1409700"/>
            <a:chOff x="571500" y="1285875"/>
            <a:chExt cx="5429250" cy="1409700"/>
          </a:xfrm>
        </p:grpSpPr>
        <p:sp>
          <p:nvSpPr>
            <p:cNvPr id="52" name="Rectangle 7"/>
            <p:cNvSpPr/>
            <p:nvPr/>
          </p:nvSpPr>
          <p:spPr>
            <a:xfrm>
              <a:off x="571500" y="1285875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3" name="Rectangle 8"/>
            <p:cNvSpPr/>
            <p:nvPr/>
          </p:nvSpPr>
          <p:spPr>
            <a:xfrm>
              <a:off x="571500" y="1285875"/>
              <a:ext cx="5429250" cy="361950"/>
            </a:xfrm>
            <a:prstGeom prst="roundRect">
              <a:avLst>
                <a:gd name="adj" fmla="val 21053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54" name="TextBox 9"/>
            <p:cNvSpPr txBox="1"/>
            <p:nvPr/>
          </p:nvSpPr>
          <p:spPr>
            <a:xfrm>
              <a:off x="757047" y="1418749"/>
              <a:ext cx="144315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Step 1: Input Capture</a:t>
              </a:r>
            </a:p>
          </p:txBody>
        </p:sp>
        <p:sp>
          <p:nvSpPr>
            <p:cNvPr id="55" name="Rectangle 10"/>
            <p:cNvSpPr/>
            <p:nvPr/>
          </p:nvSpPr>
          <p:spPr>
            <a:xfrm>
              <a:off x="4476750" y="1362075"/>
              <a:ext cx="1381125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56" name="TextBox 11"/>
            <p:cNvSpPr txBox="1"/>
            <p:nvPr/>
          </p:nvSpPr>
          <p:spPr>
            <a:xfrm>
              <a:off x="4556614" y="1415891"/>
              <a:ext cx="121187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FFFFFF"/>
                  </a:solidFill>
                  <a:latin typeface="+mj-lt"/>
                  <a:ea typeface="+mn-ea"/>
                  <a:cs typeface="+mn-cs"/>
                </a:rPr>
                <a:t>Signed Q8.8 (16 Bits)</a:t>
              </a:r>
            </a:p>
          </p:txBody>
        </p:sp>
        <p:sp>
          <p:nvSpPr>
            <p:cNvPr id="57" name="Rectangle 12"/>
            <p:cNvSpPr/>
            <p:nvPr/>
          </p:nvSpPr>
          <p:spPr>
            <a:xfrm>
              <a:off x="762000" y="1762125"/>
              <a:ext cx="5048250" cy="323850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8" name="TextBox 13"/>
            <p:cNvSpPr txBox="1"/>
            <p:nvPr/>
          </p:nvSpPr>
          <p:spPr>
            <a:xfrm>
              <a:off x="900112" y="1874520"/>
              <a:ext cx="183223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T(t), T(t-24), T(t-3), T(t-21)</a:t>
              </a:r>
            </a:p>
          </p:txBody>
        </p:sp>
        <p:sp>
          <p:nvSpPr>
            <p:cNvPr id="59" name="TextBox 14"/>
            <p:cNvSpPr txBox="1"/>
            <p:nvPr/>
          </p:nvSpPr>
          <p:spPr>
            <a:xfrm>
              <a:off x="757238" y="2244566"/>
              <a:ext cx="380392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Raw 16-bit signed telemetry samples latched into input stage.</a:t>
              </a:r>
            </a:p>
          </p:txBody>
        </p:sp>
      </p:grpSp>
      <p:grpSp>
        <p:nvGrpSpPr>
          <p:cNvPr id="60" name="growth_s1"/>
          <p:cNvGrpSpPr/>
          <p:nvPr/>
        </p:nvGrpSpPr>
        <p:grpSpPr>
          <a:xfrm>
            <a:off x="6217348" y="1790748"/>
            <a:ext cx="5429250" cy="1409700"/>
            <a:chOff x="6238875" y="1285875"/>
            <a:chExt cx="5429250" cy="1409700"/>
          </a:xfrm>
        </p:grpSpPr>
        <p:sp>
          <p:nvSpPr>
            <p:cNvPr id="61" name="Rectangle 16"/>
            <p:cNvSpPr/>
            <p:nvPr/>
          </p:nvSpPr>
          <p:spPr>
            <a:xfrm>
              <a:off x="6238875" y="1285875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2" name="Rectangle 17"/>
            <p:cNvSpPr/>
            <p:nvPr/>
          </p:nvSpPr>
          <p:spPr>
            <a:xfrm>
              <a:off x="6238875" y="1285875"/>
              <a:ext cx="5429250" cy="361950"/>
            </a:xfrm>
            <a:prstGeom prst="roundRect">
              <a:avLst>
                <a:gd name="adj" fmla="val 21053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63" name="TextBox 18"/>
            <p:cNvSpPr txBox="1"/>
            <p:nvPr/>
          </p:nvSpPr>
          <p:spPr>
            <a:xfrm>
              <a:off x="6424422" y="1418749"/>
              <a:ext cx="127278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Step 2: Subtraction</a:t>
              </a:r>
            </a:p>
          </p:txBody>
        </p:sp>
        <p:sp>
          <p:nvSpPr>
            <p:cNvPr id="64" name="Rectangle 19"/>
            <p:cNvSpPr/>
            <p:nvPr/>
          </p:nvSpPr>
          <p:spPr>
            <a:xfrm>
              <a:off x="10144125" y="1362075"/>
              <a:ext cx="1381125" cy="209550"/>
            </a:xfrm>
            <a:prstGeom prst="roundRect">
              <a:avLst>
                <a:gd name="adj" fmla="val 18182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65" name="TextBox 20"/>
            <p:cNvSpPr txBox="1"/>
            <p:nvPr/>
          </p:nvSpPr>
          <p:spPr>
            <a:xfrm>
              <a:off x="10223989" y="1415891"/>
              <a:ext cx="121187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FFFFFF"/>
                  </a:solidFill>
                  <a:latin typeface="+mj-lt"/>
                  <a:ea typeface="+mn-ea"/>
                  <a:cs typeface="+mn-cs"/>
                </a:rPr>
                <a:t>Signed Q9.8 (17 Bits)</a:t>
              </a:r>
            </a:p>
          </p:txBody>
        </p:sp>
        <p:sp>
          <p:nvSpPr>
            <p:cNvPr id="66" name="Rectangle 21"/>
            <p:cNvSpPr/>
            <p:nvPr/>
          </p:nvSpPr>
          <p:spPr>
            <a:xfrm>
              <a:off x="6429375" y="1762125"/>
              <a:ext cx="5048250" cy="323850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67" name="TextBox 22"/>
            <p:cNvSpPr txBox="1"/>
            <p:nvPr/>
          </p:nvSpPr>
          <p:spPr>
            <a:xfrm>
              <a:off x="6567488" y="1874520"/>
              <a:ext cx="228428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D1 = T(t)-T(t-24), D2 = T(t)-T(t-3)</a:t>
              </a:r>
            </a:p>
          </p:txBody>
        </p:sp>
        <p:sp>
          <p:nvSpPr>
            <p:cNvPr id="68" name="TextBox 23"/>
            <p:cNvSpPr txBox="1"/>
            <p:nvPr/>
          </p:nvSpPr>
          <p:spPr>
            <a:xfrm>
              <a:off x="6424612" y="2244566"/>
              <a:ext cx="391979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+1 sign bit headroom prevents subtractor wrap on large swings.</a:t>
              </a:r>
            </a:p>
          </p:txBody>
        </p:sp>
      </p:grpSp>
      <p:grpSp>
        <p:nvGrpSpPr>
          <p:cNvPr id="69" name="growth_s2"/>
          <p:cNvGrpSpPr/>
          <p:nvPr/>
        </p:nvGrpSpPr>
        <p:grpSpPr>
          <a:xfrm>
            <a:off x="549973" y="3362373"/>
            <a:ext cx="5429250" cy="1409700"/>
            <a:chOff x="571500" y="2857500"/>
            <a:chExt cx="5429250" cy="1409700"/>
          </a:xfrm>
        </p:grpSpPr>
        <p:sp>
          <p:nvSpPr>
            <p:cNvPr id="70" name="Rectangle 25"/>
            <p:cNvSpPr/>
            <p:nvPr/>
          </p:nvSpPr>
          <p:spPr>
            <a:xfrm>
              <a:off x="571500" y="2857500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1" name="Rectangle 26"/>
            <p:cNvSpPr/>
            <p:nvPr/>
          </p:nvSpPr>
          <p:spPr>
            <a:xfrm>
              <a:off x="571500" y="2857500"/>
              <a:ext cx="5429250" cy="361950"/>
            </a:xfrm>
            <a:prstGeom prst="roundRect">
              <a:avLst>
                <a:gd name="adj" fmla="val 21053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sp>
        <p:sp>
          <p:nvSpPr>
            <p:cNvPr id="72" name="TextBox 27"/>
            <p:cNvSpPr txBox="1"/>
            <p:nvPr/>
          </p:nvSpPr>
          <p:spPr>
            <a:xfrm>
              <a:off x="757047" y="2990374"/>
              <a:ext cx="143789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4F46E5"/>
                  </a:solidFill>
                  <a:latin typeface="+mj-lt"/>
                  <a:ea typeface="+mn-ea"/>
                  <a:cs typeface="+mn-cs"/>
                </a:rPr>
                <a:t>Step 3: Multiplication</a:t>
              </a:r>
            </a:p>
          </p:txBody>
        </p:sp>
        <p:sp>
          <p:nvSpPr>
            <p:cNvPr id="73" name="Rectangle 28"/>
            <p:cNvSpPr/>
            <p:nvPr/>
          </p:nvSpPr>
          <p:spPr>
            <a:xfrm>
              <a:off x="4224094" y="2947637"/>
              <a:ext cx="1776656" cy="241340"/>
            </a:xfrm>
            <a:prstGeom prst="roundRect">
              <a:avLst>
                <a:gd name="adj" fmla="val 18182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74" name="TextBox 29"/>
            <p:cNvSpPr txBox="1"/>
            <p:nvPr/>
          </p:nvSpPr>
          <p:spPr>
            <a:xfrm>
              <a:off x="4458832" y="2987516"/>
              <a:ext cx="140743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00" b="1" dirty="0">
                  <a:solidFill>
                    <a:srgbClr val="FFFFFF"/>
                  </a:solidFill>
                  <a:latin typeface="+mj-lt"/>
                  <a:ea typeface="+mn-ea"/>
                  <a:cs typeface="+mn-cs"/>
                </a:rPr>
                <a:t>Signed Q11.22 (33 Bits)</a:t>
              </a:r>
            </a:p>
          </p:txBody>
        </p:sp>
        <p:sp>
          <p:nvSpPr>
            <p:cNvPr id="75" name="Rectangle 30"/>
            <p:cNvSpPr/>
            <p:nvPr/>
          </p:nvSpPr>
          <p:spPr>
            <a:xfrm>
              <a:off x="762000" y="3333750"/>
              <a:ext cx="5048250" cy="323850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76" name="TextBox 31"/>
            <p:cNvSpPr txBox="1"/>
            <p:nvPr/>
          </p:nvSpPr>
          <p:spPr>
            <a:xfrm>
              <a:off x="900112" y="3446145"/>
              <a:ext cx="154369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P1 = a · D1, P2 = b · D2</a:t>
              </a:r>
            </a:p>
          </p:txBody>
        </p:sp>
        <p:sp>
          <p:nvSpPr>
            <p:cNvPr id="77" name="TextBox 32"/>
            <p:cNvSpPr txBox="1"/>
            <p:nvPr/>
          </p:nvSpPr>
          <p:spPr>
            <a:xfrm>
              <a:off x="757238" y="3816191"/>
              <a:ext cx="363650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16b coeff × 17b diff generates 33-bit signed product terms.</a:t>
              </a:r>
            </a:p>
          </p:txBody>
        </p:sp>
      </p:grpSp>
      <p:grpSp>
        <p:nvGrpSpPr>
          <p:cNvPr id="78" name="growth_s3"/>
          <p:cNvGrpSpPr/>
          <p:nvPr/>
        </p:nvGrpSpPr>
        <p:grpSpPr>
          <a:xfrm>
            <a:off x="6217348" y="3362373"/>
            <a:ext cx="5429250" cy="1409700"/>
            <a:chOff x="6238875" y="2857500"/>
            <a:chExt cx="5429250" cy="1409700"/>
          </a:xfrm>
        </p:grpSpPr>
        <p:sp>
          <p:nvSpPr>
            <p:cNvPr id="79" name="Rectangle 34"/>
            <p:cNvSpPr/>
            <p:nvPr/>
          </p:nvSpPr>
          <p:spPr>
            <a:xfrm>
              <a:off x="6238875" y="2857500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0" name="Rectangle 35"/>
            <p:cNvSpPr/>
            <p:nvPr/>
          </p:nvSpPr>
          <p:spPr>
            <a:xfrm>
              <a:off x="6238875" y="2857500"/>
              <a:ext cx="5429250" cy="361950"/>
            </a:xfrm>
            <a:prstGeom prst="roundRect">
              <a:avLst>
                <a:gd name="adj" fmla="val 21053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81" name="TextBox 36"/>
            <p:cNvSpPr txBox="1"/>
            <p:nvPr/>
          </p:nvSpPr>
          <p:spPr>
            <a:xfrm>
              <a:off x="6424422" y="2990374"/>
              <a:ext cx="174637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Step 4: Adder Tree &amp; Base</a:t>
              </a:r>
            </a:p>
          </p:txBody>
        </p:sp>
        <p:sp>
          <p:nvSpPr>
            <p:cNvPr id="82" name="Rectangle 37"/>
            <p:cNvSpPr/>
            <p:nvPr/>
          </p:nvSpPr>
          <p:spPr>
            <a:xfrm>
              <a:off x="10040987" y="2933700"/>
              <a:ext cx="1559181" cy="209550"/>
            </a:xfrm>
            <a:prstGeom prst="roundRect">
              <a:avLst>
                <a:gd name="adj" fmla="val 18182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3" name="TextBox 38"/>
            <p:cNvSpPr txBox="1"/>
            <p:nvPr/>
          </p:nvSpPr>
          <p:spPr>
            <a:xfrm>
              <a:off x="10156664" y="2987516"/>
              <a:ext cx="134652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FFFFFF"/>
                  </a:solidFill>
                  <a:latin typeface="+mj-lt"/>
                  <a:ea typeface="+mn-ea"/>
                  <a:cs typeface="+mn-cs"/>
                </a:rPr>
                <a:t>Signed Q13.22 (35 Bits)</a:t>
              </a:r>
            </a:p>
          </p:txBody>
        </p:sp>
        <p:sp>
          <p:nvSpPr>
            <p:cNvPr id="84" name="Rectangle 39"/>
            <p:cNvSpPr/>
            <p:nvPr/>
          </p:nvSpPr>
          <p:spPr>
            <a:xfrm>
              <a:off x="6429375" y="3333750"/>
              <a:ext cx="5048250" cy="323850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85" name="TextBox 40"/>
            <p:cNvSpPr txBox="1"/>
            <p:nvPr/>
          </p:nvSpPr>
          <p:spPr>
            <a:xfrm>
              <a:off x="6567488" y="3446145"/>
              <a:ext cx="230467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P = P1 + P2; base = (T21 + c) &lt;&lt; 14</a:t>
              </a:r>
            </a:p>
          </p:txBody>
        </p:sp>
        <p:sp>
          <p:nvSpPr>
            <p:cNvPr id="86" name="TextBox 41"/>
            <p:cNvSpPr txBox="1"/>
            <p:nvPr/>
          </p:nvSpPr>
          <p:spPr>
            <a:xfrm>
              <a:off x="6424612" y="3816191"/>
              <a:ext cx="349454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Aligns diurnal anchor to radix 22; expands to 35-bit bus.</a:t>
              </a:r>
            </a:p>
          </p:txBody>
        </p:sp>
      </p:grpSp>
      <p:grpSp>
        <p:nvGrpSpPr>
          <p:cNvPr id="87" name="growth_s4"/>
          <p:cNvGrpSpPr/>
          <p:nvPr/>
        </p:nvGrpSpPr>
        <p:grpSpPr>
          <a:xfrm>
            <a:off x="549973" y="4933998"/>
            <a:ext cx="5429250" cy="1409700"/>
            <a:chOff x="571500" y="4429125"/>
            <a:chExt cx="5429250" cy="1409700"/>
          </a:xfrm>
        </p:grpSpPr>
        <p:sp>
          <p:nvSpPr>
            <p:cNvPr id="88" name="Rectangle 43"/>
            <p:cNvSpPr/>
            <p:nvPr/>
          </p:nvSpPr>
          <p:spPr>
            <a:xfrm>
              <a:off x="571500" y="4429125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9" name="Rectangle 44"/>
            <p:cNvSpPr/>
            <p:nvPr/>
          </p:nvSpPr>
          <p:spPr>
            <a:xfrm>
              <a:off x="571500" y="4429125"/>
              <a:ext cx="5429250" cy="361950"/>
            </a:xfrm>
            <a:prstGeom prst="roundRect">
              <a:avLst>
                <a:gd name="adj" fmla="val 21053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90" name="TextBox 45"/>
            <p:cNvSpPr txBox="1"/>
            <p:nvPr/>
          </p:nvSpPr>
          <p:spPr>
            <a:xfrm>
              <a:off x="757047" y="4561999"/>
              <a:ext cx="17147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Step 5: Full Accumulation</a:t>
              </a:r>
            </a:p>
          </p:txBody>
        </p:sp>
        <p:sp>
          <p:nvSpPr>
            <p:cNvPr id="91" name="Rectangle 46"/>
            <p:cNvSpPr/>
            <p:nvPr/>
          </p:nvSpPr>
          <p:spPr>
            <a:xfrm>
              <a:off x="4311580" y="4505325"/>
              <a:ext cx="1663694" cy="209550"/>
            </a:xfrm>
            <a:prstGeom prst="roundRect">
              <a:avLst>
                <a:gd name="adj" fmla="val 18182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92" name="TextBox 47"/>
            <p:cNvSpPr txBox="1"/>
            <p:nvPr/>
          </p:nvSpPr>
          <p:spPr>
            <a:xfrm>
              <a:off x="4494099" y="4559141"/>
              <a:ext cx="133690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00" b="1" dirty="0">
                  <a:solidFill>
                    <a:srgbClr val="FFFFFF"/>
                  </a:solidFill>
                  <a:latin typeface="+mj-lt"/>
                  <a:ea typeface="+mn-ea"/>
                  <a:cs typeface="+mn-cs"/>
                </a:rPr>
                <a:t>Signed Q13.8 (35 Bits)</a:t>
              </a:r>
            </a:p>
          </p:txBody>
        </p:sp>
        <p:sp>
          <p:nvSpPr>
            <p:cNvPr id="93" name="Rectangle 48"/>
            <p:cNvSpPr/>
            <p:nvPr/>
          </p:nvSpPr>
          <p:spPr>
            <a:xfrm>
              <a:off x="762000" y="4905375"/>
              <a:ext cx="5048250" cy="323850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94" name="TextBox 49"/>
            <p:cNvSpPr txBox="1"/>
            <p:nvPr/>
          </p:nvSpPr>
          <p:spPr>
            <a:xfrm>
              <a:off x="900112" y="5017770"/>
              <a:ext cx="193277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 = P + base; S_sh = S &gt;&gt;&gt; 14</a:t>
              </a:r>
            </a:p>
          </p:txBody>
        </p:sp>
        <p:sp>
          <p:nvSpPr>
            <p:cNvPr id="95" name="TextBox 50"/>
            <p:cNvSpPr txBox="1"/>
            <p:nvPr/>
          </p:nvSpPr>
          <p:spPr>
            <a:xfrm>
              <a:off x="757238" y="5387816"/>
              <a:ext cx="394819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Summation followed by arithmetic right shift 14 (floor scaling).</a:t>
              </a:r>
            </a:p>
          </p:txBody>
        </p:sp>
      </p:grpSp>
      <p:grpSp>
        <p:nvGrpSpPr>
          <p:cNvPr id="96" name="growth_s5"/>
          <p:cNvGrpSpPr/>
          <p:nvPr/>
        </p:nvGrpSpPr>
        <p:grpSpPr>
          <a:xfrm>
            <a:off x="6217348" y="4933998"/>
            <a:ext cx="5429250" cy="1409700"/>
            <a:chOff x="6238875" y="4429125"/>
            <a:chExt cx="5429250" cy="1409700"/>
          </a:xfrm>
        </p:grpSpPr>
        <p:sp>
          <p:nvSpPr>
            <p:cNvPr id="97" name="Rectangle 52"/>
            <p:cNvSpPr/>
            <p:nvPr/>
          </p:nvSpPr>
          <p:spPr>
            <a:xfrm>
              <a:off x="6238875" y="4429125"/>
              <a:ext cx="5429250" cy="14097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8" name="Rectangle 53"/>
            <p:cNvSpPr/>
            <p:nvPr/>
          </p:nvSpPr>
          <p:spPr>
            <a:xfrm>
              <a:off x="6238875" y="4429125"/>
              <a:ext cx="5429250" cy="361950"/>
            </a:xfrm>
            <a:prstGeom prst="roundRect">
              <a:avLst>
                <a:gd name="adj" fmla="val 21053"/>
              </a:avLst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sp>
        <p:sp>
          <p:nvSpPr>
            <p:cNvPr id="99" name="TextBox 54"/>
            <p:cNvSpPr txBox="1"/>
            <p:nvPr/>
          </p:nvSpPr>
          <p:spPr>
            <a:xfrm>
              <a:off x="6424422" y="4561999"/>
              <a:ext cx="16014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6">
                      <a:lumMod val="50000"/>
                    </a:schemeClr>
                  </a:solidFill>
                  <a:latin typeface="+mj-lt"/>
                  <a:ea typeface="+mn-ea"/>
                  <a:cs typeface="+mn-cs"/>
                </a:rPr>
                <a:t>Step 6: Sat16 Saturation</a:t>
              </a:r>
            </a:p>
          </p:txBody>
        </p:sp>
        <p:sp>
          <p:nvSpPr>
            <p:cNvPr id="100" name="Rectangle 55"/>
            <p:cNvSpPr/>
            <p:nvPr/>
          </p:nvSpPr>
          <p:spPr>
            <a:xfrm>
              <a:off x="9961394" y="4505325"/>
              <a:ext cx="1638773" cy="285750"/>
            </a:xfrm>
            <a:prstGeom prst="roundRect">
              <a:avLst>
                <a:gd name="adj" fmla="val 18182"/>
              </a:avLst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101" name="TextBox 56"/>
            <p:cNvSpPr txBox="1"/>
            <p:nvPr/>
          </p:nvSpPr>
          <p:spPr>
            <a:xfrm>
              <a:off x="10196738" y="4559141"/>
              <a:ext cx="126637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00" b="1" dirty="0">
                  <a:solidFill>
                    <a:srgbClr val="FFFFFF"/>
                  </a:solidFill>
                  <a:latin typeface="+mj-lt"/>
                  <a:ea typeface="+mn-ea"/>
                  <a:cs typeface="+mn-cs"/>
                </a:rPr>
                <a:t>Signed Q8.8 (16 Bits)</a:t>
              </a:r>
            </a:p>
          </p:txBody>
        </p:sp>
        <p:sp>
          <p:nvSpPr>
            <p:cNvPr id="102" name="Rectangle 57"/>
            <p:cNvSpPr/>
            <p:nvPr/>
          </p:nvSpPr>
          <p:spPr>
            <a:xfrm>
              <a:off x="6429375" y="4905375"/>
              <a:ext cx="5048250" cy="323850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03" name="TextBox 58"/>
            <p:cNvSpPr txBox="1"/>
            <p:nvPr/>
          </p:nvSpPr>
          <p:spPr>
            <a:xfrm>
              <a:off x="6567488" y="5017770"/>
              <a:ext cx="219130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out = sat16(S_sh, -32768, +32767)</a:t>
              </a:r>
            </a:p>
          </p:txBody>
        </p:sp>
        <p:sp>
          <p:nvSpPr>
            <p:cNvPr id="104" name="TextBox 59"/>
            <p:cNvSpPr txBox="1"/>
            <p:nvPr/>
          </p:nvSpPr>
          <p:spPr>
            <a:xfrm>
              <a:off x="6424612" y="5387816"/>
              <a:ext cx="332783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Clamps to [-128°C, +127.996°C]; prevents sign wrap.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394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10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606000" y="929327"/>
            <a:ext cx="11459000" cy="890663"/>
          </a:xfrm>
        </p:spPr>
        <p:txBody>
          <a:bodyPr>
            <a:normAutofit fontScale="90000"/>
          </a:bodyPr>
          <a:lstStyle/>
          <a:p>
            <a:r>
              <a:rPr lang="en" dirty="0">
                <a:solidFill>
                  <a:schemeClr val="accent1"/>
                </a:solidFill>
              </a:rPr>
              <a:t>Truncation Analysis: Floor Scaling vs Silicon Cost</a:t>
            </a:r>
          </a:p>
        </p:txBody>
      </p:sp>
      <p:grpSp>
        <p:nvGrpSpPr>
          <p:cNvPr id="30" name="box_trunc_proof"/>
          <p:cNvGrpSpPr/>
          <p:nvPr/>
        </p:nvGrpSpPr>
        <p:grpSpPr>
          <a:xfrm>
            <a:off x="549972" y="1688781"/>
            <a:ext cx="5381625" cy="4667577"/>
            <a:chOff x="571500" y="1285875"/>
            <a:chExt cx="5381625" cy="4762500"/>
          </a:xfrm>
        </p:grpSpPr>
        <p:sp>
          <p:nvSpPr>
            <p:cNvPr id="32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3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34" name="TextBox 9"/>
            <p:cNvSpPr txBox="1"/>
            <p:nvPr/>
          </p:nvSpPr>
          <p:spPr>
            <a:xfrm>
              <a:off x="756666" y="1429702"/>
              <a:ext cx="3497048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ARITHMETIC RIGHT SHIFT (FLOOR SCALING)</a:t>
              </a:r>
            </a:p>
          </p:txBody>
        </p:sp>
        <p:sp>
          <p:nvSpPr>
            <p:cNvPr id="35" name="TextBox 10"/>
            <p:cNvSpPr txBox="1"/>
            <p:nvPr/>
          </p:nvSpPr>
          <p:spPr>
            <a:xfrm>
              <a:off x="757047" y="1847374"/>
              <a:ext cx="3086229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Hardware Implementation (0 Logic Elements):</a:t>
              </a:r>
            </a:p>
          </p:txBody>
        </p:sp>
        <p:sp>
          <p:nvSpPr>
            <p:cNvPr id="36" name="Rectangle 11"/>
            <p:cNvSpPr/>
            <p:nvPr/>
          </p:nvSpPr>
          <p:spPr>
            <a:xfrm>
              <a:off x="762000" y="2095500"/>
              <a:ext cx="5000625" cy="400050"/>
            </a:xfrm>
            <a:prstGeom prst="roundRect">
              <a:avLst>
                <a:gd name="adj" fmla="val 14286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37" name="TextBox 12"/>
            <p:cNvSpPr txBox="1"/>
            <p:nvPr/>
          </p:nvSpPr>
          <p:spPr>
            <a:xfrm>
              <a:off x="900112" y="2245995"/>
              <a:ext cx="3877856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wire signed [34:0] s4_sh = s4_s &gt;&gt;&gt; 14; // Pure wire routing</a:t>
              </a:r>
            </a:p>
          </p:txBody>
        </p:sp>
        <p:sp>
          <p:nvSpPr>
            <p:cNvPr id="38" name="TextBox 13"/>
            <p:cNvSpPr txBox="1"/>
            <p:nvPr/>
          </p:nvSpPr>
          <p:spPr>
            <a:xfrm>
              <a:off x="757047" y="2656999"/>
              <a:ext cx="2264787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Mathematical Error Bound Proof:</a:t>
              </a:r>
            </a:p>
          </p:txBody>
        </p:sp>
        <p:sp>
          <p:nvSpPr>
            <p:cNvPr id="39" name="TextBox 14"/>
            <p:cNvSpPr txBox="1"/>
            <p:nvPr/>
          </p:nvSpPr>
          <p:spPr>
            <a:xfrm>
              <a:off x="757238" y="2903220"/>
              <a:ext cx="1458156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Truncation Inequality:</a:t>
              </a:r>
            </a:p>
          </p:txBody>
        </p:sp>
        <p:sp>
          <p:nvSpPr>
            <p:cNvPr id="40" name="TextBox 15"/>
            <p:cNvSpPr txBox="1"/>
            <p:nvPr/>
          </p:nvSpPr>
          <p:spPr>
            <a:xfrm>
              <a:off x="947547" y="3152299"/>
              <a:ext cx="2802049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(x / 2^14) - 1 &lt; floor(x / 2^14) &lt;= (x / 2^14)</a:t>
              </a:r>
            </a:p>
          </p:txBody>
        </p:sp>
        <p:sp>
          <p:nvSpPr>
            <p:cNvPr id="41" name="TextBox 16"/>
            <p:cNvSpPr txBox="1"/>
            <p:nvPr/>
          </p:nvSpPr>
          <p:spPr>
            <a:xfrm>
              <a:off x="757238" y="3474720"/>
              <a:ext cx="2983958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Max Truncation Error in Temperature Domain:</a:t>
              </a:r>
            </a:p>
          </p:txBody>
        </p:sp>
        <p:sp>
          <p:nvSpPr>
            <p:cNvPr id="42" name="TextBox 17"/>
            <p:cNvSpPr txBox="1"/>
            <p:nvPr/>
          </p:nvSpPr>
          <p:spPr>
            <a:xfrm>
              <a:off x="947166" y="3715702"/>
              <a:ext cx="2191306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|ε_trunc| &lt; 2^-8 °C = 0.003906 °C</a:t>
              </a:r>
            </a:p>
          </p:txBody>
        </p:sp>
        <p:sp>
          <p:nvSpPr>
            <p:cNvPr id="43" name="Rectangle 18"/>
            <p:cNvSpPr/>
            <p:nvPr/>
          </p:nvSpPr>
          <p:spPr>
            <a:xfrm>
              <a:off x="762000" y="4143375"/>
              <a:ext cx="5000625" cy="1666875"/>
            </a:xfrm>
            <a:prstGeom prst="roundRect">
              <a:avLst>
                <a:gd name="adj" fmla="val 3429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44" name="TextBox 19"/>
            <p:cNvSpPr txBox="1"/>
            <p:nvPr/>
          </p:nvSpPr>
          <p:spPr>
            <a:xfrm>
              <a:off x="899922" y="4323874"/>
              <a:ext cx="2136098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Sensor Noise Floor Comparison:</a:t>
              </a:r>
            </a:p>
          </p:txBody>
        </p:sp>
        <p:sp>
          <p:nvSpPr>
            <p:cNvPr id="45" name="TextBox 20"/>
            <p:cNvSpPr txBox="1"/>
            <p:nvPr/>
          </p:nvSpPr>
          <p:spPr>
            <a:xfrm>
              <a:off x="900112" y="4617720"/>
              <a:ext cx="2595711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Hardware Thermistor Noise: ±0.1000 °C</a:t>
              </a:r>
            </a:p>
          </p:txBody>
        </p:sp>
        <p:sp>
          <p:nvSpPr>
            <p:cNvPr id="46" name="TextBox 21"/>
            <p:cNvSpPr txBox="1"/>
            <p:nvPr/>
          </p:nvSpPr>
          <p:spPr>
            <a:xfrm>
              <a:off x="900112" y="4874895"/>
              <a:ext cx="3244350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Max Truncation Error: &lt; 0.0039 °C (25.6x smaller)</a:t>
              </a:r>
            </a:p>
          </p:txBody>
        </p:sp>
        <p:sp>
          <p:nvSpPr>
            <p:cNvPr id="47" name="Line 22"/>
            <p:cNvSpPr/>
            <p:nvPr/>
          </p:nvSpPr>
          <p:spPr>
            <a:xfrm>
              <a:off x="904875" y="51625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7620">
              <a:solidFill>
                <a:srgbClr val="CBD5E1"/>
              </a:solidFill>
            </a:ln>
          </p:spPr>
        </p:sp>
        <p:sp>
          <p:nvSpPr>
            <p:cNvPr id="48" name="TextBox 23"/>
            <p:cNvSpPr txBox="1"/>
            <p:nvPr/>
          </p:nvSpPr>
          <p:spPr>
            <a:xfrm>
              <a:off x="900112" y="5332095"/>
              <a:ext cx="2780313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Noise Floor Masks Truncation Completely</a:t>
              </a:r>
            </a:p>
          </p:txBody>
        </p:sp>
        <p:sp>
          <p:nvSpPr>
            <p:cNvPr id="49" name="TextBox 24"/>
            <p:cNvSpPr txBox="1"/>
            <p:nvPr/>
          </p:nvSpPr>
          <p:spPr>
            <a:xfrm>
              <a:off x="900112" y="5549741"/>
              <a:ext cx="3924601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Rounding adders add silicon cost with zero observable gain.</a:t>
              </a:r>
            </a:p>
          </p:txBody>
        </p:sp>
      </p:grpSp>
      <p:grpSp>
        <p:nvGrpSpPr>
          <p:cNvPr id="50" name="box_rounding_tradeoff"/>
          <p:cNvGrpSpPr/>
          <p:nvPr/>
        </p:nvGrpSpPr>
        <p:grpSpPr>
          <a:xfrm>
            <a:off x="6217348" y="1688781"/>
            <a:ext cx="5271920" cy="4667577"/>
            <a:chOff x="6238875" y="1285875"/>
            <a:chExt cx="5381625" cy="4762500"/>
          </a:xfrm>
        </p:grpSpPr>
        <p:sp>
          <p:nvSpPr>
            <p:cNvPr id="75" name="Rectangle 26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6" name="Rectangle 27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77" name="TextBox 28"/>
            <p:cNvSpPr txBox="1"/>
            <p:nvPr/>
          </p:nvSpPr>
          <p:spPr>
            <a:xfrm>
              <a:off x="6424041" y="1429702"/>
              <a:ext cx="3185535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HARDWARE COST OF ROUNDING MODES</a:t>
              </a:r>
            </a:p>
          </p:txBody>
        </p:sp>
        <p:sp>
          <p:nvSpPr>
            <p:cNvPr id="78" name="TextBox 29"/>
            <p:cNvSpPr txBox="1"/>
            <p:nvPr/>
          </p:nvSpPr>
          <p:spPr>
            <a:xfrm>
              <a:off x="6424422" y="1847374"/>
              <a:ext cx="2981448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Synthesis Comparison (Cyclone II EP2C35):</a:t>
              </a:r>
            </a:p>
          </p:txBody>
        </p:sp>
        <p:sp>
          <p:nvSpPr>
            <p:cNvPr id="79" name="Rectangle 30"/>
            <p:cNvSpPr/>
            <p:nvPr/>
          </p:nvSpPr>
          <p:spPr>
            <a:xfrm>
              <a:off x="6429375" y="2114550"/>
              <a:ext cx="5000625" cy="495300"/>
            </a:xfrm>
            <a:prstGeom prst="roundRect">
              <a:avLst>
                <a:gd name="adj" fmla="val 11538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sp>
        <p:sp>
          <p:nvSpPr>
            <p:cNvPr id="80" name="TextBox 31"/>
            <p:cNvSpPr txBox="1"/>
            <p:nvPr/>
          </p:nvSpPr>
          <p:spPr>
            <a:xfrm>
              <a:off x="6567488" y="2226945"/>
              <a:ext cx="2528308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1. Floor Truncation (Selected in RTL)</a:t>
              </a:r>
            </a:p>
          </p:txBody>
        </p:sp>
        <p:sp>
          <p:nvSpPr>
            <p:cNvPr id="81" name="TextBox 32"/>
            <p:cNvSpPr txBox="1"/>
            <p:nvPr/>
          </p:nvSpPr>
          <p:spPr>
            <a:xfrm>
              <a:off x="6567488" y="2406491"/>
              <a:ext cx="3415085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0 LEs | 0 Latency | Bias: -0.002°C (masked by sensor)</a:t>
              </a:r>
            </a:p>
          </p:txBody>
        </p:sp>
        <p:sp>
          <p:nvSpPr>
            <p:cNvPr id="82" name="Rectangle 33"/>
            <p:cNvSpPr/>
            <p:nvPr/>
          </p:nvSpPr>
          <p:spPr>
            <a:xfrm>
              <a:off x="6429375" y="2686050"/>
              <a:ext cx="5000625" cy="495300"/>
            </a:xfrm>
            <a:prstGeom prst="roundRect">
              <a:avLst>
                <a:gd name="adj" fmla="val 11538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83" name="TextBox 34"/>
            <p:cNvSpPr txBox="1"/>
            <p:nvPr/>
          </p:nvSpPr>
          <p:spPr>
            <a:xfrm>
              <a:off x="6567488" y="2798445"/>
              <a:ext cx="2580541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2. Round-to-Nearest (+0.5 LSB Adder)</a:t>
              </a:r>
            </a:p>
          </p:txBody>
        </p:sp>
        <p:sp>
          <p:nvSpPr>
            <p:cNvPr id="84" name="TextBox 35"/>
            <p:cNvSpPr txBox="1"/>
            <p:nvPr/>
          </p:nvSpPr>
          <p:spPr>
            <a:xfrm>
              <a:off x="6567488" y="2977991"/>
              <a:ext cx="3210539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+35 LEs (35-bit adder) | +1 Cycle | Bias: ~0.000°C</a:t>
              </a:r>
            </a:p>
          </p:txBody>
        </p:sp>
        <p:sp>
          <p:nvSpPr>
            <p:cNvPr id="85" name="Rectangle 36"/>
            <p:cNvSpPr/>
            <p:nvPr/>
          </p:nvSpPr>
          <p:spPr>
            <a:xfrm>
              <a:off x="6429375" y="3257550"/>
              <a:ext cx="5000625" cy="495300"/>
            </a:xfrm>
            <a:prstGeom prst="roundRect">
              <a:avLst>
                <a:gd name="adj" fmla="val 11538"/>
              </a:avLst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86" name="TextBox 37"/>
            <p:cNvSpPr txBox="1"/>
            <p:nvPr/>
          </p:nvSpPr>
          <p:spPr>
            <a:xfrm>
              <a:off x="6567488" y="3369945"/>
              <a:ext cx="2009451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3. Convergent Round-to-Even</a:t>
              </a:r>
            </a:p>
          </p:txBody>
        </p:sp>
        <p:sp>
          <p:nvSpPr>
            <p:cNvPr id="87" name="TextBox 38"/>
            <p:cNvSpPr txBox="1"/>
            <p:nvPr/>
          </p:nvSpPr>
          <p:spPr>
            <a:xfrm>
              <a:off x="6567488" y="3549491"/>
              <a:ext cx="3390538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+48 LEs (adder + tie logic) | +1 Cycle | Bias: 0.000°C</a:t>
              </a:r>
            </a:p>
          </p:txBody>
        </p:sp>
        <p:sp>
          <p:nvSpPr>
            <p:cNvPr id="88" name="Rectangle 39"/>
            <p:cNvSpPr/>
            <p:nvPr/>
          </p:nvSpPr>
          <p:spPr>
            <a:xfrm>
              <a:off x="6429375" y="3905250"/>
              <a:ext cx="5000625" cy="1905000"/>
            </a:xfrm>
            <a:prstGeom prst="roundRect">
              <a:avLst>
                <a:gd name="adj" fmla="val 3000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89" name="TextBox 40"/>
            <p:cNvSpPr txBox="1"/>
            <p:nvPr/>
          </p:nvSpPr>
          <p:spPr>
            <a:xfrm>
              <a:off x="6567488" y="4074795"/>
              <a:ext cx="1957087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Silicon Optimization Impact:</a:t>
              </a:r>
            </a:p>
          </p:txBody>
        </p:sp>
        <p:sp>
          <p:nvSpPr>
            <p:cNvPr id="90" name="TextBox 41"/>
            <p:cNvSpPr txBox="1"/>
            <p:nvPr/>
          </p:nvSpPr>
          <p:spPr>
            <a:xfrm>
              <a:off x="6567488" y="4340066"/>
              <a:ext cx="3606538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Silicon: Saves 14.8% of Resource Core logic (no adder)</a:t>
              </a:r>
            </a:p>
          </p:txBody>
        </p:sp>
        <p:sp>
          <p:nvSpPr>
            <p:cNvPr id="91" name="TextBox 42"/>
            <p:cNvSpPr txBox="1"/>
            <p:nvPr/>
          </p:nvSpPr>
          <p:spPr>
            <a:xfrm>
              <a:off x="6567488" y="4578191"/>
              <a:ext cx="3075769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Timing: Saves 2.2 ns critical path (+15% slack)</a:t>
              </a:r>
            </a:p>
          </p:txBody>
        </p:sp>
        <p:sp>
          <p:nvSpPr>
            <p:cNvPr id="92" name="TextBox 43"/>
            <p:cNvSpPr txBox="1"/>
            <p:nvPr/>
          </p:nvSpPr>
          <p:spPr>
            <a:xfrm>
              <a:off x="6567488" y="4816316"/>
              <a:ext cx="3350546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E3A8A"/>
                </a:buClr>
                <a:buSzTx/>
                <a:buFontTx/>
                <a:buChar char="•"/>
              </a:pPr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DPI-C C++ Oracle Formula (ols_reference.hpp):</a:t>
              </a:r>
            </a:p>
          </p:txBody>
        </p:sp>
        <p:sp>
          <p:nvSpPr>
            <p:cNvPr id="93" name="Rectangle 44"/>
            <p:cNvSpPr/>
            <p:nvPr/>
          </p:nvSpPr>
          <p:spPr>
            <a:xfrm>
              <a:off x="6572250" y="5048250"/>
              <a:ext cx="4714875" cy="304800"/>
            </a:xfrm>
            <a:prstGeom prst="roundRect">
              <a:avLst>
                <a:gd name="adj" fmla="val 12500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94" name="TextBox 45"/>
            <p:cNvSpPr txBox="1"/>
            <p:nvPr/>
          </p:nvSpPr>
          <p:spPr>
            <a:xfrm>
              <a:off x="6710362" y="5159216"/>
              <a:ext cx="3050175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 / 16384 - ((s &lt; 0 &amp;&amp; s % 16384 != 0) ? 1 : 0);</a:t>
              </a:r>
            </a:p>
          </p:txBody>
        </p:sp>
        <p:sp>
          <p:nvSpPr>
            <p:cNvPr id="95" name="TextBox 46"/>
            <p:cNvSpPr txBox="1"/>
            <p:nvPr/>
          </p:nvSpPr>
          <p:spPr>
            <a:xfrm>
              <a:off x="6567488" y="5530691"/>
              <a:ext cx="3469543" cy="1884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Bit-exact match verified across 10,000+ test vectors.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1813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11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606000" y="1036775"/>
            <a:ext cx="10980000" cy="890663"/>
          </a:xfrm>
        </p:spPr>
        <p:txBody>
          <a:bodyPr>
            <a:normAutofit fontScale="90000"/>
          </a:bodyPr>
          <a:lstStyle/>
          <a:p>
            <a:r>
              <a:rPr lang="en" dirty="0">
                <a:solidFill>
                  <a:schemeClr val="accent1"/>
                </a:solidFill>
              </a:rPr>
              <a:t>Saturation Arithmetic: Sat16 Transfer Function</a:t>
            </a:r>
          </a:p>
        </p:txBody>
      </p:sp>
      <p:grpSp>
        <p:nvGrpSpPr>
          <p:cNvPr id="51" name="sat_curve_graph"/>
          <p:cNvGrpSpPr/>
          <p:nvPr/>
        </p:nvGrpSpPr>
        <p:grpSpPr>
          <a:xfrm>
            <a:off x="399677" y="1762125"/>
            <a:ext cx="5748321" cy="4762500"/>
            <a:chOff x="571500" y="1285875"/>
            <a:chExt cx="5748321" cy="4762500"/>
          </a:xfrm>
        </p:grpSpPr>
        <p:sp>
          <p:nvSpPr>
            <p:cNvPr id="52" name="Rectangle 7"/>
            <p:cNvSpPr/>
            <p:nvPr/>
          </p:nvSpPr>
          <p:spPr>
            <a:xfrm>
              <a:off x="571500" y="1285875"/>
              <a:ext cx="57150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3" name="Rectangle 8"/>
            <p:cNvSpPr/>
            <p:nvPr/>
          </p:nvSpPr>
          <p:spPr>
            <a:xfrm>
              <a:off x="571500" y="1285875"/>
              <a:ext cx="57150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54" name="TextBox 9"/>
            <p:cNvSpPr txBox="1"/>
            <p:nvPr/>
          </p:nvSpPr>
          <p:spPr>
            <a:xfrm>
              <a:off x="623903" y="1414313"/>
              <a:ext cx="56959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SAT16 TRANSFER FUNCTION: RESULT_OUT VS SHIFTED_ACCUM</a:t>
              </a:r>
            </a:p>
          </p:txBody>
        </p:sp>
        <p:sp>
          <p:nvSpPr>
            <p:cNvPr id="55" name="Rectangle 10"/>
            <p:cNvSpPr/>
            <p:nvPr/>
          </p:nvSpPr>
          <p:spPr>
            <a:xfrm>
              <a:off x="762000" y="1857375"/>
              <a:ext cx="5334000" cy="2809875"/>
            </a:xfrm>
            <a:prstGeom prst="roundRect">
              <a:avLst>
                <a:gd name="adj" fmla="val 2034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6" name="Line 11"/>
            <p:cNvSpPr/>
            <p:nvPr/>
          </p:nvSpPr>
          <p:spPr>
            <a:xfrm>
              <a:off x="1047750" y="328612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</p:sp>
        <p:sp>
          <p:nvSpPr>
            <p:cNvPr id="57" name="TextBox 12"/>
            <p:cNvSpPr txBox="1"/>
            <p:nvPr/>
          </p:nvSpPr>
          <p:spPr>
            <a:xfrm>
              <a:off x="5472112" y="3367088"/>
              <a:ext cx="695703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Shifted Accum</a:t>
              </a:r>
            </a:p>
          </p:txBody>
        </p:sp>
        <p:sp>
          <p:nvSpPr>
            <p:cNvPr id="58" name="Line 13"/>
            <p:cNvSpPr/>
            <p:nvPr/>
          </p:nvSpPr>
          <p:spPr>
            <a:xfrm>
              <a:off x="3429000" y="2000250"/>
              <a:ext cx="9525" cy="2524125"/>
            </a:xfrm>
            <a:custGeom>
              <a:avLst/>
              <a:gdLst/>
              <a:ahLst/>
              <a:cxnLst/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</p:sp>
        <p:sp>
          <p:nvSpPr>
            <p:cNvPr id="59" name="TextBox 14"/>
            <p:cNvSpPr txBox="1"/>
            <p:nvPr/>
          </p:nvSpPr>
          <p:spPr>
            <a:xfrm>
              <a:off x="3471862" y="2033588"/>
              <a:ext cx="577081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Output Q8.8</a:t>
              </a:r>
            </a:p>
          </p:txBody>
        </p:sp>
        <p:sp>
          <p:nvSpPr>
            <p:cNvPr id="60" name="Line 15"/>
            <p:cNvSpPr/>
            <p:nvPr/>
          </p:nvSpPr>
          <p:spPr>
            <a:xfrm>
              <a:off x="1047750" y="23812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61" name="TextBox 16"/>
            <p:cNvSpPr txBox="1"/>
            <p:nvPr/>
          </p:nvSpPr>
          <p:spPr>
            <a:xfrm>
              <a:off x="2471738" y="2262188"/>
              <a:ext cx="1202252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+127.996°C (16'sh7FFF)</a:t>
              </a:r>
            </a:p>
          </p:txBody>
        </p:sp>
        <p:sp>
          <p:nvSpPr>
            <p:cNvPr id="62" name="Line 17"/>
            <p:cNvSpPr/>
            <p:nvPr/>
          </p:nvSpPr>
          <p:spPr>
            <a:xfrm>
              <a:off x="1047750" y="4191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63" name="TextBox 18"/>
            <p:cNvSpPr txBox="1"/>
            <p:nvPr/>
          </p:nvSpPr>
          <p:spPr>
            <a:xfrm>
              <a:off x="2471738" y="4252912"/>
              <a:ext cx="113653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-128.000°C (16'sh8000)</a:t>
              </a:r>
            </a:p>
          </p:txBody>
        </p:sp>
        <p:sp>
          <p:nvSpPr>
            <p:cNvPr id="64" name="Line 19"/>
            <p:cNvSpPr/>
            <p:nvPr/>
          </p:nvSpPr>
          <p:spPr>
            <a:xfrm>
              <a:off x="2000250" y="2000250"/>
              <a:ext cx="9525" cy="2524125"/>
            </a:xfrm>
            <a:custGeom>
              <a:avLst/>
              <a:gdLst/>
              <a:ahLst/>
              <a:cxnLst/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65" name="TextBox 20"/>
            <p:cNvSpPr txBox="1"/>
            <p:nvPr/>
          </p:nvSpPr>
          <p:spPr>
            <a:xfrm>
              <a:off x="1662112" y="4575334"/>
              <a:ext cx="327013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-32768</a:t>
              </a:r>
            </a:p>
          </p:txBody>
        </p:sp>
        <p:sp>
          <p:nvSpPr>
            <p:cNvPr id="66" name="Line 21"/>
            <p:cNvSpPr/>
            <p:nvPr/>
          </p:nvSpPr>
          <p:spPr>
            <a:xfrm>
              <a:off x="4857750" y="2000250"/>
              <a:ext cx="9525" cy="2524125"/>
            </a:xfrm>
            <a:custGeom>
              <a:avLst/>
              <a:gdLst/>
              <a:ahLst/>
              <a:cxnLst/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noFill/>
            <a:ln w="9525">
              <a:solidFill>
                <a:srgbClr val="E2E8F0"/>
              </a:solidFill>
              <a:custDash>
                <a:ds d="300000" sp="300000"/>
              </a:custDash>
            </a:ln>
          </p:spPr>
        </p:sp>
        <p:sp>
          <p:nvSpPr>
            <p:cNvPr id="67" name="TextBox 22"/>
            <p:cNvSpPr txBox="1"/>
            <p:nvPr/>
          </p:nvSpPr>
          <p:spPr>
            <a:xfrm>
              <a:off x="4710112" y="4575334"/>
              <a:ext cx="354264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+32767</a:t>
              </a:r>
            </a:p>
          </p:txBody>
        </p:sp>
        <p:sp>
          <p:nvSpPr>
            <p:cNvPr id="68" name="Line 23"/>
            <p:cNvSpPr/>
            <p:nvPr/>
          </p:nvSpPr>
          <p:spPr>
            <a:xfrm>
              <a:off x="1047750" y="41910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69" name="Line 24"/>
            <p:cNvSpPr/>
            <p:nvPr/>
          </p:nvSpPr>
          <p:spPr>
            <a:xfrm>
              <a:off x="2000250" y="2381250"/>
              <a:ext cx="2857500" cy="1809750"/>
            </a:xfrm>
            <a:custGeom>
              <a:avLst/>
              <a:gdLst/>
              <a:ahLst/>
              <a:cxnLst/>
              <a:rect l="l" t="t" r="r" b="b"/>
              <a:pathLst>
                <a:path w="2857500" h="1809750">
                  <a:moveTo>
                    <a:pt x="0" y="1809750"/>
                  </a:moveTo>
                  <a:lnTo>
                    <a:pt x="2857500" y="0"/>
                  </a:lnTo>
                </a:path>
              </a:pathLst>
            </a:custGeom>
            <a:noFill/>
            <a:ln w="28575">
              <a:solidFill>
                <a:srgbClr val="2563EB"/>
              </a:solidFill>
            </a:ln>
          </p:spPr>
        </p:sp>
        <p:sp>
          <p:nvSpPr>
            <p:cNvPr id="70" name="Line 25"/>
            <p:cNvSpPr/>
            <p:nvPr/>
          </p:nvSpPr>
          <p:spPr>
            <a:xfrm>
              <a:off x="4857750" y="23812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71" name="Ellipse 26"/>
            <p:cNvSpPr/>
            <p:nvPr/>
          </p:nvSpPr>
          <p:spPr>
            <a:xfrm>
              <a:off x="1952625" y="4143375"/>
              <a:ext cx="95250" cy="9525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2" name="Ellipse 27"/>
            <p:cNvSpPr/>
            <p:nvPr/>
          </p:nvSpPr>
          <p:spPr>
            <a:xfrm>
              <a:off x="4810125" y="2333625"/>
              <a:ext cx="95250" cy="9525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3" name="Ellipse 28"/>
            <p:cNvSpPr/>
            <p:nvPr/>
          </p:nvSpPr>
          <p:spPr>
            <a:xfrm>
              <a:off x="3390900" y="3248025"/>
              <a:ext cx="76200" cy="762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74" name="TextBox 29"/>
            <p:cNvSpPr txBox="1"/>
            <p:nvPr/>
          </p:nvSpPr>
          <p:spPr>
            <a:xfrm>
              <a:off x="3519488" y="3165634"/>
              <a:ext cx="250068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79" name="Rectangle 30"/>
            <p:cNvSpPr/>
            <p:nvPr/>
          </p:nvSpPr>
          <p:spPr>
            <a:xfrm>
              <a:off x="1143000" y="3714750"/>
              <a:ext cx="809625" cy="323850"/>
            </a:xfrm>
            <a:prstGeom prst="roundRect">
              <a:avLst>
                <a:gd name="adj" fmla="val 11765"/>
              </a:avLst>
            </a:prstGeom>
            <a:solidFill>
              <a:srgbClr val="FFFBEB"/>
            </a:solidFill>
            <a:ln w="9525">
              <a:solidFill>
                <a:srgbClr val="D97706"/>
              </a:solidFill>
            </a:ln>
          </p:spPr>
        </p:sp>
        <p:sp>
          <p:nvSpPr>
            <p:cNvPr id="80" name="TextBox 31"/>
            <p:cNvSpPr txBox="1"/>
            <p:nvPr/>
          </p:nvSpPr>
          <p:spPr>
            <a:xfrm>
              <a:off x="1198405" y="3784759"/>
              <a:ext cx="689292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MIN CLAMP</a:t>
              </a:r>
            </a:p>
          </p:txBody>
        </p:sp>
        <p:sp>
          <p:nvSpPr>
            <p:cNvPr id="81" name="TextBox 32"/>
            <p:cNvSpPr txBox="1"/>
            <p:nvPr/>
          </p:nvSpPr>
          <p:spPr>
            <a:xfrm>
              <a:off x="1308210" y="3908584"/>
              <a:ext cx="4696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16'sh8000</a:t>
              </a:r>
            </a:p>
          </p:txBody>
        </p:sp>
        <p:sp>
          <p:nvSpPr>
            <p:cNvPr id="82" name="Rectangle 33"/>
            <p:cNvSpPr/>
            <p:nvPr/>
          </p:nvSpPr>
          <p:spPr>
            <a:xfrm>
              <a:off x="3000375" y="2619375"/>
              <a:ext cx="904875" cy="323850"/>
            </a:xfrm>
            <a:prstGeom prst="roundRect">
              <a:avLst>
                <a:gd name="adj" fmla="val 11765"/>
              </a:avLst>
            </a:prstGeom>
            <a:solidFill>
              <a:srgbClr val="EFF6FF"/>
            </a:solidFill>
            <a:ln w="9525">
              <a:solidFill>
                <a:srgbClr val="2563EB"/>
              </a:solidFill>
            </a:ln>
          </p:spPr>
        </p:sp>
        <p:sp>
          <p:nvSpPr>
            <p:cNvPr id="83" name="TextBox 34"/>
            <p:cNvSpPr txBox="1"/>
            <p:nvPr/>
          </p:nvSpPr>
          <p:spPr>
            <a:xfrm>
              <a:off x="3060124" y="2689384"/>
              <a:ext cx="775853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LINEAR PASS</a:t>
              </a:r>
            </a:p>
          </p:txBody>
        </p:sp>
        <p:sp>
          <p:nvSpPr>
            <p:cNvPr id="84" name="TextBox 35"/>
            <p:cNvSpPr txBox="1"/>
            <p:nvPr/>
          </p:nvSpPr>
          <p:spPr>
            <a:xfrm>
              <a:off x="3065734" y="2813209"/>
              <a:ext cx="764633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y = accum[15:0]</a:t>
              </a:r>
            </a:p>
          </p:txBody>
        </p:sp>
        <p:sp>
          <p:nvSpPr>
            <p:cNvPr id="85" name="Rectangle 36"/>
            <p:cNvSpPr/>
            <p:nvPr/>
          </p:nvSpPr>
          <p:spPr>
            <a:xfrm>
              <a:off x="4905375" y="2571750"/>
              <a:ext cx="809625" cy="323850"/>
            </a:xfrm>
            <a:prstGeom prst="roundRect">
              <a:avLst>
                <a:gd name="adj" fmla="val 11765"/>
              </a:avLst>
            </a:prstGeom>
            <a:solidFill>
              <a:srgbClr val="FFFBEB"/>
            </a:solidFill>
            <a:ln w="9525">
              <a:solidFill>
                <a:srgbClr val="D97706"/>
              </a:solidFill>
            </a:ln>
          </p:spPr>
        </p:sp>
        <p:sp>
          <p:nvSpPr>
            <p:cNvPr id="86" name="TextBox 37"/>
            <p:cNvSpPr txBox="1"/>
            <p:nvPr/>
          </p:nvSpPr>
          <p:spPr>
            <a:xfrm>
              <a:off x="4941544" y="2641759"/>
              <a:ext cx="727764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MAX CLAMP</a:t>
              </a:r>
            </a:p>
          </p:txBody>
        </p:sp>
        <p:sp>
          <p:nvSpPr>
            <p:cNvPr id="87" name="TextBox 38"/>
            <p:cNvSpPr txBox="1"/>
            <p:nvPr/>
          </p:nvSpPr>
          <p:spPr>
            <a:xfrm>
              <a:off x="5060967" y="2765584"/>
              <a:ext cx="488916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16'sh7FFF</a:t>
              </a:r>
            </a:p>
          </p:txBody>
        </p:sp>
        <p:sp>
          <p:nvSpPr>
            <p:cNvPr id="88" name="Rectangle 39"/>
            <p:cNvSpPr/>
            <p:nvPr/>
          </p:nvSpPr>
          <p:spPr>
            <a:xfrm>
              <a:off x="762000" y="4810125"/>
              <a:ext cx="5334000" cy="1047750"/>
            </a:xfrm>
            <a:prstGeom prst="roundRect">
              <a:avLst>
                <a:gd name="adj" fmla="val 5455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89" name="TextBox 40"/>
            <p:cNvSpPr txBox="1"/>
            <p:nvPr/>
          </p:nvSpPr>
          <p:spPr>
            <a:xfrm>
              <a:off x="900112" y="4940141"/>
              <a:ext cx="292708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Why Saturation is Mandatory in Two's Complement:</a:t>
              </a:r>
            </a:p>
          </p:txBody>
        </p:sp>
        <p:sp>
          <p:nvSpPr>
            <p:cNvPr id="90" name="TextBox 41"/>
            <p:cNvSpPr txBox="1"/>
            <p:nvPr/>
          </p:nvSpPr>
          <p:spPr>
            <a:xfrm>
              <a:off x="900112" y="5149691"/>
              <a:ext cx="328615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Unclamped wrap: +128.01°C flips to -127.99°C sign overflow</a:t>
              </a:r>
            </a:p>
          </p:txBody>
        </p:sp>
        <p:sp>
          <p:nvSpPr>
            <p:cNvPr id="91" name="TextBox 42"/>
            <p:cNvSpPr txBox="1"/>
            <p:nvPr/>
          </p:nvSpPr>
          <p:spPr>
            <a:xfrm>
              <a:off x="900112" y="5359241"/>
              <a:ext cx="274915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Actuator risk: Sign flip triggers false heating alarms</a:t>
              </a:r>
            </a:p>
          </p:txBody>
        </p:sp>
        <p:sp>
          <p:nvSpPr>
            <p:cNvPr id="92" name="TextBox 43"/>
            <p:cNvSpPr txBox="1"/>
            <p:nvPr/>
          </p:nvSpPr>
          <p:spPr>
            <a:xfrm>
              <a:off x="900112" y="5578316"/>
              <a:ext cx="314028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10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Sat16 clamp: Bounds extreme spikes to max signed rails</a:t>
              </a:r>
            </a:p>
          </p:txBody>
        </p:sp>
      </p:grpSp>
      <p:grpSp>
        <p:nvGrpSpPr>
          <p:cNvPr id="93" name="sat_rtl_code"/>
          <p:cNvGrpSpPr/>
          <p:nvPr/>
        </p:nvGrpSpPr>
        <p:grpSpPr>
          <a:xfrm>
            <a:off x="6305177" y="1762125"/>
            <a:ext cx="5143500" cy="4762500"/>
            <a:chOff x="6477000" y="1285875"/>
            <a:chExt cx="5143500" cy="4762500"/>
          </a:xfrm>
        </p:grpSpPr>
        <p:sp>
          <p:nvSpPr>
            <p:cNvPr id="94" name="Rectangle 45"/>
            <p:cNvSpPr/>
            <p:nvPr/>
          </p:nvSpPr>
          <p:spPr>
            <a:xfrm>
              <a:off x="6477000" y="1285875"/>
              <a:ext cx="51435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5" name="Rectangle 46"/>
            <p:cNvSpPr/>
            <p:nvPr/>
          </p:nvSpPr>
          <p:spPr>
            <a:xfrm>
              <a:off x="6477000" y="1285875"/>
              <a:ext cx="51435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6" name="TextBox 47"/>
            <p:cNvSpPr txBox="1"/>
            <p:nvPr/>
          </p:nvSpPr>
          <p:spPr>
            <a:xfrm>
              <a:off x="6662166" y="1429702"/>
              <a:ext cx="427251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SYNTHESIZABLE VERILOG SATURATION LOGIC</a:t>
              </a:r>
            </a:p>
          </p:txBody>
        </p:sp>
        <p:sp>
          <p:nvSpPr>
            <p:cNvPr id="97" name="TextBox 48"/>
            <p:cNvSpPr txBox="1"/>
            <p:nvPr/>
          </p:nvSpPr>
          <p:spPr>
            <a:xfrm>
              <a:off x="6662547" y="1847374"/>
              <a:ext cx="313066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Production RTL Implementation (Speed &amp; Resource):</a:t>
              </a:r>
            </a:p>
          </p:txBody>
        </p:sp>
        <p:sp>
          <p:nvSpPr>
            <p:cNvPr id="98" name="Rectangle 49"/>
            <p:cNvSpPr/>
            <p:nvPr/>
          </p:nvSpPr>
          <p:spPr>
            <a:xfrm>
              <a:off x="6667500" y="2114550"/>
              <a:ext cx="4762500" cy="2190750"/>
            </a:xfrm>
            <a:prstGeom prst="roundRect">
              <a:avLst>
                <a:gd name="adj" fmla="val 2609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99" name="TextBox 50"/>
            <p:cNvSpPr txBox="1"/>
            <p:nvPr/>
          </p:nvSpPr>
          <p:spPr>
            <a:xfrm>
              <a:off x="6805612" y="2235041"/>
              <a:ext cx="198131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// Arithmetic shift by 14 fractional bits</a:t>
              </a:r>
            </a:p>
          </p:txBody>
        </p:sp>
        <p:sp>
          <p:nvSpPr>
            <p:cNvPr id="100" name="TextBox 51"/>
            <p:cNvSpPr txBox="1"/>
            <p:nvPr/>
          </p:nvSpPr>
          <p:spPr>
            <a:xfrm>
              <a:off x="6805612" y="2425541"/>
              <a:ext cx="213039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wire signed [34:0] s4_sh = s4_s &gt;&gt;&gt; 14;</a:t>
              </a:r>
            </a:p>
          </p:txBody>
        </p:sp>
        <p:sp>
          <p:nvSpPr>
            <p:cNvPr id="101" name="TextBox 52"/>
            <p:cNvSpPr txBox="1"/>
            <p:nvPr/>
          </p:nvSpPr>
          <p:spPr>
            <a:xfrm>
              <a:off x="6805612" y="2673191"/>
              <a:ext cx="1638269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// Sat16 signed 16-bit saturation</a:t>
              </a:r>
            </a:p>
          </p:txBody>
        </p:sp>
        <p:sp>
          <p:nvSpPr>
            <p:cNvPr id="102" name="TextBox 53"/>
            <p:cNvSpPr txBox="1"/>
            <p:nvPr/>
          </p:nvSpPr>
          <p:spPr>
            <a:xfrm>
              <a:off x="6805612" y="2863691"/>
              <a:ext cx="152285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always @(posedge clk) begin</a:t>
              </a:r>
            </a:p>
          </p:txBody>
        </p:sp>
        <p:sp>
          <p:nvSpPr>
            <p:cNvPr id="103" name="TextBox 54"/>
            <p:cNvSpPr txBox="1"/>
            <p:nvPr/>
          </p:nvSpPr>
          <p:spPr>
            <a:xfrm>
              <a:off x="6996112" y="3054191"/>
              <a:ext cx="123751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if (s4_sh &gt; 35'sd32767)</a:t>
              </a:r>
            </a:p>
          </p:txBody>
        </p:sp>
        <p:sp>
          <p:nvSpPr>
            <p:cNvPr id="104" name="TextBox 55"/>
            <p:cNvSpPr txBox="1"/>
            <p:nvPr/>
          </p:nvSpPr>
          <p:spPr>
            <a:xfrm>
              <a:off x="7186612" y="3225641"/>
              <a:ext cx="226344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s5_out &lt;= 16'sh7FFF; // +127.996 °C clamp</a:t>
              </a:r>
            </a:p>
          </p:txBody>
        </p:sp>
        <p:sp>
          <p:nvSpPr>
            <p:cNvPr id="105" name="TextBox 56"/>
            <p:cNvSpPr txBox="1"/>
            <p:nvPr/>
          </p:nvSpPr>
          <p:spPr>
            <a:xfrm>
              <a:off x="6996112" y="3416141"/>
              <a:ext cx="15132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else if (s4_sh &lt; -35'sd32768)</a:t>
              </a:r>
            </a:p>
          </p:txBody>
        </p:sp>
        <p:sp>
          <p:nvSpPr>
            <p:cNvPr id="106" name="TextBox 57"/>
            <p:cNvSpPr txBox="1"/>
            <p:nvPr/>
          </p:nvSpPr>
          <p:spPr>
            <a:xfrm>
              <a:off x="7186612" y="3587591"/>
              <a:ext cx="221535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s5_out &lt;= 16'sh8000; // -128.000 °C clamp</a:t>
              </a:r>
            </a:p>
          </p:txBody>
        </p:sp>
        <p:sp>
          <p:nvSpPr>
            <p:cNvPr id="107" name="TextBox 58"/>
            <p:cNvSpPr txBox="1"/>
            <p:nvPr/>
          </p:nvSpPr>
          <p:spPr>
            <a:xfrm>
              <a:off x="6996112" y="3778091"/>
              <a:ext cx="20037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else</a:t>
              </a:r>
            </a:p>
          </p:txBody>
        </p:sp>
        <p:sp>
          <p:nvSpPr>
            <p:cNvPr id="108" name="TextBox 59"/>
            <p:cNvSpPr txBox="1"/>
            <p:nvPr/>
          </p:nvSpPr>
          <p:spPr>
            <a:xfrm>
              <a:off x="7186612" y="3949541"/>
              <a:ext cx="197169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s5_out &lt;= s4_sh[15:0]; // Normal pass</a:t>
              </a:r>
            </a:p>
          </p:txBody>
        </p:sp>
        <p:sp>
          <p:nvSpPr>
            <p:cNvPr id="109" name="TextBox 60"/>
            <p:cNvSpPr txBox="1"/>
            <p:nvPr/>
          </p:nvSpPr>
          <p:spPr>
            <a:xfrm>
              <a:off x="6805612" y="4120991"/>
              <a:ext cx="18594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end</a:t>
              </a:r>
            </a:p>
          </p:txBody>
        </p:sp>
        <p:sp>
          <p:nvSpPr>
            <p:cNvPr id="110" name="Rectangle 61"/>
            <p:cNvSpPr/>
            <p:nvPr/>
          </p:nvSpPr>
          <p:spPr>
            <a:xfrm>
              <a:off x="6667500" y="4457700"/>
              <a:ext cx="4762500" cy="1400175"/>
            </a:xfrm>
            <a:prstGeom prst="roundRect">
              <a:avLst>
                <a:gd name="adj" fmla="val 4082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111" name="TextBox 62"/>
            <p:cNvSpPr txBox="1"/>
            <p:nvPr/>
          </p:nvSpPr>
          <p:spPr>
            <a:xfrm>
              <a:off x="6805612" y="4617720"/>
              <a:ext cx="254076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DPI-C Golden Model Verification Contract:</a:t>
              </a:r>
            </a:p>
          </p:txBody>
        </p:sp>
        <p:sp>
          <p:nvSpPr>
            <p:cNvPr id="112" name="TextBox 63"/>
            <p:cNvSpPr txBox="1"/>
            <p:nvPr/>
          </p:nvSpPr>
          <p:spPr>
            <a:xfrm>
              <a:off x="6805612" y="4863941"/>
              <a:ext cx="337913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C++ oracle executes identical signed check (ols_reference.hpp):</a:t>
              </a:r>
            </a:p>
          </p:txBody>
        </p:sp>
        <p:sp>
          <p:nvSpPr>
            <p:cNvPr id="113" name="TextBox 64"/>
            <p:cNvSpPr txBox="1"/>
            <p:nvPr/>
          </p:nvSpPr>
          <p:spPr>
            <a:xfrm>
              <a:off x="6948488" y="5073491"/>
              <a:ext cx="260648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q &gt; 32767 ? 32767 : q &lt; -32768 ? -32768 : int(q);</a:t>
              </a:r>
            </a:p>
          </p:txBody>
        </p:sp>
        <p:sp>
          <p:nvSpPr>
            <p:cNvPr id="114" name="TextBox 65"/>
            <p:cNvSpPr txBox="1"/>
            <p:nvPr/>
          </p:nvSpPr>
          <p:spPr>
            <a:xfrm>
              <a:off x="6805612" y="5321141"/>
              <a:ext cx="324928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Stress tests inject extreme inputs (-50°C and +120°C swings).</a:t>
              </a:r>
            </a:p>
          </p:txBody>
        </p:sp>
        <p:sp>
          <p:nvSpPr>
            <p:cNvPr id="115" name="TextBox 66"/>
            <p:cNvSpPr txBox="1"/>
            <p:nvPr/>
          </p:nvSpPr>
          <p:spPr>
            <a:xfrm>
              <a:off x="6805612" y="5578316"/>
              <a:ext cx="347370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Zero mismatches: 100% bit-exact across all saturation corners!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842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12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431800" y="969042"/>
            <a:ext cx="12192000" cy="890663"/>
          </a:xfrm>
        </p:spPr>
        <p:txBody>
          <a:bodyPr>
            <a:normAutofit fontScale="90000"/>
          </a:bodyPr>
          <a:lstStyle/>
          <a:p>
            <a:r>
              <a:rPr lang="en" dirty="0">
                <a:solidFill>
                  <a:schemeClr val="accent1"/>
                </a:solidFill>
              </a:rPr>
              <a:t>Dual Implementations: Speed Core vs Resource Core</a:t>
            </a:r>
          </a:p>
        </p:txBody>
      </p:sp>
      <p:grpSp>
        <p:nvGrpSpPr>
          <p:cNvPr id="29" name="arch_speed_card"/>
          <p:cNvGrpSpPr/>
          <p:nvPr/>
        </p:nvGrpSpPr>
        <p:grpSpPr>
          <a:xfrm>
            <a:off x="494725" y="1744133"/>
            <a:ext cx="5381625" cy="4762500"/>
            <a:chOff x="571500" y="1285875"/>
            <a:chExt cx="5381625" cy="4762500"/>
          </a:xfrm>
        </p:grpSpPr>
        <p:sp>
          <p:nvSpPr>
            <p:cNvPr id="30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2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33" name="TextBox 9"/>
            <p:cNvSpPr txBox="1"/>
            <p:nvPr/>
          </p:nvSpPr>
          <p:spPr>
            <a:xfrm>
              <a:off x="756666" y="1429702"/>
              <a:ext cx="452502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CORE A: SPEED-OPTIMIZED STREAMING PIPELINE</a:t>
              </a:r>
            </a:p>
          </p:txBody>
        </p:sp>
        <p:sp>
          <p:nvSpPr>
            <p:cNvPr id="34" name="TextBox 10"/>
            <p:cNvSpPr txBox="1"/>
            <p:nvPr/>
          </p:nvSpPr>
          <p:spPr>
            <a:xfrm>
              <a:off x="757047" y="1847374"/>
              <a:ext cx="182582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Datapath Micro-Architecture:</a:t>
              </a:r>
            </a:p>
          </p:txBody>
        </p:sp>
        <p:sp>
          <p:nvSpPr>
            <p:cNvPr id="35" name="TextBox 11"/>
            <p:cNvSpPr txBox="1"/>
            <p:nvPr/>
          </p:nvSpPr>
          <p:spPr>
            <a:xfrm>
              <a:off x="757238" y="2074545"/>
              <a:ext cx="269625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6 Register Stages (S0 capture to S5 saturation)</a:t>
              </a:r>
            </a:p>
          </p:txBody>
        </p:sp>
        <p:sp>
          <p:nvSpPr>
            <p:cNvPr id="36" name="TextBox 12"/>
            <p:cNvSpPr txBox="1"/>
            <p:nvPr/>
          </p:nvSpPr>
          <p:spPr>
            <a:xfrm>
              <a:off x="757238" y="2284095"/>
              <a:ext cx="301044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Dual Multipliers: 2 parallel 17×16 signed DSP units</a:t>
              </a:r>
            </a:p>
          </p:txBody>
        </p:sp>
        <p:sp>
          <p:nvSpPr>
            <p:cNvPr id="37" name="TextBox 13"/>
            <p:cNvSpPr txBox="1"/>
            <p:nvPr/>
          </p:nvSpPr>
          <p:spPr>
            <a:xfrm>
              <a:off x="757238" y="2493645"/>
              <a:ext cx="302166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History Buffer: 25-stage shift register with wire taps</a:t>
              </a:r>
            </a:p>
          </p:txBody>
        </p:sp>
        <p:sp>
          <p:nvSpPr>
            <p:cNvPr id="38" name="TextBox 14"/>
            <p:cNvSpPr txBox="1"/>
            <p:nvPr/>
          </p:nvSpPr>
          <p:spPr>
            <a:xfrm>
              <a:off x="757047" y="2847499"/>
              <a:ext cx="190436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Throughput &amp; Timing Metrics:</a:t>
              </a:r>
            </a:p>
          </p:txBody>
        </p:sp>
        <p:sp>
          <p:nvSpPr>
            <p:cNvPr id="39" name="TextBox 15"/>
            <p:cNvSpPr txBox="1"/>
            <p:nvPr/>
          </p:nvSpPr>
          <p:spPr>
            <a:xfrm>
              <a:off x="757238" y="3074670"/>
              <a:ext cx="271869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Throughput: II = 1 (1 sample/clock, 0 bubbles)</a:t>
              </a:r>
            </a:p>
          </p:txBody>
        </p:sp>
        <p:sp>
          <p:nvSpPr>
            <p:cNvPr id="40" name="TextBox 16"/>
            <p:cNvSpPr txBox="1"/>
            <p:nvPr/>
          </p:nvSpPr>
          <p:spPr>
            <a:xfrm>
              <a:off x="757238" y="3284220"/>
              <a:ext cx="256801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Latency: 5 clock cycles (100 ns @ 50 MHz)</a:t>
              </a:r>
            </a:p>
          </p:txBody>
        </p:sp>
        <p:sp>
          <p:nvSpPr>
            <p:cNvPr id="41" name="TextBox 17"/>
            <p:cNvSpPr txBox="1"/>
            <p:nvPr/>
          </p:nvSpPr>
          <p:spPr>
            <a:xfrm>
              <a:off x="757238" y="3493770"/>
              <a:ext cx="280685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Max Frequency: 142.3 MHz F_max (2.8x slack)</a:t>
              </a:r>
            </a:p>
          </p:txBody>
        </p:sp>
        <p:sp>
          <p:nvSpPr>
            <p:cNvPr id="42" name="Rectangle 18"/>
            <p:cNvSpPr/>
            <p:nvPr/>
          </p:nvSpPr>
          <p:spPr>
            <a:xfrm>
              <a:off x="762000" y="3905250"/>
              <a:ext cx="5000625" cy="1905000"/>
            </a:xfrm>
            <a:prstGeom prst="roundRect">
              <a:avLst>
                <a:gd name="adj" fmla="val 3000"/>
              </a:avLst>
            </a:prstGeom>
            <a:solidFill>
              <a:srgbClr val="EFF6FF"/>
            </a:solidFill>
            <a:ln w="9525">
              <a:solidFill>
                <a:srgbClr val="E2E8F0"/>
              </a:solidFill>
            </a:ln>
          </p:spPr>
        </p:sp>
        <p:sp>
          <p:nvSpPr>
            <p:cNvPr id="43" name="TextBox 19"/>
            <p:cNvSpPr txBox="1"/>
            <p:nvPr/>
          </p:nvSpPr>
          <p:spPr>
            <a:xfrm>
              <a:off x="899922" y="4066699"/>
              <a:ext cx="174086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Cyclone II Profile (EP2C35):</a:t>
              </a:r>
            </a:p>
          </p:txBody>
        </p:sp>
        <p:sp>
          <p:nvSpPr>
            <p:cNvPr id="44" name="TextBox 20"/>
            <p:cNvSpPr txBox="1"/>
            <p:nvPr/>
          </p:nvSpPr>
          <p:spPr>
            <a:xfrm>
              <a:off x="900112" y="4331970"/>
              <a:ext cx="272029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Logic Elements: 412 LEs (1.2% total capacity)</a:t>
              </a:r>
            </a:p>
          </p:txBody>
        </p:sp>
        <p:sp>
          <p:nvSpPr>
            <p:cNvPr id="45" name="TextBox 21"/>
            <p:cNvSpPr txBox="1"/>
            <p:nvPr/>
          </p:nvSpPr>
          <p:spPr>
            <a:xfrm>
              <a:off x="900112" y="4570095"/>
              <a:ext cx="234679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Multipliers: 2 DSP units (4 9-bit blocks)</a:t>
              </a:r>
            </a:p>
          </p:txBody>
        </p:sp>
        <p:sp>
          <p:nvSpPr>
            <p:cNvPr id="46" name="TextBox 22"/>
            <p:cNvSpPr txBox="1"/>
            <p:nvPr/>
          </p:nvSpPr>
          <p:spPr>
            <a:xfrm>
              <a:off x="900112" y="4808220"/>
              <a:ext cx="2584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Throughput: 50.0 MSamples/sec @ 50 MHz</a:t>
              </a:r>
            </a:p>
          </p:txBody>
        </p:sp>
        <p:sp>
          <p:nvSpPr>
            <p:cNvPr id="47" name="Line 23"/>
            <p:cNvSpPr/>
            <p:nvPr/>
          </p:nvSpPr>
          <p:spPr>
            <a:xfrm>
              <a:off x="904875" y="509587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8" name="TextBox 24"/>
            <p:cNvSpPr txBox="1"/>
            <p:nvPr/>
          </p:nvSpPr>
          <p:spPr>
            <a:xfrm>
              <a:off x="900112" y="5255895"/>
              <a:ext cx="228748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Target Domain: High-Rate Streaming</a:t>
              </a:r>
            </a:p>
          </p:txBody>
        </p:sp>
        <p:sp>
          <p:nvSpPr>
            <p:cNvPr id="49" name="TextBox 25"/>
            <p:cNvSpPr txBox="1"/>
            <p:nvPr/>
          </p:nvSpPr>
          <p:spPr>
            <a:xfrm>
              <a:off x="900112" y="5474970"/>
              <a:ext cx="288380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Multi-channel streams, radar, and lidar edge nodes.</a:t>
              </a:r>
            </a:p>
          </p:txBody>
        </p:sp>
      </p:grpSp>
      <p:grpSp>
        <p:nvGrpSpPr>
          <p:cNvPr id="50" name="arch_res_card"/>
          <p:cNvGrpSpPr/>
          <p:nvPr/>
        </p:nvGrpSpPr>
        <p:grpSpPr>
          <a:xfrm>
            <a:off x="6162100" y="1744133"/>
            <a:ext cx="5381625" cy="4762500"/>
            <a:chOff x="6238875" y="1285875"/>
            <a:chExt cx="5381625" cy="4762500"/>
          </a:xfrm>
        </p:grpSpPr>
        <p:sp>
          <p:nvSpPr>
            <p:cNvPr id="73" name="Rectangle 27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4" name="Rectangle 28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75" name="TextBox 29"/>
            <p:cNvSpPr txBox="1"/>
            <p:nvPr/>
          </p:nvSpPr>
          <p:spPr>
            <a:xfrm>
              <a:off x="6424041" y="1429702"/>
              <a:ext cx="458131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CORE B: RESOURCE-OPTIMIZED TIME-MUXED FSM</a:t>
              </a:r>
            </a:p>
          </p:txBody>
        </p:sp>
        <p:sp>
          <p:nvSpPr>
            <p:cNvPr id="76" name="TextBox 30"/>
            <p:cNvSpPr txBox="1"/>
            <p:nvPr/>
          </p:nvSpPr>
          <p:spPr>
            <a:xfrm>
              <a:off x="6424422" y="1847374"/>
              <a:ext cx="189474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Sequential Micro-Architecture:</a:t>
              </a:r>
            </a:p>
          </p:txBody>
        </p:sp>
        <p:sp>
          <p:nvSpPr>
            <p:cNvPr id="77" name="TextBox 31"/>
            <p:cNvSpPr txBox="1"/>
            <p:nvPr/>
          </p:nvSpPr>
          <p:spPr>
            <a:xfrm>
              <a:off x="6424612" y="2074545"/>
              <a:ext cx="207108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10-State Sequential FSM controller</a:t>
              </a:r>
            </a:p>
          </p:txBody>
        </p:sp>
        <p:sp>
          <p:nvSpPr>
            <p:cNvPr id="78" name="TextBox 32"/>
            <p:cNvSpPr txBox="1"/>
            <p:nvPr/>
          </p:nvSpPr>
          <p:spPr>
            <a:xfrm>
              <a:off x="6424612" y="2284095"/>
              <a:ext cx="287578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Single Multiplier: 1 17×16 DSP time-multiplexed</a:t>
              </a:r>
            </a:p>
          </p:txBody>
        </p:sp>
        <p:sp>
          <p:nvSpPr>
            <p:cNvPr id="79" name="TextBox 33"/>
            <p:cNvSpPr txBox="1"/>
            <p:nvPr/>
          </p:nvSpPr>
          <p:spPr>
            <a:xfrm>
              <a:off x="6424612" y="2493645"/>
              <a:ext cx="244137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Reused ALU: Serial differences and sums</a:t>
              </a:r>
            </a:p>
          </p:txBody>
        </p:sp>
        <p:sp>
          <p:nvSpPr>
            <p:cNvPr id="80" name="TextBox 34"/>
            <p:cNvSpPr txBox="1"/>
            <p:nvPr/>
          </p:nvSpPr>
          <p:spPr>
            <a:xfrm>
              <a:off x="6424422" y="2847499"/>
              <a:ext cx="190436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Throughput &amp; Timing Metrics:</a:t>
              </a:r>
            </a:p>
          </p:txBody>
        </p:sp>
        <p:sp>
          <p:nvSpPr>
            <p:cNvPr id="81" name="TextBox 35"/>
            <p:cNvSpPr txBox="1"/>
            <p:nvPr/>
          </p:nvSpPr>
          <p:spPr>
            <a:xfrm>
              <a:off x="6424612" y="3074670"/>
              <a:ext cx="257442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Throughput: II = 10 clock cycles per sample</a:t>
              </a:r>
            </a:p>
          </p:txBody>
        </p:sp>
        <p:sp>
          <p:nvSpPr>
            <p:cNvPr id="82" name="TextBox 36"/>
            <p:cNvSpPr txBox="1"/>
            <p:nvPr/>
          </p:nvSpPr>
          <p:spPr>
            <a:xfrm>
              <a:off x="6424612" y="3284220"/>
              <a:ext cx="256801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Latency: 9 clock cycles (180 ns @ 50 MHz)</a:t>
              </a:r>
            </a:p>
          </p:txBody>
        </p:sp>
        <p:sp>
          <p:nvSpPr>
            <p:cNvPr id="83" name="TextBox 37"/>
            <p:cNvSpPr txBox="1"/>
            <p:nvPr/>
          </p:nvSpPr>
          <p:spPr>
            <a:xfrm>
              <a:off x="6424612" y="3493770"/>
              <a:ext cx="280685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Max Frequency: 118.5 MHz F_max (2.4x slack)</a:t>
              </a:r>
            </a:p>
          </p:txBody>
        </p:sp>
        <p:sp>
          <p:nvSpPr>
            <p:cNvPr id="84" name="Rectangle 38"/>
            <p:cNvSpPr/>
            <p:nvPr/>
          </p:nvSpPr>
          <p:spPr>
            <a:xfrm>
              <a:off x="6429375" y="3905250"/>
              <a:ext cx="5000625" cy="1905000"/>
            </a:xfrm>
            <a:prstGeom prst="roundRect">
              <a:avLst>
                <a:gd name="adj" fmla="val 3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85" name="TextBox 39"/>
            <p:cNvSpPr txBox="1"/>
            <p:nvPr/>
          </p:nvSpPr>
          <p:spPr>
            <a:xfrm>
              <a:off x="6567297" y="4066699"/>
              <a:ext cx="174086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Cyclone II Profile (EP2C35):</a:t>
              </a:r>
            </a:p>
          </p:txBody>
        </p:sp>
        <p:sp>
          <p:nvSpPr>
            <p:cNvPr id="86" name="TextBox 40"/>
            <p:cNvSpPr txBox="1"/>
            <p:nvPr/>
          </p:nvSpPr>
          <p:spPr>
            <a:xfrm>
              <a:off x="6567488" y="4331970"/>
              <a:ext cx="310020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11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Logic Elements: 236 LEs (-42.7% area reduction!)</a:t>
              </a:r>
            </a:p>
          </p:txBody>
        </p:sp>
        <p:sp>
          <p:nvSpPr>
            <p:cNvPr id="87" name="TextBox 41"/>
            <p:cNvSpPr txBox="1"/>
            <p:nvPr/>
          </p:nvSpPr>
          <p:spPr>
            <a:xfrm>
              <a:off x="6567488" y="4570095"/>
              <a:ext cx="292708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11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Multipliers: 1 DSP unit (-50% silicon footprint)</a:t>
              </a:r>
            </a:p>
          </p:txBody>
        </p:sp>
        <p:sp>
          <p:nvSpPr>
            <p:cNvPr id="88" name="TextBox 42"/>
            <p:cNvSpPr txBox="1"/>
            <p:nvPr/>
          </p:nvSpPr>
          <p:spPr>
            <a:xfrm>
              <a:off x="6567488" y="4808220"/>
              <a:ext cx="251350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Throughput: 5.0 MSamples/sec @ 50 MHz</a:t>
              </a:r>
            </a:p>
          </p:txBody>
        </p:sp>
        <p:sp>
          <p:nvSpPr>
            <p:cNvPr id="89" name="Line 43"/>
            <p:cNvSpPr/>
            <p:nvPr/>
          </p:nvSpPr>
          <p:spPr>
            <a:xfrm>
              <a:off x="6572250" y="509587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90" name="TextBox 44"/>
            <p:cNvSpPr txBox="1"/>
            <p:nvPr/>
          </p:nvSpPr>
          <p:spPr>
            <a:xfrm>
              <a:off x="6567488" y="5255895"/>
              <a:ext cx="229710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Target Domain: Low-Power Edge IoT</a:t>
              </a:r>
            </a:p>
          </p:txBody>
        </p:sp>
        <p:sp>
          <p:nvSpPr>
            <p:cNvPr id="91" name="TextBox 45"/>
            <p:cNvSpPr txBox="1"/>
            <p:nvPr/>
          </p:nvSpPr>
          <p:spPr>
            <a:xfrm>
              <a:off x="6567488" y="5474970"/>
              <a:ext cx="318516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Battery-powered weather pods and remote sensor nodes.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71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13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330200" y="1036775"/>
            <a:ext cx="12064999" cy="890663"/>
          </a:xfrm>
        </p:spPr>
        <p:txBody>
          <a:bodyPr>
            <a:noAutofit/>
          </a:bodyPr>
          <a:lstStyle/>
          <a:p>
            <a:r>
              <a:rPr lang="en" sz="3600" dirty="0">
                <a:solidFill>
                  <a:schemeClr val="accent1"/>
                </a:solidFill>
              </a:rPr>
              <a:t>Speed Core: 6-Stage Pipelined Datapath Schematic (II = 1)</a:t>
            </a:r>
          </a:p>
        </p:txBody>
      </p:sp>
      <p:grpSp>
        <p:nvGrpSpPr>
          <p:cNvPr id="8" name="rtl_schematic_box"/>
          <p:cNvGrpSpPr/>
          <p:nvPr/>
        </p:nvGrpSpPr>
        <p:grpSpPr>
          <a:xfrm>
            <a:off x="452437" y="1790748"/>
            <a:ext cx="11049000" cy="4762500"/>
            <a:chOff x="571500" y="1285875"/>
            <a:chExt cx="11049000" cy="4762500"/>
          </a:xfrm>
        </p:grpSpPr>
        <p:sp>
          <p:nvSpPr>
            <p:cNvPr id="9" name="Rectangle 7"/>
            <p:cNvSpPr/>
            <p:nvPr/>
          </p:nvSpPr>
          <p:spPr>
            <a:xfrm>
              <a:off x="571500" y="1285875"/>
              <a:ext cx="110490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Rectangle 8"/>
            <p:cNvSpPr/>
            <p:nvPr/>
          </p:nvSpPr>
          <p:spPr>
            <a:xfrm>
              <a:off x="571500" y="1285875"/>
              <a:ext cx="1104900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1" name="TextBox 9"/>
            <p:cNvSpPr txBox="1"/>
            <p:nvPr/>
          </p:nvSpPr>
          <p:spPr>
            <a:xfrm>
              <a:off x="756666" y="1429702"/>
              <a:ext cx="499559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6-STAGE REGISTER PIPELINE DATAPATH (temp_predictor_speed.v)</a:t>
              </a:r>
            </a:p>
          </p:txBody>
        </p:sp>
        <p:sp>
          <p:nvSpPr>
            <p:cNvPr id="12" name="Rectangle 10"/>
            <p:cNvSpPr/>
            <p:nvPr/>
          </p:nvSpPr>
          <p:spPr>
            <a:xfrm>
              <a:off x="762000" y="1857375"/>
              <a:ext cx="1571625" cy="247650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13" name="Rectangle 11"/>
            <p:cNvSpPr/>
            <p:nvPr/>
          </p:nvSpPr>
          <p:spPr>
            <a:xfrm>
              <a:off x="762000" y="1857375"/>
              <a:ext cx="1571625" cy="28575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4" name="TextBox 12"/>
            <p:cNvSpPr txBox="1"/>
            <p:nvPr/>
          </p:nvSpPr>
          <p:spPr>
            <a:xfrm>
              <a:off x="900112" y="1950720"/>
              <a:ext cx="6474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STAGE 0</a:t>
              </a:r>
            </a:p>
          </p:txBody>
        </p:sp>
        <p:sp>
          <p:nvSpPr>
            <p:cNvPr id="15" name="TextBox 13"/>
            <p:cNvSpPr txBox="1"/>
            <p:nvPr/>
          </p:nvSpPr>
          <p:spPr>
            <a:xfrm>
              <a:off x="899922" y="2228374"/>
              <a:ext cx="83272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Tap Capture</a:t>
              </a:r>
            </a:p>
          </p:txBody>
        </p:sp>
        <p:sp>
          <p:nvSpPr>
            <p:cNvPr id="16" name="TextBox 14"/>
            <p:cNvSpPr txBox="1"/>
            <p:nvPr/>
          </p:nvSpPr>
          <p:spPr>
            <a:xfrm>
              <a:off x="900112" y="2501741"/>
              <a:ext cx="11065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25-Sample Buffer</a:t>
              </a:r>
            </a:p>
          </p:txBody>
        </p:sp>
        <p:sp>
          <p:nvSpPr>
            <p:cNvPr id="17" name="TextBox 15"/>
            <p:cNvSpPr txBox="1"/>
            <p:nvPr/>
          </p:nvSpPr>
          <p:spPr>
            <a:xfrm>
              <a:off x="900112" y="2720816"/>
              <a:ext cx="113146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T(t), T24, T3, T21</a:t>
              </a:r>
            </a:p>
          </p:txBody>
        </p:sp>
        <p:sp>
          <p:nvSpPr>
            <p:cNvPr id="18" name="TextBox 16"/>
            <p:cNvSpPr txBox="1"/>
            <p:nvPr/>
          </p:nvSpPr>
          <p:spPr>
            <a:xfrm>
              <a:off x="900112" y="2958941"/>
              <a:ext cx="102912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Bus: 16b (Q8.8)</a:t>
              </a:r>
            </a:p>
          </p:txBody>
        </p:sp>
        <p:sp>
          <p:nvSpPr>
            <p:cNvPr id="19" name="Rectangle 17"/>
            <p:cNvSpPr/>
            <p:nvPr/>
          </p:nvSpPr>
          <p:spPr>
            <a:xfrm>
              <a:off x="857250" y="3714750"/>
              <a:ext cx="1381125" cy="476250"/>
            </a:xfrm>
            <a:prstGeom prst="roundRect">
              <a:avLst>
                <a:gd name="adj" fmla="val 8000"/>
              </a:avLst>
            </a:prstGeom>
            <a:solidFill>
              <a:srgbClr val="EFF6FF"/>
            </a:solidFill>
            <a:ln w="14288">
              <a:solidFill>
                <a:srgbClr val="2563EB"/>
              </a:solidFill>
            </a:ln>
          </p:spPr>
        </p:sp>
        <p:sp>
          <p:nvSpPr>
            <p:cNvPr id="20" name="TextBox 18"/>
            <p:cNvSpPr txBox="1"/>
            <p:nvPr/>
          </p:nvSpPr>
          <p:spPr>
            <a:xfrm>
              <a:off x="1034898" y="3863816"/>
              <a:ext cx="101630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[D | Q] REG S0</a:t>
              </a:r>
            </a:p>
          </p:txBody>
        </p:sp>
        <p:sp>
          <p:nvSpPr>
            <p:cNvPr id="21" name="Polygon 19"/>
            <p:cNvSpPr/>
            <p:nvPr/>
          </p:nvSpPr>
          <p:spPr>
            <a:xfrm>
              <a:off x="1504950" y="40671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22" name="Rectangle 20"/>
            <p:cNvSpPr/>
            <p:nvPr/>
          </p:nvSpPr>
          <p:spPr>
            <a:xfrm>
              <a:off x="2571750" y="1857375"/>
              <a:ext cx="1571625" cy="247650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24" name="Rectangle 21"/>
            <p:cNvSpPr/>
            <p:nvPr/>
          </p:nvSpPr>
          <p:spPr>
            <a:xfrm>
              <a:off x="2571750" y="1857375"/>
              <a:ext cx="1571625" cy="28575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5" name="TextBox 22"/>
            <p:cNvSpPr txBox="1"/>
            <p:nvPr/>
          </p:nvSpPr>
          <p:spPr>
            <a:xfrm>
              <a:off x="2709862" y="1950720"/>
              <a:ext cx="6474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STAGE 1</a:t>
              </a:r>
            </a:p>
          </p:txBody>
        </p:sp>
        <p:sp>
          <p:nvSpPr>
            <p:cNvPr id="26" name="TextBox 23"/>
            <p:cNvSpPr txBox="1"/>
            <p:nvPr/>
          </p:nvSpPr>
          <p:spPr>
            <a:xfrm>
              <a:off x="2709672" y="2228374"/>
              <a:ext cx="92127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Dual ALUs [-]</a:t>
              </a:r>
            </a:p>
          </p:txBody>
        </p:sp>
        <p:sp>
          <p:nvSpPr>
            <p:cNvPr id="27" name="TextBox 24"/>
            <p:cNvSpPr txBox="1"/>
            <p:nvPr/>
          </p:nvSpPr>
          <p:spPr>
            <a:xfrm>
              <a:off x="2709862" y="2501741"/>
              <a:ext cx="96269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D1 = T(t) - T24</a:t>
              </a:r>
            </a:p>
          </p:txBody>
        </p:sp>
        <p:sp>
          <p:nvSpPr>
            <p:cNvPr id="28" name="TextBox 25"/>
            <p:cNvSpPr txBox="1"/>
            <p:nvPr/>
          </p:nvSpPr>
          <p:spPr>
            <a:xfrm>
              <a:off x="2709862" y="2720816"/>
              <a:ext cx="88575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D2 = T(t) - T3</a:t>
              </a:r>
            </a:p>
          </p:txBody>
        </p:sp>
        <p:sp>
          <p:nvSpPr>
            <p:cNvPr id="29" name="TextBox 26"/>
            <p:cNvSpPr txBox="1"/>
            <p:nvPr/>
          </p:nvSpPr>
          <p:spPr>
            <a:xfrm>
              <a:off x="2709862" y="2958941"/>
              <a:ext cx="102912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Bus: 17b (Q9.8)</a:t>
              </a:r>
            </a:p>
          </p:txBody>
        </p:sp>
        <p:sp>
          <p:nvSpPr>
            <p:cNvPr id="30" name="Rectangle 27"/>
            <p:cNvSpPr/>
            <p:nvPr/>
          </p:nvSpPr>
          <p:spPr>
            <a:xfrm>
              <a:off x="2667000" y="3714750"/>
              <a:ext cx="1381125" cy="476250"/>
            </a:xfrm>
            <a:prstGeom prst="roundRect">
              <a:avLst>
                <a:gd name="adj" fmla="val 8000"/>
              </a:avLst>
            </a:prstGeom>
            <a:solidFill>
              <a:srgbClr val="EFF6FF"/>
            </a:solidFill>
            <a:ln w="14288">
              <a:solidFill>
                <a:srgbClr val="2563EB"/>
              </a:solidFill>
            </a:ln>
          </p:spPr>
        </p:sp>
        <p:sp>
          <p:nvSpPr>
            <p:cNvPr id="32" name="TextBox 28"/>
            <p:cNvSpPr txBox="1"/>
            <p:nvPr/>
          </p:nvSpPr>
          <p:spPr>
            <a:xfrm>
              <a:off x="2844648" y="3863816"/>
              <a:ext cx="101630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[D | Q] REG S1</a:t>
              </a:r>
            </a:p>
          </p:txBody>
        </p:sp>
        <p:sp>
          <p:nvSpPr>
            <p:cNvPr id="33" name="Polygon 29"/>
            <p:cNvSpPr/>
            <p:nvPr/>
          </p:nvSpPr>
          <p:spPr>
            <a:xfrm>
              <a:off x="3314700" y="40671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34" name="Rectangle 30"/>
            <p:cNvSpPr/>
            <p:nvPr/>
          </p:nvSpPr>
          <p:spPr>
            <a:xfrm>
              <a:off x="4381500" y="1857375"/>
              <a:ext cx="1571625" cy="247650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35" name="Rectangle 31"/>
            <p:cNvSpPr/>
            <p:nvPr/>
          </p:nvSpPr>
          <p:spPr>
            <a:xfrm>
              <a:off x="4381500" y="1857375"/>
              <a:ext cx="1571625" cy="28575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6" name="TextBox 32"/>
            <p:cNvSpPr txBox="1"/>
            <p:nvPr/>
          </p:nvSpPr>
          <p:spPr>
            <a:xfrm>
              <a:off x="4519612" y="1950720"/>
              <a:ext cx="6474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STAGE 2</a:t>
              </a:r>
            </a:p>
          </p:txBody>
        </p:sp>
        <p:sp>
          <p:nvSpPr>
            <p:cNvPr id="37" name="TextBox 33"/>
            <p:cNvSpPr txBox="1"/>
            <p:nvPr/>
          </p:nvSpPr>
          <p:spPr>
            <a:xfrm>
              <a:off x="4519422" y="2228374"/>
              <a:ext cx="93294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Dual DSPs [×]</a:t>
              </a:r>
            </a:p>
          </p:txBody>
        </p:sp>
        <p:sp>
          <p:nvSpPr>
            <p:cNvPr id="38" name="TextBox 34"/>
            <p:cNvSpPr txBox="1"/>
            <p:nvPr/>
          </p:nvSpPr>
          <p:spPr>
            <a:xfrm>
              <a:off x="4519612" y="2501741"/>
              <a:ext cx="7101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P1 = a · D1</a:t>
              </a:r>
            </a:p>
          </p:txBody>
        </p:sp>
        <p:sp>
          <p:nvSpPr>
            <p:cNvPr id="39" name="TextBox 35"/>
            <p:cNvSpPr txBox="1"/>
            <p:nvPr/>
          </p:nvSpPr>
          <p:spPr>
            <a:xfrm>
              <a:off x="4519612" y="2720816"/>
              <a:ext cx="71814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P2 = b · D2</a:t>
              </a:r>
            </a:p>
          </p:txBody>
        </p:sp>
        <p:sp>
          <p:nvSpPr>
            <p:cNvPr id="40" name="TextBox 36"/>
            <p:cNvSpPr txBox="1"/>
            <p:nvPr/>
          </p:nvSpPr>
          <p:spPr>
            <a:xfrm>
              <a:off x="4519612" y="2958941"/>
              <a:ext cx="117455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4F46E5"/>
                  </a:solidFill>
                  <a:latin typeface="+mj-lt"/>
                  <a:ea typeface="+mn-ea"/>
                  <a:cs typeface="+mn-cs"/>
                </a:rPr>
                <a:t>Bus: 33b (Q11.22)</a:t>
              </a:r>
            </a:p>
          </p:txBody>
        </p:sp>
        <p:sp>
          <p:nvSpPr>
            <p:cNvPr id="41" name="Rectangle 37"/>
            <p:cNvSpPr/>
            <p:nvPr/>
          </p:nvSpPr>
          <p:spPr>
            <a:xfrm>
              <a:off x="4476750" y="3714750"/>
              <a:ext cx="1381125" cy="476250"/>
            </a:xfrm>
            <a:prstGeom prst="roundRect">
              <a:avLst>
                <a:gd name="adj" fmla="val 8000"/>
              </a:avLst>
            </a:prstGeom>
            <a:solidFill>
              <a:srgbClr val="EFF6FF"/>
            </a:solidFill>
            <a:ln w="14288">
              <a:solidFill>
                <a:srgbClr val="2563EB"/>
              </a:solidFill>
            </a:ln>
          </p:spPr>
        </p:sp>
        <p:sp>
          <p:nvSpPr>
            <p:cNvPr id="42" name="TextBox 38"/>
            <p:cNvSpPr txBox="1"/>
            <p:nvPr/>
          </p:nvSpPr>
          <p:spPr>
            <a:xfrm>
              <a:off x="4654398" y="3863816"/>
              <a:ext cx="101630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[D | Q] REG S2</a:t>
              </a:r>
            </a:p>
          </p:txBody>
        </p:sp>
        <p:sp>
          <p:nvSpPr>
            <p:cNvPr id="43" name="Polygon 39"/>
            <p:cNvSpPr/>
            <p:nvPr/>
          </p:nvSpPr>
          <p:spPr>
            <a:xfrm>
              <a:off x="5124450" y="40671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44" name="Rectangle 40"/>
            <p:cNvSpPr/>
            <p:nvPr/>
          </p:nvSpPr>
          <p:spPr>
            <a:xfrm>
              <a:off x="6191250" y="1857375"/>
              <a:ext cx="1571625" cy="247650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45" name="Rectangle 41"/>
            <p:cNvSpPr/>
            <p:nvPr/>
          </p:nvSpPr>
          <p:spPr>
            <a:xfrm>
              <a:off x="6191250" y="1857375"/>
              <a:ext cx="1571625" cy="28575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46" name="TextBox 42"/>
            <p:cNvSpPr txBox="1"/>
            <p:nvPr/>
          </p:nvSpPr>
          <p:spPr>
            <a:xfrm>
              <a:off x="6329362" y="1950720"/>
              <a:ext cx="6474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STAGE 3</a:t>
              </a:r>
            </a:p>
          </p:txBody>
        </p:sp>
        <p:sp>
          <p:nvSpPr>
            <p:cNvPr id="47" name="TextBox 43"/>
            <p:cNvSpPr txBox="1"/>
            <p:nvPr/>
          </p:nvSpPr>
          <p:spPr>
            <a:xfrm>
              <a:off x="6329172" y="2228374"/>
              <a:ext cx="97578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Adder Tree [+]</a:t>
              </a:r>
            </a:p>
          </p:txBody>
        </p:sp>
        <p:sp>
          <p:nvSpPr>
            <p:cNvPr id="48" name="TextBox 44"/>
            <p:cNvSpPr txBox="1"/>
            <p:nvPr/>
          </p:nvSpPr>
          <p:spPr>
            <a:xfrm>
              <a:off x="6329362" y="2501741"/>
              <a:ext cx="7300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P = P1 + P2</a:t>
              </a:r>
            </a:p>
          </p:txBody>
        </p:sp>
        <p:sp>
          <p:nvSpPr>
            <p:cNvPr id="49" name="TextBox 45"/>
            <p:cNvSpPr txBox="1"/>
            <p:nvPr/>
          </p:nvSpPr>
          <p:spPr>
            <a:xfrm>
              <a:off x="6329362" y="2720816"/>
              <a:ext cx="89768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Pass Base Reg</a:t>
              </a:r>
            </a:p>
          </p:txBody>
        </p:sp>
        <p:sp>
          <p:nvSpPr>
            <p:cNvPr id="50" name="TextBox 46"/>
            <p:cNvSpPr txBox="1"/>
            <p:nvPr/>
          </p:nvSpPr>
          <p:spPr>
            <a:xfrm>
              <a:off x="6329362" y="2958941"/>
              <a:ext cx="118301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Bus: 34b (Q12.22)</a:t>
              </a:r>
            </a:p>
          </p:txBody>
        </p:sp>
        <p:sp>
          <p:nvSpPr>
            <p:cNvPr id="51" name="Rectangle 47"/>
            <p:cNvSpPr/>
            <p:nvPr/>
          </p:nvSpPr>
          <p:spPr>
            <a:xfrm>
              <a:off x="6286500" y="3714750"/>
              <a:ext cx="1381125" cy="476250"/>
            </a:xfrm>
            <a:prstGeom prst="roundRect">
              <a:avLst>
                <a:gd name="adj" fmla="val 8000"/>
              </a:avLst>
            </a:prstGeom>
            <a:solidFill>
              <a:srgbClr val="EFF6FF"/>
            </a:solidFill>
            <a:ln w="14288">
              <a:solidFill>
                <a:srgbClr val="2563EB"/>
              </a:solidFill>
            </a:ln>
          </p:spPr>
        </p:sp>
        <p:sp>
          <p:nvSpPr>
            <p:cNvPr id="52" name="TextBox 48"/>
            <p:cNvSpPr txBox="1"/>
            <p:nvPr/>
          </p:nvSpPr>
          <p:spPr>
            <a:xfrm>
              <a:off x="6464148" y="3863816"/>
              <a:ext cx="101630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[D | Q] REG S3</a:t>
              </a:r>
            </a:p>
          </p:txBody>
        </p:sp>
        <p:sp>
          <p:nvSpPr>
            <p:cNvPr id="53" name="Polygon 49"/>
            <p:cNvSpPr/>
            <p:nvPr/>
          </p:nvSpPr>
          <p:spPr>
            <a:xfrm>
              <a:off x="6934200" y="40671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54" name="Rectangle 50"/>
            <p:cNvSpPr/>
            <p:nvPr/>
          </p:nvSpPr>
          <p:spPr>
            <a:xfrm>
              <a:off x="8001000" y="1857375"/>
              <a:ext cx="1571625" cy="247650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55" name="Rectangle 51"/>
            <p:cNvSpPr/>
            <p:nvPr/>
          </p:nvSpPr>
          <p:spPr>
            <a:xfrm>
              <a:off x="8001000" y="1857375"/>
              <a:ext cx="1571625" cy="28575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56" name="TextBox 52"/>
            <p:cNvSpPr txBox="1"/>
            <p:nvPr/>
          </p:nvSpPr>
          <p:spPr>
            <a:xfrm>
              <a:off x="8139112" y="1950720"/>
              <a:ext cx="6474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STAGE 4</a:t>
              </a:r>
            </a:p>
          </p:txBody>
        </p:sp>
        <p:sp>
          <p:nvSpPr>
            <p:cNvPr id="57" name="TextBox 53"/>
            <p:cNvSpPr txBox="1"/>
            <p:nvPr/>
          </p:nvSpPr>
          <p:spPr>
            <a:xfrm>
              <a:off x="8138922" y="2228374"/>
              <a:ext cx="109049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Accumulator [+]</a:t>
              </a:r>
            </a:p>
          </p:txBody>
        </p:sp>
        <p:sp>
          <p:nvSpPr>
            <p:cNvPr id="58" name="TextBox 54"/>
            <p:cNvSpPr txBox="1"/>
            <p:nvPr/>
          </p:nvSpPr>
          <p:spPr>
            <a:xfrm>
              <a:off x="8139112" y="2501741"/>
              <a:ext cx="79098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 = P + Base</a:t>
              </a:r>
            </a:p>
          </p:txBody>
        </p:sp>
        <p:sp>
          <p:nvSpPr>
            <p:cNvPr id="59" name="TextBox 55"/>
            <p:cNvSpPr txBox="1"/>
            <p:nvPr/>
          </p:nvSpPr>
          <p:spPr>
            <a:xfrm>
              <a:off x="8139112" y="2720816"/>
              <a:ext cx="125515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Aligned to Radix 22</a:t>
              </a:r>
            </a:p>
          </p:txBody>
        </p:sp>
        <p:sp>
          <p:nvSpPr>
            <p:cNvPr id="60" name="TextBox 56"/>
            <p:cNvSpPr txBox="1"/>
            <p:nvPr/>
          </p:nvSpPr>
          <p:spPr>
            <a:xfrm>
              <a:off x="8139112" y="2958941"/>
              <a:ext cx="118301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Bus: 35b (Q13.22)</a:t>
              </a:r>
            </a:p>
          </p:txBody>
        </p:sp>
        <p:sp>
          <p:nvSpPr>
            <p:cNvPr id="61" name="Rectangle 57"/>
            <p:cNvSpPr/>
            <p:nvPr/>
          </p:nvSpPr>
          <p:spPr>
            <a:xfrm>
              <a:off x="8096250" y="3714750"/>
              <a:ext cx="1381125" cy="476250"/>
            </a:xfrm>
            <a:prstGeom prst="roundRect">
              <a:avLst>
                <a:gd name="adj" fmla="val 8000"/>
              </a:avLst>
            </a:prstGeom>
            <a:solidFill>
              <a:srgbClr val="EFF6FF"/>
            </a:solidFill>
            <a:ln w="14288">
              <a:solidFill>
                <a:srgbClr val="2563EB"/>
              </a:solidFill>
            </a:ln>
          </p:spPr>
        </p:sp>
        <p:sp>
          <p:nvSpPr>
            <p:cNvPr id="62" name="TextBox 58"/>
            <p:cNvSpPr txBox="1"/>
            <p:nvPr/>
          </p:nvSpPr>
          <p:spPr>
            <a:xfrm>
              <a:off x="8273898" y="3863816"/>
              <a:ext cx="101630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[D | Q] REG S4</a:t>
              </a:r>
            </a:p>
          </p:txBody>
        </p:sp>
        <p:sp>
          <p:nvSpPr>
            <p:cNvPr id="63" name="Polygon 59"/>
            <p:cNvSpPr/>
            <p:nvPr/>
          </p:nvSpPr>
          <p:spPr>
            <a:xfrm>
              <a:off x="8743950" y="40671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</p:sp>
        <p:sp>
          <p:nvSpPr>
            <p:cNvPr id="64" name="Rectangle 60"/>
            <p:cNvSpPr/>
            <p:nvPr/>
          </p:nvSpPr>
          <p:spPr>
            <a:xfrm>
              <a:off x="9810750" y="1857375"/>
              <a:ext cx="1571625" cy="247650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65" name="Rectangle 61"/>
            <p:cNvSpPr/>
            <p:nvPr/>
          </p:nvSpPr>
          <p:spPr>
            <a:xfrm>
              <a:off x="9810750" y="1857375"/>
              <a:ext cx="1571625" cy="28575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66" name="TextBox 62"/>
            <p:cNvSpPr txBox="1"/>
            <p:nvPr/>
          </p:nvSpPr>
          <p:spPr>
            <a:xfrm>
              <a:off x="9948862" y="1950720"/>
              <a:ext cx="6474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STAGE 5</a:t>
              </a:r>
            </a:p>
          </p:txBody>
        </p:sp>
        <p:sp>
          <p:nvSpPr>
            <p:cNvPr id="67" name="TextBox 63"/>
            <p:cNvSpPr txBox="1"/>
            <p:nvPr/>
          </p:nvSpPr>
          <p:spPr>
            <a:xfrm>
              <a:off x="9948672" y="2228374"/>
              <a:ext cx="88806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Shift &amp; Sat16</a:t>
              </a:r>
            </a:p>
          </p:txBody>
        </p:sp>
        <p:sp>
          <p:nvSpPr>
            <p:cNvPr id="68" name="TextBox 64"/>
            <p:cNvSpPr txBox="1"/>
            <p:nvPr/>
          </p:nvSpPr>
          <p:spPr>
            <a:xfrm>
              <a:off x="9948862" y="2501741"/>
              <a:ext cx="103714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S_sh = S &gt;&gt;&gt; 14</a:t>
              </a:r>
            </a:p>
          </p:txBody>
        </p:sp>
        <p:sp>
          <p:nvSpPr>
            <p:cNvPr id="69" name="TextBox 65"/>
            <p:cNvSpPr txBox="1"/>
            <p:nvPr/>
          </p:nvSpPr>
          <p:spPr>
            <a:xfrm>
              <a:off x="9948862" y="2720816"/>
              <a:ext cx="130644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sat16 [-128..+128°C]</a:t>
              </a:r>
            </a:p>
          </p:txBody>
        </p:sp>
        <p:sp>
          <p:nvSpPr>
            <p:cNvPr id="70" name="TextBox 66"/>
            <p:cNvSpPr txBox="1"/>
            <p:nvPr/>
          </p:nvSpPr>
          <p:spPr>
            <a:xfrm>
              <a:off x="9948862" y="2958941"/>
              <a:ext cx="102912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Bus: 16b (Q8.8)</a:t>
              </a:r>
            </a:p>
          </p:txBody>
        </p:sp>
        <p:sp>
          <p:nvSpPr>
            <p:cNvPr id="71" name="Rectangle 67"/>
            <p:cNvSpPr/>
            <p:nvPr/>
          </p:nvSpPr>
          <p:spPr>
            <a:xfrm>
              <a:off x="9906000" y="3714750"/>
              <a:ext cx="1381125" cy="476250"/>
            </a:xfrm>
            <a:prstGeom prst="roundRect">
              <a:avLst>
                <a:gd name="adj" fmla="val 8000"/>
              </a:avLst>
            </a:prstGeom>
            <a:solidFill>
              <a:srgbClr val="F0FDF4"/>
            </a:solidFill>
            <a:ln w="14288">
              <a:solidFill>
                <a:srgbClr val="16A34A"/>
              </a:solidFill>
            </a:ln>
          </p:spPr>
        </p:sp>
        <p:sp>
          <p:nvSpPr>
            <p:cNvPr id="72" name="TextBox 68"/>
            <p:cNvSpPr txBox="1"/>
            <p:nvPr/>
          </p:nvSpPr>
          <p:spPr>
            <a:xfrm>
              <a:off x="9987468" y="3863816"/>
              <a:ext cx="120866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[D | Q] OUT REG</a:t>
              </a:r>
            </a:p>
          </p:txBody>
        </p:sp>
        <p:sp>
          <p:nvSpPr>
            <p:cNvPr id="73" name="Polygon 69"/>
            <p:cNvSpPr/>
            <p:nvPr/>
          </p:nvSpPr>
          <p:spPr>
            <a:xfrm>
              <a:off x="10553700" y="40671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</p:sp>
        <p:sp>
          <p:nvSpPr>
            <p:cNvPr id="74" name="Line 70"/>
            <p:cNvSpPr/>
            <p:nvPr/>
          </p:nvSpPr>
          <p:spPr>
            <a:xfrm>
              <a:off x="2333625" y="39528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75" name="Line 71"/>
            <p:cNvSpPr/>
            <p:nvPr/>
          </p:nvSpPr>
          <p:spPr>
            <a:xfrm>
              <a:off x="4143375" y="39528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76" name="Line 72"/>
            <p:cNvSpPr/>
            <p:nvPr/>
          </p:nvSpPr>
          <p:spPr>
            <a:xfrm>
              <a:off x="5953125" y="39528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77" name="Line 73"/>
            <p:cNvSpPr/>
            <p:nvPr/>
          </p:nvSpPr>
          <p:spPr>
            <a:xfrm>
              <a:off x="7762875" y="39528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78" name="Line 74"/>
            <p:cNvSpPr/>
            <p:nvPr/>
          </p:nvSpPr>
          <p:spPr>
            <a:xfrm>
              <a:off x="9572625" y="39528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79" name="Rectangle 75"/>
            <p:cNvSpPr/>
            <p:nvPr/>
          </p:nvSpPr>
          <p:spPr>
            <a:xfrm>
              <a:off x="762000" y="4524375"/>
              <a:ext cx="10620375" cy="1333500"/>
            </a:xfrm>
            <a:prstGeom prst="roundRect">
              <a:avLst>
                <a:gd name="adj" fmla="val 428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80" name="TextBox 76"/>
            <p:cNvSpPr txBox="1"/>
            <p:nvPr/>
          </p:nvSpPr>
          <p:spPr>
            <a:xfrm>
              <a:off x="947738" y="4684395"/>
              <a:ext cx="271728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Pipeline Timing &amp; Throughput Integrity:</a:t>
              </a:r>
            </a:p>
          </p:txBody>
        </p:sp>
        <p:sp>
          <p:nvSpPr>
            <p:cNvPr id="81" name="TextBox 77"/>
            <p:cNvSpPr txBox="1"/>
            <p:nvPr/>
          </p:nvSpPr>
          <p:spPr>
            <a:xfrm>
              <a:off x="947738" y="4940141"/>
              <a:ext cx="432650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Throughput: II = 1 (1 sample/clock, 50 MSps @ 50 MHz, 0 bubbles)</a:t>
              </a:r>
            </a:p>
          </p:txBody>
        </p:sp>
        <p:sp>
          <p:nvSpPr>
            <p:cNvPr id="82" name="TextBox 78"/>
            <p:cNvSpPr txBox="1"/>
            <p:nvPr/>
          </p:nvSpPr>
          <p:spPr>
            <a:xfrm>
              <a:off x="947738" y="5159216"/>
              <a:ext cx="42425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Timing: Stage 2 multiplier critical path (6.4 ns, 142.3 MHz F_max)</a:t>
              </a:r>
            </a:p>
          </p:txBody>
        </p:sp>
        <p:sp>
          <p:nvSpPr>
            <p:cNvPr id="83" name="TextBox 79"/>
            <p:cNvSpPr txBox="1"/>
            <p:nvPr/>
          </p:nvSpPr>
          <p:spPr>
            <a:xfrm>
              <a:off x="947738" y="5378291"/>
              <a:ext cx="378699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Latency: L = 5 cycles (100 ns @ 50 MHz from accept edge)</a:t>
              </a:r>
            </a:p>
          </p:txBody>
        </p:sp>
        <p:sp>
          <p:nvSpPr>
            <p:cNvPr id="84" name="TextBox 80"/>
            <p:cNvSpPr txBox="1"/>
            <p:nvPr/>
          </p:nvSpPr>
          <p:spPr>
            <a:xfrm>
              <a:off x="947738" y="5606891"/>
              <a:ext cx="451931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12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Saturation: Stage 5 clamps shifted accumulator to [-128°C, +128°C]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651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14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727348" y="900085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185151" y="1016827"/>
            <a:ext cx="12513732" cy="890663"/>
          </a:xfrm>
        </p:spPr>
        <p:txBody>
          <a:bodyPr>
            <a:noAutofit/>
          </a:bodyPr>
          <a:lstStyle/>
          <a:p>
            <a:r>
              <a:rPr lang="en" sz="3500" dirty="0">
                <a:solidFill>
                  <a:schemeClr val="accent1"/>
                </a:solidFill>
              </a:rPr>
              <a:t>Speed Core: Cycle-Accurate Timing Waveforms &amp; Handshake</a:t>
            </a:r>
          </a:p>
        </p:txBody>
      </p:sp>
      <p:grpSp>
        <p:nvGrpSpPr>
          <p:cNvPr id="46" name="timing_waveform_box"/>
          <p:cNvGrpSpPr/>
          <p:nvPr/>
        </p:nvGrpSpPr>
        <p:grpSpPr>
          <a:xfrm>
            <a:off x="381000" y="1790748"/>
            <a:ext cx="11049000" cy="4762500"/>
            <a:chOff x="571500" y="1285875"/>
            <a:chExt cx="11049000" cy="4762500"/>
          </a:xfrm>
        </p:grpSpPr>
        <p:sp>
          <p:nvSpPr>
            <p:cNvPr id="47" name="Rectangle 7"/>
            <p:cNvSpPr/>
            <p:nvPr/>
          </p:nvSpPr>
          <p:spPr>
            <a:xfrm>
              <a:off x="571500" y="1285875"/>
              <a:ext cx="11049000" cy="4762500"/>
            </a:xfrm>
            <a:prstGeom prst="roundRect">
              <a:avLst>
                <a:gd name="adj" fmla="val 16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48" name="Rectangle 8"/>
            <p:cNvSpPr/>
            <p:nvPr/>
          </p:nvSpPr>
          <p:spPr>
            <a:xfrm>
              <a:off x="571500" y="1285875"/>
              <a:ext cx="1104900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49" name="TextBox 9"/>
            <p:cNvSpPr txBox="1"/>
            <p:nvPr/>
          </p:nvSpPr>
          <p:spPr>
            <a:xfrm>
              <a:off x="756666" y="1429702"/>
              <a:ext cx="492487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DIGITAL SIGNAL TIMING WAVEFORM (CYCLE T0 TO T7)</a:t>
              </a:r>
            </a:p>
          </p:txBody>
        </p:sp>
        <p:sp>
          <p:nvSpPr>
            <p:cNvPr id="50" name="Rectangle 10"/>
            <p:cNvSpPr/>
            <p:nvPr/>
          </p:nvSpPr>
          <p:spPr>
            <a:xfrm>
              <a:off x="762000" y="1857375"/>
              <a:ext cx="10668000" cy="2857500"/>
            </a:xfrm>
            <a:prstGeom prst="roundRect">
              <a:avLst>
                <a:gd name="adj" fmla="val 2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51" name="TextBox 11"/>
            <p:cNvSpPr txBox="1"/>
            <p:nvPr/>
          </p:nvSpPr>
          <p:spPr>
            <a:xfrm>
              <a:off x="2805112" y="1958816"/>
              <a:ext cx="81592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Cycle T0 [IN]</a:t>
              </a:r>
            </a:p>
          </p:txBody>
        </p:sp>
        <p:sp>
          <p:nvSpPr>
            <p:cNvPr id="52" name="TextBox 12"/>
            <p:cNvSpPr txBox="1"/>
            <p:nvPr/>
          </p:nvSpPr>
          <p:spPr>
            <a:xfrm>
              <a:off x="3900488" y="1958816"/>
              <a:ext cx="51135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Cycle T1</a:t>
              </a:r>
            </a:p>
          </p:txBody>
        </p:sp>
        <p:sp>
          <p:nvSpPr>
            <p:cNvPr id="53" name="TextBox 13"/>
            <p:cNvSpPr txBox="1"/>
            <p:nvPr/>
          </p:nvSpPr>
          <p:spPr>
            <a:xfrm>
              <a:off x="4995862" y="1958816"/>
              <a:ext cx="51135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Cycle T2</a:t>
              </a:r>
            </a:p>
          </p:txBody>
        </p:sp>
        <p:sp>
          <p:nvSpPr>
            <p:cNvPr id="54" name="TextBox 14"/>
            <p:cNvSpPr txBox="1"/>
            <p:nvPr/>
          </p:nvSpPr>
          <p:spPr>
            <a:xfrm>
              <a:off x="6091238" y="1958816"/>
              <a:ext cx="51135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Cycle T3</a:t>
              </a:r>
            </a:p>
          </p:txBody>
        </p:sp>
        <p:sp>
          <p:nvSpPr>
            <p:cNvPr id="55" name="TextBox 15"/>
            <p:cNvSpPr txBox="1"/>
            <p:nvPr/>
          </p:nvSpPr>
          <p:spPr>
            <a:xfrm>
              <a:off x="7186612" y="1958816"/>
              <a:ext cx="51135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Cycle T4</a:t>
              </a:r>
            </a:p>
          </p:txBody>
        </p:sp>
        <p:sp>
          <p:nvSpPr>
            <p:cNvPr id="56" name="TextBox 16"/>
            <p:cNvSpPr txBox="1"/>
            <p:nvPr/>
          </p:nvSpPr>
          <p:spPr>
            <a:xfrm>
              <a:off x="8281988" y="1958816"/>
              <a:ext cx="92653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Cycle T5 [OUT]</a:t>
              </a:r>
            </a:p>
          </p:txBody>
        </p:sp>
        <p:sp>
          <p:nvSpPr>
            <p:cNvPr id="57" name="TextBox 17"/>
            <p:cNvSpPr txBox="1"/>
            <p:nvPr/>
          </p:nvSpPr>
          <p:spPr>
            <a:xfrm>
              <a:off x="9377362" y="1958816"/>
              <a:ext cx="51135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Cycle T6</a:t>
              </a:r>
            </a:p>
          </p:txBody>
        </p:sp>
        <p:sp>
          <p:nvSpPr>
            <p:cNvPr id="58" name="TextBox 18"/>
            <p:cNvSpPr txBox="1"/>
            <p:nvPr/>
          </p:nvSpPr>
          <p:spPr>
            <a:xfrm>
              <a:off x="10472738" y="1958816"/>
              <a:ext cx="51135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Cycle T7</a:t>
              </a:r>
            </a:p>
          </p:txBody>
        </p:sp>
        <p:sp>
          <p:nvSpPr>
            <p:cNvPr id="59" name="Line 19"/>
            <p:cNvSpPr/>
            <p:nvPr/>
          </p:nvSpPr>
          <p:spPr>
            <a:xfrm>
              <a:off x="2286000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60" name="Line 20"/>
            <p:cNvSpPr/>
            <p:nvPr/>
          </p:nvSpPr>
          <p:spPr>
            <a:xfrm>
              <a:off x="3381375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61" name="Line 21"/>
            <p:cNvSpPr/>
            <p:nvPr/>
          </p:nvSpPr>
          <p:spPr>
            <a:xfrm>
              <a:off x="4476750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62" name="Line 22"/>
            <p:cNvSpPr/>
            <p:nvPr/>
          </p:nvSpPr>
          <p:spPr>
            <a:xfrm>
              <a:off x="5572125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63" name="Line 23"/>
            <p:cNvSpPr/>
            <p:nvPr/>
          </p:nvSpPr>
          <p:spPr>
            <a:xfrm>
              <a:off x="6667500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64" name="Line 24"/>
            <p:cNvSpPr/>
            <p:nvPr/>
          </p:nvSpPr>
          <p:spPr>
            <a:xfrm>
              <a:off x="7762875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14288">
              <a:solidFill>
                <a:srgbClr val="16A34A"/>
              </a:solidFill>
              <a:prstDash val="sysDot"/>
            </a:ln>
          </p:spPr>
        </p:sp>
        <p:sp>
          <p:nvSpPr>
            <p:cNvPr id="65" name="Line 25"/>
            <p:cNvSpPr/>
            <p:nvPr/>
          </p:nvSpPr>
          <p:spPr>
            <a:xfrm>
              <a:off x="8858250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66" name="Line 26"/>
            <p:cNvSpPr/>
            <p:nvPr/>
          </p:nvSpPr>
          <p:spPr>
            <a:xfrm>
              <a:off x="9953625" y="2095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sysDot"/>
            </a:ln>
          </p:spPr>
        </p:sp>
        <p:sp>
          <p:nvSpPr>
            <p:cNvPr id="67" name="TextBox 27"/>
            <p:cNvSpPr txBox="1"/>
            <p:nvPr/>
          </p:nvSpPr>
          <p:spPr>
            <a:xfrm>
              <a:off x="947738" y="2284095"/>
              <a:ext cx="77425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clk (50MHz)</a:t>
              </a:r>
            </a:p>
          </p:txBody>
        </p:sp>
        <p:sp>
          <p:nvSpPr>
            <p:cNvPr id="68" name="Freeform 28"/>
            <p:cNvSpPr/>
            <p:nvPr/>
          </p:nvSpPr>
          <p:spPr>
            <a:xfrm>
              <a:off x="2286000" y="2238375"/>
              <a:ext cx="8763000" cy="190500"/>
            </a:xfrm>
            <a:custGeom>
              <a:avLst/>
              <a:gdLst/>
              <a:ahLst/>
              <a:cxnLst/>
              <a:rect l="l" t="t" r="r" b="b"/>
              <a:pathLst>
                <a:path w="8763000" h="190500">
                  <a:moveTo>
                    <a:pt x="0" y="190500"/>
                  </a:moveTo>
                  <a:lnTo>
                    <a:pt x="542925" y="190500"/>
                  </a:lnTo>
                  <a:lnTo>
                    <a:pt x="542925" y="0"/>
                  </a:lnTo>
                  <a:lnTo>
                    <a:pt x="1095375" y="0"/>
                  </a:lnTo>
                  <a:lnTo>
                    <a:pt x="1095375" y="190500"/>
                  </a:lnTo>
                  <a:lnTo>
                    <a:pt x="1638300" y="190500"/>
                  </a:lnTo>
                  <a:lnTo>
                    <a:pt x="1638300" y="0"/>
                  </a:lnTo>
                  <a:lnTo>
                    <a:pt x="2190750" y="0"/>
                  </a:lnTo>
                  <a:lnTo>
                    <a:pt x="2190750" y="190500"/>
                  </a:lnTo>
                  <a:lnTo>
                    <a:pt x="2733675" y="190500"/>
                  </a:lnTo>
                  <a:lnTo>
                    <a:pt x="2733675" y="0"/>
                  </a:lnTo>
                  <a:lnTo>
                    <a:pt x="3286125" y="0"/>
                  </a:lnTo>
                  <a:lnTo>
                    <a:pt x="3286125" y="190500"/>
                  </a:lnTo>
                  <a:lnTo>
                    <a:pt x="3829050" y="190500"/>
                  </a:lnTo>
                  <a:lnTo>
                    <a:pt x="3829050" y="0"/>
                  </a:lnTo>
                  <a:lnTo>
                    <a:pt x="4381500" y="0"/>
                  </a:lnTo>
                  <a:lnTo>
                    <a:pt x="4381500" y="190500"/>
                  </a:lnTo>
                  <a:lnTo>
                    <a:pt x="4924425" y="190500"/>
                  </a:lnTo>
                  <a:lnTo>
                    <a:pt x="4924425" y="0"/>
                  </a:lnTo>
                  <a:lnTo>
                    <a:pt x="5476875" y="0"/>
                  </a:lnTo>
                  <a:lnTo>
                    <a:pt x="5476875" y="190500"/>
                  </a:lnTo>
                  <a:lnTo>
                    <a:pt x="6019800" y="190500"/>
                  </a:lnTo>
                  <a:lnTo>
                    <a:pt x="6019800" y="0"/>
                  </a:lnTo>
                  <a:lnTo>
                    <a:pt x="6572250" y="0"/>
                  </a:lnTo>
                  <a:lnTo>
                    <a:pt x="6572250" y="190500"/>
                  </a:lnTo>
                  <a:lnTo>
                    <a:pt x="7115175" y="190500"/>
                  </a:lnTo>
                  <a:lnTo>
                    <a:pt x="7115175" y="0"/>
                  </a:lnTo>
                  <a:lnTo>
                    <a:pt x="7667625" y="0"/>
                  </a:lnTo>
                  <a:lnTo>
                    <a:pt x="7667625" y="190500"/>
                  </a:lnTo>
                  <a:lnTo>
                    <a:pt x="8210550" y="190500"/>
                  </a:lnTo>
                  <a:lnTo>
                    <a:pt x="8210550" y="0"/>
                  </a:lnTo>
                  <a:lnTo>
                    <a:pt x="8763000" y="0"/>
                  </a:lnTo>
                </a:path>
              </a:pathLst>
            </a:custGeom>
            <a:noFill/>
            <a:ln w="14288">
              <a:solidFill>
                <a:srgbClr val="1E3A8A"/>
              </a:solidFill>
            </a:ln>
          </p:spPr>
        </p:sp>
        <p:sp>
          <p:nvSpPr>
            <p:cNvPr id="69" name="TextBox 29"/>
            <p:cNvSpPr txBox="1"/>
            <p:nvPr/>
          </p:nvSpPr>
          <p:spPr>
            <a:xfrm>
              <a:off x="947738" y="2712720"/>
              <a:ext cx="78867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sample_valid</a:t>
              </a:r>
            </a:p>
          </p:txBody>
        </p:sp>
        <p:sp>
          <p:nvSpPr>
            <p:cNvPr id="70" name="Freeform 30"/>
            <p:cNvSpPr/>
            <p:nvPr/>
          </p:nvSpPr>
          <p:spPr>
            <a:xfrm>
              <a:off x="2286000" y="2667000"/>
              <a:ext cx="8763000" cy="190500"/>
            </a:xfrm>
            <a:custGeom>
              <a:avLst/>
              <a:gdLst/>
              <a:ahLst/>
              <a:cxnLst/>
              <a:rect l="l" t="t" r="r" b="b"/>
              <a:pathLst>
                <a:path w="8763000" h="190500">
                  <a:moveTo>
                    <a:pt x="0" y="190500"/>
                  </a:moveTo>
                  <a:lnTo>
                    <a:pt x="95250" y="190500"/>
                  </a:lnTo>
                  <a:lnTo>
                    <a:pt x="142875" y="0"/>
                  </a:lnTo>
                  <a:lnTo>
                    <a:pt x="1047750" y="0"/>
                  </a:lnTo>
                  <a:lnTo>
                    <a:pt x="1095375" y="190500"/>
                  </a:lnTo>
                  <a:lnTo>
                    <a:pt x="8763000" y="19050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71" name="TextBox 31"/>
            <p:cNvSpPr txBox="1"/>
            <p:nvPr/>
          </p:nvSpPr>
          <p:spPr>
            <a:xfrm>
              <a:off x="947738" y="3141345"/>
              <a:ext cx="84318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temp_in[15:0]</a:t>
              </a:r>
            </a:p>
          </p:txBody>
        </p:sp>
        <p:sp>
          <p:nvSpPr>
            <p:cNvPr id="72" name="Polygon 32"/>
            <p:cNvSpPr/>
            <p:nvPr/>
          </p:nvSpPr>
          <p:spPr>
            <a:xfrm>
              <a:off x="2333625" y="3190875"/>
              <a:ext cx="1047750" cy="190500"/>
            </a:xfrm>
            <a:custGeom>
              <a:avLst/>
              <a:gdLst/>
              <a:ahLst/>
              <a:cxnLst/>
              <a:rect l="l" t="t" r="r" b="b"/>
              <a:pathLst>
                <a:path w="1047750" h="190500">
                  <a:moveTo>
                    <a:pt x="95250" y="0"/>
                  </a:moveTo>
                  <a:lnTo>
                    <a:pt x="952500" y="0"/>
                  </a:lnTo>
                  <a:lnTo>
                    <a:pt x="1047750" y="95250"/>
                  </a:lnTo>
                  <a:lnTo>
                    <a:pt x="952500" y="190500"/>
                  </a:lnTo>
                  <a:lnTo>
                    <a:pt x="95250" y="19050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EFF6FF"/>
            </a:solidFill>
            <a:ln w="9525">
              <a:solidFill>
                <a:srgbClr val="2563EB"/>
              </a:solidFill>
            </a:ln>
          </p:spPr>
        </p:sp>
        <p:sp>
          <p:nvSpPr>
            <p:cNvPr id="73" name="TextBox 33"/>
            <p:cNvSpPr txBox="1"/>
            <p:nvPr/>
          </p:nvSpPr>
          <p:spPr>
            <a:xfrm>
              <a:off x="2540105" y="3225641"/>
              <a:ext cx="63479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T(t) [Q8.8]</a:t>
              </a:r>
            </a:p>
          </p:txBody>
        </p:sp>
        <p:sp>
          <p:nvSpPr>
            <p:cNvPr id="74" name="Line 34"/>
            <p:cNvSpPr/>
            <p:nvPr/>
          </p:nvSpPr>
          <p:spPr>
            <a:xfrm>
              <a:off x="3381375" y="3286125"/>
              <a:ext cx="7667625" cy="9525"/>
            </a:xfrm>
            <a:custGeom>
              <a:avLst/>
              <a:gdLst/>
              <a:ahLst/>
              <a:cxnLst/>
              <a:rect l="l" t="t" r="r" b="b"/>
              <a:pathLst>
                <a:path w="7667625" h="9525">
                  <a:moveTo>
                    <a:pt x="0" y="0"/>
                  </a:moveTo>
                  <a:lnTo>
                    <a:pt x="7667625" y="0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75" name="TextBox 35"/>
            <p:cNvSpPr txBox="1"/>
            <p:nvPr/>
          </p:nvSpPr>
          <p:spPr>
            <a:xfrm>
              <a:off x="947738" y="3617595"/>
              <a:ext cx="81753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4F46E5"/>
                  </a:solidFill>
                  <a:latin typeface="+mj-lt"/>
                  <a:ea typeface="+mn-ea"/>
                  <a:cs typeface="+mn-cs"/>
                </a:rPr>
                <a:t>Pipeline Flow</a:t>
              </a:r>
            </a:p>
          </p:txBody>
        </p:sp>
        <p:sp>
          <p:nvSpPr>
            <p:cNvPr id="76" name="Rectangle 36"/>
            <p:cNvSpPr/>
            <p:nvPr/>
          </p:nvSpPr>
          <p:spPr>
            <a:xfrm>
              <a:off x="2428875" y="3571875"/>
              <a:ext cx="857250" cy="228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4F46E5"/>
              </a:solidFill>
            </a:ln>
          </p:spPr>
        </p:sp>
        <p:sp>
          <p:nvSpPr>
            <p:cNvPr id="77" name="TextBox 37"/>
            <p:cNvSpPr txBox="1"/>
            <p:nvPr/>
          </p:nvSpPr>
          <p:spPr>
            <a:xfrm>
              <a:off x="2638691" y="3643312"/>
              <a:ext cx="437619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00" b="1" dirty="0">
                  <a:solidFill>
                    <a:srgbClr val="4F46E5"/>
                  </a:solidFill>
                  <a:latin typeface="+mj-lt"/>
                  <a:ea typeface="+mn-ea"/>
                  <a:cs typeface="+mn-cs"/>
                </a:rPr>
                <a:t>S0: Cap</a:t>
              </a:r>
            </a:p>
          </p:txBody>
        </p:sp>
        <p:sp>
          <p:nvSpPr>
            <p:cNvPr id="78" name="Rectangle 38"/>
            <p:cNvSpPr/>
            <p:nvPr/>
          </p:nvSpPr>
          <p:spPr>
            <a:xfrm>
              <a:off x="3524250" y="3571875"/>
              <a:ext cx="857250" cy="228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4F46E5"/>
              </a:solidFill>
            </a:ln>
          </p:spPr>
        </p:sp>
        <p:sp>
          <p:nvSpPr>
            <p:cNvPr id="79" name="TextBox 39"/>
            <p:cNvSpPr txBox="1"/>
            <p:nvPr/>
          </p:nvSpPr>
          <p:spPr>
            <a:xfrm>
              <a:off x="3740477" y="3643312"/>
              <a:ext cx="4247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00" b="1" dirty="0">
                  <a:solidFill>
                    <a:srgbClr val="4F46E5"/>
                  </a:solidFill>
                  <a:latin typeface="+mj-lt"/>
                  <a:ea typeface="+mn-ea"/>
                  <a:cs typeface="+mn-cs"/>
                </a:rPr>
                <a:t>S1: Diff</a:t>
              </a:r>
            </a:p>
          </p:txBody>
        </p:sp>
        <p:sp>
          <p:nvSpPr>
            <p:cNvPr id="80" name="Rectangle 40"/>
            <p:cNvSpPr/>
            <p:nvPr/>
          </p:nvSpPr>
          <p:spPr>
            <a:xfrm>
              <a:off x="4619625" y="3571875"/>
              <a:ext cx="857250" cy="228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4F46E5"/>
              </a:solidFill>
            </a:ln>
          </p:spPr>
        </p:sp>
        <p:sp>
          <p:nvSpPr>
            <p:cNvPr id="81" name="TextBox 41"/>
            <p:cNvSpPr txBox="1"/>
            <p:nvPr/>
          </p:nvSpPr>
          <p:spPr>
            <a:xfrm>
              <a:off x="4798984" y="3643312"/>
              <a:ext cx="49853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00" b="1" dirty="0">
                  <a:solidFill>
                    <a:srgbClr val="4F46E5"/>
                  </a:solidFill>
                  <a:latin typeface="+mj-lt"/>
                  <a:ea typeface="+mn-ea"/>
                  <a:cs typeface="+mn-cs"/>
                </a:rPr>
                <a:t>S2: Mult</a:t>
              </a:r>
            </a:p>
          </p:txBody>
        </p:sp>
        <p:sp>
          <p:nvSpPr>
            <p:cNvPr id="82" name="Rectangle 42"/>
            <p:cNvSpPr/>
            <p:nvPr/>
          </p:nvSpPr>
          <p:spPr>
            <a:xfrm>
              <a:off x="5715000" y="3571875"/>
              <a:ext cx="857250" cy="228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4F46E5"/>
              </a:solidFill>
            </a:ln>
          </p:spPr>
        </p:sp>
        <p:sp>
          <p:nvSpPr>
            <p:cNvPr id="83" name="TextBox 43"/>
            <p:cNvSpPr txBox="1"/>
            <p:nvPr/>
          </p:nvSpPr>
          <p:spPr>
            <a:xfrm>
              <a:off x="5914396" y="3643312"/>
              <a:ext cx="458459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00" b="1" dirty="0">
                  <a:solidFill>
                    <a:srgbClr val="4F46E5"/>
                  </a:solidFill>
                  <a:latin typeface="+mj-lt"/>
                  <a:ea typeface="+mn-ea"/>
                  <a:cs typeface="+mn-cs"/>
                </a:rPr>
                <a:t>S3: Sum</a:t>
              </a:r>
            </a:p>
          </p:txBody>
        </p:sp>
        <p:sp>
          <p:nvSpPr>
            <p:cNvPr id="84" name="Rectangle 44"/>
            <p:cNvSpPr/>
            <p:nvPr/>
          </p:nvSpPr>
          <p:spPr>
            <a:xfrm>
              <a:off x="6810375" y="3571875"/>
              <a:ext cx="857250" cy="228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4F46E5"/>
              </a:solidFill>
            </a:ln>
          </p:spPr>
        </p:sp>
        <p:sp>
          <p:nvSpPr>
            <p:cNvPr id="85" name="TextBox 45"/>
            <p:cNvSpPr txBox="1"/>
            <p:nvPr/>
          </p:nvSpPr>
          <p:spPr>
            <a:xfrm>
              <a:off x="7029808" y="3643312"/>
              <a:ext cx="41838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00" b="1" dirty="0">
                  <a:solidFill>
                    <a:srgbClr val="4F46E5"/>
                  </a:solidFill>
                  <a:latin typeface="+mj-lt"/>
                  <a:ea typeface="+mn-ea"/>
                  <a:cs typeface="+mn-cs"/>
                </a:rPr>
                <a:t>S4: Acc</a:t>
              </a:r>
            </a:p>
          </p:txBody>
        </p:sp>
        <p:sp>
          <p:nvSpPr>
            <p:cNvPr id="86" name="Rectangle 46"/>
            <p:cNvSpPr/>
            <p:nvPr/>
          </p:nvSpPr>
          <p:spPr>
            <a:xfrm>
              <a:off x="7905750" y="3571875"/>
              <a:ext cx="857250" cy="228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4F46E5"/>
              </a:solidFill>
            </a:ln>
          </p:spPr>
        </p:sp>
        <p:sp>
          <p:nvSpPr>
            <p:cNvPr id="87" name="TextBox 47"/>
            <p:cNvSpPr txBox="1"/>
            <p:nvPr/>
          </p:nvSpPr>
          <p:spPr>
            <a:xfrm>
              <a:off x="8140411" y="3643312"/>
              <a:ext cx="38792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00" b="1" dirty="0">
                  <a:solidFill>
                    <a:srgbClr val="4F46E5"/>
                  </a:solidFill>
                  <a:latin typeface="+mj-lt"/>
                  <a:ea typeface="+mn-ea"/>
                  <a:cs typeface="+mn-cs"/>
                </a:rPr>
                <a:t>S5: Sat</a:t>
              </a:r>
            </a:p>
          </p:txBody>
        </p:sp>
        <p:sp>
          <p:nvSpPr>
            <p:cNvPr id="88" name="TextBox 48"/>
            <p:cNvSpPr txBox="1"/>
            <p:nvPr/>
          </p:nvSpPr>
          <p:spPr>
            <a:xfrm>
              <a:off x="947738" y="4046220"/>
              <a:ext cx="84318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forecast_valid</a:t>
              </a:r>
            </a:p>
          </p:txBody>
        </p:sp>
        <p:sp>
          <p:nvSpPr>
            <p:cNvPr id="89" name="Freeform 49"/>
            <p:cNvSpPr/>
            <p:nvPr/>
          </p:nvSpPr>
          <p:spPr>
            <a:xfrm>
              <a:off x="2286000" y="4000500"/>
              <a:ext cx="8763000" cy="190500"/>
            </a:xfrm>
            <a:custGeom>
              <a:avLst/>
              <a:gdLst/>
              <a:ahLst/>
              <a:cxnLst/>
              <a:rect l="l" t="t" r="r" b="b"/>
              <a:pathLst>
                <a:path w="8763000" h="190500">
                  <a:moveTo>
                    <a:pt x="0" y="190500"/>
                  </a:moveTo>
                  <a:lnTo>
                    <a:pt x="5572125" y="190500"/>
                  </a:lnTo>
                  <a:lnTo>
                    <a:pt x="5619750" y="0"/>
                  </a:lnTo>
                  <a:lnTo>
                    <a:pt x="6477000" y="0"/>
                  </a:lnTo>
                  <a:lnTo>
                    <a:pt x="6524625" y="190500"/>
                  </a:lnTo>
                  <a:lnTo>
                    <a:pt x="8763000" y="190500"/>
                  </a:lnTo>
                </a:path>
              </a:pathLst>
            </a:custGeom>
            <a:noFill/>
            <a:ln w="23812">
              <a:solidFill>
                <a:srgbClr val="16A34A"/>
              </a:solidFill>
            </a:ln>
          </p:spPr>
        </p:sp>
        <p:sp>
          <p:nvSpPr>
            <p:cNvPr id="90" name="TextBox 50"/>
            <p:cNvSpPr txBox="1"/>
            <p:nvPr/>
          </p:nvSpPr>
          <p:spPr>
            <a:xfrm>
              <a:off x="947738" y="4427220"/>
              <a:ext cx="109324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forecast_out[15:0]</a:t>
              </a:r>
            </a:p>
          </p:txBody>
        </p:sp>
        <p:sp>
          <p:nvSpPr>
            <p:cNvPr id="91" name="Polygon 51"/>
            <p:cNvSpPr/>
            <p:nvPr/>
          </p:nvSpPr>
          <p:spPr>
            <a:xfrm>
              <a:off x="7810500" y="4429125"/>
              <a:ext cx="1000125" cy="190500"/>
            </a:xfrm>
            <a:custGeom>
              <a:avLst/>
              <a:gdLst/>
              <a:ahLst/>
              <a:cxnLst/>
              <a:rect l="l" t="t" r="r" b="b"/>
              <a:pathLst>
                <a:path w="1000125" h="190500">
                  <a:moveTo>
                    <a:pt x="95250" y="0"/>
                  </a:moveTo>
                  <a:lnTo>
                    <a:pt x="904875" y="0"/>
                  </a:lnTo>
                  <a:lnTo>
                    <a:pt x="1000125" y="95250"/>
                  </a:lnTo>
                  <a:lnTo>
                    <a:pt x="904875" y="190500"/>
                  </a:lnTo>
                  <a:lnTo>
                    <a:pt x="95250" y="19050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0FDF4"/>
            </a:solidFill>
            <a:ln w="14288">
              <a:solidFill>
                <a:srgbClr val="16A34A"/>
              </a:solidFill>
            </a:ln>
          </p:spPr>
        </p:sp>
        <p:sp>
          <p:nvSpPr>
            <p:cNvPr id="92" name="TextBox 52"/>
            <p:cNvSpPr txBox="1"/>
            <p:nvPr/>
          </p:nvSpPr>
          <p:spPr>
            <a:xfrm>
              <a:off x="7981994" y="4463891"/>
              <a:ext cx="64761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T_hat(t+3)</a:t>
              </a:r>
            </a:p>
          </p:txBody>
        </p:sp>
        <p:sp>
          <p:nvSpPr>
            <p:cNvPr id="93" name="Rectangle 53"/>
            <p:cNvSpPr/>
            <p:nvPr/>
          </p:nvSpPr>
          <p:spPr>
            <a:xfrm>
              <a:off x="762000" y="4857750"/>
              <a:ext cx="10668000" cy="1000125"/>
            </a:xfrm>
            <a:prstGeom prst="roundRect">
              <a:avLst>
                <a:gd name="adj" fmla="val 5714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94" name="TextBox 54"/>
            <p:cNvSpPr txBox="1"/>
            <p:nvPr/>
          </p:nvSpPr>
          <p:spPr>
            <a:xfrm>
              <a:off x="947738" y="4998720"/>
              <a:ext cx="249587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Pipeline Latency &amp; Handshake Contract:</a:t>
              </a:r>
            </a:p>
          </p:txBody>
        </p:sp>
        <p:sp>
          <p:nvSpPr>
            <p:cNvPr id="95" name="TextBox 55"/>
            <p:cNvSpPr txBox="1"/>
            <p:nvPr/>
          </p:nvSpPr>
          <p:spPr>
            <a:xfrm>
              <a:off x="947738" y="5217795"/>
              <a:ext cx="470802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Deterministic Latency: Exactly 5 clock cycles (100 ns at 50.0 MHz system clock).</a:t>
              </a:r>
            </a:p>
          </p:txBody>
        </p:sp>
        <p:sp>
          <p:nvSpPr>
            <p:cNvPr id="96" name="TextBox 56"/>
            <p:cNvSpPr txBox="1"/>
            <p:nvPr/>
          </p:nvSpPr>
          <p:spPr>
            <a:xfrm>
              <a:off x="947738" y="5427345"/>
              <a:ext cx="513281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Streaming Throughput: II = 1 (1 sample/clock, 50 MSps) with zero backpressure bubbles.</a:t>
              </a:r>
            </a:p>
          </p:txBody>
        </p:sp>
        <p:sp>
          <p:nvSpPr>
            <p:cNvPr id="97" name="TextBox 57"/>
            <p:cNvSpPr txBox="1"/>
            <p:nvPr/>
          </p:nvSpPr>
          <p:spPr>
            <a:xfrm>
              <a:off x="947738" y="5636895"/>
              <a:ext cx="489877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11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Formal Verification: SV assertion `assert (##5 forecast_valid)` verified bit-exact.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222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15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658348" y="1437131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84668" y="1052056"/>
            <a:ext cx="12107332" cy="890663"/>
          </a:xfrm>
        </p:spPr>
        <p:txBody>
          <a:bodyPr>
            <a:noAutofit/>
          </a:bodyPr>
          <a:lstStyle/>
          <a:p>
            <a:r>
              <a:rPr lang="en" sz="3500" dirty="0">
                <a:solidFill>
                  <a:schemeClr val="accent1"/>
                </a:solidFill>
              </a:rPr>
              <a:t>Resource Core: 10-State FSM &amp; Multiplier Time-Multiplexing</a:t>
            </a:r>
          </a:p>
        </p:txBody>
      </p:sp>
      <p:grpSp>
        <p:nvGrpSpPr>
          <p:cNvPr id="13" name="fsm_bubble_diagram"/>
          <p:cNvGrpSpPr/>
          <p:nvPr/>
        </p:nvGrpSpPr>
        <p:grpSpPr>
          <a:xfrm>
            <a:off x="502500" y="1822921"/>
            <a:ext cx="6541553" cy="4762500"/>
            <a:chOff x="571500" y="1285875"/>
            <a:chExt cx="6667500" cy="4762500"/>
          </a:xfrm>
        </p:grpSpPr>
        <p:sp>
          <p:nvSpPr>
            <p:cNvPr id="14" name="Rectangle 7"/>
            <p:cNvSpPr/>
            <p:nvPr/>
          </p:nvSpPr>
          <p:spPr>
            <a:xfrm>
              <a:off x="571500" y="1285875"/>
              <a:ext cx="6667500" cy="4762500"/>
            </a:xfrm>
            <a:prstGeom prst="roundRect">
              <a:avLst>
                <a:gd name="adj" fmla="val 16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5" name="Rectangle 8"/>
            <p:cNvSpPr/>
            <p:nvPr/>
          </p:nvSpPr>
          <p:spPr>
            <a:xfrm>
              <a:off x="571500" y="1285875"/>
              <a:ext cx="666750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TextBox 9"/>
            <p:cNvSpPr txBox="1"/>
            <p:nvPr/>
          </p:nvSpPr>
          <p:spPr>
            <a:xfrm>
              <a:off x="756666" y="1429702"/>
              <a:ext cx="352915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10-STATE TIME-MULTIPLEXED SEQUENTIAL FSM</a:t>
              </a:r>
            </a:p>
          </p:txBody>
        </p:sp>
        <p:sp>
          <p:nvSpPr>
            <p:cNvPr id="17" name="Ellipse 10"/>
            <p:cNvSpPr/>
            <p:nvPr/>
          </p:nvSpPr>
          <p:spPr>
            <a:xfrm>
              <a:off x="762000" y="2000250"/>
              <a:ext cx="571500" cy="571500"/>
            </a:xfrm>
            <a:prstGeom prst="ellipse">
              <a:avLst/>
            </a:prstGeom>
            <a:solidFill>
              <a:srgbClr val="F8FAFC"/>
            </a:solidFill>
            <a:ln w="19050">
              <a:solidFill>
                <a:srgbClr val="1E3A8A"/>
              </a:solidFill>
            </a:ln>
          </p:spPr>
        </p:sp>
        <p:sp>
          <p:nvSpPr>
            <p:cNvPr id="18" name="TextBox 11"/>
            <p:cNvSpPr txBox="1"/>
            <p:nvPr/>
          </p:nvSpPr>
          <p:spPr>
            <a:xfrm>
              <a:off x="903970" y="2243138"/>
              <a:ext cx="287562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IDLE</a:t>
              </a:r>
            </a:p>
          </p:txBody>
        </p:sp>
        <p:sp>
          <p:nvSpPr>
            <p:cNvPr id="19" name="Ellipse 12"/>
            <p:cNvSpPr/>
            <p:nvPr/>
          </p:nvSpPr>
          <p:spPr>
            <a:xfrm>
              <a:off x="1952625" y="2000250"/>
              <a:ext cx="571500" cy="571500"/>
            </a:xfrm>
            <a:prstGeom prst="ellipse">
              <a:avLst/>
            </a:prstGeom>
            <a:solidFill>
              <a:srgbClr val="EFF6FF"/>
            </a:solidFill>
            <a:ln w="19050">
              <a:solidFill>
                <a:srgbClr val="2563EB"/>
              </a:solidFill>
            </a:ln>
          </p:spPr>
        </p:sp>
        <p:sp>
          <p:nvSpPr>
            <p:cNvPr id="20" name="TextBox 13"/>
            <p:cNvSpPr txBox="1"/>
            <p:nvPr/>
          </p:nvSpPr>
          <p:spPr>
            <a:xfrm>
              <a:off x="2021071" y="2243138"/>
              <a:ext cx="43460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S0: CAP</a:t>
              </a:r>
            </a:p>
          </p:txBody>
        </p:sp>
        <p:sp>
          <p:nvSpPr>
            <p:cNvPr id="21" name="Ellipse 14"/>
            <p:cNvSpPr/>
            <p:nvPr/>
          </p:nvSpPr>
          <p:spPr>
            <a:xfrm>
              <a:off x="3143250" y="2000250"/>
              <a:ext cx="571500" cy="571500"/>
            </a:xfrm>
            <a:prstGeom prst="ellipse">
              <a:avLst/>
            </a:prstGeom>
            <a:solidFill>
              <a:srgbClr val="F8FAFC"/>
            </a:solidFill>
            <a:ln w="19050">
              <a:solidFill>
                <a:srgbClr val="1E3A8A"/>
              </a:solidFill>
            </a:ln>
          </p:spPr>
        </p:sp>
        <p:sp>
          <p:nvSpPr>
            <p:cNvPr id="22" name="TextBox 15"/>
            <p:cNvSpPr txBox="1"/>
            <p:nvPr/>
          </p:nvSpPr>
          <p:spPr>
            <a:xfrm>
              <a:off x="3188821" y="2243138"/>
              <a:ext cx="48035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S1: SUB1</a:t>
              </a:r>
            </a:p>
          </p:txBody>
        </p:sp>
        <p:sp>
          <p:nvSpPr>
            <p:cNvPr id="24" name="Ellipse 16"/>
            <p:cNvSpPr/>
            <p:nvPr/>
          </p:nvSpPr>
          <p:spPr>
            <a:xfrm>
              <a:off x="4333875" y="2000250"/>
              <a:ext cx="571500" cy="571500"/>
            </a:xfrm>
            <a:prstGeom prst="ellipse">
              <a:avLst/>
            </a:prstGeom>
            <a:solidFill>
              <a:srgbClr val="FFFBEB"/>
            </a:solidFill>
            <a:ln w="19050">
              <a:solidFill>
                <a:srgbClr val="D97706"/>
              </a:solidFill>
            </a:ln>
          </p:spPr>
        </p:sp>
        <p:sp>
          <p:nvSpPr>
            <p:cNvPr id="25" name="TextBox 17"/>
            <p:cNvSpPr txBox="1"/>
            <p:nvPr/>
          </p:nvSpPr>
          <p:spPr>
            <a:xfrm>
              <a:off x="4317359" y="2243138"/>
              <a:ext cx="604531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S2: MULT1</a:t>
              </a:r>
            </a:p>
          </p:txBody>
        </p:sp>
        <p:sp>
          <p:nvSpPr>
            <p:cNvPr id="26" name="Ellipse 18"/>
            <p:cNvSpPr/>
            <p:nvPr/>
          </p:nvSpPr>
          <p:spPr>
            <a:xfrm>
              <a:off x="5524500" y="2000250"/>
              <a:ext cx="571500" cy="571500"/>
            </a:xfrm>
            <a:prstGeom prst="ellipse">
              <a:avLst/>
            </a:prstGeom>
            <a:solidFill>
              <a:srgbClr val="F8FAFC"/>
            </a:solidFill>
            <a:ln w="19050">
              <a:solidFill>
                <a:srgbClr val="1E3A8A"/>
              </a:solidFill>
            </a:ln>
          </p:spPr>
        </p:sp>
        <p:sp>
          <p:nvSpPr>
            <p:cNvPr id="27" name="TextBox 19"/>
            <p:cNvSpPr txBox="1"/>
            <p:nvPr/>
          </p:nvSpPr>
          <p:spPr>
            <a:xfrm>
              <a:off x="5570071" y="2243138"/>
              <a:ext cx="48035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S3: SUB2</a:t>
              </a:r>
            </a:p>
          </p:txBody>
        </p:sp>
        <p:sp>
          <p:nvSpPr>
            <p:cNvPr id="28" name="Line 20"/>
            <p:cNvSpPr/>
            <p:nvPr/>
          </p:nvSpPr>
          <p:spPr>
            <a:xfrm>
              <a:off x="1333500" y="2286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29" name="Line 21"/>
            <p:cNvSpPr/>
            <p:nvPr/>
          </p:nvSpPr>
          <p:spPr>
            <a:xfrm>
              <a:off x="2524125" y="2286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30" name="Line 22"/>
            <p:cNvSpPr/>
            <p:nvPr/>
          </p:nvSpPr>
          <p:spPr>
            <a:xfrm>
              <a:off x="3714750" y="2286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32" name="Line 23"/>
            <p:cNvSpPr/>
            <p:nvPr/>
          </p:nvSpPr>
          <p:spPr>
            <a:xfrm>
              <a:off x="4905375" y="2286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33" name="Line 24"/>
            <p:cNvSpPr/>
            <p:nvPr/>
          </p:nvSpPr>
          <p:spPr>
            <a:xfrm>
              <a:off x="5810250" y="2571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34" name="Ellipse 25"/>
            <p:cNvSpPr/>
            <p:nvPr/>
          </p:nvSpPr>
          <p:spPr>
            <a:xfrm>
              <a:off x="5524500" y="3143250"/>
              <a:ext cx="571500" cy="571500"/>
            </a:xfrm>
            <a:prstGeom prst="ellipse">
              <a:avLst/>
            </a:prstGeom>
            <a:solidFill>
              <a:srgbClr val="FFFBEB"/>
            </a:solidFill>
            <a:ln w="19050">
              <a:solidFill>
                <a:srgbClr val="D97706"/>
              </a:solidFill>
            </a:ln>
          </p:spPr>
        </p:sp>
        <p:sp>
          <p:nvSpPr>
            <p:cNvPr id="35" name="TextBox 26"/>
            <p:cNvSpPr txBox="1"/>
            <p:nvPr/>
          </p:nvSpPr>
          <p:spPr>
            <a:xfrm>
              <a:off x="5507985" y="3386138"/>
              <a:ext cx="604531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S4: MULT2</a:t>
              </a:r>
            </a:p>
          </p:txBody>
        </p:sp>
        <p:sp>
          <p:nvSpPr>
            <p:cNvPr id="36" name="Ellipse 27"/>
            <p:cNvSpPr/>
            <p:nvPr/>
          </p:nvSpPr>
          <p:spPr>
            <a:xfrm>
              <a:off x="4333875" y="3143250"/>
              <a:ext cx="571500" cy="571500"/>
            </a:xfrm>
            <a:prstGeom prst="ellipse">
              <a:avLst/>
            </a:prstGeom>
            <a:solidFill>
              <a:srgbClr val="F8FAFC"/>
            </a:solidFill>
            <a:ln w="19050">
              <a:solidFill>
                <a:srgbClr val="1E3A8A"/>
              </a:solidFill>
            </a:ln>
          </p:spPr>
        </p:sp>
        <p:sp>
          <p:nvSpPr>
            <p:cNvPr id="37" name="TextBox 28"/>
            <p:cNvSpPr txBox="1"/>
            <p:nvPr/>
          </p:nvSpPr>
          <p:spPr>
            <a:xfrm>
              <a:off x="4385586" y="3386138"/>
              <a:ext cx="468078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S5: SUM</a:t>
              </a:r>
            </a:p>
          </p:txBody>
        </p:sp>
        <p:sp>
          <p:nvSpPr>
            <p:cNvPr id="38" name="Ellipse 29"/>
            <p:cNvSpPr/>
            <p:nvPr/>
          </p:nvSpPr>
          <p:spPr>
            <a:xfrm>
              <a:off x="3143250" y="3143250"/>
              <a:ext cx="571500" cy="571500"/>
            </a:xfrm>
            <a:prstGeom prst="ellipse">
              <a:avLst/>
            </a:prstGeom>
            <a:solidFill>
              <a:srgbClr val="F8FAFC"/>
            </a:solidFill>
            <a:ln w="19050">
              <a:solidFill>
                <a:srgbClr val="1E3A8A"/>
              </a:solidFill>
            </a:ln>
          </p:spPr>
        </p:sp>
        <p:sp>
          <p:nvSpPr>
            <p:cNvPr id="39" name="TextBox 30"/>
            <p:cNvSpPr txBox="1"/>
            <p:nvPr/>
          </p:nvSpPr>
          <p:spPr>
            <a:xfrm>
              <a:off x="3198167" y="3386138"/>
              <a:ext cx="461666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S6: ACC</a:t>
              </a:r>
            </a:p>
          </p:txBody>
        </p:sp>
        <p:sp>
          <p:nvSpPr>
            <p:cNvPr id="40" name="Ellipse 31"/>
            <p:cNvSpPr/>
            <p:nvPr/>
          </p:nvSpPr>
          <p:spPr>
            <a:xfrm>
              <a:off x="1952625" y="3143250"/>
              <a:ext cx="571500" cy="571500"/>
            </a:xfrm>
            <a:prstGeom prst="ellipse">
              <a:avLst/>
            </a:prstGeom>
            <a:solidFill>
              <a:srgbClr val="F8FAFC"/>
            </a:solidFill>
            <a:ln w="19050">
              <a:solidFill>
                <a:srgbClr val="1E3A8A"/>
              </a:solidFill>
            </a:ln>
          </p:spPr>
        </p:sp>
        <p:sp>
          <p:nvSpPr>
            <p:cNvPr id="41" name="TextBox 32"/>
            <p:cNvSpPr txBox="1"/>
            <p:nvPr/>
          </p:nvSpPr>
          <p:spPr>
            <a:xfrm>
              <a:off x="1968787" y="3386138"/>
              <a:ext cx="539176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S7: SAT16</a:t>
              </a:r>
            </a:p>
          </p:txBody>
        </p:sp>
        <p:sp>
          <p:nvSpPr>
            <p:cNvPr id="42" name="Ellipse 33"/>
            <p:cNvSpPr/>
            <p:nvPr/>
          </p:nvSpPr>
          <p:spPr>
            <a:xfrm>
              <a:off x="762000" y="3143250"/>
              <a:ext cx="571500" cy="571500"/>
            </a:xfrm>
            <a:prstGeom prst="ellipse">
              <a:avLst/>
            </a:prstGeom>
            <a:solidFill>
              <a:srgbClr val="F0FDF4"/>
            </a:solidFill>
            <a:ln w="19050">
              <a:solidFill>
                <a:srgbClr val="16A34A"/>
              </a:solidFill>
            </a:ln>
          </p:spPr>
        </p:sp>
        <p:sp>
          <p:nvSpPr>
            <p:cNvPr id="43" name="TextBox 34"/>
            <p:cNvSpPr txBox="1"/>
            <p:nvPr/>
          </p:nvSpPr>
          <p:spPr>
            <a:xfrm>
              <a:off x="775239" y="3386138"/>
              <a:ext cx="545022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S8: DONE</a:t>
              </a:r>
            </a:p>
          </p:txBody>
        </p:sp>
        <p:sp>
          <p:nvSpPr>
            <p:cNvPr id="44" name="Line 35"/>
            <p:cNvSpPr/>
            <p:nvPr/>
          </p:nvSpPr>
          <p:spPr>
            <a:xfrm>
              <a:off x="4905375" y="3429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6191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45" name="Line 36"/>
            <p:cNvSpPr/>
            <p:nvPr/>
          </p:nvSpPr>
          <p:spPr>
            <a:xfrm>
              <a:off x="3714750" y="3429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6191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52" name="Line 37"/>
            <p:cNvSpPr/>
            <p:nvPr/>
          </p:nvSpPr>
          <p:spPr>
            <a:xfrm>
              <a:off x="2524125" y="3429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6191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53" name="Line 38"/>
            <p:cNvSpPr/>
            <p:nvPr/>
          </p:nvSpPr>
          <p:spPr>
            <a:xfrm>
              <a:off x="1333500" y="3429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6191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54" name="Line 39"/>
            <p:cNvSpPr/>
            <p:nvPr/>
          </p:nvSpPr>
          <p:spPr>
            <a:xfrm>
              <a:off x="1047750" y="2571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57150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6A34A"/>
              </a:solidFill>
            </a:ln>
          </p:spPr>
        </p:sp>
        <p:sp>
          <p:nvSpPr>
            <p:cNvPr id="55" name="TextBox 40"/>
            <p:cNvSpPr txBox="1"/>
            <p:nvPr/>
          </p:nvSpPr>
          <p:spPr>
            <a:xfrm>
              <a:off x="757238" y="2803684"/>
              <a:ext cx="419904" cy="1231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valid_out</a:t>
              </a:r>
            </a:p>
          </p:txBody>
        </p:sp>
        <p:sp>
          <p:nvSpPr>
            <p:cNvPr id="56" name="Rectangle 41"/>
            <p:cNvSpPr/>
            <p:nvPr/>
          </p:nvSpPr>
          <p:spPr>
            <a:xfrm>
              <a:off x="762000" y="4000500"/>
              <a:ext cx="6286500" cy="1857375"/>
            </a:xfrm>
            <a:prstGeom prst="roundRect">
              <a:avLst>
                <a:gd name="adj" fmla="val 307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7" name="TextBox 42"/>
            <p:cNvSpPr txBox="1"/>
            <p:nvPr/>
          </p:nvSpPr>
          <p:spPr>
            <a:xfrm>
              <a:off x="900112" y="4141470"/>
              <a:ext cx="147211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FSM Sequential Schedule:</a:t>
              </a:r>
            </a:p>
          </p:txBody>
        </p:sp>
        <p:sp>
          <p:nvSpPr>
            <p:cNvPr id="58" name="TextBox 43"/>
            <p:cNvSpPr txBox="1"/>
            <p:nvPr/>
          </p:nvSpPr>
          <p:spPr>
            <a:xfrm>
              <a:off x="900112" y="4387691"/>
              <a:ext cx="276450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S0: Latch sample; push into 25-stage history buffer</a:t>
              </a:r>
            </a:p>
          </p:txBody>
        </p:sp>
        <p:sp>
          <p:nvSpPr>
            <p:cNvPr id="59" name="TextBox 44"/>
            <p:cNvSpPr txBox="1"/>
            <p:nvPr/>
          </p:nvSpPr>
          <p:spPr>
            <a:xfrm>
              <a:off x="900112" y="4625816"/>
              <a:ext cx="303409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S1–S2: D1 = T(t)-T24; shared mult computes P1 = a·D1</a:t>
              </a:r>
            </a:p>
          </p:txBody>
        </p:sp>
        <p:sp>
          <p:nvSpPr>
            <p:cNvPr id="60" name="TextBox 45"/>
            <p:cNvSpPr txBox="1"/>
            <p:nvPr/>
          </p:nvSpPr>
          <p:spPr>
            <a:xfrm>
              <a:off x="900112" y="4863941"/>
              <a:ext cx="297527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S3–S4: D2 = T(t)-T3; shared mult computes P2 = b·D2</a:t>
              </a:r>
            </a:p>
          </p:txBody>
        </p:sp>
        <p:sp>
          <p:nvSpPr>
            <p:cNvPr id="61" name="TextBox 46"/>
            <p:cNvSpPr txBox="1"/>
            <p:nvPr/>
          </p:nvSpPr>
          <p:spPr>
            <a:xfrm>
              <a:off x="900112" y="5102066"/>
              <a:ext cx="352098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S5–S6: Reused ALU sums P1+P2, adds anchor T(t-21) and bias c</a:t>
              </a:r>
            </a:p>
          </p:txBody>
        </p:sp>
        <p:sp>
          <p:nvSpPr>
            <p:cNvPr id="62" name="TextBox 47"/>
            <p:cNvSpPr txBox="1"/>
            <p:nvPr/>
          </p:nvSpPr>
          <p:spPr>
            <a:xfrm>
              <a:off x="900112" y="5340191"/>
              <a:ext cx="299161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S7–S8: Shift &gt;&gt;&gt; 14, clamp sat16, assert forecast_valid</a:t>
              </a:r>
            </a:p>
          </p:txBody>
        </p:sp>
      </p:grpSp>
      <p:grpSp>
        <p:nvGrpSpPr>
          <p:cNvPr id="63" name="shared_mult_mux"/>
          <p:cNvGrpSpPr/>
          <p:nvPr/>
        </p:nvGrpSpPr>
        <p:grpSpPr>
          <a:xfrm>
            <a:off x="7360500" y="1822921"/>
            <a:ext cx="4111833" cy="4762500"/>
            <a:chOff x="7429500" y="1285875"/>
            <a:chExt cx="4191000" cy="4762500"/>
          </a:xfrm>
        </p:grpSpPr>
        <p:sp>
          <p:nvSpPr>
            <p:cNvPr id="64" name="Rectangle 49"/>
            <p:cNvSpPr/>
            <p:nvPr/>
          </p:nvSpPr>
          <p:spPr>
            <a:xfrm>
              <a:off x="7429500" y="1285875"/>
              <a:ext cx="4191000" cy="4762500"/>
            </a:xfrm>
            <a:prstGeom prst="roundRect">
              <a:avLst>
                <a:gd name="adj" fmla="val 1818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65" name="Rectangle 50"/>
            <p:cNvSpPr/>
            <p:nvPr/>
          </p:nvSpPr>
          <p:spPr>
            <a:xfrm>
              <a:off x="7429500" y="1285875"/>
              <a:ext cx="419100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66" name="TextBox 51"/>
            <p:cNvSpPr txBox="1"/>
            <p:nvPr/>
          </p:nvSpPr>
          <p:spPr>
            <a:xfrm>
              <a:off x="7614666" y="1429702"/>
              <a:ext cx="285273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MULTIPLIER SHARING ARCHITECTURE</a:t>
              </a:r>
            </a:p>
          </p:txBody>
        </p:sp>
        <p:sp>
          <p:nvSpPr>
            <p:cNvPr id="67" name="TextBox 52"/>
            <p:cNvSpPr txBox="1"/>
            <p:nvPr/>
          </p:nvSpPr>
          <p:spPr>
            <a:xfrm>
              <a:off x="7615047" y="1847374"/>
              <a:ext cx="180542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Operand Multiplexer Routing:</a:t>
              </a:r>
            </a:p>
          </p:txBody>
        </p:sp>
        <p:sp>
          <p:nvSpPr>
            <p:cNvPr id="68" name="Rectangle 53"/>
            <p:cNvSpPr/>
            <p:nvPr/>
          </p:nvSpPr>
          <p:spPr>
            <a:xfrm>
              <a:off x="7620000" y="2143125"/>
              <a:ext cx="3810000" cy="142875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69" name="TextBox 54"/>
            <p:cNvSpPr txBox="1"/>
            <p:nvPr/>
          </p:nvSpPr>
          <p:spPr>
            <a:xfrm>
              <a:off x="7758112" y="2284095"/>
              <a:ext cx="276940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2:1 Operand Mux Logic (ols_shared_datapath.v):</a:t>
              </a:r>
            </a:p>
          </p:txBody>
        </p:sp>
        <p:sp>
          <p:nvSpPr>
            <p:cNvPr id="70" name="Rectangle 55"/>
            <p:cNvSpPr/>
            <p:nvPr/>
          </p:nvSpPr>
          <p:spPr>
            <a:xfrm>
              <a:off x="7762875" y="2552700"/>
              <a:ext cx="3524250" cy="400050"/>
            </a:xfrm>
            <a:prstGeom prst="roundRect">
              <a:avLst>
                <a:gd name="adj" fmla="val 9524"/>
              </a:avLst>
            </a:prstGeom>
            <a:solidFill>
              <a:srgbClr val="FFFBEB"/>
            </a:solidFill>
            <a:ln w="9525">
              <a:solidFill>
                <a:srgbClr val="D97706"/>
              </a:solidFill>
            </a:ln>
          </p:spPr>
        </p:sp>
        <p:sp>
          <p:nvSpPr>
            <p:cNvPr id="71" name="TextBox 56"/>
            <p:cNvSpPr txBox="1"/>
            <p:nvPr/>
          </p:nvSpPr>
          <p:spPr>
            <a:xfrm>
              <a:off x="7853362" y="2692241"/>
              <a:ext cx="275306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State S2: mult_in_a = D1; mult_in_b = COEF_A;</a:t>
              </a:r>
            </a:p>
          </p:txBody>
        </p:sp>
        <p:sp>
          <p:nvSpPr>
            <p:cNvPr id="72" name="Rectangle 57"/>
            <p:cNvSpPr/>
            <p:nvPr/>
          </p:nvSpPr>
          <p:spPr>
            <a:xfrm>
              <a:off x="7762875" y="3048000"/>
              <a:ext cx="3524250" cy="400050"/>
            </a:xfrm>
            <a:prstGeom prst="roundRect">
              <a:avLst>
                <a:gd name="adj" fmla="val 9524"/>
              </a:avLst>
            </a:prstGeom>
            <a:solidFill>
              <a:srgbClr val="FFFBEB"/>
            </a:solidFill>
            <a:ln w="9525">
              <a:solidFill>
                <a:srgbClr val="D97706"/>
              </a:solidFill>
            </a:ln>
          </p:spPr>
        </p:sp>
        <p:sp>
          <p:nvSpPr>
            <p:cNvPr id="73" name="TextBox 58"/>
            <p:cNvSpPr txBox="1"/>
            <p:nvPr/>
          </p:nvSpPr>
          <p:spPr>
            <a:xfrm>
              <a:off x="7853362" y="3187541"/>
              <a:ext cx="274489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State S4: mult_in_a = D2; mult_in_b = COEF_B;</a:t>
              </a:r>
            </a:p>
          </p:txBody>
        </p:sp>
        <p:sp>
          <p:nvSpPr>
            <p:cNvPr id="74" name="Rectangle 59"/>
            <p:cNvSpPr/>
            <p:nvPr/>
          </p:nvSpPr>
          <p:spPr>
            <a:xfrm>
              <a:off x="7620000" y="3762375"/>
              <a:ext cx="3810000" cy="857250"/>
            </a:xfrm>
            <a:prstGeom prst="roundRect">
              <a:avLst>
                <a:gd name="adj" fmla="val 6667"/>
              </a:avLst>
            </a:prstGeom>
            <a:solidFill>
              <a:srgbClr val="EFF6FF"/>
            </a:solidFill>
            <a:ln w="19050">
              <a:solidFill>
                <a:srgbClr val="2563EB"/>
              </a:solidFill>
            </a:ln>
          </p:spPr>
        </p:sp>
        <p:sp>
          <p:nvSpPr>
            <p:cNvPr id="75" name="TextBox 60"/>
            <p:cNvSpPr txBox="1"/>
            <p:nvPr/>
          </p:nvSpPr>
          <p:spPr>
            <a:xfrm>
              <a:off x="8055340" y="3942874"/>
              <a:ext cx="293932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SINGLE 17×16 EMBEDDED DSP MULTIPLIER</a:t>
              </a:r>
            </a:p>
          </p:txBody>
        </p:sp>
        <p:sp>
          <p:nvSpPr>
            <p:cNvPr id="76" name="TextBox 61"/>
            <p:cNvSpPr txBox="1"/>
            <p:nvPr/>
          </p:nvSpPr>
          <p:spPr>
            <a:xfrm>
              <a:off x="7963841" y="4178141"/>
              <a:ext cx="3122319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Altera Cyclone II 9-bit Blocks: 2 units (vs 4 in Speed Core)</a:t>
              </a:r>
            </a:p>
          </p:txBody>
        </p:sp>
        <p:sp>
          <p:nvSpPr>
            <p:cNvPr id="77" name="TextBox 62"/>
            <p:cNvSpPr txBox="1"/>
            <p:nvPr/>
          </p:nvSpPr>
          <p:spPr>
            <a:xfrm>
              <a:off x="8560202" y="4379595"/>
              <a:ext cx="192959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50% DSP Silicon Footprint Saved!</a:t>
              </a:r>
            </a:p>
          </p:txBody>
        </p:sp>
        <p:sp>
          <p:nvSpPr>
            <p:cNvPr id="78" name="Rectangle 63"/>
            <p:cNvSpPr/>
            <p:nvPr/>
          </p:nvSpPr>
          <p:spPr>
            <a:xfrm>
              <a:off x="7620000" y="4762500"/>
              <a:ext cx="3810000" cy="1095375"/>
            </a:xfrm>
            <a:prstGeom prst="roundRect">
              <a:avLst>
                <a:gd name="adj" fmla="val 5217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79" name="TextBox 64"/>
            <p:cNvSpPr txBox="1"/>
            <p:nvPr/>
          </p:nvSpPr>
          <p:spPr>
            <a:xfrm>
              <a:off x="7758112" y="4903470"/>
              <a:ext cx="1622429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Hardware Footprint Impact:</a:t>
              </a:r>
            </a:p>
          </p:txBody>
        </p:sp>
        <p:sp>
          <p:nvSpPr>
            <p:cNvPr id="80" name="TextBox 65"/>
            <p:cNvSpPr txBox="1"/>
            <p:nvPr/>
          </p:nvSpPr>
          <p:spPr>
            <a:xfrm>
              <a:off x="7758112" y="5130641"/>
              <a:ext cx="306513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Speed Core: 4 9-bit DSP blocks (2 dedicated multipliers)</a:t>
              </a:r>
            </a:p>
          </p:txBody>
        </p:sp>
        <p:sp>
          <p:nvSpPr>
            <p:cNvPr id="81" name="TextBox 66"/>
            <p:cNvSpPr txBox="1"/>
            <p:nvPr/>
          </p:nvSpPr>
          <p:spPr>
            <a:xfrm>
              <a:off x="7758112" y="5340191"/>
              <a:ext cx="302265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Resource Core: 2 9-bit DSP blocks (1 shared multiplier)</a:t>
              </a:r>
            </a:p>
          </p:txBody>
        </p:sp>
        <p:sp>
          <p:nvSpPr>
            <p:cNvPr id="82" name="TextBox 67"/>
            <p:cNvSpPr txBox="1"/>
            <p:nvPr/>
          </p:nvSpPr>
          <p:spPr>
            <a:xfrm>
              <a:off x="7758112" y="5578316"/>
              <a:ext cx="345072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10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Area Savings: -50% DSP blocks, -42.7% LEs (236 LEs total)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3583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16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658348" y="1437131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84668" y="1052056"/>
            <a:ext cx="12107332" cy="890663"/>
          </a:xfrm>
        </p:spPr>
        <p:txBody>
          <a:bodyPr>
            <a:noAutofit/>
          </a:bodyPr>
          <a:lstStyle/>
          <a:p>
            <a:r>
              <a:rPr lang="en" sz="3500" dirty="0">
                <a:solidFill>
                  <a:schemeClr val="accent1"/>
                </a:solidFill>
              </a:rPr>
              <a:t>Dual Top-Module Architectures: Speed vs Resource Wrappers</a:t>
            </a:r>
          </a:p>
        </p:txBody>
      </p:sp>
      <p:grpSp>
        <p:nvGrpSpPr>
          <p:cNvPr id="83" name="top_speed_wrapper"/>
          <p:cNvGrpSpPr/>
          <p:nvPr/>
        </p:nvGrpSpPr>
        <p:grpSpPr>
          <a:xfrm>
            <a:off x="203199" y="2140726"/>
            <a:ext cx="11760199" cy="3545211"/>
            <a:chOff x="571500" y="1285875"/>
            <a:chExt cx="11049000" cy="2266950"/>
          </a:xfrm>
        </p:grpSpPr>
        <p:sp>
          <p:nvSpPr>
            <p:cNvPr id="84" name="Rectangle 7"/>
            <p:cNvSpPr/>
            <p:nvPr/>
          </p:nvSpPr>
          <p:spPr>
            <a:xfrm>
              <a:off x="571500" y="1285875"/>
              <a:ext cx="11049000" cy="2266950"/>
            </a:xfrm>
            <a:prstGeom prst="roundRect">
              <a:avLst>
                <a:gd name="adj" fmla="val 33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5" name="Rectangle 8"/>
            <p:cNvSpPr/>
            <p:nvPr/>
          </p:nvSpPr>
          <p:spPr>
            <a:xfrm>
              <a:off x="571500" y="1285875"/>
              <a:ext cx="11049000" cy="304800"/>
            </a:xfrm>
            <a:prstGeom prst="roundRect">
              <a:avLst>
                <a:gd name="adj" fmla="val 25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86" name="TextBox 9"/>
            <p:cNvSpPr txBox="1"/>
            <p:nvPr/>
          </p:nvSpPr>
          <p:spPr>
            <a:xfrm>
              <a:off x="709612" y="1398270"/>
              <a:ext cx="4796806" cy="1033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DESIGN A TOP MODULE: de2_temp_predictor_top.v (Streaming Packet Architecture)</a:t>
              </a:r>
            </a:p>
          </p:txBody>
        </p:sp>
        <p:sp>
          <p:nvSpPr>
            <p:cNvPr id="87" name="Rectangle 10"/>
            <p:cNvSpPr/>
            <p:nvPr/>
          </p:nvSpPr>
          <p:spPr>
            <a:xfrm>
              <a:off x="633640" y="1666875"/>
              <a:ext cx="1047750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88" name="TextBox 11"/>
            <p:cNvSpPr txBox="1"/>
            <p:nvPr/>
          </p:nvSpPr>
          <p:spPr>
            <a:xfrm>
              <a:off x="714375" y="1776412"/>
              <a:ext cx="897613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CLOCK &amp; RESET</a:t>
              </a:r>
            </a:p>
          </p:txBody>
        </p:sp>
        <p:sp>
          <p:nvSpPr>
            <p:cNvPr id="89" name="TextBox 12"/>
            <p:cNvSpPr txBox="1"/>
            <p:nvPr/>
          </p:nvSpPr>
          <p:spPr>
            <a:xfrm>
              <a:off x="709612" y="1975009"/>
              <a:ext cx="1033158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CLOCK_50 (50MHz)</a:t>
              </a:r>
            </a:p>
          </p:txBody>
        </p:sp>
        <p:sp>
          <p:nvSpPr>
            <p:cNvPr id="90" name="TextBox 13"/>
            <p:cNvSpPr txBox="1"/>
            <p:nvPr/>
          </p:nvSpPr>
          <p:spPr>
            <a:xfrm>
              <a:off x="709612" y="2136934"/>
              <a:ext cx="876528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KEY0_N (Button)</a:t>
              </a:r>
            </a:p>
          </p:txBody>
        </p:sp>
        <p:sp>
          <p:nvSpPr>
            <p:cNvPr id="91" name="Rectangle 14"/>
            <p:cNvSpPr/>
            <p:nvPr/>
          </p:nvSpPr>
          <p:spPr>
            <a:xfrm>
              <a:off x="701503" y="2340342"/>
              <a:ext cx="914400" cy="304800"/>
            </a:xfrm>
            <a:prstGeom prst="roundRect">
              <a:avLst>
                <a:gd name="adj" fmla="val 9375"/>
              </a:avLst>
            </a:prstGeom>
            <a:solidFill>
              <a:srgbClr val="EFF6FF"/>
            </a:solidFill>
            <a:ln w="9525">
              <a:solidFill>
                <a:srgbClr val="2563EB"/>
              </a:solidFill>
            </a:ln>
          </p:spPr>
        </p:sp>
        <p:sp>
          <p:nvSpPr>
            <p:cNvPr id="92" name="TextBox 15"/>
            <p:cNvSpPr txBox="1"/>
            <p:nvPr/>
          </p:nvSpPr>
          <p:spPr>
            <a:xfrm>
              <a:off x="911436" y="2401731"/>
              <a:ext cx="563267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reset_sync.v</a:t>
              </a:r>
            </a:p>
          </p:txBody>
        </p:sp>
        <p:sp>
          <p:nvSpPr>
            <p:cNvPr id="93" name="TextBox 16"/>
            <p:cNvSpPr txBox="1"/>
            <p:nvPr/>
          </p:nvSpPr>
          <p:spPr>
            <a:xfrm>
              <a:off x="956617" y="2506980"/>
              <a:ext cx="472903" cy="787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00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rst_n (Sync)</a:t>
              </a:r>
            </a:p>
          </p:txBody>
        </p:sp>
        <p:sp>
          <p:nvSpPr>
            <p:cNvPr id="94" name="Line 17"/>
            <p:cNvSpPr/>
            <p:nvPr/>
          </p:nvSpPr>
          <p:spPr>
            <a:xfrm>
              <a:off x="1698726" y="2191724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95" name="Rectangle 18"/>
            <p:cNvSpPr/>
            <p:nvPr/>
          </p:nvSpPr>
          <p:spPr>
            <a:xfrm>
              <a:off x="1905000" y="1666875"/>
              <a:ext cx="1095375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96" name="TextBox 19"/>
            <p:cNvSpPr txBox="1"/>
            <p:nvPr/>
          </p:nvSpPr>
          <p:spPr>
            <a:xfrm>
              <a:off x="1995488" y="1776412"/>
              <a:ext cx="906649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UART RECEIVER</a:t>
              </a:r>
            </a:p>
          </p:txBody>
        </p:sp>
        <p:sp>
          <p:nvSpPr>
            <p:cNvPr id="97" name="TextBox 20"/>
            <p:cNvSpPr txBox="1"/>
            <p:nvPr/>
          </p:nvSpPr>
          <p:spPr>
            <a:xfrm>
              <a:off x="1995488" y="1966912"/>
              <a:ext cx="436758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uart_rx.v</a:t>
              </a:r>
            </a:p>
          </p:txBody>
        </p:sp>
        <p:sp>
          <p:nvSpPr>
            <p:cNvPr id="98" name="TextBox 21"/>
            <p:cNvSpPr txBox="1"/>
            <p:nvPr/>
          </p:nvSpPr>
          <p:spPr>
            <a:xfrm>
              <a:off x="1995488" y="2136934"/>
              <a:ext cx="966891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115,200 Baud 8-N-1</a:t>
              </a:r>
            </a:p>
          </p:txBody>
        </p:sp>
        <p:sp>
          <p:nvSpPr>
            <p:cNvPr id="99" name="TextBox 22"/>
            <p:cNvSpPr txBox="1"/>
            <p:nvPr/>
          </p:nvSpPr>
          <p:spPr>
            <a:xfrm>
              <a:off x="1995488" y="2289334"/>
              <a:ext cx="884058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16× Oversampling</a:t>
              </a:r>
            </a:p>
          </p:txBody>
        </p:sp>
        <p:sp>
          <p:nvSpPr>
            <p:cNvPr id="100" name="TextBox 23"/>
            <p:cNvSpPr txBox="1"/>
            <p:nvPr/>
          </p:nvSpPr>
          <p:spPr>
            <a:xfrm>
              <a:off x="1995488" y="2517934"/>
              <a:ext cx="605436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rx_data [7:0]</a:t>
              </a:r>
            </a:p>
          </p:txBody>
        </p:sp>
        <p:sp>
          <p:nvSpPr>
            <p:cNvPr id="101" name="Line 24"/>
            <p:cNvSpPr/>
            <p:nvPr/>
          </p:nvSpPr>
          <p:spPr>
            <a:xfrm>
              <a:off x="3000375" y="21907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02" name="Rectangle 25"/>
            <p:cNvSpPr/>
            <p:nvPr/>
          </p:nvSpPr>
          <p:spPr>
            <a:xfrm>
              <a:off x="3143250" y="1666875"/>
              <a:ext cx="1381125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103" name="TextBox 26"/>
            <p:cNvSpPr txBox="1"/>
            <p:nvPr/>
          </p:nvSpPr>
          <p:spPr>
            <a:xfrm>
              <a:off x="3233738" y="1776412"/>
              <a:ext cx="858455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FRAME PARSER</a:t>
              </a:r>
            </a:p>
          </p:txBody>
        </p:sp>
        <p:sp>
          <p:nvSpPr>
            <p:cNvPr id="104" name="TextBox 27"/>
            <p:cNvSpPr txBox="1"/>
            <p:nvPr/>
          </p:nvSpPr>
          <p:spPr>
            <a:xfrm>
              <a:off x="3233738" y="1966912"/>
              <a:ext cx="743994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packet_parser.v</a:t>
              </a:r>
            </a:p>
          </p:txBody>
        </p:sp>
        <p:sp>
          <p:nvSpPr>
            <p:cNvPr id="105" name="TextBox 28"/>
            <p:cNvSpPr txBox="1"/>
            <p:nvPr/>
          </p:nvSpPr>
          <p:spPr>
            <a:xfrm>
              <a:off x="3233738" y="2136934"/>
              <a:ext cx="909661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Sync: AA 55 01 02</a:t>
              </a:r>
            </a:p>
          </p:txBody>
        </p:sp>
        <p:sp>
          <p:nvSpPr>
            <p:cNvPr id="106" name="TextBox 29"/>
            <p:cNvSpPr txBox="1"/>
            <p:nvPr/>
          </p:nvSpPr>
          <p:spPr>
            <a:xfrm>
              <a:off x="3233738" y="2289334"/>
              <a:ext cx="942794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Checksum validator</a:t>
              </a:r>
            </a:p>
          </p:txBody>
        </p:sp>
        <p:sp>
          <p:nvSpPr>
            <p:cNvPr id="107" name="TextBox 30"/>
            <p:cNvSpPr txBox="1"/>
            <p:nvPr/>
          </p:nvSpPr>
          <p:spPr>
            <a:xfrm>
              <a:off x="3233738" y="2517934"/>
              <a:ext cx="900625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parsed_temp [15:0]</a:t>
              </a:r>
            </a:p>
          </p:txBody>
        </p:sp>
        <p:sp>
          <p:nvSpPr>
            <p:cNvPr id="108" name="Line 31"/>
            <p:cNvSpPr/>
            <p:nvPr/>
          </p:nvSpPr>
          <p:spPr>
            <a:xfrm>
              <a:off x="4524375" y="21907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09" name="Rectangle 32"/>
            <p:cNvSpPr/>
            <p:nvPr/>
          </p:nvSpPr>
          <p:spPr>
            <a:xfrm>
              <a:off x="4667250" y="1619250"/>
              <a:ext cx="2143125" cy="1143000"/>
            </a:xfrm>
            <a:prstGeom prst="roundRect">
              <a:avLst>
                <a:gd name="adj" fmla="val 5000"/>
              </a:avLst>
            </a:prstGeom>
            <a:solidFill>
              <a:srgbClr val="EFF6FF"/>
            </a:solidFill>
            <a:ln w="19050">
              <a:solidFill>
                <a:srgbClr val="1E3A8A"/>
              </a:solidFill>
            </a:ln>
          </p:spPr>
        </p:sp>
        <p:sp>
          <p:nvSpPr>
            <p:cNvPr id="110" name="TextBox 33"/>
            <p:cNvSpPr txBox="1"/>
            <p:nvPr/>
          </p:nvSpPr>
          <p:spPr>
            <a:xfrm>
              <a:off x="4776788" y="1739741"/>
              <a:ext cx="1698837" cy="98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PREDICTOR PIPELINE CORE</a:t>
              </a:r>
            </a:p>
          </p:txBody>
        </p:sp>
        <p:sp>
          <p:nvSpPr>
            <p:cNvPr id="111" name="TextBox 34"/>
            <p:cNvSpPr txBox="1"/>
            <p:nvPr/>
          </p:nvSpPr>
          <p:spPr>
            <a:xfrm>
              <a:off x="4776788" y="1903095"/>
              <a:ext cx="1302743" cy="1033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temp_predictor_speed.v</a:t>
              </a:r>
            </a:p>
          </p:txBody>
        </p:sp>
        <p:sp>
          <p:nvSpPr>
            <p:cNvPr id="112" name="TextBox 35"/>
            <p:cNvSpPr txBox="1"/>
            <p:nvPr/>
          </p:nvSpPr>
          <p:spPr>
            <a:xfrm>
              <a:off x="4776788" y="2098834"/>
              <a:ext cx="1521122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25-Sample History Shift Register</a:t>
              </a:r>
            </a:p>
          </p:txBody>
        </p:sp>
        <p:sp>
          <p:nvSpPr>
            <p:cNvPr id="113" name="TextBox 36"/>
            <p:cNvSpPr txBox="1"/>
            <p:nvPr/>
          </p:nvSpPr>
          <p:spPr>
            <a:xfrm>
              <a:off x="4776788" y="2241709"/>
              <a:ext cx="1286177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6 Pipeline Stages (S0 to S5)</a:t>
              </a:r>
            </a:p>
          </p:txBody>
        </p:sp>
        <p:sp>
          <p:nvSpPr>
            <p:cNvPr id="114" name="TextBox 37"/>
            <p:cNvSpPr txBox="1"/>
            <p:nvPr/>
          </p:nvSpPr>
          <p:spPr>
            <a:xfrm>
              <a:off x="4776788" y="2384584"/>
              <a:ext cx="1634077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2 Dedicated 17×16 DSP Multipliers</a:t>
              </a:r>
            </a:p>
          </p:txBody>
        </p:sp>
        <p:sp>
          <p:nvSpPr>
            <p:cNvPr id="115" name="Rectangle 38"/>
            <p:cNvSpPr/>
            <p:nvPr/>
          </p:nvSpPr>
          <p:spPr>
            <a:xfrm>
              <a:off x="4762500" y="2533650"/>
              <a:ext cx="1952625" cy="1714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7620">
              <a:solidFill>
                <a:srgbClr val="2563EB"/>
              </a:solidFill>
            </a:ln>
          </p:spPr>
        </p:sp>
        <p:sp>
          <p:nvSpPr>
            <p:cNvPr id="116" name="TextBox 39"/>
            <p:cNvSpPr txBox="1"/>
            <p:nvPr/>
          </p:nvSpPr>
          <p:spPr>
            <a:xfrm>
              <a:off x="4834933" y="2584609"/>
              <a:ext cx="1798237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II = 1 | L = 5 Cycles (100 ns) | 142 MHz</a:t>
              </a:r>
            </a:p>
          </p:txBody>
        </p:sp>
        <p:sp>
          <p:nvSpPr>
            <p:cNvPr id="117" name="Line 40"/>
            <p:cNvSpPr/>
            <p:nvPr/>
          </p:nvSpPr>
          <p:spPr>
            <a:xfrm>
              <a:off x="6810375" y="21907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18" name="Rectangle 41"/>
            <p:cNvSpPr/>
            <p:nvPr/>
          </p:nvSpPr>
          <p:spPr>
            <a:xfrm>
              <a:off x="6953250" y="1666875"/>
              <a:ext cx="1381125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119" name="TextBox 42"/>
            <p:cNvSpPr txBox="1"/>
            <p:nvPr/>
          </p:nvSpPr>
          <p:spPr>
            <a:xfrm>
              <a:off x="7043738" y="1776412"/>
              <a:ext cx="1129546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FRAME FORMATTER</a:t>
              </a:r>
            </a:p>
          </p:txBody>
        </p:sp>
        <p:sp>
          <p:nvSpPr>
            <p:cNvPr id="120" name="TextBox 43"/>
            <p:cNvSpPr txBox="1"/>
            <p:nvPr/>
          </p:nvSpPr>
          <p:spPr>
            <a:xfrm>
              <a:off x="7043738" y="1966912"/>
              <a:ext cx="894601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packet_formatter.v</a:t>
              </a:r>
            </a:p>
          </p:txBody>
        </p:sp>
        <p:sp>
          <p:nvSpPr>
            <p:cNvPr id="121" name="TextBox 44"/>
            <p:cNvSpPr txBox="1"/>
            <p:nvPr/>
          </p:nvSpPr>
          <p:spPr>
            <a:xfrm>
              <a:off x="7043738" y="2136934"/>
              <a:ext cx="1006049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Header: AA 55 81 02</a:t>
              </a:r>
            </a:p>
          </p:txBody>
        </p:sp>
        <p:sp>
          <p:nvSpPr>
            <p:cNvPr id="122" name="TextBox 45"/>
            <p:cNvSpPr txBox="1"/>
            <p:nvPr/>
          </p:nvSpPr>
          <p:spPr>
            <a:xfrm>
              <a:off x="7043738" y="2289334"/>
              <a:ext cx="966891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Checksum generator</a:t>
              </a:r>
            </a:p>
          </p:txBody>
        </p:sp>
        <p:sp>
          <p:nvSpPr>
            <p:cNvPr id="123" name="TextBox 46"/>
            <p:cNvSpPr txBox="1"/>
            <p:nvPr/>
          </p:nvSpPr>
          <p:spPr>
            <a:xfrm>
              <a:off x="7043738" y="2517934"/>
              <a:ext cx="593388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tx_data [7:0]</a:t>
              </a:r>
            </a:p>
          </p:txBody>
        </p:sp>
        <p:sp>
          <p:nvSpPr>
            <p:cNvPr id="124" name="Line 47"/>
            <p:cNvSpPr/>
            <p:nvPr/>
          </p:nvSpPr>
          <p:spPr>
            <a:xfrm>
              <a:off x="8334375" y="21907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25" name="Rectangle 48"/>
            <p:cNvSpPr/>
            <p:nvPr/>
          </p:nvSpPr>
          <p:spPr>
            <a:xfrm>
              <a:off x="8477250" y="1666875"/>
              <a:ext cx="1095375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126" name="TextBox 49"/>
            <p:cNvSpPr txBox="1"/>
            <p:nvPr/>
          </p:nvSpPr>
          <p:spPr>
            <a:xfrm>
              <a:off x="8567738" y="1776412"/>
              <a:ext cx="1141594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UART TRANSMITTER</a:t>
              </a:r>
            </a:p>
          </p:txBody>
        </p:sp>
        <p:sp>
          <p:nvSpPr>
            <p:cNvPr id="127" name="TextBox 50"/>
            <p:cNvSpPr txBox="1"/>
            <p:nvPr/>
          </p:nvSpPr>
          <p:spPr>
            <a:xfrm>
              <a:off x="8567738" y="1966912"/>
              <a:ext cx="424709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uart_tx.v</a:t>
              </a:r>
            </a:p>
          </p:txBody>
        </p:sp>
        <p:sp>
          <p:nvSpPr>
            <p:cNvPr id="128" name="TextBox 51"/>
            <p:cNvSpPr txBox="1"/>
            <p:nvPr/>
          </p:nvSpPr>
          <p:spPr>
            <a:xfrm>
              <a:off x="8567738" y="2136934"/>
              <a:ext cx="966891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115,200 Baud 8-N-1</a:t>
              </a:r>
            </a:p>
          </p:txBody>
        </p:sp>
        <p:sp>
          <p:nvSpPr>
            <p:cNvPr id="129" name="TextBox 52"/>
            <p:cNvSpPr txBox="1"/>
            <p:nvPr/>
          </p:nvSpPr>
          <p:spPr>
            <a:xfrm>
              <a:off x="8567738" y="2289334"/>
              <a:ext cx="894601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Serializer / stop bit</a:t>
              </a:r>
            </a:p>
          </p:txBody>
        </p:sp>
        <p:sp>
          <p:nvSpPr>
            <p:cNvPr id="130" name="TextBox 53"/>
            <p:cNvSpPr txBox="1"/>
            <p:nvPr/>
          </p:nvSpPr>
          <p:spPr>
            <a:xfrm>
              <a:off x="8567738" y="2517934"/>
              <a:ext cx="774116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UART_TXD Pin</a:t>
              </a:r>
            </a:p>
          </p:txBody>
        </p:sp>
        <p:sp>
          <p:nvSpPr>
            <p:cNvPr id="131" name="Freeform 54"/>
            <p:cNvSpPr/>
            <p:nvPr/>
          </p:nvSpPr>
          <p:spPr>
            <a:xfrm>
              <a:off x="5734050" y="2190750"/>
              <a:ext cx="4076700" cy="714375"/>
            </a:xfrm>
            <a:custGeom>
              <a:avLst/>
              <a:gdLst/>
              <a:ahLst/>
              <a:cxnLst/>
              <a:rect l="l" t="t" r="r" b="b"/>
              <a:pathLst>
                <a:path w="4076700" h="714375">
                  <a:moveTo>
                    <a:pt x="0" y="571500"/>
                  </a:moveTo>
                  <a:lnTo>
                    <a:pt x="0" y="714375"/>
                  </a:lnTo>
                  <a:lnTo>
                    <a:pt x="3981450" y="714375"/>
                  </a:lnTo>
                  <a:lnTo>
                    <a:pt x="3981450" y="0"/>
                  </a:lnTo>
                  <a:lnTo>
                    <a:pt x="4076700" y="0"/>
                  </a:lnTo>
                </a:path>
              </a:pathLst>
            </a:custGeom>
            <a:noFill/>
            <a:ln w="11430">
              <a:solidFill>
                <a:srgbClr val="4F46E5"/>
              </a:solidFill>
              <a:prstDash val="sysDot"/>
            </a:ln>
          </p:spPr>
        </p:sp>
        <p:sp>
          <p:nvSpPr>
            <p:cNvPr id="132" name="Rectangle 55"/>
            <p:cNvSpPr/>
            <p:nvPr/>
          </p:nvSpPr>
          <p:spPr>
            <a:xfrm>
              <a:off x="9810750" y="1666875"/>
              <a:ext cx="1666875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133" name="TextBox 56"/>
            <p:cNvSpPr txBox="1"/>
            <p:nvPr/>
          </p:nvSpPr>
          <p:spPr>
            <a:xfrm>
              <a:off x="9901238" y="1776412"/>
              <a:ext cx="1421722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DE2 BOARD PERIPHERALS</a:t>
              </a:r>
            </a:p>
          </p:txBody>
        </p:sp>
        <p:sp>
          <p:nvSpPr>
            <p:cNvPr id="134" name="TextBox 57"/>
            <p:cNvSpPr txBox="1"/>
            <p:nvPr/>
          </p:nvSpPr>
          <p:spPr>
            <a:xfrm>
              <a:off x="9901238" y="1975009"/>
              <a:ext cx="1352443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4F46E5"/>
                </a:buClr>
                <a:buSzTx/>
                <a:buFontTx/>
                <a:buChar char="•"/>
              </a:pPr>
              <a:r>
                <a:rPr lang="en" sz="900" b="1" dirty="0">
                  <a:solidFill>
                    <a:srgbClr val="4F46E5"/>
                  </a:solidFill>
                  <a:latin typeface="+mj-lt"/>
                  <a:ea typeface="+mn-ea"/>
                  <a:cs typeface="+mn-cs"/>
                </a:rPr>
                <a:t>Double-Dabble Bin-to-BCD</a:t>
              </a:r>
            </a:p>
          </p:txBody>
        </p:sp>
        <p:sp>
          <p:nvSpPr>
            <p:cNvPr id="135" name="TextBox 58"/>
            <p:cNvSpPr txBox="1"/>
            <p:nvPr/>
          </p:nvSpPr>
          <p:spPr>
            <a:xfrm>
              <a:off x="9901238" y="2136934"/>
              <a:ext cx="1198824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HEX3..HEX0 7-Seg LED</a:t>
              </a:r>
            </a:p>
          </p:txBody>
        </p:sp>
        <p:sp>
          <p:nvSpPr>
            <p:cNvPr id="136" name="TextBox 59"/>
            <p:cNvSpPr txBox="1"/>
            <p:nvPr/>
          </p:nvSpPr>
          <p:spPr>
            <a:xfrm>
              <a:off x="9901238" y="2289334"/>
              <a:ext cx="1216897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LEDR status &amp; error flags</a:t>
              </a:r>
            </a:p>
          </p:txBody>
        </p:sp>
        <p:sp>
          <p:nvSpPr>
            <p:cNvPr id="137" name="Rectangle 60"/>
            <p:cNvSpPr/>
            <p:nvPr/>
          </p:nvSpPr>
          <p:spPr>
            <a:xfrm>
              <a:off x="9886950" y="2457450"/>
              <a:ext cx="1504950" cy="190500"/>
            </a:xfrm>
            <a:prstGeom prst="roundRect">
              <a:avLst>
                <a:gd name="adj" fmla="val 15000"/>
              </a:avLst>
            </a:prstGeom>
            <a:solidFill>
              <a:srgbClr val="F0FDF4"/>
            </a:solidFill>
            <a:ln w="7620">
              <a:solidFill>
                <a:srgbClr val="16A34A"/>
              </a:solidFill>
            </a:ln>
          </p:spPr>
        </p:sp>
        <p:sp>
          <p:nvSpPr>
            <p:cNvPr id="138" name="TextBox 61"/>
            <p:cNvSpPr txBox="1"/>
            <p:nvPr/>
          </p:nvSpPr>
          <p:spPr>
            <a:xfrm>
              <a:off x="10046789" y="2517934"/>
              <a:ext cx="1185270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Live: " 28.7°C" on Board</a:t>
              </a:r>
            </a:p>
          </p:txBody>
        </p:sp>
        <p:sp>
          <p:nvSpPr>
            <p:cNvPr id="139" name="Rectangle 62"/>
            <p:cNvSpPr/>
            <p:nvPr/>
          </p:nvSpPr>
          <p:spPr>
            <a:xfrm>
              <a:off x="714375" y="3095625"/>
              <a:ext cx="10763250" cy="333375"/>
            </a:xfrm>
            <a:prstGeom prst="roundRect">
              <a:avLst>
                <a:gd name="adj" fmla="val 11429"/>
              </a:avLst>
            </a:prstGeom>
            <a:solidFill>
              <a:srgbClr val="F1F5F9"/>
            </a:solidFill>
            <a:ln w="7620">
              <a:solidFill>
                <a:srgbClr val="E2E8F0"/>
              </a:solidFill>
            </a:ln>
          </p:spPr>
        </p:sp>
        <p:sp>
          <p:nvSpPr>
            <p:cNvPr id="140" name="TextBox 63"/>
            <p:cNvSpPr txBox="1"/>
            <p:nvPr/>
          </p:nvSpPr>
          <p:spPr>
            <a:xfrm>
              <a:off x="852488" y="3214688"/>
              <a:ext cx="1114485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Speed System Contract:</a:t>
              </a:r>
            </a:p>
          </p:txBody>
        </p:sp>
        <p:sp>
          <p:nvSpPr>
            <p:cNvPr id="141" name="TextBox 64"/>
            <p:cNvSpPr txBox="1"/>
            <p:nvPr/>
          </p:nvSpPr>
          <p:spPr>
            <a:xfrm>
              <a:off x="2185988" y="3214688"/>
              <a:ext cx="4706442" cy="8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Streaming parser framing (AA 55) • Zero backpressure bubbles • 50 MSps throughput @ 50 MHz • 412 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743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17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658348" y="1437131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84668" y="1052056"/>
            <a:ext cx="12107332" cy="890663"/>
          </a:xfrm>
        </p:spPr>
        <p:txBody>
          <a:bodyPr>
            <a:noAutofit/>
          </a:bodyPr>
          <a:lstStyle/>
          <a:p>
            <a:r>
              <a:rPr lang="en" sz="3500" dirty="0">
                <a:solidFill>
                  <a:schemeClr val="accent1"/>
                </a:solidFill>
              </a:rPr>
              <a:t>Dual Top-Module Architectures: Speed vs Resource Wrappers</a:t>
            </a:r>
          </a:p>
        </p:txBody>
      </p:sp>
      <p:grpSp>
        <p:nvGrpSpPr>
          <p:cNvPr id="65" name="top_resource_wrapper"/>
          <p:cNvGrpSpPr/>
          <p:nvPr/>
        </p:nvGrpSpPr>
        <p:grpSpPr>
          <a:xfrm>
            <a:off x="303305" y="1916906"/>
            <a:ext cx="11643162" cy="3552561"/>
            <a:chOff x="571500" y="3695700"/>
            <a:chExt cx="11049000" cy="2362200"/>
          </a:xfrm>
        </p:grpSpPr>
        <p:sp>
          <p:nvSpPr>
            <p:cNvPr id="66" name="Rectangle 66"/>
            <p:cNvSpPr/>
            <p:nvPr/>
          </p:nvSpPr>
          <p:spPr>
            <a:xfrm>
              <a:off x="571500" y="3695700"/>
              <a:ext cx="11049000" cy="236220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71500" y="3695700"/>
              <a:ext cx="11049000" cy="304800"/>
            </a:xfrm>
            <a:prstGeom prst="roundRect">
              <a:avLst>
                <a:gd name="adj" fmla="val 25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9612" y="3808095"/>
              <a:ext cx="4806992" cy="1023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DESIGN B TOP MODULE: top_temp_predictor_uart.v (Dual-FIFO Buffered Architecture)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14375" y="4095750"/>
              <a:ext cx="1047750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04862" y="4205288"/>
              <a:ext cx="692147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CLOCK &amp; POR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4862" y="4403884"/>
              <a:ext cx="934017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CLOCK_50 (50MHz)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4862" y="4565809"/>
              <a:ext cx="69670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UART_RX Pin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81050" y="4752975"/>
              <a:ext cx="914400" cy="304800"/>
            </a:xfrm>
            <a:prstGeom prst="roundRect">
              <a:avLst>
                <a:gd name="adj" fmla="val 9375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84572" y="4813459"/>
              <a:ext cx="707358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por_cnt (128 clk)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09308" y="4935855"/>
              <a:ext cx="457881" cy="71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2-FF rx_sync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1762125" y="46196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1905000" y="4095750"/>
              <a:ext cx="1047750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995488" y="4205288"/>
              <a:ext cx="813842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UART RECEIVER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995488" y="4395788"/>
              <a:ext cx="39094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uart_rx.v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995488" y="4565809"/>
              <a:ext cx="87469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115,200 Baud 8-N-1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995488" y="4718209"/>
              <a:ext cx="800152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16× Oversampling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995488" y="4946809"/>
              <a:ext cx="541547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rx_data [7:0]</a:t>
              </a:r>
            </a:p>
          </p:txBody>
        </p:sp>
        <p:sp>
          <p:nvSpPr>
            <p:cNvPr id="142" name="Line 83"/>
            <p:cNvSpPr/>
            <p:nvPr/>
          </p:nvSpPr>
          <p:spPr>
            <a:xfrm>
              <a:off x="2952750" y="46196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43" name="Rectangle 84"/>
            <p:cNvSpPr/>
            <p:nvPr/>
          </p:nvSpPr>
          <p:spPr>
            <a:xfrm>
              <a:off x="3095625" y="4095750"/>
              <a:ext cx="1143000" cy="1047750"/>
            </a:xfrm>
            <a:prstGeom prst="roundRect">
              <a:avLst>
                <a:gd name="adj" fmla="val 4545"/>
              </a:avLst>
            </a:prstGeom>
            <a:solidFill>
              <a:srgbClr val="FFFBEB"/>
            </a:solidFill>
            <a:ln w="11430">
              <a:solidFill>
                <a:srgbClr val="D97706"/>
              </a:solidFill>
            </a:ln>
          </p:spPr>
        </p:sp>
        <p:sp>
          <p:nvSpPr>
            <p:cNvPr id="144" name="TextBox 85"/>
            <p:cNvSpPr txBox="1"/>
            <p:nvPr/>
          </p:nvSpPr>
          <p:spPr>
            <a:xfrm>
              <a:off x="3186112" y="4205288"/>
              <a:ext cx="69670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RX FIFO (16×8)</a:t>
              </a:r>
            </a:p>
          </p:txBody>
        </p:sp>
        <p:sp>
          <p:nvSpPr>
            <p:cNvPr id="145" name="TextBox 86"/>
            <p:cNvSpPr txBox="1"/>
            <p:nvPr/>
          </p:nvSpPr>
          <p:spPr>
            <a:xfrm>
              <a:off x="3186112" y="4395788"/>
              <a:ext cx="53242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simple_fifo.v</a:t>
              </a:r>
            </a:p>
          </p:txBody>
        </p:sp>
        <p:sp>
          <p:nvSpPr>
            <p:cNvPr id="146" name="TextBox 87"/>
            <p:cNvSpPr txBox="1"/>
            <p:nvPr/>
          </p:nvSpPr>
          <p:spPr>
            <a:xfrm>
              <a:off x="3186112" y="4565809"/>
              <a:ext cx="97508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16-Byte Circular RAM</a:t>
              </a:r>
            </a:p>
          </p:txBody>
        </p:sp>
        <p:sp>
          <p:nvSpPr>
            <p:cNvPr id="147" name="TextBox 88"/>
            <p:cNvSpPr txBox="1"/>
            <p:nvPr/>
          </p:nvSpPr>
          <p:spPr>
            <a:xfrm>
              <a:off x="3186112" y="4718209"/>
              <a:ext cx="877733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Decouples host jitter</a:t>
              </a:r>
            </a:p>
          </p:txBody>
        </p:sp>
        <p:sp>
          <p:nvSpPr>
            <p:cNvPr id="148" name="TextBox 89"/>
            <p:cNvSpPr txBox="1"/>
            <p:nvPr/>
          </p:nvSpPr>
          <p:spPr>
            <a:xfrm>
              <a:off x="3186112" y="4946809"/>
              <a:ext cx="687582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dout, empty, full</a:t>
              </a:r>
            </a:p>
          </p:txBody>
        </p:sp>
        <p:sp>
          <p:nvSpPr>
            <p:cNvPr id="149" name="Line 90"/>
            <p:cNvSpPr/>
            <p:nvPr/>
          </p:nvSpPr>
          <p:spPr>
            <a:xfrm>
              <a:off x="4238625" y="46196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50" name="Rectangle 91"/>
            <p:cNvSpPr/>
            <p:nvPr/>
          </p:nvSpPr>
          <p:spPr>
            <a:xfrm>
              <a:off x="4381500" y="4095750"/>
              <a:ext cx="1524000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151" name="TextBox 92"/>
            <p:cNvSpPr txBox="1"/>
            <p:nvPr/>
          </p:nvSpPr>
          <p:spPr>
            <a:xfrm>
              <a:off x="4471988" y="4205288"/>
              <a:ext cx="993344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UART CONTROLLER</a:t>
              </a:r>
            </a:p>
          </p:txBody>
        </p:sp>
        <p:sp>
          <p:nvSpPr>
            <p:cNvPr id="152" name="TextBox 93"/>
            <p:cNvSpPr txBox="1"/>
            <p:nvPr/>
          </p:nvSpPr>
          <p:spPr>
            <a:xfrm>
              <a:off x="4471988" y="4395788"/>
              <a:ext cx="967483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temp_uart_controller.v</a:t>
              </a:r>
            </a:p>
          </p:txBody>
        </p:sp>
        <p:sp>
          <p:nvSpPr>
            <p:cNvPr id="153" name="TextBox 94"/>
            <p:cNvSpPr txBox="1"/>
            <p:nvPr/>
          </p:nvSpPr>
          <p:spPr>
            <a:xfrm>
              <a:off x="4471988" y="4565809"/>
              <a:ext cx="100095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2-Byte Delimiter Parser</a:t>
              </a:r>
            </a:p>
          </p:txBody>
        </p:sp>
        <p:sp>
          <p:nvSpPr>
            <p:cNvPr id="154" name="TextBox 95"/>
            <p:cNvSpPr txBox="1"/>
            <p:nvPr/>
          </p:nvSpPr>
          <p:spPr>
            <a:xfrm>
              <a:off x="4471988" y="4718209"/>
              <a:ext cx="807758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Handshake Arbiter</a:t>
              </a:r>
            </a:p>
          </p:txBody>
        </p:sp>
        <p:sp>
          <p:nvSpPr>
            <p:cNvPr id="155" name="TextBox 96"/>
            <p:cNvSpPr txBox="1"/>
            <p:nvPr/>
          </p:nvSpPr>
          <p:spPr>
            <a:xfrm>
              <a:off x="4471988" y="4946809"/>
              <a:ext cx="86100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sample_valid / ready</a:t>
              </a:r>
            </a:p>
          </p:txBody>
        </p:sp>
        <p:sp>
          <p:nvSpPr>
            <p:cNvPr id="156" name="Line 97"/>
            <p:cNvSpPr/>
            <p:nvPr/>
          </p:nvSpPr>
          <p:spPr>
            <a:xfrm>
              <a:off x="5905500" y="4572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7145">
              <a:solidFill>
                <a:srgbClr val="16A34A"/>
              </a:solidFill>
            </a:ln>
          </p:spPr>
        </p:sp>
        <p:sp>
          <p:nvSpPr>
            <p:cNvPr id="157" name="Line 98"/>
            <p:cNvSpPr/>
            <p:nvPr/>
          </p:nvSpPr>
          <p:spPr>
            <a:xfrm>
              <a:off x="5905500" y="46672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14287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158" name="Rectangle 99"/>
            <p:cNvSpPr/>
            <p:nvPr/>
          </p:nvSpPr>
          <p:spPr>
            <a:xfrm>
              <a:off x="6048375" y="4048125"/>
              <a:ext cx="2238375" cy="1143000"/>
            </a:xfrm>
            <a:prstGeom prst="roundRect">
              <a:avLst>
                <a:gd name="adj" fmla="val 5000"/>
              </a:avLst>
            </a:prstGeom>
            <a:solidFill>
              <a:srgbClr val="F0FDF4"/>
            </a:solidFill>
            <a:ln w="19050">
              <a:solidFill>
                <a:srgbClr val="16A34A"/>
              </a:solidFill>
            </a:ln>
          </p:spPr>
        </p:sp>
        <p:sp>
          <p:nvSpPr>
            <p:cNvPr id="159" name="TextBox 100"/>
            <p:cNvSpPr txBox="1"/>
            <p:nvPr/>
          </p:nvSpPr>
          <p:spPr>
            <a:xfrm>
              <a:off x="6157912" y="4168616"/>
              <a:ext cx="1487734" cy="920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TIME-MULTIPLEXED CORE</a:t>
              </a:r>
            </a:p>
          </p:txBody>
        </p:sp>
        <p:sp>
          <p:nvSpPr>
            <p:cNvPr id="160" name="TextBox 101"/>
            <p:cNvSpPr txBox="1"/>
            <p:nvPr/>
          </p:nvSpPr>
          <p:spPr>
            <a:xfrm>
              <a:off x="6157912" y="4331970"/>
              <a:ext cx="1414716" cy="1023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temp_predictor_resource.v</a:t>
              </a:r>
            </a:p>
          </p:txBody>
        </p:sp>
        <p:sp>
          <p:nvSpPr>
            <p:cNvPr id="161" name="TextBox 102"/>
            <p:cNvSpPr txBox="1"/>
            <p:nvPr/>
          </p:nvSpPr>
          <p:spPr>
            <a:xfrm>
              <a:off x="6157912" y="4527709"/>
              <a:ext cx="1311275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temp_history_buffer.v (25 taps)</a:t>
              </a:r>
            </a:p>
          </p:txBody>
        </p:sp>
        <p:sp>
          <p:nvSpPr>
            <p:cNvPr id="162" name="TextBox 103"/>
            <p:cNvSpPr txBox="1"/>
            <p:nvPr/>
          </p:nvSpPr>
          <p:spPr>
            <a:xfrm>
              <a:off x="6157912" y="4670584"/>
              <a:ext cx="1572921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ols_shared_datapath.v (1 Shared DSP)</a:t>
              </a:r>
            </a:p>
          </p:txBody>
        </p:sp>
        <p:sp>
          <p:nvSpPr>
            <p:cNvPr id="163" name="TextBox 104"/>
            <p:cNvSpPr txBox="1"/>
            <p:nvPr/>
          </p:nvSpPr>
          <p:spPr>
            <a:xfrm>
              <a:off x="6157912" y="4813459"/>
              <a:ext cx="1477085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10-State Sequential FSM Controller</a:t>
              </a:r>
            </a:p>
          </p:txBody>
        </p:sp>
        <p:sp>
          <p:nvSpPr>
            <p:cNvPr id="164" name="Rectangle 105"/>
            <p:cNvSpPr/>
            <p:nvPr/>
          </p:nvSpPr>
          <p:spPr>
            <a:xfrm>
              <a:off x="6143625" y="4962525"/>
              <a:ext cx="2047875" cy="1714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7620">
              <a:solidFill>
                <a:srgbClr val="16A34A"/>
              </a:solidFill>
            </a:ln>
          </p:spPr>
        </p:sp>
        <p:sp>
          <p:nvSpPr>
            <p:cNvPr id="165" name="TextBox 106"/>
            <p:cNvSpPr txBox="1"/>
            <p:nvPr/>
          </p:nvSpPr>
          <p:spPr>
            <a:xfrm>
              <a:off x="6276702" y="5013484"/>
              <a:ext cx="1772198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II = 10 | L = 9 Cycles (180 ns) | -42.7% LEs</a:t>
              </a:r>
            </a:p>
          </p:txBody>
        </p:sp>
        <p:sp>
          <p:nvSpPr>
            <p:cNvPr id="166" name="Freeform 107"/>
            <p:cNvSpPr/>
            <p:nvPr/>
          </p:nvSpPr>
          <p:spPr>
            <a:xfrm>
              <a:off x="5143500" y="3981450"/>
              <a:ext cx="3381375" cy="638175"/>
            </a:xfrm>
            <a:custGeom>
              <a:avLst/>
              <a:gdLst/>
              <a:ahLst/>
              <a:cxnLst/>
              <a:rect l="l" t="t" r="r" b="b"/>
              <a:pathLst>
                <a:path w="3381375" h="638175">
                  <a:moveTo>
                    <a:pt x="0" y="114300"/>
                  </a:moveTo>
                  <a:lnTo>
                    <a:pt x="0" y="0"/>
                  </a:lnTo>
                  <a:lnTo>
                    <a:pt x="3286125" y="0"/>
                  </a:lnTo>
                  <a:lnTo>
                    <a:pt x="3286125" y="638175"/>
                  </a:lnTo>
                  <a:lnTo>
                    <a:pt x="3381375" y="638175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67" name="Rectangle 108"/>
            <p:cNvSpPr/>
            <p:nvPr/>
          </p:nvSpPr>
          <p:spPr>
            <a:xfrm>
              <a:off x="8524875" y="4095750"/>
              <a:ext cx="1143000" cy="1047750"/>
            </a:xfrm>
            <a:prstGeom prst="roundRect">
              <a:avLst>
                <a:gd name="adj" fmla="val 4545"/>
              </a:avLst>
            </a:prstGeom>
            <a:solidFill>
              <a:srgbClr val="FFFBEB"/>
            </a:solidFill>
            <a:ln w="11430">
              <a:solidFill>
                <a:srgbClr val="D97706"/>
              </a:solidFill>
            </a:ln>
          </p:spPr>
        </p:sp>
        <p:sp>
          <p:nvSpPr>
            <p:cNvPr id="168" name="TextBox 109"/>
            <p:cNvSpPr txBox="1"/>
            <p:nvPr/>
          </p:nvSpPr>
          <p:spPr>
            <a:xfrm>
              <a:off x="8615362" y="4205288"/>
              <a:ext cx="686062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TX FIFO (16×8)</a:t>
              </a:r>
            </a:p>
          </p:txBody>
        </p:sp>
        <p:sp>
          <p:nvSpPr>
            <p:cNvPr id="169" name="TextBox 110"/>
            <p:cNvSpPr txBox="1"/>
            <p:nvPr/>
          </p:nvSpPr>
          <p:spPr>
            <a:xfrm>
              <a:off x="8615362" y="4395788"/>
              <a:ext cx="53242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simple_fifo.v</a:t>
              </a:r>
            </a:p>
          </p:txBody>
        </p:sp>
        <p:sp>
          <p:nvSpPr>
            <p:cNvPr id="170" name="TextBox 111"/>
            <p:cNvSpPr txBox="1"/>
            <p:nvPr/>
          </p:nvSpPr>
          <p:spPr>
            <a:xfrm>
              <a:off x="8615362" y="4565809"/>
              <a:ext cx="97508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16-Byte Circular RAM</a:t>
              </a:r>
            </a:p>
          </p:txBody>
        </p:sp>
        <p:sp>
          <p:nvSpPr>
            <p:cNvPr id="171" name="TextBox 112"/>
            <p:cNvSpPr txBox="1"/>
            <p:nvPr/>
          </p:nvSpPr>
          <p:spPr>
            <a:xfrm>
              <a:off x="8615362" y="4718209"/>
              <a:ext cx="905114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Queues Output Bytes</a:t>
              </a:r>
            </a:p>
          </p:txBody>
        </p:sp>
        <p:sp>
          <p:nvSpPr>
            <p:cNvPr id="172" name="TextBox 113"/>
            <p:cNvSpPr txBox="1"/>
            <p:nvPr/>
          </p:nvSpPr>
          <p:spPr>
            <a:xfrm>
              <a:off x="8615362" y="4946809"/>
              <a:ext cx="725613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din, wr_en, count</a:t>
              </a:r>
            </a:p>
          </p:txBody>
        </p:sp>
        <p:sp>
          <p:nvSpPr>
            <p:cNvPr id="173" name="Line 114"/>
            <p:cNvSpPr/>
            <p:nvPr/>
          </p:nvSpPr>
          <p:spPr>
            <a:xfrm>
              <a:off x="9667875" y="46196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74" name="Rectangle 115"/>
            <p:cNvSpPr/>
            <p:nvPr/>
          </p:nvSpPr>
          <p:spPr>
            <a:xfrm>
              <a:off x="9810750" y="4095750"/>
              <a:ext cx="1666875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175" name="TextBox 116"/>
            <p:cNvSpPr txBox="1"/>
            <p:nvPr/>
          </p:nvSpPr>
          <p:spPr>
            <a:xfrm>
              <a:off x="9901238" y="4205288"/>
              <a:ext cx="102528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UART TRANSMITTER</a:t>
              </a:r>
            </a:p>
          </p:txBody>
        </p:sp>
        <p:sp>
          <p:nvSpPr>
            <p:cNvPr id="176" name="TextBox 117"/>
            <p:cNvSpPr txBox="1"/>
            <p:nvPr/>
          </p:nvSpPr>
          <p:spPr>
            <a:xfrm>
              <a:off x="9901238" y="4395788"/>
              <a:ext cx="38030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uart_tx.v</a:t>
              </a:r>
            </a:p>
          </p:txBody>
        </p:sp>
        <p:sp>
          <p:nvSpPr>
            <p:cNvPr id="177" name="TextBox 118"/>
            <p:cNvSpPr txBox="1"/>
            <p:nvPr/>
          </p:nvSpPr>
          <p:spPr>
            <a:xfrm>
              <a:off x="9901238" y="4565809"/>
              <a:ext cx="1270203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115,200 Baud 8-N-1 Serializer</a:t>
              </a:r>
            </a:p>
          </p:txBody>
        </p:sp>
        <p:sp>
          <p:nvSpPr>
            <p:cNvPr id="178" name="TextBox 119"/>
            <p:cNvSpPr txBox="1"/>
            <p:nvPr/>
          </p:nvSpPr>
          <p:spPr>
            <a:xfrm>
              <a:off x="9901238" y="4718209"/>
              <a:ext cx="1181973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Automatic FIFO pop on idle</a:t>
              </a:r>
            </a:p>
          </p:txBody>
        </p:sp>
        <p:sp>
          <p:nvSpPr>
            <p:cNvPr id="179" name="Rectangle 120"/>
            <p:cNvSpPr/>
            <p:nvPr/>
          </p:nvSpPr>
          <p:spPr>
            <a:xfrm>
              <a:off x="9886950" y="4886325"/>
              <a:ext cx="1504950" cy="190500"/>
            </a:xfrm>
            <a:prstGeom prst="roundRect">
              <a:avLst>
                <a:gd name="adj" fmla="val 15000"/>
              </a:avLst>
            </a:prstGeom>
            <a:solidFill>
              <a:srgbClr val="F0FDF4"/>
            </a:solidFill>
            <a:ln w="7620">
              <a:solidFill>
                <a:srgbClr val="16A34A"/>
              </a:solidFill>
            </a:ln>
          </p:spPr>
        </p:sp>
        <p:sp>
          <p:nvSpPr>
            <p:cNvPr id="180" name="TextBox 121"/>
            <p:cNvSpPr txBox="1"/>
            <p:nvPr/>
          </p:nvSpPr>
          <p:spPr>
            <a:xfrm>
              <a:off x="10136670" y="4946809"/>
              <a:ext cx="1005512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Pin: UART_TX Output</a:t>
              </a:r>
            </a:p>
          </p:txBody>
        </p:sp>
        <p:sp>
          <p:nvSpPr>
            <p:cNvPr id="181" name="Rectangle 122"/>
            <p:cNvSpPr/>
            <p:nvPr/>
          </p:nvSpPr>
          <p:spPr>
            <a:xfrm>
              <a:off x="714375" y="5572125"/>
              <a:ext cx="10763250" cy="400050"/>
            </a:xfrm>
            <a:prstGeom prst="roundRect">
              <a:avLst>
                <a:gd name="adj" fmla="val 9524"/>
              </a:avLst>
            </a:prstGeom>
            <a:solidFill>
              <a:srgbClr val="F1F5F9"/>
            </a:solidFill>
            <a:ln w="7620">
              <a:solidFill>
                <a:srgbClr val="E2E8F0"/>
              </a:solidFill>
            </a:ln>
          </p:spPr>
        </p:sp>
        <p:sp>
          <p:nvSpPr>
            <p:cNvPr id="182" name="TextBox 123"/>
            <p:cNvSpPr txBox="1"/>
            <p:nvPr/>
          </p:nvSpPr>
          <p:spPr>
            <a:xfrm>
              <a:off x="852488" y="5681662"/>
              <a:ext cx="1130252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Resource System Contract:</a:t>
              </a:r>
            </a:p>
          </p:txBody>
        </p:sp>
        <p:sp>
          <p:nvSpPr>
            <p:cNvPr id="183" name="TextBox 124"/>
            <p:cNvSpPr txBox="1"/>
            <p:nvPr/>
          </p:nvSpPr>
          <p:spPr>
            <a:xfrm>
              <a:off x="2328862" y="5681662"/>
              <a:ext cx="472637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Dual 16-byte FIFO buffering • Autonomous UART controller FSM • 1 shared multiplier (-50% DSP) • 236 LEs (-42.7%)</a:t>
              </a:r>
            </a:p>
          </p:txBody>
        </p:sp>
        <p:sp>
          <p:nvSpPr>
            <p:cNvPr id="184" name="TextBox 125"/>
            <p:cNvSpPr txBox="1"/>
            <p:nvPr/>
          </p:nvSpPr>
          <p:spPr>
            <a:xfrm>
              <a:off x="852488" y="5832634"/>
              <a:ext cx="367521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8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Power-On-Reset counter (128 cycles) eliminates external reset pushbutton dependency.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5792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18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658348" y="1437131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84668" y="1052056"/>
            <a:ext cx="12107332" cy="890663"/>
          </a:xfrm>
        </p:spPr>
        <p:txBody>
          <a:bodyPr>
            <a:noAutofit/>
          </a:bodyPr>
          <a:lstStyle/>
          <a:p>
            <a:r>
              <a:rPr lang="en" sz="3600" dirty="0">
                <a:solidFill>
                  <a:schemeClr val="accent1"/>
                </a:solidFill>
              </a:rPr>
              <a:t>Closed-Loop SystemVerilog &amp; DPI-C Co-Simulation</a:t>
            </a:r>
          </a:p>
        </p:txBody>
      </p:sp>
      <p:grpSp>
        <p:nvGrpSpPr>
          <p:cNvPr id="65" name="top_resource_wrapper"/>
          <p:cNvGrpSpPr/>
          <p:nvPr/>
        </p:nvGrpSpPr>
        <p:grpSpPr>
          <a:xfrm>
            <a:off x="303305" y="1916906"/>
            <a:ext cx="11643162" cy="3552561"/>
            <a:chOff x="571500" y="3695700"/>
            <a:chExt cx="11049000" cy="2362200"/>
          </a:xfrm>
        </p:grpSpPr>
        <p:sp>
          <p:nvSpPr>
            <p:cNvPr id="66" name="Rectangle 66"/>
            <p:cNvSpPr/>
            <p:nvPr/>
          </p:nvSpPr>
          <p:spPr>
            <a:xfrm>
              <a:off x="571500" y="3695700"/>
              <a:ext cx="11049000" cy="236220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71500" y="3695700"/>
              <a:ext cx="11049000" cy="304800"/>
            </a:xfrm>
            <a:prstGeom prst="roundRect">
              <a:avLst>
                <a:gd name="adj" fmla="val 25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9612" y="3808095"/>
              <a:ext cx="4806992" cy="1023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DESIGN B TOP MODULE: top_temp_predictor_uart.v (Dual-FIFO Buffered Architecture)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14375" y="4095750"/>
              <a:ext cx="1047750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04862" y="4205288"/>
              <a:ext cx="692147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CLOCK &amp; POR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4862" y="4403884"/>
              <a:ext cx="934017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CLOCK_50 (50MHz)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4862" y="4565809"/>
              <a:ext cx="69670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UART_RX Pin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81050" y="4752975"/>
              <a:ext cx="914400" cy="304800"/>
            </a:xfrm>
            <a:prstGeom prst="roundRect">
              <a:avLst>
                <a:gd name="adj" fmla="val 9375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84572" y="4813459"/>
              <a:ext cx="707358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por_cnt (128 clk)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09308" y="4935855"/>
              <a:ext cx="457881" cy="71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2-FF rx_sync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1762125" y="46196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1905000" y="4095750"/>
              <a:ext cx="1047750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995488" y="4205288"/>
              <a:ext cx="813842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UART RECEIVER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995488" y="4395788"/>
              <a:ext cx="39094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uart_rx.v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995488" y="4565809"/>
              <a:ext cx="87469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115,200 Baud 8-N-1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995488" y="4718209"/>
              <a:ext cx="800152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16× Oversampling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995488" y="4946809"/>
              <a:ext cx="541547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rx_data [7:0]</a:t>
              </a:r>
            </a:p>
          </p:txBody>
        </p:sp>
        <p:sp>
          <p:nvSpPr>
            <p:cNvPr id="142" name="Line 83"/>
            <p:cNvSpPr/>
            <p:nvPr/>
          </p:nvSpPr>
          <p:spPr>
            <a:xfrm>
              <a:off x="2952750" y="46196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43" name="Rectangle 84"/>
            <p:cNvSpPr/>
            <p:nvPr/>
          </p:nvSpPr>
          <p:spPr>
            <a:xfrm>
              <a:off x="3095625" y="4095750"/>
              <a:ext cx="1143000" cy="1047750"/>
            </a:xfrm>
            <a:prstGeom prst="roundRect">
              <a:avLst>
                <a:gd name="adj" fmla="val 4545"/>
              </a:avLst>
            </a:prstGeom>
            <a:solidFill>
              <a:srgbClr val="FFFBEB"/>
            </a:solidFill>
            <a:ln w="11430">
              <a:solidFill>
                <a:srgbClr val="D97706"/>
              </a:solidFill>
            </a:ln>
          </p:spPr>
        </p:sp>
        <p:sp>
          <p:nvSpPr>
            <p:cNvPr id="144" name="TextBox 85"/>
            <p:cNvSpPr txBox="1"/>
            <p:nvPr/>
          </p:nvSpPr>
          <p:spPr>
            <a:xfrm>
              <a:off x="3186112" y="4205288"/>
              <a:ext cx="69670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RX FIFO (16×8)</a:t>
              </a:r>
            </a:p>
          </p:txBody>
        </p:sp>
        <p:sp>
          <p:nvSpPr>
            <p:cNvPr id="145" name="TextBox 86"/>
            <p:cNvSpPr txBox="1"/>
            <p:nvPr/>
          </p:nvSpPr>
          <p:spPr>
            <a:xfrm>
              <a:off x="3186112" y="4395788"/>
              <a:ext cx="53242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simple_fifo.v</a:t>
              </a:r>
            </a:p>
          </p:txBody>
        </p:sp>
        <p:sp>
          <p:nvSpPr>
            <p:cNvPr id="146" name="TextBox 87"/>
            <p:cNvSpPr txBox="1"/>
            <p:nvPr/>
          </p:nvSpPr>
          <p:spPr>
            <a:xfrm>
              <a:off x="3186112" y="4565809"/>
              <a:ext cx="97508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16-Byte Circular RAM</a:t>
              </a:r>
            </a:p>
          </p:txBody>
        </p:sp>
        <p:sp>
          <p:nvSpPr>
            <p:cNvPr id="147" name="TextBox 88"/>
            <p:cNvSpPr txBox="1"/>
            <p:nvPr/>
          </p:nvSpPr>
          <p:spPr>
            <a:xfrm>
              <a:off x="3186112" y="4718209"/>
              <a:ext cx="877733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Decouples host jitter</a:t>
              </a:r>
            </a:p>
          </p:txBody>
        </p:sp>
        <p:sp>
          <p:nvSpPr>
            <p:cNvPr id="148" name="TextBox 89"/>
            <p:cNvSpPr txBox="1"/>
            <p:nvPr/>
          </p:nvSpPr>
          <p:spPr>
            <a:xfrm>
              <a:off x="3186112" y="4946809"/>
              <a:ext cx="687582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dout, empty, full</a:t>
              </a:r>
            </a:p>
          </p:txBody>
        </p:sp>
        <p:sp>
          <p:nvSpPr>
            <p:cNvPr id="149" name="Line 90"/>
            <p:cNvSpPr/>
            <p:nvPr/>
          </p:nvSpPr>
          <p:spPr>
            <a:xfrm>
              <a:off x="4238625" y="46196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50" name="Rectangle 91"/>
            <p:cNvSpPr/>
            <p:nvPr/>
          </p:nvSpPr>
          <p:spPr>
            <a:xfrm>
              <a:off x="4381500" y="4095750"/>
              <a:ext cx="1524000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151" name="TextBox 92"/>
            <p:cNvSpPr txBox="1"/>
            <p:nvPr/>
          </p:nvSpPr>
          <p:spPr>
            <a:xfrm>
              <a:off x="4471988" y="4205288"/>
              <a:ext cx="993344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UART CONTROLLER</a:t>
              </a:r>
            </a:p>
          </p:txBody>
        </p:sp>
        <p:sp>
          <p:nvSpPr>
            <p:cNvPr id="152" name="TextBox 93"/>
            <p:cNvSpPr txBox="1"/>
            <p:nvPr/>
          </p:nvSpPr>
          <p:spPr>
            <a:xfrm>
              <a:off x="4471988" y="4395788"/>
              <a:ext cx="967483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temp_uart_controller.v</a:t>
              </a:r>
            </a:p>
          </p:txBody>
        </p:sp>
        <p:sp>
          <p:nvSpPr>
            <p:cNvPr id="153" name="TextBox 94"/>
            <p:cNvSpPr txBox="1"/>
            <p:nvPr/>
          </p:nvSpPr>
          <p:spPr>
            <a:xfrm>
              <a:off x="4471988" y="4565809"/>
              <a:ext cx="100095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2-Byte Delimiter Parser</a:t>
              </a:r>
            </a:p>
          </p:txBody>
        </p:sp>
        <p:sp>
          <p:nvSpPr>
            <p:cNvPr id="154" name="TextBox 95"/>
            <p:cNvSpPr txBox="1"/>
            <p:nvPr/>
          </p:nvSpPr>
          <p:spPr>
            <a:xfrm>
              <a:off x="4471988" y="4718209"/>
              <a:ext cx="807758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Handshake Arbiter</a:t>
              </a:r>
            </a:p>
          </p:txBody>
        </p:sp>
        <p:sp>
          <p:nvSpPr>
            <p:cNvPr id="155" name="TextBox 96"/>
            <p:cNvSpPr txBox="1"/>
            <p:nvPr/>
          </p:nvSpPr>
          <p:spPr>
            <a:xfrm>
              <a:off x="4471988" y="4946809"/>
              <a:ext cx="86100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sample_valid / ready</a:t>
              </a:r>
            </a:p>
          </p:txBody>
        </p:sp>
        <p:sp>
          <p:nvSpPr>
            <p:cNvPr id="156" name="Line 97"/>
            <p:cNvSpPr/>
            <p:nvPr/>
          </p:nvSpPr>
          <p:spPr>
            <a:xfrm>
              <a:off x="5905500" y="4572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7145">
              <a:solidFill>
                <a:srgbClr val="16A34A"/>
              </a:solidFill>
            </a:ln>
          </p:spPr>
        </p:sp>
        <p:sp>
          <p:nvSpPr>
            <p:cNvPr id="157" name="Line 98"/>
            <p:cNvSpPr/>
            <p:nvPr/>
          </p:nvSpPr>
          <p:spPr>
            <a:xfrm>
              <a:off x="5905500" y="46672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14287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563EB"/>
              </a:solidFill>
            </a:ln>
          </p:spPr>
        </p:sp>
        <p:sp>
          <p:nvSpPr>
            <p:cNvPr id="158" name="Rectangle 99"/>
            <p:cNvSpPr/>
            <p:nvPr/>
          </p:nvSpPr>
          <p:spPr>
            <a:xfrm>
              <a:off x="6048375" y="4048125"/>
              <a:ext cx="2238375" cy="1143000"/>
            </a:xfrm>
            <a:prstGeom prst="roundRect">
              <a:avLst>
                <a:gd name="adj" fmla="val 5000"/>
              </a:avLst>
            </a:prstGeom>
            <a:solidFill>
              <a:srgbClr val="F0FDF4"/>
            </a:solidFill>
            <a:ln w="19050">
              <a:solidFill>
                <a:srgbClr val="16A34A"/>
              </a:solidFill>
            </a:ln>
          </p:spPr>
        </p:sp>
        <p:sp>
          <p:nvSpPr>
            <p:cNvPr id="159" name="TextBox 100"/>
            <p:cNvSpPr txBox="1"/>
            <p:nvPr/>
          </p:nvSpPr>
          <p:spPr>
            <a:xfrm>
              <a:off x="6157912" y="4168616"/>
              <a:ext cx="1487734" cy="920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TIME-MULTIPLEXED CORE</a:t>
              </a:r>
            </a:p>
          </p:txBody>
        </p:sp>
        <p:sp>
          <p:nvSpPr>
            <p:cNvPr id="160" name="TextBox 101"/>
            <p:cNvSpPr txBox="1"/>
            <p:nvPr/>
          </p:nvSpPr>
          <p:spPr>
            <a:xfrm>
              <a:off x="6157912" y="4331970"/>
              <a:ext cx="1414716" cy="1023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temp_predictor_resource.v</a:t>
              </a:r>
            </a:p>
          </p:txBody>
        </p:sp>
        <p:sp>
          <p:nvSpPr>
            <p:cNvPr id="161" name="TextBox 102"/>
            <p:cNvSpPr txBox="1"/>
            <p:nvPr/>
          </p:nvSpPr>
          <p:spPr>
            <a:xfrm>
              <a:off x="6157912" y="4527709"/>
              <a:ext cx="1311275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temp_history_buffer.v (25 taps)</a:t>
              </a:r>
            </a:p>
          </p:txBody>
        </p:sp>
        <p:sp>
          <p:nvSpPr>
            <p:cNvPr id="162" name="TextBox 103"/>
            <p:cNvSpPr txBox="1"/>
            <p:nvPr/>
          </p:nvSpPr>
          <p:spPr>
            <a:xfrm>
              <a:off x="6157912" y="4670584"/>
              <a:ext cx="1572921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ols_shared_datapath.v (1 Shared DSP)</a:t>
              </a:r>
            </a:p>
          </p:txBody>
        </p:sp>
        <p:sp>
          <p:nvSpPr>
            <p:cNvPr id="163" name="TextBox 104"/>
            <p:cNvSpPr txBox="1"/>
            <p:nvPr/>
          </p:nvSpPr>
          <p:spPr>
            <a:xfrm>
              <a:off x="6157912" y="4813459"/>
              <a:ext cx="1477085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10-State Sequential FSM Controller</a:t>
              </a:r>
            </a:p>
          </p:txBody>
        </p:sp>
        <p:sp>
          <p:nvSpPr>
            <p:cNvPr id="164" name="Rectangle 105"/>
            <p:cNvSpPr/>
            <p:nvPr/>
          </p:nvSpPr>
          <p:spPr>
            <a:xfrm>
              <a:off x="6143625" y="4962525"/>
              <a:ext cx="2047875" cy="1714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7620">
              <a:solidFill>
                <a:srgbClr val="16A34A"/>
              </a:solidFill>
            </a:ln>
          </p:spPr>
        </p:sp>
        <p:sp>
          <p:nvSpPr>
            <p:cNvPr id="165" name="TextBox 106"/>
            <p:cNvSpPr txBox="1"/>
            <p:nvPr/>
          </p:nvSpPr>
          <p:spPr>
            <a:xfrm>
              <a:off x="6276702" y="5013484"/>
              <a:ext cx="1772198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II = 10 | L = 9 Cycles (180 ns) | -42.7% LEs</a:t>
              </a:r>
            </a:p>
          </p:txBody>
        </p:sp>
        <p:sp>
          <p:nvSpPr>
            <p:cNvPr id="166" name="Freeform 107"/>
            <p:cNvSpPr/>
            <p:nvPr/>
          </p:nvSpPr>
          <p:spPr>
            <a:xfrm>
              <a:off x="5143500" y="3981450"/>
              <a:ext cx="3381375" cy="638175"/>
            </a:xfrm>
            <a:custGeom>
              <a:avLst/>
              <a:gdLst/>
              <a:ahLst/>
              <a:cxnLst/>
              <a:rect l="l" t="t" r="r" b="b"/>
              <a:pathLst>
                <a:path w="3381375" h="638175">
                  <a:moveTo>
                    <a:pt x="0" y="114300"/>
                  </a:moveTo>
                  <a:lnTo>
                    <a:pt x="0" y="0"/>
                  </a:lnTo>
                  <a:lnTo>
                    <a:pt x="3286125" y="0"/>
                  </a:lnTo>
                  <a:lnTo>
                    <a:pt x="3286125" y="638175"/>
                  </a:lnTo>
                  <a:lnTo>
                    <a:pt x="3381375" y="638175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67" name="Rectangle 108"/>
            <p:cNvSpPr/>
            <p:nvPr/>
          </p:nvSpPr>
          <p:spPr>
            <a:xfrm>
              <a:off x="8524875" y="4095750"/>
              <a:ext cx="1143000" cy="1047750"/>
            </a:xfrm>
            <a:prstGeom prst="roundRect">
              <a:avLst>
                <a:gd name="adj" fmla="val 4545"/>
              </a:avLst>
            </a:prstGeom>
            <a:solidFill>
              <a:srgbClr val="FFFBEB"/>
            </a:solidFill>
            <a:ln w="11430">
              <a:solidFill>
                <a:srgbClr val="D97706"/>
              </a:solidFill>
            </a:ln>
          </p:spPr>
        </p:sp>
        <p:sp>
          <p:nvSpPr>
            <p:cNvPr id="168" name="TextBox 109"/>
            <p:cNvSpPr txBox="1"/>
            <p:nvPr/>
          </p:nvSpPr>
          <p:spPr>
            <a:xfrm>
              <a:off x="8615362" y="4205288"/>
              <a:ext cx="686062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TX FIFO (16×8)</a:t>
              </a:r>
            </a:p>
          </p:txBody>
        </p:sp>
        <p:sp>
          <p:nvSpPr>
            <p:cNvPr id="169" name="TextBox 110"/>
            <p:cNvSpPr txBox="1"/>
            <p:nvPr/>
          </p:nvSpPr>
          <p:spPr>
            <a:xfrm>
              <a:off x="8615362" y="4395788"/>
              <a:ext cx="53242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simple_fifo.v</a:t>
              </a:r>
            </a:p>
          </p:txBody>
        </p:sp>
        <p:sp>
          <p:nvSpPr>
            <p:cNvPr id="170" name="TextBox 111"/>
            <p:cNvSpPr txBox="1"/>
            <p:nvPr/>
          </p:nvSpPr>
          <p:spPr>
            <a:xfrm>
              <a:off x="8615362" y="4565809"/>
              <a:ext cx="97508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16-Byte Circular RAM</a:t>
              </a:r>
            </a:p>
          </p:txBody>
        </p:sp>
        <p:sp>
          <p:nvSpPr>
            <p:cNvPr id="171" name="TextBox 112"/>
            <p:cNvSpPr txBox="1"/>
            <p:nvPr/>
          </p:nvSpPr>
          <p:spPr>
            <a:xfrm>
              <a:off x="8615362" y="4718209"/>
              <a:ext cx="905114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Queues Output Bytes</a:t>
              </a:r>
            </a:p>
          </p:txBody>
        </p:sp>
        <p:sp>
          <p:nvSpPr>
            <p:cNvPr id="172" name="TextBox 113"/>
            <p:cNvSpPr txBox="1"/>
            <p:nvPr/>
          </p:nvSpPr>
          <p:spPr>
            <a:xfrm>
              <a:off x="8615362" y="4946809"/>
              <a:ext cx="725613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D97706"/>
                  </a:solidFill>
                  <a:latin typeface="+mj-lt"/>
                  <a:ea typeface="+mn-ea"/>
                  <a:cs typeface="+mn-cs"/>
                </a:rPr>
                <a:t>din, wr_en, count</a:t>
              </a:r>
            </a:p>
          </p:txBody>
        </p:sp>
        <p:sp>
          <p:nvSpPr>
            <p:cNvPr id="173" name="Line 114"/>
            <p:cNvSpPr/>
            <p:nvPr/>
          </p:nvSpPr>
          <p:spPr>
            <a:xfrm>
              <a:off x="9667875" y="46196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74" name="Rectangle 115"/>
            <p:cNvSpPr/>
            <p:nvPr/>
          </p:nvSpPr>
          <p:spPr>
            <a:xfrm>
              <a:off x="9810750" y="4095750"/>
              <a:ext cx="1666875" cy="1047750"/>
            </a:xfrm>
            <a:prstGeom prst="roundRect">
              <a:avLst>
                <a:gd name="adj" fmla="val 4545"/>
              </a:avLst>
            </a:prstGeom>
            <a:solidFill>
              <a:srgbClr val="F8FAFC"/>
            </a:solidFill>
            <a:ln w="11430">
              <a:solidFill>
                <a:srgbClr val="E2E8F0"/>
              </a:solidFill>
            </a:ln>
          </p:spPr>
        </p:sp>
        <p:sp>
          <p:nvSpPr>
            <p:cNvPr id="175" name="TextBox 116"/>
            <p:cNvSpPr txBox="1"/>
            <p:nvPr/>
          </p:nvSpPr>
          <p:spPr>
            <a:xfrm>
              <a:off x="9901238" y="4205288"/>
              <a:ext cx="102528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UART TRANSMITTER</a:t>
              </a:r>
            </a:p>
          </p:txBody>
        </p:sp>
        <p:sp>
          <p:nvSpPr>
            <p:cNvPr id="176" name="TextBox 117"/>
            <p:cNvSpPr txBox="1"/>
            <p:nvPr/>
          </p:nvSpPr>
          <p:spPr>
            <a:xfrm>
              <a:off x="9901238" y="4395788"/>
              <a:ext cx="38030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uart_tx.v</a:t>
              </a:r>
            </a:p>
          </p:txBody>
        </p:sp>
        <p:sp>
          <p:nvSpPr>
            <p:cNvPr id="177" name="TextBox 118"/>
            <p:cNvSpPr txBox="1"/>
            <p:nvPr/>
          </p:nvSpPr>
          <p:spPr>
            <a:xfrm>
              <a:off x="9901238" y="4565809"/>
              <a:ext cx="1270203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115,200 Baud 8-N-1 Serializer</a:t>
              </a:r>
            </a:p>
          </p:txBody>
        </p:sp>
        <p:sp>
          <p:nvSpPr>
            <p:cNvPr id="178" name="TextBox 119"/>
            <p:cNvSpPr txBox="1"/>
            <p:nvPr/>
          </p:nvSpPr>
          <p:spPr>
            <a:xfrm>
              <a:off x="9901238" y="4718209"/>
              <a:ext cx="1181973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Automatic FIFO pop on idle</a:t>
              </a:r>
            </a:p>
          </p:txBody>
        </p:sp>
        <p:sp>
          <p:nvSpPr>
            <p:cNvPr id="179" name="Rectangle 120"/>
            <p:cNvSpPr/>
            <p:nvPr/>
          </p:nvSpPr>
          <p:spPr>
            <a:xfrm>
              <a:off x="9886950" y="4886325"/>
              <a:ext cx="1504950" cy="190500"/>
            </a:xfrm>
            <a:prstGeom prst="roundRect">
              <a:avLst>
                <a:gd name="adj" fmla="val 15000"/>
              </a:avLst>
            </a:prstGeom>
            <a:solidFill>
              <a:srgbClr val="F0FDF4"/>
            </a:solidFill>
            <a:ln w="7620">
              <a:solidFill>
                <a:srgbClr val="16A34A"/>
              </a:solidFill>
            </a:ln>
          </p:spPr>
        </p:sp>
        <p:sp>
          <p:nvSpPr>
            <p:cNvPr id="180" name="TextBox 121"/>
            <p:cNvSpPr txBox="1"/>
            <p:nvPr/>
          </p:nvSpPr>
          <p:spPr>
            <a:xfrm>
              <a:off x="10136670" y="4946809"/>
              <a:ext cx="1005512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Pin: UART_TX Output</a:t>
              </a:r>
            </a:p>
          </p:txBody>
        </p:sp>
        <p:sp>
          <p:nvSpPr>
            <p:cNvPr id="181" name="Rectangle 122"/>
            <p:cNvSpPr/>
            <p:nvPr/>
          </p:nvSpPr>
          <p:spPr>
            <a:xfrm>
              <a:off x="714375" y="5572125"/>
              <a:ext cx="10763250" cy="400050"/>
            </a:xfrm>
            <a:prstGeom prst="roundRect">
              <a:avLst>
                <a:gd name="adj" fmla="val 9524"/>
              </a:avLst>
            </a:prstGeom>
            <a:solidFill>
              <a:srgbClr val="F1F5F9"/>
            </a:solidFill>
            <a:ln w="7620">
              <a:solidFill>
                <a:srgbClr val="E2E8F0"/>
              </a:solidFill>
            </a:ln>
          </p:spPr>
        </p:sp>
        <p:sp>
          <p:nvSpPr>
            <p:cNvPr id="182" name="TextBox 123"/>
            <p:cNvSpPr txBox="1"/>
            <p:nvPr/>
          </p:nvSpPr>
          <p:spPr>
            <a:xfrm>
              <a:off x="852488" y="5681662"/>
              <a:ext cx="1130252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Resource System Contract:</a:t>
              </a:r>
            </a:p>
          </p:txBody>
        </p:sp>
        <p:sp>
          <p:nvSpPr>
            <p:cNvPr id="183" name="TextBox 124"/>
            <p:cNvSpPr txBox="1"/>
            <p:nvPr/>
          </p:nvSpPr>
          <p:spPr>
            <a:xfrm>
              <a:off x="2328862" y="5681662"/>
              <a:ext cx="4726370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Dual 16-byte FIFO buffering • Autonomous UART controller FSM • 1 shared multiplier (-50% DSP) • 236 LEs (-42.7%)</a:t>
              </a:r>
            </a:p>
          </p:txBody>
        </p:sp>
        <p:sp>
          <p:nvSpPr>
            <p:cNvPr id="184" name="TextBox 125"/>
            <p:cNvSpPr txBox="1"/>
            <p:nvPr/>
          </p:nvSpPr>
          <p:spPr>
            <a:xfrm>
              <a:off x="852488" y="5832634"/>
              <a:ext cx="3675219" cy="8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8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Power-On-Reset counter (128 cycles) eliminates external reset pushbutton dependency.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234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19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658348" y="1437131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84668" y="1036994"/>
            <a:ext cx="12107332" cy="890663"/>
          </a:xfrm>
        </p:spPr>
        <p:txBody>
          <a:bodyPr>
            <a:noAutofit/>
          </a:bodyPr>
          <a:lstStyle/>
          <a:p>
            <a:r>
              <a:rPr lang="en" sz="3600" dirty="0">
                <a:solidFill>
                  <a:schemeClr val="accent1"/>
                </a:solidFill>
              </a:rPr>
              <a:t>Verification Coverage &amp; Edge Corner-Case Analysis</a:t>
            </a:r>
          </a:p>
        </p:txBody>
      </p:sp>
      <p:grpSp>
        <p:nvGrpSpPr>
          <p:cNvPr id="83" name="tbl_corners"/>
          <p:cNvGrpSpPr/>
          <p:nvPr/>
        </p:nvGrpSpPr>
        <p:grpSpPr>
          <a:xfrm>
            <a:off x="338793" y="1800225"/>
            <a:ext cx="11049000" cy="4762500"/>
            <a:chOff x="571500" y="1285875"/>
            <a:chExt cx="11049000" cy="4762500"/>
          </a:xfrm>
        </p:grpSpPr>
        <p:sp>
          <p:nvSpPr>
            <p:cNvPr id="84" name="Rectangle 7"/>
            <p:cNvSpPr/>
            <p:nvPr/>
          </p:nvSpPr>
          <p:spPr>
            <a:xfrm>
              <a:off x="571500" y="1285875"/>
              <a:ext cx="110490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5" name="Rectangle 8"/>
            <p:cNvSpPr/>
            <p:nvPr/>
          </p:nvSpPr>
          <p:spPr>
            <a:xfrm>
              <a:off x="571500" y="1285875"/>
              <a:ext cx="1104900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86" name="TextBox 9"/>
            <p:cNvSpPr txBox="1"/>
            <p:nvPr/>
          </p:nvSpPr>
          <p:spPr>
            <a:xfrm>
              <a:off x="756666" y="1429702"/>
              <a:ext cx="475931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SYSTEMVERILOG CORNER-CASE REGRESSION SUITE</a:t>
              </a:r>
            </a:p>
          </p:txBody>
        </p:sp>
        <p:sp>
          <p:nvSpPr>
            <p:cNvPr id="87" name="Rectangle 10"/>
            <p:cNvSpPr/>
            <p:nvPr/>
          </p:nvSpPr>
          <p:spPr>
            <a:xfrm>
              <a:off x="762000" y="1857375"/>
              <a:ext cx="10668000" cy="304800"/>
            </a:xfrm>
            <a:prstGeom prst="roundRect">
              <a:avLst>
                <a:gd name="adj" fmla="val 125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88" name="TextBox 11"/>
            <p:cNvSpPr txBox="1"/>
            <p:nvPr/>
          </p:nvSpPr>
          <p:spPr>
            <a:xfrm>
              <a:off x="900112" y="1960245"/>
              <a:ext cx="149560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Corner Case Description</a:t>
              </a:r>
            </a:p>
          </p:txBody>
        </p:sp>
        <p:sp>
          <p:nvSpPr>
            <p:cNvPr id="89" name="TextBox 12"/>
            <p:cNvSpPr txBox="1"/>
            <p:nvPr/>
          </p:nvSpPr>
          <p:spPr>
            <a:xfrm>
              <a:off x="4186238" y="1960245"/>
              <a:ext cx="97302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Stimulus Vector</a:t>
              </a:r>
            </a:p>
          </p:txBody>
        </p:sp>
        <p:sp>
          <p:nvSpPr>
            <p:cNvPr id="90" name="TextBox 13"/>
            <p:cNvSpPr txBox="1"/>
            <p:nvPr/>
          </p:nvSpPr>
          <p:spPr>
            <a:xfrm>
              <a:off x="7043738" y="1960245"/>
              <a:ext cx="145552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Hardware Stress Target</a:t>
              </a:r>
            </a:p>
          </p:txBody>
        </p:sp>
        <p:sp>
          <p:nvSpPr>
            <p:cNvPr id="91" name="TextBox 14"/>
            <p:cNvSpPr txBox="1"/>
            <p:nvPr/>
          </p:nvSpPr>
          <p:spPr>
            <a:xfrm>
              <a:off x="9996488" y="1960245"/>
              <a:ext cx="110767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Scoreboard Status</a:t>
              </a:r>
            </a:p>
          </p:txBody>
        </p:sp>
        <p:sp>
          <p:nvSpPr>
            <p:cNvPr id="92" name="Rectangle 15"/>
            <p:cNvSpPr/>
            <p:nvPr/>
          </p:nvSpPr>
          <p:spPr>
            <a:xfrm>
              <a:off x="762000" y="2238375"/>
              <a:ext cx="106680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3" name="TextBox 16"/>
            <p:cNvSpPr txBox="1"/>
            <p:nvPr/>
          </p:nvSpPr>
          <p:spPr>
            <a:xfrm>
              <a:off x="900112" y="2388870"/>
              <a:ext cx="206787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Test 1: Zero Temperature (0.0 °C)</a:t>
              </a:r>
            </a:p>
          </p:txBody>
        </p:sp>
        <p:sp>
          <p:nvSpPr>
            <p:cNvPr id="94" name="TextBox 17"/>
            <p:cNvSpPr txBox="1"/>
            <p:nvPr/>
          </p:nvSpPr>
          <p:spPr>
            <a:xfrm>
              <a:off x="4186238" y="2396966"/>
              <a:ext cx="128240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16'h0000 across all taps</a:t>
              </a:r>
            </a:p>
          </p:txBody>
        </p:sp>
        <p:sp>
          <p:nvSpPr>
            <p:cNvPr id="95" name="TextBox 18"/>
            <p:cNvSpPr txBox="1"/>
            <p:nvPr/>
          </p:nvSpPr>
          <p:spPr>
            <a:xfrm>
              <a:off x="7043738" y="2396966"/>
              <a:ext cx="184505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Sign integrity &amp; zero floor scaling</a:t>
              </a:r>
            </a:p>
          </p:txBody>
        </p:sp>
        <p:sp>
          <p:nvSpPr>
            <p:cNvPr id="96" name="Rectangle 19"/>
            <p:cNvSpPr/>
            <p:nvPr/>
          </p:nvSpPr>
          <p:spPr>
            <a:xfrm>
              <a:off x="9906000" y="2333625"/>
              <a:ext cx="857250" cy="2286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97" name="TextBox 20"/>
            <p:cNvSpPr txBox="1"/>
            <p:nvPr/>
          </p:nvSpPr>
          <p:spPr>
            <a:xfrm>
              <a:off x="10075740" y="2396966"/>
              <a:ext cx="51777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98" name="Rectangle 21"/>
            <p:cNvSpPr/>
            <p:nvPr/>
          </p:nvSpPr>
          <p:spPr>
            <a:xfrm>
              <a:off x="762000" y="2714625"/>
              <a:ext cx="106680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9" name="TextBox 22"/>
            <p:cNvSpPr txBox="1"/>
            <p:nvPr/>
          </p:nvSpPr>
          <p:spPr>
            <a:xfrm>
              <a:off x="900112" y="2865120"/>
              <a:ext cx="256640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Test 2: Positive Saturation (&gt; +127.996 °C)</a:t>
              </a:r>
            </a:p>
          </p:txBody>
        </p:sp>
        <p:sp>
          <p:nvSpPr>
            <p:cNvPr id="100" name="TextBox 23"/>
            <p:cNvSpPr txBox="1"/>
            <p:nvPr/>
          </p:nvSpPr>
          <p:spPr>
            <a:xfrm>
              <a:off x="4186238" y="2873216"/>
              <a:ext cx="142507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+130.0 °C step (16'h8200)</a:t>
              </a:r>
            </a:p>
          </p:txBody>
        </p:sp>
        <p:sp>
          <p:nvSpPr>
            <p:cNvPr id="101" name="TextBox 24"/>
            <p:cNvSpPr txBox="1"/>
            <p:nvPr/>
          </p:nvSpPr>
          <p:spPr>
            <a:xfrm>
              <a:off x="7043738" y="2873216"/>
              <a:ext cx="175849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Upper sat16 clamp to 16'sh7FFF</a:t>
              </a:r>
            </a:p>
          </p:txBody>
        </p:sp>
        <p:sp>
          <p:nvSpPr>
            <p:cNvPr id="102" name="Rectangle 25"/>
            <p:cNvSpPr/>
            <p:nvPr/>
          </p:nvSpPr>
          <p:spPr>
            <a:xfrm>
              <a:off x="9906000" y="2809875"/>
              <a:ext cx="857250" cy="2286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103" name="TextBox 26"/>
            <p:cNvSpPr txBox="1"/>
            <p:nvPr/>
          </p:nvSpPr>
          <p:spPr>
            <a:xfrm>
              <a:off x="10075740" y="2873216"/>
              <a:ext cx="51777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04" name="Rectangle 27"/>
            <p:cNvSpPr/>
            <p:nvPr/>
          </p:nvSpPr>
          <p:spPr>
            <a:xfrm>
              <a:off x="762000" y="3190875"/>
              <a:ext cx="106680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5" name="TextBox 28"/>
            <p:cNvSpPr txBox="1"/>
            <p:nvPr/>
          </p:nvSpPr>
          <p:spPr>
            <a:xfrm>
              <a:off x="900112" y="3341370"/>
              <a:ext cx="251992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Test 3: Freezing Sub-Zero (&lt; -128.000 °C)</a:t>
              </a:r>
            </a:p>
          </p:txBody>
        </p:sp>
        <p:sp>
          <p:nvSpPr>
            <p:cNvPr id="106" name="TextBox 29"/>
            <p:cNvSpPr txBox="1"/>
            <p:nvPr/>
          </p:nvSpPr>
          <p:spPr>
            <a:xfrm>
              <a:off x="4186238" y="3349466"/>
              <a:ext cx="139461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-135.0 °C step (16'h7900)</a:t>
              </a:r>
            </a:p>
          </p:txBody>
        </p:sp>
        <p:sp>
          <p:nvSpPr>
            <p:cNvPr id="107" name="TextBox 30"/>
            <p:cNvSpPr txBox="1"/>
            <p:nvPr/>
          </p:nvSpPr>
          <p:spPr>
            <a:xfrm>
              <a:off x="7043738" y="3349466"/>
              <a:ext cx="174887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Lower sat16 clamp to 16'sh8000</a:t>
              </a:r>
            </a:p>
          </p:txBody>
        </p:sp>
        <p:sp>
          <p:nvSpPr>
            <p:cNvPr id="108" name="Rectangle 31"/>
            <p:cNvSpPr/>
            <p:nvPr/>
          </p:nvSpPr>
          <p:spPr>
            <a:xfrm>
              <a:off x="9906000" y="3286125"/>
              <a:ext cx="857250" cy="2286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109" name="TextBox 32"/>
            <p:cNvSpPr txBox="1"/>
            <p:nvPr/>
          </p:nvSpPr>
          <p:spPr>
            <a:xfrm>
              <a:off x="10075740" y="3349466"/>
              <a:ext cx="51777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10" name="Rectangle 33"/>
            <p:cNvSpPr/>
            <p:nvPr/>
          </p:nvSpPr>
          <p:spPr>
            <a:xfrm>
              <a:off x="762000" y="3667125"/>
              <a:ext cx="106680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11" name="TextBox 34"/>
            <p:cNvSpPr txBox="1"/>
            <p:nvPr/>
          </p:nvSpPr>
          <p:spPr>
            <a:xfrm>
              <a:off x="900112" y="3817620"/>
              <a:ext cx="262411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Test 4: Extreme Delta Swing (ΔT = 25.0 °C)</a:t>
              </a:r>
            </a:p>
          </p:txBody>
        </p:sp>
        <p:sp>
          <p:nvSpPr>
            <p:cNvPr id="112" name="TextBox 35"/>
            <p:cNvSpPr txBox="1"/>
            <p:nvPr/>
          </p:nvSpPr>
          <p:spPr>
            <a:xfrm>
              <a:off x="4186238" y="3825716"/>
              <a:ext cx="149079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25°C step between t and t-3</a:t>
              </a:r>
            </a:p>
          </p:txBody>
        </p:sp>
        <p:sp>
          <p:nvSpPr>
            <p:cNvPr id="113" name="TextBox 36"/>
            <p:cNvSpPr txBox="1"/>
            <p:nvPr/>
          </p:nvSpPr>
          <p:spPr>
            <a:xfrm>
              <a:off x="7043738" y="3825716"/>
              <a:ext cx="137858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33-bit datapath headroom</a:t>
              </a:r>
            </a:p>
          </p:txBody>
        </p:sp>
        <p:sp>
          <p:nvSpPr>
            <p:cNvPr id="114" name="Rectangle 37"/>
            <p:cNvSpPr/>
            <p:nvPr/>
          </p:nvSpPr>
          <p:spPr>
            <a:xfrm>
              <a:off x="9906000" y="3762375"/>
              <a:ext cx="857250" cy="2286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115" name="TextBox 38"/>
            <p:cNvSpPr txBox="1"/>
            <p:nvPr/>
          </p:nvSpPr>
          <p:spPr>
            <a:xfrm>
              <a:off x="10075740" y="3825716"/>
              <a:ext cx="51777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16" name="Rectangle 39"/>
            <p:cNvSpPr/>
            <p:nvPr/>
          </p:nvSpPr>
          <p:spPr>
            <a:xfrm>
              <a:off x="762000" y="4143375"/>
              <a:ext cx="106680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17" name="TextBox 40"/>
            <p:cNvSpPr txBox="1"/>
            <p:nvPr/>
          </p:nvSpPr>
          <p:spPr>
            <a:xfrm>
              <a:off x="900112" y="4293870"/>
              <a:ext cx="238687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Test 5: Back-to-Back Streaming (II = 1)</a:t>
              </a:r>
            </a:p>
          </p:txBody>
        </p:sp>
        <p:sp>
          <p:nvSpPr>
            <p:cNvPr id="118" name="TextBox 41"/>
            <p:cNvSpPr txBox="1"/>
            <p:nvPr/>
          </p:nvSpPr>
          <p:spPr>
            <a:xfrm>
              <a:off x="4186238" y="4301966"/>
              <a:ext cx="132408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New sample every clock</a:t>
              </a:r>
            </a:p>
          </p:txBody>
        </p:sp>
        <p:sp>
          <p:nvSpPr>
            <p:cNvPr id="119" name="TextBox 42"/>
            <p:cNvSpPr txBox="1"/>
            <p:nvPr/>
          </p:nvSpPr>
          <p:spPr>
            <a:xfrm>
              <a:off x="7043738" y="4301966"/>
              <a:ext cx="188833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Pipeline hazard &amp; zero bubble stall</a:t>
              </a:r>
            </a:p>
          </p:txBody>
        </p:sp>
        <p:sp>
          <p:nvSpPr>
            <p:cNvPr id="120" name="Rectangle 43"/>
            <p:cNvSpPr/>
            <p:nvPr/>
          </p:nvSpPr>
          <p:spPr>
            <a:xfrm>
              <a:off x="9906000" y="4238625"/>
              <a:ext cx="857250" cy="2286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121" name="TextBox 44"/>
            <p:cNvSpPr txBox="1"/>
            <p:nvPr/>
          </p:nvSpPr>
          <p:spPr>
            <a:xfrm>
              <a:off x="10075740" y="4301966"/>
              <a:ext cx="51777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22" name="Rectangle 45"/>
            <p:cNvSpPr/>
            <p:nvPr/>
          </p:nvSpPr>
          <p:spPr>
            <a:xfrm>
              <a:off x="762000" y="4619625"/>
              <a:ext cx="106680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23" name="TextBox 46"/>
            <p:cNvSpPr txBox="1"/>
            <p:nvPr/>
          </p:nvSpPr>
          <p:spPr>
            <a:xfrm>
              <a:off x="900112" y="4770120"/>
              <a:ext cx="232916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Test 6: Random Walk &amp; 17.5K Replay</a:t>
              </a:r>
            </a:p>
          </p:txBody>
        </p:sp>
        <p:sp>
          <p:nvSpPr>
            <p:cNvPr id="124" name="TextBox 47"/>
            <p:cNvSpPr txBox="1"/>
            <p:nvPr/>
          </p:nvSpPr>
          <p:spPr>
            <a:xfrm>
              <a:off x="4186238" y="4778216"/>
              <a:ext cx="187230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10,000+ Gaussian vectors + replay</a:t>
              </a:r>
            </a:p>
          </p:txBody>
        </p:sp>
        <p:sp>
          <p:nvSpPr>
            <p:cNvPr id="125" name="TextBox 48"/>
            <p:cNvSpPr txBox="1"/>
            <p:nvPr/>
          </p:nvSpPr>
          <p:spPr>
            <a:xfrm>
              <a:off x="7043738" y="4778216"/>
              <a:ext cx="175368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Coverage &amp; paired DPI-C check</a:t>
              </a:r>
            </a:p>
          </p:txBody>
        </p:sp>
        <p:sp>
          <p:nvSpPr>
            <p:cNvPr id="126" name="Rectangle 49"/>
            <p:cNvSpPr/>
            <p:nvPr/>
          </p:nvSpPr>
          <p:spPr>
            <a:xfrm>
              <a:off x="9906000" y="4714875"/>
              <a:ext cx="857250" cy="2286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>
              <a:solidFill>
                <a:srgbClr val="16A34A"/>
              </a:solidFill>
            </a:ln>
          </p:spPr>
        </p:sp>
        <p:sp>
          <p:nvSpPr>
            <p:cNvPr id="127" name="TextBox 50"/>
            <p:cNvSpPr txBox="1"/>
            <p:nvPr/>
          </p:nvSpPr>
          <p:spPr>
            <a:xfrm>
              <a:off x="10075740" y="4778216"/>
              <a:ext cx="51777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28" name="Rectangle 51"/>
            <p:cNvSpPr/>
            <p:nvPr/>
          </p:nvSpPr>
          <p:spPr>
            <a:xfrm>
              <a:off x="762000" y="5191125"/>
              <a:ext cx="10668000" cy="714375"/>
            </a:xfrm>
            <a:prstGeom prst="roundRect">
              <a:avLst>
                <a:gd name="adj" fmla="val 8000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129" name="TextBox 52"/>
            <p:cNvSpPr txBox="1"/>
            <p:nvPr/>
          </p:nvSpPr>
          <p:spPr>
            <a:xfrm>
              <a:off x="947738" y="5332095"/>
              <a:ext cx="193001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Regression Verification Results:</a:t>
              </a:r>
            </a:p>
          </p:txBody>
        </p:sp>
        <p:sp>
          <p:nvSpPr>
            <p:cNvPr id="130" name="TextBox 53"/>
            <p:cNvSpPr txBox="1"/>
            <p:nvPr/>
          </p:nvSpPr>
          <p:spPr>
            <a:xfrm>
              <a:off x="947738" y="5578316"/>
              <a:ext cx="498694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5 coefficient profiles × 8,825 forecasts + 4,072-point replay: 100% bit-exact (0 mismatches).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5565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20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658348" y="1437131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84668" y="1036994"/>
            <a:ext cx="12107332" cy="890663"/>
          </a:xfrm>
        </p:spPr>
        <p:txBody>
          <a:bodyPr>
            <a:noAutofit/>
          </a:bodyPr>
          <a:lstStyle/>
          <a:p>
            <a:r>
              <a:rPr lang="en" sz="3500" dirty="0">
                <a:solidFill>
                  <a:schemeClr val="accent1"/>
                </a:solidFill>
              </a:rPr>
              <a:t>Altera Cyclone II (EP2C35F672C6) Physical Synthesis Results</a:t>
            </a:r>
          </a:p>
        </p:txBody>
      </p:sp>
      <p:grpSp>
        <p:nvGrpSpPr>
          <p:cNvPr id="54" name="tbl_synthesis"/>
          <p:cNvGrpSpPr/>
          <p:nvPr/>
        </p:nvGrpSpPr>
        <p:grpSpPr>
          <a:xfrm>
            <a:off x="486833" y="1791176"/>
            <a:ext cx="11049000" cy="4762500"/>
            <a:chOff x="571500" y="1285875"/>
            <a:chExt cx="11049000" cy="4762500"/>
          </a:xfrm>
        </p:grpSpPr>
        <p:sp>
          <p:nvSpPr>
            <p:cNvPr id="55" name="Rectangle 7"/>
            <p:cNvSpPr/>
            <p:nvPr/>
          </p:nvSpPr>
          <p:spPr>
            <a:xfrm>
              <a:off x="571500" y="1285875"/>
              <a:ext cx="11049000" cy="4762500"/>
            </a:xfrm>
            <a:prstGeom prst="roundRect">
              <a:avLst>
                <a:gd name="adj" fmla="val 16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56" name="Rectangle 8"/>
            <p:cNvSpPr/>
            <p:nvPr/>
          </p:nvSpPr>
          <p:spPr>
            <a:xfrm>
              <a:off x="571500" y="1285875"/>
              <a:ext cx="11049000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57" name="TextBox 9"/>
            <p:cNvSpPr txBox="1"/>
            <p:nvPr/>
          </p:nvSpPr>
          <p:spPr>
            <a:xfrm>
              <a:off x="756666" y="1429702"/>
              <a:ext cx="510780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QUARTUS II SYNTHESIS &amp; TIMING COMPARISON MATRIX</a:t>
              </a:r>
            </a:p>
          </p:txBody>
        </p:sp>
        <p:sp>
          <p:nvSpPr>
            <p:cNvPr id="58" name="Rectangle 10"/>
            <p:cNvSpPr/>
            <p:nvPr/>
          </p:nvSpPr>
          <p:spPr>
            <a:xfrm>
              <a:off x="762000" y="1857375"/>
              <a:ext cx="10668000" cy="304800"/>
            </a:xfrm>
            <a:prstGeom prst="roundRect">
              <a:avLst>
                <a:gd name="adj" fmla="val 125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9" name="TextBox 11"/>
            <p:cNvSpPr txBox="1"/>
            <p:nvPr/>
          </p:nvSpPr>
          <p:spPr>
            <a:xfrm>
              <a:off x="900112" y="1960245"/>
              <a:ext cx="109485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Hardware Metric</a:t>
              </a:r>
            </a:p>
          </p:txBody>
        </p:sp>
        <p:sp>
          <p:nvSpPr>
            <p:cNvPr id="60" name="TextBox 12"/>
            <p:cNvSpPr txBox="1"/>
            <p:nvPr/>
          </p:nvSpPr>
          <p:spPr>
            <a:xfrm>
              <a:off x="3424238" y="1960245"/>
              <a:ext cx="138499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Speed Core (Pipelined)</a:t>
              </a:r>
            </a:p>
          </p:txBody>
        </p:sp>
        <p:sp>
          <p:nvSpPr>
            <p:cNvPr id="61" name="TextBox 13"/>
            <p:cNvSpPr txBox="1"/>
            <p:nvPr/>
          </p:nvSpPr>
          <p:spPr>
            <a:xfrm>
              <a:off x="5900738" y="1960245"/>
              <a:ext cx="131606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Resource Core (FSM)</a:t>
              </a:r>
            </a:p>
          </p:txBody>
        </p:sp>
        <p:sp>
          <p:nvSpPr>
            <p:cNvPr id="62" name="TextBox 14"/>
            <p:cNvSpPr txBox="1"/>
            <p:nvPr/>
          </p:nvSpPr>
          <p:spPr>
            <a:xfrm>
              <a:off x="8377238" y="1960245"/>
              <a:ext cx="163666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Silicon Difference / Savings</a:t>
              </a:r>
            </a:p>
          </p:txBody>
        </p:sp>
        <p:sp>
          <p:nvSpPr>
            <p:cNvPr id="63" name="Rectangle 15"/>
            <p:cNvSpPr/>
            <p:nvPr/>
          </p:nvSpPr>
          <p:spPr>
            <a:xfrm>
              <a:off x="762000" y="2238375"/>
              <a:ext cx="10668000" cy="42862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4" name="TextBox 16"/>
            <p:cNvSpPr txBox="1"/>
            <p:nvPr/>
          </p:nvSpPr>
          <p:spPr>
            <a:xfrm>
              <a:off x="900112" y="2407920"/>
              <a:ext cx="165429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Total Logic Elements (LEs)</a:t>
              </a:r>
            </a:p>
          </p:txBody>
        </p:sp>
        <p:sp>
          <p:nvSpPr>
            <p:cNvPr id="65" name="TextBox 17"/>
            <p:cNvSpPr txBox="1"/>
            <p:nvPr/>
          </p:nvSpPr>
          <p:spPr>
            <a:xfrm>
              <a:off x="3424238" y="2407920"/>
              <a:ext cx="155491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412 LEs (1.2% of EP2C35)</a:t>
              </a:r>
            </a:p>
          </p:txBody>
        </p:sp>
        <p:sp>
          <p:nvSpPr>
            <p:cNvPr id="66" name="TextBox 18"/>
            <p:cNvSpPr txBox="1"/>
            <p:nvPr/>
          </p:nvSpPr>
          <p:spPr>
            <a:xfrm>
              <a:off x="5900738" y="2407920"/>
              <a:ext cx="161903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236 LEs (0.7% of EP2C35)</a:t>
              </a:r>
            </a:p>
          </p:txBody>
        </p:sp>
        <p:sp>
          <p:nvSpPr>
            <p:cNvPr id="67" name="TextBox 19"/>
            <p:cNvSpPr txBox="1"/>
            <p:nvPr/>
          </p:nvSpPr>
          <p:spPr>
            <a:xfrm>
              <a:off x="8377238" y="2407920"/>
              <a:ext cx="187551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-176 LEs (-42.7% Area Saved!)</a:t>
              </a:r>
            </a:p>
          </p:txBody>
        </p:sp>
        <p:sp>
          <p:nvSpPr>
            <p:cNvPr id="68" name="Rectangle 20"/>
            <p:cNvSpPr/>
            <p:nvPr/>
          </p:nvSpPr>
          <p:spPr>
            <a:xfrm>
              <a:off x="762000" y="2714625"/>
              <a:ext cx="10668000" cy="42862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9" name="TextBox 21"/>
            <p:cNvSpPr txBox="1"/>
            <p:nvPr/>
          </p:nvSpPr>
          <p:spPr>
            <a:xfrm>
              <a:off x="900112" y="2884170"/>
              <a:ext cx="176490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Embedded Multipliers (9-bit)</a:t>
              </a:r>
            </a:p>
          </p:txBody>
        </p:sp>
        <p:sp>
          <p:nvSpPr>
            <p:cNvPr id="70" name="TextBox 22"/>
            <p:cNvSpPr txBox="1"/>
            <p:nvPr/>
          </p:nvSpPr>
          <p:spPr>
            <a:xfrm>
              <a:off x="3424238" y="2884170"/>
              <a:ext cx="175047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4 Blocks (2 17×16 Multipliers)</a:t>
              </a:r>
            </a:p>
          </p:txBody>
        </p:sp>
        <p:sp>
          <p:nvSpPr>
            <p:cNvPr id="71" name="TextBox 23"/>
            <p:cNvSpPr txBox="1"/>
            <p:nvPr/>
          </p:nvSpPr>
          <p:spPr>
            <a:xfrm>
              <a:off x="5900738" y="2884170"/>
              <a:ext cx="175208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2 Blocks (1 17×16 Multiplier)</a:t>
              </a:r>
            </a:p>
          </p:txBody>
        </p:sp>
        <p:sp>
          <p:nvSpPr>
            <p:cNvPr id="72" name="TextBox 24"/>
            <p:cNvSpPr txBox="1"/>
            <p:nvPr/>
          </p:nvSpPr>
          <p:spPr>
            <a:xfrm>
              <a:off x="8377238" y="2884170"/>
              <a:ext cx="175368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-2 Blocks (-50% DSP Saved!)</a:t>
              </a:r>
            </a:p>
          </p:txBody>
        </p:sp>
        <p:sp>
          <p:nvSpPr>
            <p:cNvPr id="73" name="Rectangle 25"/>
            <p:cNvSpPr/>
            <p:nvPr/>
          </p:nvSpPr>
          <p:spPr>
            <a:xfrm>
              <a:off x="762000" y="3190875"/>
              <a:ext cx="10668000" cy="42862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4" name="TextBox 26"/>
            <p:cNvSpPr txBox="1"/>
            <p:nvPr/>
          </p:nvSpPr>
          <p:spPr>
            <a:xfrm>
              <a:off x="900112" y="3360420"/>
              <a:ext cx="188352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Max Clock Frequency (F_max)</a:t>
              </a:r>
            </a:p>
          </p:txBody>
        </p:sp>
        <p:sp>
          <p:nvSpPr>
            <p:cNvPr id="75" name="TextBox 27"/>
            <p:cNvSpPr txBox="1"/>
            <p:nvPr/>
          </p:nvSpPr>
          <p:spPr>
            <a:xfrm>
              <a:off x="3424238" y="3360420"/>
              <a:ext cx="177292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142.3 MHz (Speed Grade C6)</a:t>
              </a:r>
            </a:p>
          </p:txBody>
        </p:sp>
        <p:sp>
          <p:nvSpPr>
            <p:cNvPr id="76" name="TextBox 28"/>
            <p:cNvSpPr txBox="1"/>
            <p:nvPr/>
          </p:nvSpPr>
          <p:spPr>
            <a:xfrm>
              <a:off x="5900738" y="3360420"/>
              <a:ext cx="169597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118.5 MHz (Speed Grade C6)</a:t>
              </a:r>
            </a:p>
          </p:txBody>
        </p:sp>
        <p:sp>
          <p:nvSpPr>
            <p:cNvPr id="77" name="TextBox 29"/>
            <p:cNvSpPr txBox="1"/>
            <p:nvPr/>
          </p:nvSpPr>
          <p:spPr>
            <a:xfrm>
              <a:off x="8377238" y="3360420"/>
              <a:ext cx="180337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+23.8 MHz (+20.1% for Speed)</a:t>
              </a:r>
            </a:p>
          </p:txBody>
        </p:sp>
        <p:sp>
          <p:nvSpPr>
            <p:cNvPr id="78" name="Rectangle 30"/>
            <p:cNvSpPr/>
            <p:nvPr/>
          </p:nvSpPr>
          <p:spPr>
            <a:xfrm>
              <a:off x="762000" y="3667125"/>
              <a:ext cx="10668000" cy="42862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9" name="TextBox 31"/>
            <p:cNvSpPr txBox="1"/>
            <p:nvPr/>
          </p:nvSpPr>
          <p:spPr>
            <a:xfrm>
              <a:off x="900112" y="3836670"/>
              <a:ext cx="133209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Initiation Interval (II)</a:t>
              </a:r>
            </a:p>
          </p:txBody>
        </p:sp>
        <p:sp>
          <p:nvSpPr>
            <p:cNvPr id="80" name="TextBox 32"/>
            <p:cNvSpPr txBox="1"/>
            <p:nvPr/>
          </p:nvSpPr>
          <p:spPr>
            <a:xfrm>
              <a:off x="3424238" y="3836670"/>
              <a:ext cx="109004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II = 1 Clock Cycle</a:t>
              </a:r>
            </a:p>
          </p:txBody>
        </p:sp>
        <p:sp>
          <p:nvSpPr>
            <p:cNvPr id="81" name="TextBox 33"/>
            <p:cNvSpPr txBox="1"/>
            <p:nvPr/>
          </p:nvSpPr>
          <p:spPr>
            <a:xfrm>
              <a:off x="5900738" y="3836670"/>
              <a:ext cx="117500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II = 10 Clock Cycles</a:t>
              </a:r>
            </a:p>
          </p:txBody>
        </p:sp>
        <p:sp>
          <p:nvSpPr>
            <p:cNvPr id="82" name="TextBox 34"/>
            <p:cNvSpPr txBox="1"/>
            <p:nvPr/>
          </p:nvSpPr>
          <p:spPr>
            <a:xfrm>
              <a:off x="8377238" y="3836670"/>
              <a:ext cx="181139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dirty="0">
                  <a:solidFill>
                    <a:srgbClr val="2563EB"/>
                  </a:solidFill>
                  <a:latin typeface="+mj-lt"/>
                  <a:ea typeface="+mn-ea"/>
                  <a:cs typeface="+mn-cs"/>
                </a:rPr>
                <a:t>10x Higher Throughput (Speed)</a:t>
              </a:r>
            </a:p>
          </p:txBody>
        </p:sp>
        <p:sp>
          <p:nvSpPr>
            <p:cNvPr id="131" name="Rectangle 35"/>
            <p:cNvSpPr/>
            <p:nvPr/>
          </p:nvSpPr>
          <p:spPr>
            <a:xfrm>
              <a:off x="762000" y="4143375"/>
              <a:ext cx="10668000" cy="42862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32" name="TextBox 36"/>
            <p:cNvSpPr txBox="1"/>
            <p:nvPr/>
          </p:nvSpPr>
          <p:spPr>
            <a:xfrm>
              <a:off x="900112" y="4312920"/>
              <a:ext cx="202138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Latency @ 50 MHz System Clock</a:t>
              </a:r>
            </a:p>
          </p:txBody>
        </p:sp>
        <p:sp>
          <p:nvSpPr>
            <p:cNvPr id="133" name="TextBox 37"/>
            <p:cNvSpPr txBox="1"/>
            <p:nvPr/>
          </p:nvSpPr>
          <p:spPr>
            <a:xfrm>
              <a:off x="3424238" y="4312920"/>
              <a:ext cx="158376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5 Cycles (100 nanoseconds)</a:t>
              </a:r>
            </a:p>
          </p:txBody>
        </p:sp>
        <p:sp>
          <p:nvSpPr>
            <p:cNvPr id="134" name="TextBox 38"/>
            <p:cNvSpPr txBox="1"/>
            <p:nvPr/>
          </p:nvSpPr>
          <p:spPr>
            <a:xfrm>
              <a:off x="5900738" y="4312920"/>
              <a:ext cx="158376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9 Cycles (180 nanoseconds)</a:t>
              </a:r>
            </a:p>
          </p:txBody>
        </p:sp>
        <p:sp>
          <p:nvSpPr>
            <p:cNvPr id="135" name="TextBox 39"/>
            <p:cNvSpPr txBox="1"/>
            <p:nvPr/>
          </p:nvSpPr>
          <p:spPr>
            <a:xfrm>
              <a:off x="8377238" y="4312920"/>
              <a:ext cx="147957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dirty="0">
                  <a:solidFill>
                    <a:srgbClr val="64748B"/>
                  </a:solidFill>
                  <a:latin typeface="+mj-lt"/>
                  <a:ea typeface="+mn-ea"/>
                  <a:cs typeface="+mn-cs"/>
                </a:rPr>
                <a:t>Both &lt; 0.20 microseconds</a:t>
              </a:r>
            </a:p>
          </p:txBody>
        </p:sp>
        <p:sp>
          <p:nvSpPr>
            <p:cNvPr id="136" name="Rectangle 40"/>
            <p:cNvSpPr/>
            <p:nvPr/>
          </p:nvSpPr>
          <p:spPr>
            <a:xfrm>
              <a:off x="762000" y="4714875"/>
              <a:ext cx="10668000" cy="1143000"/>
            </a:xfrm>
            <a:prstGeom prst="roundRect">
              <a:avLst>
                <a:gd name="adj" fmla="val 5000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137" name="TextBox 41"/>
            <p:cNvSpPr txBox="1"/>
            <p:nvPr/>
          </p:nvSpPr>
          <p:spPr>
            <a:xfrm>
              <a:off x="947738" y="4874895"/>
              <a:ext cx="270586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Synthesis Findings &amp; Engineering Rationale:</a:t>
              </a:r>
            </a:p>
          </p:txBody>
        </p:sp>
        <p:sp>
          <p:nvSpPr>
            <p:cNvPr id="138" name="TextBox 42"/>
            <p:cNvSpPr txBox="1"/>
            <p:nvPr/>
          </p:nvSpPr>
          <p:spPr>
            <a:xfrm>
              <a:off x="947738" y="5111591"/>
              <a:ext cx="356187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Area Footprint: Both cores occupy &lt;1.5% of Cyclone II capacity</a:t>
              </a:r>
            </a:p>
          </p:txBody>
        </p:sp>
        <p:sp>
          <p:nvSpPr>
            <p:cNvPr id="139" name="TextBox 43"/>
            <p:cNvSpPr txBox="1"/>
            <p:nvPr/>
          </p:nvSpPr>
          <p:spPr>
            <a:xfrm>
              <a:off x="947738" y="5330666"/>
              <a:ext cx="376385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Resource Core: -42.7% LEs, -50% DSPs via multiplier time-muxing</a:t>
              </a:r>
            </a:p>
          </p:txBody>
        </p:sp>
        <p:sp>
          <p:nvSpPr>
            <p:cNvPr id="140" name="TextBox 44"/>
            <p:cNvSpPr txBox="1"/>
            <p:nvPr/>
          </p:nvSpPr>
          <p:spPr>
            <a:xfrm>
              <a:off x="947738" y="5568791"/>
              <a:ext cx="418223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Speed Core: 142.3 MHz F_max provides 2.8x timing slack over 50 MHz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539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21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658348" y="1437131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386775" y="1036994"/>
            <a:ext cx="12107332" cy="890663"/>
          </a:xfrm>
        </p:spPr>
        <p:txBody>
          <a:bodyPr>
            <a:noAutofit/>
          </a:bodyPr>
          <a:lstStyle/>
          <a:p>
            <a:r>
              <a:rPr lang="en" sz="3600" dirty="0">
                <a:solidFill>
                  <a:schemeClr val="accent1"/>
                </a:solidFill>
              </a:rPr>
              <a:t>In-Silico Validation on 2-Year Continuous Test Data</a:t>
            </a:r>
          </a:p>
        </p:txBody>
      </p:sp>
      <p:grpSp>
        <p:nvGrpSpPr>
          <p:cNvPr id="45" name="box_val_summary"/>
          <p:cNvGrpSpPr/>
          <p:nvPr/>
        </p:nvGrpSpPr>
        <p:grpSpPr>
          <a:xfrm>
            <a:off x="449519" y="1847374"/>
            <a:ext cx="5381625" cy="4762500"/>
            <a:chOff x="571500" y="1285875"/>
            <a:chExt cx="5381625" cy="4762500"/>
          </a:xfrm>
        </p:grpSpPr>
        <p:sp>
          <p:nvSpPr>
            <p:cNvPr id="46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16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47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48" name="TextBox 9"/>
            <p:cNvSpPr txBox="1"/>
            <p:nvPr/>
          </p:nvSpPr>
          <p:spPr>
            <a:xfrm>
              <a:off x="756666" y="1429702"/>
              <a:ext cx="422609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HELD-OUT TEST DATASET METRICS (2024–2025)</a:t>
              </a:r>
            </a:p>
          </p:txBody>
        </p:sp>
        <p:sp>
          <p:nvSpPr>
            <p:cNvPr id="49" name="TextBox 10"/>
            <p:cNvSpPr txBox="1"/>
            <p:nvPr/>
          </p:nvSpPr>
          <p:spPr>
            <a:xfrm>
              <a:off x="757047" y="1847374"/>
              <a:ext cx="170078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Dataset Volume &amp; Protocol:</a:t>
              </a:r>
            </a:p>
          </p:txBody>
        </p:sp>
        <p:sp>
          <p:nvSpPr>
            <p:cNvPr id="50" name="TextBox 11"/>
            <p:cNvSpPr txBox="1"/>
            <p:nvPr/>
          </p:nvSpPr>
          <p:spPr>
            <a:xfrm>
              <a:off x="757238" y="2074545"/>
              <a:ext cx="323325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Jan 2024 – Dec 2025: 17,520 continuous hourly records</a:t>
              </a:r>
            </a:p>
          </p:txBody>
        </p:sp>
        <p:sp>
          <p:nvSpPr>
            <p:cNvPr id="51" name="TextBox 12"/>
            <p:cNvSpPr txBox="1"/>
            <p:nvPr/>
          </p:nvSpPr>
          <p:spPr>
            <a:xfrm>
              <a:off x="757238" y="2284095"/>
              <a:ext cx="268983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Strict causal protocol: zero future data leakage</a:t>
              </a:r>
            </a:p>
          </p:txBody>
        </p:sp>
        <p:sp>
          <p:nvSpPr>
            <p:cNvPr id="52" name="TextBox 13"/>
            <p:cNvSpPr txBox="1"/>
            <p:nvPr/>
          </p:nvSpPr>
          <p:spPr>
            <a:xfrm>
              <a:off x="757047" y="2704624"/>
              <a:ext cx="193322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Hardware Prediction Accuracy:</a:t>
              </a:r>
            </a:p>
          </p:txBody>
        </p:sp>
        <p:sp>
          <p:nvSpPr>
            <p:cNvPr id="53" name="Rectangle 14"/>
            <p:cNvSpPr/>
            <p:nvPr/>
          </p:nvSpPr>
          <p:spPr>
            <a:xfrm>
              <a:off x="762000" y="3000375"/>
              <a:ext cx="5000625" cy="476250"/>
            </a:xfrm>
            <a:prstGeom prst="roundRect">
              <a:avLst>
                <a:gd name="adj" fmla="val 12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83" name="TextBox 15"/>
            <p:cNvSpPr txBox="1"/>
            <p:nvPr/>
          </p:nvSpPr>
          <p:spPr>
            <a:xfrm>
              <a:off x="900112" y="3122295"/>
              <a:ext cx="242213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Mean Absolute Error (MAE): 0.5381 °C</a:t>
              </a:r>
            </a:p>
          </p:txBody>
        </p:sp>
        <p:sp>
          <p:nvSpPr>
            <p:cNvPr id="84" name="TextBox 16"/>
            <p:cNvSpPr txBox="1"/>
            <p:nvPr/>
          </p:nvSpPr>
          <p:spPr>
            <a:xfrm>
              <a:off x="900112" y="3282791"/>
              <a:ext cx="296715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Average deviation across 17,520 hours of real weather.</a:t>
              </a:r>
            </a:p>
          </p:txBody>
        </p:sp>
        <p:sp>
          <p:nvSpPr>
            <p:cNvPr id="85" name="Rectangle 17"/>
            <p:cNvSpPr/>
            <p:nvPr/>
          </p:nvSpPr>
          <p:spPr>
            <a:xfrm>
              <a:off x="762000" y="3571875"/>
              <a:ext cx="5000625" cy="476250"/>
            </a:xfrm>
            <a:prstGeom prst="roundRect">
              <a:avLst>
                <a:gd name="adj" fmla="val 12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86" name="TextBox 18"/>
            <p:cNvSpPr txBox="1"/>
            <p:nvPr/>
          </p:nvSpPr>
          <p:spPr>
            <a:xfrm>
              <a:off x="900112" y="3693795"/>
              <a:ext cx="280365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Root Mean Squared Error (RMSE): 0.7862 °C</a:t>
              </a:r>
            </a:p>
          </p:txBody>
        </p:sp>
        <p:sp>
          <p:nvSpPr>
            <p:cNvPr id="87" name="TextBox 19"/>
            <p:cNvSpPr txBox="1"/>
            <p:nvPr/>
          </p:nvSpPr>
          <p:spPr>
            <a:xfrm>
              <a:off x="900112" y="3854291"/>
              <a:ext cx="214321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Penalizes large transient forecast errors.</a:t>
              </a:r>
            </a:p>
          </p:txBody>
        </p:sp>
        <p:sp>
          <p:nvSpPr>
            <p:cNvPr id="88" name="Rectangle 20"/>
            <p:cNvSpPr/>
            <p:nvPr/>
          </p:nvSpPr>
          <p:spPr>
            <a:xfrm>
              <a:off x="762000" y="4191000"/>
              <a:ext cx="5000625" cy="1666875"/>
            </a:xfrm>
            <a:prstGeom prst="roundRect">
              <a:avLst>
                <a:gd name="adj" fmla="val 3429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89" name="TextBox 21"/>
            <p:cNvSpPr txBox="1"/>
            <p:nvPr/>
          </p:nvSpPr>
          <p:spPr>
            <a:xfrm>
              <a:off x="900112" y="4360545"/>
              <a:ext cx="196207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Baseline Outperformance Proof:</a:t>
              </a:r>
            </a:p>
          </p:txBody>
        </p:sp>
        <p:sp>
          <p:nvSpPr>
            <p:cNvPr id="90" name="TextBox 22"/>
            <p:cNvSpPr txBox="1"/>
            <p:nvPr/>
          </p:nvSpPr>
          <p:spPr>
            <a:xfrm>
              <a:off x="900112" y="4621768"/>
              <a:ext cx="241572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74.1% Gain vs Persistence (2.080°C MAE)</a:t>
              </a:r>
            </a:p>
          </p:txBody>
        </p:sp>
        <p:sp>
          <p:nvSpPr>
            <p:cNvPr id="91" name="TextBox 23"/>
            <p:cNvSpPr txBox="1"/>
            <p:nvPr/>
          </p:nvSpPr>
          <p:spPr>
            <a:xfrm>
              <a:off x="900112" y="4859893"/>
              <a:ext cx="222176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35.3% Gain vs Diurnal (0.832°C MAE)</a:t>
              </a:r>
            </a:p>
          </p:txBody>
        </p:sp>
        <p:sp>
          <p:nvSpPr>
            <p:cNvPr id="92" name="TextBox 24"/>
            <p:cNvSpPr txBox="1"/>
            <p:nvPr/>
          </p:nvSpPr>
          <p:spPr>
            <a:xfrm>
              <a:off x="900112" y="5098018"/>
              <a:ext cx="233717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0F172A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100% Bit-Exact to C++ reference (0 drift)</a:t>
              </a:r>
            </a:p>
          </p:txBody>
        </p:sp>
        <p:sp>
          <p:nvSpPr>
            <p:cNvPr id="93" name="Line 25"/>
            <p:cNvSpPr/>
            <p:nvPr/>
          </p:nvSpPr>
          <p:spPr>
            <a:xfrm>
              <a:off x="904875" y="5381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7620">
              <a:solidFill>
                <a:srgbClr val="16A34A"/>
              </a:solidFill>
            </a:ln>
          </p:spPr>
        </p:sp>
        <p:sp>
          <p:nvSpPr>
            <p:cNvPr id="94" name="TextBox 26"/>
            <p:cNvSpPr txBox="1"/>
            <p:nvPr/>
          </p:nvSpPr>
          <p:spPr>
            <a:xfrm>
              <a:off x="900112" y="5549741"/>
              <a:ext cx="333104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Zero numerical drift over 2 years of continuous inference!</a:t>
              </a:r>
            </a:p>
          </p:txBody>
        </p:sp>
      </p:grpSp>
      <p:grpSp>
        <p:nvGrpSpPr>
          <p:cNvPr id="95" name="box_val_distrib"/>
          <p:cNvGrpSpPr/>
          <p:nvPr/>
        </p:nvGrpSpPr>
        <p:grpSpPr>
          <a:xfrm>
            <a:off x="6116894" y="1847374"/>
            <a:ext cx="5381625" cy="4762500"/>
            <a:chOff x="6238875" y="1285875"/>
            <a:chExt cx="5381625" cy="4762500"/>
          </a:xfrm>
        </p:grpSpPr>
        <p:sp>
          <p:nvSpPr>
            <p:cNvPr id="96" name="Rectangle 28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16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97" name="Rectangle 29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98" name="TextBox 30"/>
            <p:cNvSpPr txBox="1"/>
            <p:nvPr/>
          </p:nvSpPr>
          <p:spPr>
            <a:xfrm>
              <a:off x="6424041" y="1429702"/>
              <a:ext cx="439626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ERROR DISTRIBUTION &amp; NUMERICAL STABILITY</a:t>
              </a:r>
            </a:p>
          </p:txBody>
        </p:sp>
        <p:sp>
          <p:nvSpPr>
            <p:cNvPr id="99" name="TextBox 31"/>
            <p:cNvSpPr txBox="1"/>
            <p:nvPr/>
          </p:nvSpPr>
          <p:spPr>
            <a:xfrm>
              <a:off x="6424422" y="1847374"/>
              <a:ext cx="172803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Residual Error Distribution:</a:t>
              </a:r>
            </a:p>
          </p:txBody>
        </p:sp>
        <p:sp>
          <p:nvSpPr>
            <p:cNvPr id="100" name="Rectangle 32"/>
            <p:cNvSpPr/>
            <p:nvPr/>
          </p:nvSpPr>
          <p:spPr>
            <a:xfrm>
              <a:off x="6429375" y="2143125"/>
              <a:ext cx="5000625" cy="428625"/>
            </a:xfrm>
            <a:prstGeom prst="roundRect">
              <a:avLst>
                <a:gd name="adj" fmla="val 13333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101" name="TextBox 33"/>
            <p:cNvSpPr txBox="1"/>
            <p:nvPr/>
          </p:nvSpPr>
          <p:spPr>
            <a:xfrm>
              <a:off x="6567488" y="2303145"/>
              <a:ext cx="244458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|Error| &lt;= 0.5 °C: 68.4% of all test hours</a:t>
              </a:r>
            </a:p>
          </p:txBody>
        </p:sp>
        <p:sp>
          <p:nvSpPr>
            <p:cNvPr id="102" name="Rectangle 34"/>
            <p:cNvSpPr/>
            <p:nvPr/>
          </p:nvSpPr>
          <p:spPr>
            <a:xfrm>
              <a:off x="6429375" y="2647950"/>
              <a:ext cx="5000625" cy="428625"/>
            </a:xfrm>
            <a:prstGeom prst="roundRect">
              <a:avLst>
                <a:gd name="adj" fmla="val 13333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103" name="TextBox 35"/>
            <p:cNvSpPr txBox="1"/>
            <p:nvPr/>
          </p:nvSpPr>
          <p:spPr>
            <a:xfrm>
              <a:off x="6567488" y="2807970"/>
              <a:ext cx="244458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|Error| &lt;= 1.0 °C: 91.8% of all test hours</a:t>
              </a:r>
            </a:p>
          </p:txBody>
        </p:sp>
        <p:sp>
          <p:nvSpPr>
            <p:cNvPr id="104" name="Rectangle 36"/>
            <p:cNvSpPr/>
            <p:nvPr/>
          </p:nvSpPr>
          <p:spPr>
            <a:xfrm>
              <a:off x="6429375" y="3152775"/>
              <a:ext cx="5000625" cy="428625"/>
            </a:xfrm>
            <a:prstGeom prst="roundRect">
              <a:avLst>
                <a:gd name="adj" fmla="val 13333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105" name="TextBox 37"/>
            <p:cNvSpPr txBox="1"/>
            <p:nvPr/>
          </p:nvSpPr>
          <p:spPr>
            <a:xfrm>
              <a:off x="6567488" y="3312795"/>
              <a:ext cx="244458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|Error| &lt;= 1.5 °C: 98.2% of all test hours</a:t>
              </a:r>
            </a:p>
          </p:txBody>
        </p:sp>
        <p:sp>
          <p:nvSpPr>
            <p:cNvPr id="106" name="TextBox 38"/>
            <p:cNvSpPr txBox="1"/>
            <p:nvPr/>
          </p:nvSpPr>
          <p:spPr>
            <a:xfrm>
              <a:off x="6424422" y="3704749"/>
              <a:ext cx="185788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Residual Statistical Properties:</a:t>
              </a:r>
            </a:p>
          </p:txBody>
        </p:sp>
        <p:sp>
          <p:nvSpPr>
            <p:cNvPr id="107" name="TextBox 39"/>
            <p:cNvSpPr txBox="1"/>
            <p:nvPr/>
          </p:nvSpPr>
          <p:spPr>
            <a:xfrm>
              <a:off x="6424612" y="3950970"/>
              <a:ext cx="223458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l-GR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Mean: μ = -0.0018 °C (Zero-centered)</a:t>
              </a:r>
            </a:p>
          </p:txBody>
        </p:sp>
        <p:sp>
          <p:nvSpPr>
            <p:cNvPr id="108" name="TextBox 40"/>
            <p:cNvSpPr txBox="1"/>
            <p:nvPr/>
          </p:nvSpPr>
          <p:spPr>
            <a:xfrm>
              <a:off x="6424612" y="4160520"/>
              <a:ext cx="130324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l-GR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StdDev: σ = 0.786 °C</a:t>
              </a:r>
            </a:p>
          </p:txBody>
        </p:sp>
        <p:sp>
          <p:nvSpPr>
            <p:cNvPr id="109" name="TextBox 41"/>
            <p:cNvSpPr txBox="1"/>
            <p:nvPr/>
          </p:nvSpPr>
          <p:spPr>
            <a:xfrm>
              <a:off x="6424612" y="4370070"/>
              <a:ext cx="247022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10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Zero cumulative drift across entire test run</a:t>
              </a:r>
            </a:p>
          </p:txBody>
        </p:sp>
        <p:sp>
          <p:nvSpPr>
            <p:cNvPr id="110" name="Rectangle 42"/>
            <p:cNvSpPr/>
            <p:nvPr/>
          </p:nvSpPr>
          <p:spPr>
            <a:xfrm>
              <a:off x="6429375" y="4714875"/>
              <a:ext cx="5000625" cy="1143000"/>
            </a:xfrm>
            <a:prstGeom prst="roundRect">
              <a:avLst>
                <a:gd name="adj" fmla="val 5000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111" name="TextBox 43"/>
            <p:cNvSpPr txBox="1"/>
            <p:nvPr/>
          </p:nvSpPr>
          <p:spPr>
            <a:xfrm>
              <a:off x="6567488" y="4874895"/>
              <a:ext cx="158537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Silicon Verification Audit:</a:t>
              </a:r>
            </a:p>
          </p:txBody>
        </p:sp>
        <p:sp>
          <p:nvSpPr>
            <p:cNvPr id="112" name="TextBox 44"/>
            <p:cNvSpPr txBox="1"/>
            <p:nvPr/>
          </p:nvSpPr>
          <p:spPr>
            <a:xfrm>
              <a:off x="6567488" y="5111591"/>
              <a:ext cx="331340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17,520 hours simulated in under 2 minutes of hardware sim.</a:t>
              </a:r>
            </a:p>
          </p:txBody>
        </p:sp>
        <p:sp>
          <p:nvSpPr>
            <p:cNvPr id="113" name="TextBox 45"/>
            <p:cNvSpPr txBox="1"/>
            <p:nvPr/>
          </p:nvSpPr>
          <p:spPr>
            <a:xfrm>
              <a:off x="6567488" y="5321141"/>
              <a:ext cx="391293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Exactly 0 mismatches between RTL simulation and C++ reference.</a:t>
              </a:r>
            </a:p>
          </p:txBody>
        </p:sp>
        <p:sp>
          <p:nvSpPr>
            <p:cNvPr id="114" name="TextBox 46"/>
            <p:cNvSpPr txBox="1"/>
            <p:nvPr/>
          </p:nvSpPr>
          <p:spPr>
            <a:xfrm>
              <a:off x="6567488" y="5549741"/>
              <a:ext cx="363400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Confirms numerical stability and precision contract in silicon.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858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1456860" y="3850431"/>
            <a:ext cx="4114800" cy="365125"/>
          </a:xfrm>
        </p:spPr>
        <p:txBody>
          <a:bodyPr/>
          <a:lstStyle/>
          <a:p>
            <a:r>
              <a:rPr lang="en-US">
                <a:latin typeface="+mj-lt"/>
              </a:rPr>
              <a:t>Copyrights 2024 CE-UIT. All Rights Reserved.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+mj-lt"/>
              </a:rPr>
              <a:pPr/>
              <a:t>22</a:t>
            </a:fld>
            <a:endParaRPr lang="en-US" dirty="0">
              <a:latin typeface="+mj-lt"/>
            </a:endParaRPr>
          </a:p>
        </p:txBody>
      </p:sp>
      <p:sp>
        <p:nvSpPr>
          <p:cNvPr id="31" name="Title 2"/>
          <p:cNvSpPr txBox="1">
            <a:spLocks/>
          </p:cNvSpPr>
          <p:nvPr/>
        </p:nvSpPr>
        <p:spPr>
          <a:xfrm>
            <a:off x="658348" y="1437131"/>
            <a:ext cx="10980000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386775" y="1036994"/>
            <a:ext cx="12107332" cy="890663"/>
          </a:xfrm>
        </p:spPr>
        <p:txBody>
          <a:bodyPr>
            <a:noAutofit/>
          </a:bodyPr>
          <a:lstStyle/>
          <a:p>
            <a:r>
              <a:rPr lang="en" sz="3500" dirty="0">
                <a:solidFill>
                  <a:schemeClr val="accent1"/>
                </a:solidFill>
              </a:rPr>
              <a:t>Engineering Summary, Contributions &amp; Extension Roadmap</a:t>
            </a:r>
          </a:p>
        </p:txBody>
      </p:sp>
      <p:grpSp>
        <p:nvGrpSpPr>
          <p:cNvPr id="54" name="box_achieve"/>
          <p:cNvGrpSpPr/>
          <p:nvPr/>
        </p:nvGrpSpPr>
        <p:grpSpPr>
          <a:xfrm>
            <a:off x="480973" y="1756885"/>
            <a:ext cx="5381625" cy="4762500"/>
            <a:chOff x="571500" y="1285875"/>
            <a:chExt cx="5381625" cy="4762500"/>
          </a:xfrm>
        </p:grpSpPr>
        <p:sp>
          <p:nvSpPr>
            <p:cNvPr id="55" name="Rectangle 7"/>
            <p:cNvSpPr/>
            <p:nvPr/>
          </p:nvSpPr>
          <p:spPr>
            <a:xfrm>
              <a:off x="571500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6" name="Rectangle 8"/>
            <p:cNvSpPr/>
            <p:nvPr/>
          </p:nvSpPr>
          <p:spPr>
            <a:xfrm>
              <a:off x="571500" y="1285875"/>
              <a:ext cx="5381625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57" name="TextBox 9"/>
            <p:cNvSpPr txBox="1"/>
            <p:nvPr/>
          </p:nvSpPr>
          <p:spPr>
            <a:xfrm>
              <a:off x="756666" y="1429702"/>
              <a:ext cx="337887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CORE ENGINEERING ACHIEVEMENTS</a:t>
              </a:r>
            </a:p>
          </p:txBody>
        </p:sp>
        <p:sp>
          <p:nvSpPr>
            <p:cNvPr id="58" name="TextBox 10"/>
            <p:cNvSpPr txBox="1"/>
            <p:nvPr/>
          </p:nvSpPr>
          <p:spPr>
            <a:xfrm>
              <a:off x="757047" y="1847374"/>
              <a:ext cx="178574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1. Model-to-Silicon Workflow</a:t>
              </a:r>
            </a:p>
          </p:txBody>
        </p:sp>
        <p:sp>
          <p:nvSpPr>
            <p:cNvPr id="59" name="TextBox 11"/>
            <p:cNvSpPr txBox="1"/>
            <p:nvPr/>
          </p:nvSpPr>
          <p:spPr>
            <a:xfrm>
              <a:off x="757238" y="2082641"/>
              <a:ext cx="354424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43,800h NASA data: 0.538°C MAE (74.1% gain vs persistence)</a:t>
              </a:r>
            </a:p>
          </p:txBody>
        </p:sp>
        <p:sp>
          <p:nvSpPr>
            <p:cNvPr id="60" name="TextBox 12"/>
            <p:cNvSpPr txBox="1"/>
            <p:nvPr/>
          </p:nvSpPr>
          <p:spPr>
            <a:xfrm>
              <a:off x="757047" y="2418874"/>
              <a:ext cx="200215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2. Dual Synthesizable RTL Cores</a:t>
              </a:r>
            </a:p>
          </p:txBody>
        </p:sp>
        <p:sp>
          <p:nvSpPr>
            <p:cNvPr id="61" name="TextBox 13"/>
            <p:cNvSpPr txBox="1"/>
            <p:nvPr/>
          </p:nvSpPr>
          <p:spPr>
            <a:xfrm>
              <a:off x="757238" y="2654141"/>
              <a:ext cx="353141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Speed Core: 6-stage pipeline, II=1, 142.3 MHz F_max, 412 LEs</a:t>
              </a:r>
            </a:p>
          </p:txBody>
        </p:sp>
        <p:sp>
          <p:nvSpPr>
            <p:cNvPr id="62" name="TextBox 14"/>
            <p:cNvSpPr txBox="1"/>
            <p:nvPr/>
          </p:nvSpPr>
          <p:spPr>
            <a:xfrm>
              <a:off x="757238" y="2844641"/>
              <a:ext cx="350576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Resource Core: 10-state FSM, 1 shared mult, 236 LEs (-42.7%)</a:t>
              </a:r>
            </a:p>
          </p:txBody>
        </p:sp>
        <p:sp>
          <p:nvSpPr>
            <p:cNvPr id="63" name="TextBox 15"/>
            <p:cNvSpPr txBox="1"/>
            <p:nvPr/>
          </p:nvSpPr>
          <p:spPr>
            <a:xfrm>
              <a:off x="757047" y="3180874"/>
              <a:ext cx="249587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3. 100% Bit-Exact Verification via DPI-C</a:t>
              </a:r>
            </a:p>
          </p:txBody>
        </p:sp>
        <p:sp>
          <p:nvSpPr>
            <p:cNvPr id="64" name="TextBox 16"/>
            <p:cNvSpPr txBox="1"/>
            <p:nvPr/>
          </p:nvSpPr>
          <p:spPr>
            <a:xfrm>
              <a:off x="757238" y="3416141"/>
              <a:ext cx="333264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SystemVerilog testbench paired with live C++ golden oracle</a:t>
              </a:r>
            </a:p>
          </p:txBody>
        </p:sp>
        <p:sp>
          <p:nvSpPr>
            <p:cNvPr id="65" name="TextBox 17"/>
            <p:cNvSpPr txBox="1"/>
            <p:nvPr/>
          </p:nvSpPr>
          <p:spPr>
            <a:xfrm>
              <a:off x="757238" y="3606641"/>
              <a:ext cx="36853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16A34A"/>
                </a:buClr>
                <a:buSzTx/>
                <a:buFontTx/>
                <a:buChar char="•"/>
              </a:pPr>
              <a:r>
                <a:rPr lang="en" sz="105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0 mismatches across 10,000+ synthetic and 17,520h test vectors</a:t>
              </a:r>
            </a:p>
          </p:txBody>
        </p:sp>
        <p:sp>
          <p:nvSpPr>
            <p:cNvPr id="66" name="TextBox 18"/>
            <p:cNvSpPr txBox="1"/>
            <p:nvPr/>
          </p:nvSpPr>
          <p:spPr>
            <a:xfrm>
              <a:off x="757047" y="3942874"/>
              <a:ext cx="224741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4. Standalone Cyclone II DE2 System</a:t>
              </a:r>
            </a:p>
          </p:txBody>
        </p:sp>
        <p:sp>
          <p:nvSpPr>
            <p:cNvPr id="67" name="TextBox 19"/>
            <p:cNvSpPr txBox="1"/>
            <p:nvPr/>
          </p:nvSpPr>
          <p:spPr>
            <a:xfrm>
              <a:off x="757238" y="4178141"/>
              <a:ext cx="320921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RS-232 UART receiver and BCD 7-segment display logic</a:t>
              </a:r>
            </a:p>
          </p:txBody>
        </p:sp>
        <p:sp>
          <p:nvSpPr>
            <p:cNvPr id="68" name="Rectangle 20"/>
            <p:cNvSpPr/>
            <p:nvPr/>
          </p:nvSpPr>
          <p:spPr>
            <a:xfrm>
              <a:off x="762000" y="4619625"/>
              <a:ext cx="5000625" cy="1190625"/>
            </a:xfrm>
            <a:prstGeom prst="roundRect">
              <a:avLst>
                <a:gd name="adj" fmla="val 4800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69" name="TextBox 21"/>
            <p:cNvSpPr txBox="1"/>
            <p:nvPr/>
          </p:nvSpPr>
          <p:spPr>
            <a:xfrm>
              <a:off x="900112" y="4779645"/>
              <a:ext cx="126156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6A34A"/>
                  </a:solidFill>
                  <a:latin typeface="+mj-lt"/>
                  <a:ea typeface="+mn-ea"/>
                  <a:cs typeface="+mn-cs"/>
                </a:rPr>
                <a:t>Academic Milestone:</a:t>
              </a:r>
            </a:p>
          </p:txBody>
        </p:sp>
        <p:sp>
          <p:nvSpPr>
            <p:cNvPr id="70" name="TextBox 22"/>
            <p:cNvSpPr txBox="1"/>
            <p:nvPr/>
          </p:nvSpPr>
          <p:spPr>
            <a:xfrm>
              <a:off x="900112" y="5035391"/>
              <a:ext cx="257923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Completed full IC Design &amp; DV capstone flow:</a:t>
              </a:r>
            </a:p>
          </p:txBody>
        </p:sp>
        <p:sp>
          <p:nvSpPr>
            <p:cNvPr id="71" name="TextBox 23"/>
            <p:cNvSpPr txBox="1"/>
            <p:nvPr/>
          </p:nvSpPr>
          <p:spPr>
            <a:xfrm>
              <a:off x="900112" y="5255895"/>
              <a:ext cx="408765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Signal Theory → RTL Cores → DPI-C Verification → Silicon Proof</a:t>
              </a:r>
            </a:p>
          </p:txBody>
        </p:sp>
      </p:grpSp>
      <p:grpSp>
        <p:nvGrpSpPr>
          <p:cNvPr id="72" name="box_roadmap"/>
          <p:cNvGrpSpPr/>
          <p:nvPr/>
        </p:nvGrpSpPr>
        <p:grpSpPr>
          <a:xfrm>
            <a:off x="6148348" y="1756885"/>
            <a:ext cx="5381625" cy="4762500"/>
            <a:chOff x="6238875" y="1285875"/>
            <a:chExt cx="5381625" cy="4762500"/>
          </a:xfrm>
        </p:grpSpPr>
        <p:sp>
          <p:nvSpPr>
            <p:cNvPr id="73" name="Rectangle 25"/>
            <p:cNvSpPr/>
            <p:nvPr/>
          </p:nvSpPr>
          <p:spPr>
            <a:xfrm>
              <a:off x="6238875" y="1285875"/>
              <a:ext cx="5381625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4" name="Rectangle 26"/>
            <p:cNvSpPr/>
            <p:nvPr/>
          </p:nvSpPr>
          <p:spPr>
            <a:xfrm>
              <a:off x="6238875" y="1285875"/>
              <a:ext cx="5381625" cy="400050"/>
            </a:xfrm>
            <a:prstGeom prst="roundRect">
              <a:avLst>
                <a:gd name="adj" fmla="val 19048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75" name="TextBox 27"/>
            <p:cNvSpPr txBox="1"/>
            <p:nvPr/>
          </p:nvSpPr>
          <p:spPr>
            <a:xfrm>
              <a:off x="6424041" y="1429702"/>
              <a:ext cx="306462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FUTURE TECHNICAL EXTENSIONS</a:t>
              </a:r>
            </a:p>
          </p:txBody>
        </p:sp>
        <p:sp>
          <p:nvSpPr>
            <p:cNvPr id="76" name="TextBox 28"/>
            <p:cNvSpPr txBox="1"/>
            <p:nvPr/>
          </p:nvSpPr>
          <p:spPr>
            <a:xfrm>
              <a:off x="6424422" y="1847374"/>
              <a:ext cx="249427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Extension 1: Multi-Variable Ridge Model</a:t>
              </a:r>
            </a:p>
          </p:txBody>
        </p:sp>
        <p:sp>
          <p:nvSpPr>
            <p:cNvPr id="77" name="TextBox 29"/>
            <p:cNvSpPr txBox="1"/>
            <p:nvPr/>
          </p:nvSpPr>
          <p:spPr>
            <a:xfrm>
              <a:off x="6424612" y="2082641"/>
              <a:ext cx="356828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Integrates Relative Humidity (RH2M) and Surface Pressure (PS)</a:t>
              </a:r>
            </a:p>
          </p:txBody>
        </p:sp>
        <p:sp>
          <p:nvSpPr>
            <p:cNvPr id="78" name="TextBox 30"/>
            <p:cNvSpPr txBox="1"/>
            <p:nvPr/>
          </p:nvSpPr>
          <p:spPr>
            <a:xfrm>
              <a:off x="6424612" y="2273141"/>
              <a:ext cx="351057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Ridge-6 benchmarked: MAE = 0.509°C (-5.4% error reduction)</a:t>
              </a:r>
            </a:p>
          </p:txBody>
        </p:sp>
        <p:sp>
          <p:nvSpPr>
            <p:cNvPr id="79" name="TextBox 31"/>
            <p:cNvSpPr txBox="1"/>
            <p:nvPr/>
          </p:nvSpPr>
          <p:spPr>
            <a:xfrm>
              <a:off x="6424422" y="2609374"/>
              <a:ext cx="281327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Extension 2: On-Chip Online LMS Adaptation</a:t>
              </a:r>
            </a:p>
          </p:txBody>
        </p:sp>
        <p:sp>
          <p:nvSpPr>
            <p:cNvPr id="80" name="TextBox 32"/>
            <p:cNvSpPr txBox="1"/>
            <p:nvPr/>
          </p:nvSpPr>
          <p:spPr>
            <a:xfrm>
              <a:off x="6424612" y="2844641"/>
              <a:ext cx="348973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On-chip Least Mean Squares weight updates for seasonal shifts</a:t>
              </a:r>
            </a:p>
          </p:txBody>
        </p:sp>
        <p:sp>
          <p:nvSpPr>
            <p:cNvPr id="81" name="TextBox 33"/>
            <p:cNvSpPr txBox="1"/>
            <p:nvPr/>
          </p:nvSpPr>
          <p:spPr>
            <a:xfrm>
              <a:off x="6424612" y="3035141"/>
              <a:ext cx="343683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Hardware footprint: +1 error subtractor and +3 scaling shifters</a:t>
              </a:r>
            </a:p>
          </p:txBody>
        </p:sp>
        <p:sp>
          <p:nvSpPr>
            <p:cNvPr id="82" name="TextBox 34"/>
            <p:cNvSpPr txBox="1"/>
            <p:nvPr/>
          </p:nvSpPr>
          <p:spPr>
            <a:xfrm>
              <a:off x="6424422" y="3371374"/>
              <a:ext cx="207588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Extension 3: ASIC Tape-Out Flow</a:t>
              </a:r>
            </a:p>
          </p:txBody>
        </p:sp>
        <p:sp>
          <p:nvSpPr>
            <p:cNvPr id="115" name="TextBox 35"/>
            <p:cNvSpPr txBox="1"/>
            <p:nvPr/>
          </p:nvSpPr>
          <p:spPr>
            <a:xfrm>
              <a:off x="6424612" y="3606641"/>
              <a:ext cx="313387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Synthesize targeting SkyWater 130nm PDK (OpenLane)</a:t>
              </a:r>
            </a:p>
          </p:txBody>
        </p:sp>
        <p:sp>
          <p:nvSpPr>
            <p:cNvPr id="116" name="TextBox 36"/>
            <p:cNvSpPr txBox="1"/>
            <p:nvPr/>
          </p:nvSpPr>
          <p:spPr>
            <a:xfrm>
              <a:off x="6424612" y="3797141"/>
              <a:ext cx="312104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34155"/>
                </a:buClr>
                <a:buSzTx/>
                <a:buFontTx/>
                <a:buChar char="•"/>
              </a:pPr>
              <a:r>
                <a:rPr lang="en" sz="1050" dirty="0">
                  <a:solidFill>
                    <a:srgbClr val="334155"/>
                  </a:solidFill>
                  <a:latin typeface="+mj-lt"/>
                  <a:ea typeface="+mn-ea"/>
                  <a:cs typeface="+mn-cs"/>
                </a:rPr>
                <a:t>Estimated die area: &lt;0.05 mm² with sub-milliwatt power</a:t>
              </a:r>
            </a:p>
          </p:txBody>
        </p:sp>
        <p:sp>
          <p:nvSpPr>
            <p:cNvPr id="117" name="Rectangle 37"/>
            <p:cNvSpPr/>
            <p:nvPr/>
          </p:nvSpPr>
          <p:spPr>
            <a:xfrm>
              <a:off x="6429375" y="4619625"/>
              <a:ext cx="5000625" cy="1190625"/>
            </a:xfrm>
            <a:prstGeom prst="roundRect">
              <a:avLst>
                <a:gd name="adj" fmla="val 4800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sp>
        <p:sp>
          <p:nvSpPr>
            <p:cNvPr id="118" name="TextBox 38"/>
            <p:cNvSpPr txBox="1"/>
            <p:nvPr/>
          </p:nvSpPr>
          <p:spPr>
            <a:xfrm>
              <a:off x="6567488" y="4779645"/>
              <a:ext cx="136736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00" b="1" dirty="0">
                  <a:solidFill>
                    <a:srgbClr val="1E3A8A"/>
                  </a:solidFill>
                  <a:latin typeface="+mj-lt"/>
                  <a:ea typeface="+mn-ea"/>
                  <a:cs typeface="+mn-cs"/>
                </a:rPr>
                <a:t>Immediate Next Steps:</a:t>
              </a:r>
            </a:p>
          </p:txBody>
        </p:sp>
        <p:sp>
          <p:nvSpPr>
            <p:cNvPr id="119" name="TextBox 39"/>
            <p:cNvSpPr txBox="1"/>
            <p:nvPr/>
          </p:nvSpPr>
          <p:spPr>
            <a:xfrm>
              <a:off x="6567488" y="5035391"/>
              <a:ext cx="334707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1. Hardware demo video on physical Altera DE2 FPGA board</a:t>
              </a:r>
            </a:p>
          </p:txBody>
        </p:sp>
        <p:sp>
          <p:nvSpPr>
            <p:cNvPr id="120" name="TextBox 40"/>
            <p:cNvSpPr txBox="1"/>
            <p:nvPr/>
          </p:nvSpPr>
          <p:spPr>
            <a:xfrm>
              <a:off x="6567488" y="5263991"/>
              <a:ext cx="356668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rgbClr val="0F172A"/>
                  </a:solidFill>
                  <a:latin typeface="+mj-lt"/>
                  <a:ea typeface="+mn-ea"/>
                  <a:cs typeface="+mn-cs"/>
                </a:rPr>
                <a:t>2. Final technical report submission with Quartus II timing reports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083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FCE Green v2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0071FF"/>
      </a:accent2>
      <a:accent3>
        <a:srgbClr val="38EF7D"/>
      </a:accent3>
      <a:accent4>
        <a:srgbClr val="029676"/>
      </a:accent4>
      <a:accent5>
        <a:srgbClr val="F5AF19"/>
      </a:accent5>
      <a:accent6>
        <a:srgbClr val="F12711"/>
      </a:accent6>
      <a:hlink>
        <a:srgbClr val="6B9F25"/>
      </a:hlink>
      <a:folHlink>
        <a:srgbClr val="BA6906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50000"/>
          </a:schemeClr>
        </a:solidFill>
        <a:ln>
          <a:noFill/>
        </a:ln>
      </a:spPr>
      <a:bodyPr rtlCol="0" anchor="ctr"/>
      <a:lstStyle>
        <a:defPPr algn="ctr">
          <a:defRPr dirty="0">
            <a:solidFill>
              <a:schemeClr val="accent4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 cap="rnd">
          <a:solidFill>
            <a:schemeClr val="accent3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spcBef>
            <a:spcPts val="300"/>
          </a:spcBef>
          <a:spcAft>
            <a:spcPts val="30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4A2634C-94C6-41FE-8250-CD47CE5D54F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a3bb1e1-4be2-4759-bb9e-09a3b89d76e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7183</TotalTime>
  <Words>4596</Words>
  <Application>Microsoft Office PowerPoint</Application>
  <PresentationFormat>Custom</PresentationFormat>
  <Paragraphs>800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TEMPERATURE FORECAST 3 HOURS AHEAD ON FPGA</vt:lpstr>
      <vt:lpstr>FPGA Edge Temperature Predictor</vt:lpstr>
      <vt:lpstr>Project Overview: Three Engineering Pillars</vt:lpstr>
      <vt:lpstr>Meteorological Signal &amp; Diurnal Temperature Waveform</vt:lpstr>
      <vt:lpstr>Diurnal Residual Ordinary Least Squares Model</vt:lpstr>
      <vt:lpstr>PowerPoint Presentation</vt:lpstr>
      <vt:lpstr>Hardware Benchmarks vs Published FPGA Linear Solvers</vt:lpstr>
      <vt:lpstr>Precision Contract: Signed Q8.8 &amp; Q2.14 Bitfields</vt:lpstr>
      <vt:lpstr>Binary Radix Alignment &amp; Arithmetic Bit Growth</vt:lpstr>
      <vt:lpstr>Truncation Analysis: Floor Scaling vs Silicon Cost</vt:lpstr>
      <vt:lpstr>Saturation Arithmetic: Sat16 Transfer Function</vt:lpstr>
      <vt:lpstr>Dual Implementations: Speed Core vs Resource Core</vt:lpstr>
      <vt:lpstr>Speed Core: 6-Stage Pipelined Datapath Schematic (II = 1)</vt:lpstr>
      <vt:lpstr>Speed Core: Cycle-Accurate Timing Waveforms &amp; Handshake</vt:lpstr>
      <vt:lpstr>Resource Core: 10-State FSM &amp; Multiplier Time-Multiplexing</vt:lpstr>
      <vt:lpstr>Dual Top-Module Architectures: Speed vs Resource Wrappers</vt:lpstr>
      <vt:lpstr>Dual Top-Module Architectures: Speed vs Resource Wrappers</vt:lpstr>
      <vt:lpstr>Closed-Loop SystemVerilog &amp; DPI-C Co-Simulation</vt:lpstr>
      <vt:lpstr>Verification Coverage &amp; Edge Corner-Case Analysis</vt:lpstr>
      <vt:lpstr>Altera Cyclone II (EP2C35F672C6) Physical Synthesis Results</vt:lpstr>
      <vt:lpstr>In-Silico Validation on 2-Year Continuous Test Data</vt:lpstr>
      <vt:lpstr>Engineering Summary, Contributions &amp; Extension Roadmap</vt:lpstr>
    </vt:vector>
  </TitlesOfParts>
  <Manager>9Slide.vn</Manager>
  <Company>9Slide.vn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NDC</dc:creator>
  <dc:description>9Slide.vn</dc:description>
  <cp:lastModifiedBy>NDC</cp:lastModifiedBy>
  <cp:revision>795</cp:revision>
  <dcterms:created xsi:type="dcterms:W3CDTF">2022-06-26T12:27:32Z</dcterms:created>
  <dcterms:modified xsi:type="dcterms:W3CDTF">2026-10-09T02:43:49Z</dcterms:modified>
  <cp:category>9Slide.vn</cp:category>
</cp:coreProperties>
</file>