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pga_temp_predicto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pga_temp_predicto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hero_header"/>
          <p:cNvGrpSpPr/>
          <p:nvPr/>
        </p:nvGrpSpPr>
        <p:grpSpPr>
          <a:xfrm>
            <a:off x="571500" y="381000"/>
            <a:ext cx="11049000" cy="2286000"/>
            <a:chOff x="571500" y="381000"/>
            <a:chExt cx="11049000" cy="2286000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11049000" cy="2286000"/>
            </a:xfrm>
            <a:prstGeom prst="roundRect">
              <a:avLst>
                <a:gd name="adj" fmla="val 5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381000"/>
              <a:ext cx="76200" cy="2286000"/>
            </a:xfrm>
            <a:prstGeom prst="roundRect">
              <a:avLst>
                <a:gd name="adj" fmla="val 50000"/>
              </a:avLst>
            </a:prstGeom>
            <a:solidFill>
              <a:srgbClr val="48CAE4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57250" y="619125"/>
              <a:ext cx="4381500" cy="247650"/>
            </a:xfrm>
            <a:prstGeom prst="roundRect">
              <a:avLst>
                <a:gd name="adj" fmla="val 15385"/>
              </a:avLst>
            </a:prstGeom>
            <a:solidFill>
              <a:srgbClr val="48CAE4">
                <a:alpha val="15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47738" y="693420"/>
              <a:ext cx="45545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CE436: DISCRETE-TIME SIGNAL PROCESSING &amp; APPLICATIONS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43534" y="1042035"/>
              <a:ext cx="73371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FPGA-Based Edge Temperature Predictor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9630" y="1552575"/>
              <a:ext cx="58690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Dual-Architecture RTL Design &amp; Bit-Exact DPI-C Verification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1535" y="1926431"/>
              <a:ext cx="6500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Fixed-Point Diurnal Residual Modeling on Altera Cyclone II (DE2) | 50 MHz Real-Time Inference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2238375"/>
              <a:ext cx="2952750" cy="228600"/>
            </a:xfrm>
            <a:prstGeom prst="roundRect">
              <a:avLst>
                <a:gd name="adj" fmla="val 16667"/>
              </a:avLst>
            </a:prstGeom>
            <a:solidFill>
              <a:srgbClr val="10B981">
                <a:alpha val="2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7738" y="2303145"/>
              <a:ext cx="3018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HARDWARE VERIFIED: 100% BIT-EXACT MATCH</a:t>
              </a:r>
            </a:p>
          </p:txBody>
        </p:sp>
      </p:grpSp>
      <p:grpSp>
        <p:nvGrpSpPr>
          <p:cNvPr id="24" name="card_platform"/>
          <p:cNvGrpSpPr/>
          <p:nvPr/>
        </p:nvGrpSpPr>
        <p:grpSpPr>
          <a:xfrm>
            <a:off x="571500" y="2952750"/>
            <a:ext cx="3476625" cy="2905125"/>
            <a:chOff x="571500" y="2952750"/>
            <a:chExt cx="3476625" cy="2905125"/>
          </a:xfrm>
        </p:grpSpPr>
        <p:sp>
          <p:nvSpPr>
            <p:cNvPr id="12" name="Rectangle 12"/>
            <p:cNvSpPr/>
            <p:nvPr/>
          </p:nvSpPr>
          <p:spPr>
            <a:xfrm>
              <a:off x="571500" y="2952750"/>
              <a:ext cx="3476625" cy="2905125"/>
            </a:xfrm>
            <a:prstGeom prst="roundRect">
              <a:avLst>
                <a:gd name="adj" fmla="val 327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952750"/>
              <a:ext cx="3476625" cy="3810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666" y="3087052"/>
              <a:ext cx="1844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TARGET PLATFORM &amp; IO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666" y="3506152"/>
              <a:ext cx="1000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Target Silicon: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723799"/>
              <a:ext cx="20252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Altera Cyclone II EP2C35F672C6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4030028"/>
              <a:ext cx="14027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Development Board: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4247674"/>
              <a:ext cx="18722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Altera DE2 Development Board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666" y="4553902"/>
              <a:ext cx="19415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Clocking &amp; Serial Telemetry: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771549"/>
              <a:ext cx="231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50.000 MHz Oscillator | RS-232 UART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981099"/>
              <a:ext cx="22658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115,200 Baud (16x Oversampling RX)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5334000"/>
              <a:ext cx="3095625" cy="342900"/>
            </a:xfrm>
            <a:prstGeom prst="roundRect">
              <a:avLst>
                <a:gd name="adj" fmla="val 16667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0112" y="5455920"/>
              <a:ext cx="25310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Resource Budget: 35 Embedded Multipliers</a:t>
              </a:r>
            </a:p>
          </p:txBody>
        </p:sp>
      </p:grpSp>
      <p:grpSp>
        <p:nvGrpSpPr>
          <p:cNvPr id="37" name="card_pipeline"/>
          <p:cNvGrpSpPr/>
          <p:nvPr/>
        </p:nvGrpSpPr>
        <p:grpSpPr>
          <a:xfrm>
            <a:off x="4333875" y="2952750"/>
            <a:ext cx="3476625" cy="2905125"/>
            <a:chOff x="4333875" y="2952750"/>
            <a:chExt cx="3476625" cy="2905125"/>
          </a:xfrm>
        </p:grpSpPr>
        <p:sp>
          <p:nvSpPr>
            <p:cNvPr id="25" name="Rectangle 25"/>
            <p:cNvSpPr/>
            <p:nvPr/>
          </p:nvSpPr>
          <p:spPr>
            <a:xfrm>
              <a:off x="4333875" y="2952750"/>
              <a:ext cx="3476625" cy="2905125"/>
            </a:xfrm>
            <a:prstGeom prst="roundRect">
              <a:avLst>
                <a:gd name="adj" fmla="val 327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33875" y="2952750"/>
              <a:ext cx="3476625" cy="3810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19041" y="3087052"/>
              <a:ext cx="1620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ENGINEERING SCOPE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9041" y="3506152"/>
              <a:ext cx="12996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Algorithmic Model: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9422" y="3723799"/>
              <a:ext cx="26218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Diurnal Residual OLS Regression (3 Terms)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9041" y="4030028"/>
              <a:ext cx="2080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Dual RTL Micro-Architectures: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9422" y="4247674"/>
              <a:ext cx="23357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Speed Core: Pipelined, II=1, 50 MSps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19422" y="4457224"/>
              <a:ext cx="2685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Resource Core: 10-State FSM, Shared Mult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19041" y="4763452"/>
              <a:ext cx="1793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Verification Infrastructure: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9422" y="4981099"/>
              <a:ext cx="2511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SystemVerilog Driver + DPI-C C++ Oracle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524375" y="5334000"/>
              <a:ext cx="3095625" cy="342900"/>
            </a:xfrm>
            <a:prstGeom prst="roundRect">
              <a:avLst>
                <a:gd name="adj" fmla="val 16667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62488" y="5455920"/>
              <a:ext cx="2540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Quantization: Signed Q8.8 &amp; Q2.14 Formats</a:t>
              </a:r>
            </a:p>
          </p:txBody>
        </p:sp>
      </p:grpSp>
      <p:grpSp>
        <p:nvGrpSpPr>
          <p:cNvPr id="50" name="card_status"/>
          <p:cNvGrpSpPr/>
          <p:nvPr/>
        </p:nvGrpSpPr>
        <p:grpSpPr>
          <a:xfrm>
            <a:off x="8096250" y="2952750"/>
            <a:ext cx="3524250" cy="2905125"/>
            <a:chOff x="8096250" y="2952750"/>
            <a:chExt cx="3524250" cy="2905125"/>
          </a:xfrm>
        </p:grpSpPr>
        <p:sp>
          <p:nvSpPr>
            <p:cNvPr id="38" name="Rectangle 38"/>
            <p:cNvSpPr/>
            <p:nvPr/>
          </p:nvSpPr>
          <p:spPr>
            <a:xfrm>
              <a:off x="8096250" y="2952750"/>
              <a:ext cx="3524250" cy="2905125"/>
            </a:xfrm>
            <a:prstGeom prst="roundRect">
              <a:avLst>
                <a:gd name="adj" fmla="val 327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096250" y="2952750"/>
              <a:ext cx="3524250" cy="3810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81416" y="3087052"/>
              <a:ext cx="2342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PROJECT DEFENSE METADATA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81416" y="3506152"/>
              <a:ext cx="1363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/ Presenter: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81797" y="3723799"/>
              <a:ext cx="22101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Khoa Le &amp; Project Engineering Team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1416" y="4030028"/>
              <a:ext cx="1425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Specialization Track: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81797" y="4247674"/>
              <a:ext cx="2657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Undergraduate IC Design &amp; Verification (DV)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81416" y="4553902"/>
              <a:ext cx="13006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Academic Context: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81797" y="4771549"/>
              <a:ext cx="2351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Semester 5 Capstone Defense | CE436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286750" y="5286375"/>
              <a:ext cx="3143250" cy="419100"/>
            </a:xfrm>
            <a:prstGeom prst="roundRect">
              <a:avLst>
                <a:gd name="adj" fmla="val 13636"/>
              </a:avLst>
            </a:prstGeom>
            <a:solidFill>
              <a:srgbClr val="F77F00">
                <a:alpha val="15000"/>
              </a:srgbClr>
            </a:solidFill>
            <a:ln w="9525">
              <a:solidFill>
                <a:srgbClr val="F77F0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24862" y="5387816"/>
              <a:ext cx="12471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EVALUATION FOCUS: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24862" y="5532120"/>
              <a:ext cx="25878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Mathematical Rigor, RTL Sizing &amp; Bit-Exact DV</a:t>
              </a:r>
            </a:p>
          </p:txBody>
        </p:sp>
      </p:grpSp>
      <p:grpSp>
        <p:nvGrpSpPr>
          <p:cNvPr id="54" name="footer_hero"/>
          <p:cNvGrpSpPr/>
          <p:nvPr/>
        </p:nvGrpSpPr>
        <p:grpSpPr>
          <a:xfrm>
            <a:off x="571500" y="6048375"/>
            <a:ext cx="11049000" cy="476250"/>
            <a:chOff x="571500" y="6048375"/>
            <a:chExt cx="11049000" cy="476250"/>
          </a:xfrm>
        </p:grpSpPr>
        <p:sp>
          <p:nvSpPr>
            <p:cNvPr id="51" name="Rectangle 51"/>
            <p:cNvSpPr/>
            <p:nvPr/>
          </p:nvSpPr>
          <p:spPr>
            <a:xfrm>
              <a:off x="571500" y="6048375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1E2D4A"/>
            </a:solidFill>
            <a:ln w="9525">
              <a:solidFill>
                <a:srgbClr val="2A3D6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4672" y="6228874"/>
              <a:ext cx="5368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FACULTY OF COMPUTER ENGINEERING — INTEGRATED CIRCUIT DESIGN LAB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09836" y="6228874"/>
              <a:ext cx="6774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Slide 1 / 22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2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8843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PROJECT STRUCTURE &amp; WORKFLOW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60646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Full-Stack IC Design Flow: From Math to Silicon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1347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Division of engineering responsibilities across algorithm, micro-architecture, and verification pillars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26" name="pillar_algo"/>
          <p:cNvGrpSpPr/>
          <p:nvPr/>
        </p:nvGrpSpPr>
        <p:grpSpPr>
          <a:xfrm>
            <a:off x="571500" y="1285875"/>
            <a:ext cx="3476625" cy="4762500"/>
            <a:chOff x="571500" y="1285875"/>
            <a:chExt cx="3476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3476625" cy="4762500"/>
            </a:xfrm>
            <a:prstGeom prst="roundRect">
              <a:avLst>
                <a:gd name="adj" fmla="val 274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3476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226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PILLAR 1: DSP &amp; ALGORITHMS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1878806"/>
              <a:ext cx="19859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Meteorological Time-Series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133124"/>
              <a:ext cx="2416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NASA POWER satellite API integration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323624"/>
              <a:ext cx="25232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5-year HCMC hourly dataset (43,800 pts)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514124"/>
              <a:ext cx="21714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Diurnal residual formulation: T(t-21)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285" y="2878931"/>
              <a:ext cx="1735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Model Benchmark Suite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133249"/>
              <a:ext cx="22370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Evaluated OLS, Ridge, MLP, GBDT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323749"/>
              <a:ext cx="24627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Offline OLS parameter extraction in C++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514249"/>
              <a:ext cx="20975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Target MAE: 0.538°C on test data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3879056"/>
              <a:ext cx="1813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Numerical Specifications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133374"/>
              <a:ext cx="26161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Signed Q8.8 inputs &amp; outputs (LSB=1/256)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323874"/>
              <a:ext cx="21641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Signed Q2.14 multiplier coefficients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514374"/>
              <a:ext cx="21304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Symmetric rounding &amp; floor scaling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5048250"/>
              <a:ext cx="3095625" cy="809625"/>
            </a:xfrm>
            <a:prstGeom prst="roundRect">
              <a:avLst>
                <a:gd name="adj" fmla="val 7059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0112" y="5189220"/>
              <a:ext cx="12284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Deliverable Artifacts: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0112" y="5379720"/>
              <a:ext cx="18033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data/hcmc_t2m_2021_2025.csv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0112" y="5570220"/>
              <a:ext cx="22608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software/train_models.py, benchmark.py</a:t>
              </a:r>
            </a:p>
          </p:txBody>
        </p:sp>
      </p:grpSp>
      <p:grpSp>
        <p:nvGrpSpPr>
          <p:cNvPr id="46" name="pillar_rtl"/>
          <p:cNvGrpSpPr/>
          <p:nvPr/>
        </p:nvGrpSpPr>
        <p:grpSpPr>
          <a:xfrm>
            <a:off x="4333875" y="1285875"/>
            <a:ext cx="3476625" cy="4762500"/>
            <a:chOff x="4333875" y="1285875"/>
            <a:chExt cx="3476625" cy="4762500"/>
          </a:xfrm>
        </p:grpSpPr>
        <p:sp>
          <p:nvSpPr>
            <p:cNvPr id="27" name="Rectangle 27"/>
            <p:cNvSpPr/>
            <p:nvPr/>
          </p:nvSpPr>
          <p:spPr>
            <a:xfrm>
              <a:off x="4333875" y="1285875"/>
              <a:ext cx="3476625" cy="4762500"/>
            </a:xfrm>
            <a:prstGeom prst="roundRect">
              <a:avLst>
                <a:gd name="adj" fmla="val 274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33875" y="1285875"/>
              <a:ext cx="3476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19041" y="1429702"/>
              <a:ext cx="2972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PILLAR 2: MICRO-ARCHITECTURE &amp; RTL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8660" y="1878806"/>
              <a:ext cx="2619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Speed Core (temp_predictor_speed)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9422" y="2133124"/>
              <a:ext cx="21894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Fully pipelined 6-stage feed-forward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19422" y="2323624"/>
              <a:ext cx="2071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Initiation Interval II = 1 clock cycle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19422" y="2514124"/>
              <a:ext cx="2575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Throughput: 50 MSamples/sec @ 50 MHz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8660" y="2878931"/>
              <a:ext cx="3055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Resource Core (temp_predictor_resource)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9422" y="3133249"/>
              <a:ext cx="2488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Time-multiplexed 10-state FSM datapath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9422" y="3323749"/>
              <a:ext cx="23957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Shares 1 DSP mult &amp; 1 subtractor ALU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19422" y="3514249"/>
              <a:ext cx="2483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Backpressure handshake: sample_ready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18660" y="3879056"/>
              <a:ext cx="1911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Top-Level SoC Integration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19422" y="4133374"/>
              <a:ext cx="23637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115,200 Baud UART RX/TX telemetry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19422" y="4323874"/>
              <a:ext cx="21543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Packet parser, formatter, and FIFO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19422" y="4514374"/>
              <a:ext cx="2284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Metastability reset_sync synchronizer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524375" y="5048250"/>
              <a:ext cx="3095625" cy="809625"/>
            </a:xfrm>
            <a:prstGeom prst="roundRect">
              <a:avLst>
                <a:gd name="adj" fmla="val 7059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62488" y="5189220"/>
              <a:ext cx="12284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Deliverable Artifacts: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62488" y="5379720"/>
              <a:ext cx="20696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hardware/speed_optimized/ (Verilog)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62488" y="5570220"/>
              <a:ext cx="22107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hardware/resource_optimized/ (Verilog)</a:t>
              </a:r>
            </a:p>
          </p:txBody>
        </p:sp>
      </p:grpSp>
      <p:grpSp>
        <p:nvGrpSpPr>
          <p:cNvPr id="66" name="pillar_dv"/>
          <p:cNvGrpSpPr/>
          <p:nvPr/>
        </p:nvGrpSpPr>
        <p:grpSpPr>
          <a:xfrm>
            <a:off x="8096250" y="1285875"/>
            <a:ext cx="3524250" cy="4762500"/>
            <a:chOff x="8096250" y="1285875"/>
            <a:chExt cx="3524250" cy="4762500"/>
          </a:xfrm>
        </p:grpSpPr>
        <p:sp>
          <p:nvSpPr>
            <p:cNvPr id="47" name="Rectangle 47"/>
            <p:cNvSpPr/>
            <p:nvPr/>
          </p:nvSpPr>
          <p:spPr>
            <a:xfrm>
              <a:off x="8096250" y="1285875"/>
              <a:ext cx="3524250" cy="4762500"/>
            </a:xfrm>
            <a:prstGeom prst="roundRect">
              <a:avLst>
                <a:gd name="adj" fmla="val 2703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96250" y="1285875"/>
              <a:ext cx="3524250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81416" y="1429702"/>
              <a:ext cx="2425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PILLAR 3: VERIFICATION &amp; FPGA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81035" y="1878806"/>
              <a:ext cx="2123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SystemVerilog DPI-C Co-Sim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81797" y="2133124"/>
              <a:ext cx="27955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Live C++ reference oracle (ols_reference.hpp)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81797" y="2323624"/>
              <a:ext cx="22258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Cycle-accurate scoreboard checking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81797" y="2514124"/>
              <a:ext cx="24812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Zero-tolerance: 0 LSB mismatch allowed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81035" y="2878931"/>
              <a:ext cx="1969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7-Phase Corner-Case Suite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81797" y="3133249"/>
              <a:ext cx="23758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24-sample warm-up lockout verification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81797" y="3323749"/>
              <a:ext cx="26074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Extreme thermal saturation sweeps (sat16)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81797" y="3514249"/>
              <a:ext cx="22292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4,096-sample bursts &amp; random stalls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81035" y="3879056"/>
              <a:ext cx="21546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Cyclone II Physical Synthesis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81797" y="4133374"/>
              <a:ext cx="23172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Fmax &gt; 125 MHz (2.5x timing margin)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81797" y="4323874"/>
              <a:ext cx="23431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Resource usage: &lt;1% Logic Elements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81797" y="4514374"/>
              <a:ext cx="22215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Ultra-low power: ~11.8 mW dynamic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286750" y="5048250"/>
              <a:ext cx="3143250" cy="809625"/>
            </a:xfrm>
            <a:prstGeom prst="roundRect">
              <a:avLst>
                <a:gd name="adj" fmla="val 7059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24862" y="5189220"/>
              <a:ext cx="12284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Deliverable Artifacts: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24862" y="5379720"/>
              <a:ext cx="18703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hardware/tb/ols_tb_driver.sv, dpi/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24862" y="5570220"/>
              <a:ext cx="2224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100% test pass rate on 10,000+ vectors</a:t>
              </a:r>
            </a:p>
          </p:txBody>
        </p:sp>
      </p:grpSp>
      <p:grpSp>
        <p:nvGrpSpPr>
          <p:cNvPr id="71" name="ftr_02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67" name="Rectangle 67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090547" y="6362224"/>
              <a:ext cx="60904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Pillar Metrics: 43,800 Dataset Samples | 2 Synthesizable RTL Cores | 100% Bit-Exact DPI-C Coverage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3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0635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PRESENTATION ROADMAP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64253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Technical Agenda: 4 Sequential Phases of Defense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657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Structured walkthrough of theoretical derivation, fixed-point sizing, RTL micro-architecture, and verification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25" name="agenda_col_1"/>
          <p:cNvGrpSpPr/>
          <p:nvPr/>
        </p:nvGrpSpPr>
        <p:grpSpPr>
          <a:xfrm>
            <a:off x="571500" y="1285875"/>
            <a:ext cx="2571750" cy="4762500"/>
            <a:chOff x="571500" y="1285875"/>
            <a:chExt cx="257175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2571750" cy="4762500"/>
            </a:xfrm>
            <a:prstGeom prst="roundRect">
              <a:avLst>
                <a:gd name="adj" fmla="val 3704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2571750" cy="476250"/>
            </a:xfrm>
            <a:prstGeom prst="roundRect">
              <a:avLst>
                <a:gd name="adj" fmla="val 20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285875"/>
              <a:ext cx="38100" cy="47625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9612" y="1406366"/>
              <a:ext cx="23745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3B82F6"/>
                  </a:solidFill>
                  <a:latin typeface="+mn-lt"/>
                  <a:ea typeface="+mn-ea"/>
                  <a:cs typeface="+mn-cs"/>
                </a:rPr>
                <a:t>PHASE I: MATHEMATICAL FOUNDATIONS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9612" y="1560195"/>
              <a:ext cx="6486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Slides 4 – 7</a:t>
              </a:r>
            </a:p>
          </p:txBody>
        </p:sp>
        <p:grpSp>
          <p:nvGrpSpPr>
            <p:cNvPr id="24" name="agenda_items_1"/>
            <p:cNvGrpSpPr/>
            <p:nvPr/>
          </p:nvGrpSpPr>
          <p:grpSpPr>
            <a:xfrm>
              <a:off x="685800" y="1952625"/>
              <a:ext cx="2343150" cy="1771650"/>
              <a:chOff x="685800" y="1952625"/>
              <a:chExt cx="2343150" cy="17716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85800" y="19526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76288" y="2035016"/>
                <a:ext cx="3694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4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76288" y="2168366"/>
                <a:ext cx="1852274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Problem Formulation &amp; Edge Context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685800" y="24098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76288" y="2492216"/>
                <a:ext cx="3694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5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76288" y="2625566"/>
                <a:ext cx="157506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Diurnal Residual Math Equation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685800" y="28670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6288" y="2949416"/>
                <a:ext cx="3694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6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6288" y="3082766"/>
                <a:ext cx="179915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ML Benchmark Suite (OLS vs MLP)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685800" y="33242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76288" y="3406616"/>
                <a:ext cx="3694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7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76288" y="3539966"/>
                <a:ext cx="160263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Hardware vs Accuracy Trade-off</a:t>
                </a:r>
              </a:p>
            </p:txBody>
          </p:sp>
        </p:grpSp>
      </p:grpSp>
      <p:grpSp>
        <p:nvGrpSpPr>
          <p:cNvPr id="44" name="agenda_col_2"/>
          <p:cNvGrpSpPr/>
          <p:nvPr/>
        </p:nvGrpSpPr>
        <p:grpSpPr>
          <a:xfrm>
            <a:off x="3381375" y="1285875"/>
            <a:ext cx="2571750" cy="4762500"/>
            <a:chOff x="3381375" y="1285875"/>
            <a:chExt cx="2571750" cy="4762500"/>
          </a:xfrm>
        </p:grpSpPr>
        <p:sp>
          <p:nvSpPr>
            <p:cNvPr id="26" name="Rectangle 26"/>
            <p:cNvSpPr/>
            <p:nvPr/>
          </p:nvSpPr>
          <p:spPr>
            <a:xfrm>
              <a:off x="3381375" y="1285875"/>
              <a:ext cx="2571750" cy="4762500"/>
            </a:xfrm>
            <a:prstGeom prst="roundRect">
              <a:avLst>
                <a:gd name="adj" fmla="val 3704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81375" y="1285875"/>
              <a:ext cx="2571750" cy="476250"/>
            </a:xfrm>
            <a:prstGeom prst="roundRect">
              <a:avLst>
                <a:gd name="adj" fmla="val 20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381375" y="1285875"/>
              <a:ext cx="38100" cy="476250"/>
            </a:xfrm>
            <a:prstGeom prst="roundRect">
              <a:avLst>
                <a:gd name="adj" fmla="val 50000"/>
              </a:avLst>
            </a:prstGeom>
            <a:solidFill>
              <a:srgbClr val="48CAE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19488" y="1406366"/>
              <a:ext cx="20701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PHASE II: FIXED-POINT ARITHMETIC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19488" y="1560195"/>
              <a:ext cx="7166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Slides 8 – 11</a:t>
              </a:r>
            </a:p>
          </p:txBody>
        </p:sp>
        <p:grpSp>
          <p:nvGrpSpPr>
            <p:cNvPr id="43" name="agenda_items_2"/>
            <p:cNvGrpSpPr/>
            <p:nvPr/>
          </p:nvGrpSpPr>
          <p:grpSpPr>
            <a:xfrm>
              <a:off x="3495675" y="1952625"/>
              <a:ext cx="2343150" cy="1771650"/>
              <a:chOff x="3495675" y="1952625"/>
              <a:chExt cx="2343150" cy="17716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3495675" y="19526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586162" y="2035016"/>
                <a:ext cx="3694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8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586162" y="2168366"/>
                <a:ext cx="180114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Q8.8 &amp; Q2.14 Quantization Contract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3495675" y="24098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3586162" y="2492216"/>
                <a:ext cx="3694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9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586162" y="2625566"/>
                <a:ext cx="14815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Binary Alignment &amp; 35-bit Acc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3495675" y="28670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3586162" y="29494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10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586162" y="3082766"/>
                <a:ext cx="148194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Hardware Floor-Scaling Pitfall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495675" y="33242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586162" y="34066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11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586162" y="3539966"/>
                <a:ext cx="148686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Output Saturation Unit (sat16)</a:t>
                </a:r>
              </a:p>
            </p:txBody>
          </p:sp>
        </p:grpSp>
      </p:grpSp>
      <p:grpSp>
        <p:nvGrpSpPr>
          <p:cNvPr id="66" name="agenda_col_3"/>
          <p:cNvGrpSpPr/>
          <p:nvPr/>
        </p:nvGrpSpPr>
        <p:grpSpPr>
          <a:xfrm>
            <a:off x="6191250" y="1285875"/>
            <a:ext cx="2571750" cy="4762500"/>
            <a:chOff x="6191250" y="1285875"/>
            <a:chExt cx="2571750" cy="4762500"/>
          </a:xfrm>
        </p:grpSpPr>
        <p:sp>
          <p:nvSpPr>
            <p:cNvPr id="45" name="Rectangle 45"/>
            <p:cNvSpPr/>
            <p:nvPr/>
          </p:nvSpPr>
          <p:spPr>
            <a:xfrm>
              <a:off x="6191250" y="1285875"/>
              <a:ext cx="2571750" cy="4762500"/>
            </a:xfrm>
            <a:prstGeom prst="roundRect">
              <a:avLst>
                <a:gd name="adj" fmla="val 3704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191250" y="1285875"/>
              <a:ext cx="2571750" cy="476250"/>
            </a:xfrm>
            <a:prstGeom prst="roundRect">
              <a:avLst>
                <a:gd name="adj" fmla="val 20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91250" y="1285875"/>
              <a:ext cx="38100" cy="476250"/>
            </a:xfrm>
            <a:prstGeom prst="roundRect">
              <a:avLst>
                <a:gd name="adj" fmla="val 50000"/>
              </a:avLst>
            </a:prstGeom>
            <a:solidFill>
              <a:srgbClr val="F77F0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29362" y="1406366"/>
              <a:ext cx="22256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PHASE III: DUAL RTL ARCHITECTURES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29362" y="1560195"/>
              <a:ext cx="7846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Slides 12 – 16</a:t>
              </a:r>
            </a:p>
          </p:txBody>
        </p:sp>
        <p:grpSp>
          <p:nvGrpSpPr>
            <p:cNvPr id="65" name="agenda_items_3"/>
            <p:cNvGrpSpPr/>
            <p:nvPr/>
          </p:nvGrpSpPr>
          <p:grpSpPr>
            <a:xfrm>
              <a:off x="6305550" y="1952625"/>
              <a:ext cx="2343150" cy="2228850"/>
              <a:chOff x="6305550" y="1952625"/>
              <a:chExt cx="2343150" cy="22288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305550" y="19526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396038" y="20350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12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396038" y="2168366"/>
                <a:ext cx="154201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Speed vs Resource Paradigms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6305550" y="24098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396038" y="24922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13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396038" y="2625566"/>
                <a:ext cx="151555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6-Stage Pipelined Speed Core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6305550" y="28670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396038" y="29494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14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396038" y="3082766"/>
                <a:ext cx="163128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Shared Datapath Resource Core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6305550" y="33242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6396038" y="34066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15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396038" y="3539966"/>
                <a:ext cx="121844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10-State FSM Controller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6305550" y="3781425"/>
                <a:ext cx="23431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6396038" y="38638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16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396038" y="3997166"/>
                <a:ext cx="1738624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Top-Level SoC &amp; UART Telemetry</a:t>
                </a:r>
              </a:p>
            </p:txBody>
          </p:sp>
        </p:grpSp>
      </p:grpSp>
      <p:grpSp>
        <p:nvGrpSpPr>
          <p:cNvPr id="91" name="agenda_col_4"/>
          <p:cNvGrpSpPr/>
          <p:nvPr/>
        </p:nvGrpSpPr>
        <p:grpSpPr>
          <a:xfrm>
            <a:off x="9001125" y="1285875"/>
            <a:ext cx="2619375" cy="4762500"/>
            <a:chOff x="9001125" y="1285875"/>
            <a:chExt cx="2619375" cy="4762500"/>
          </a:xfrm>
        </p:grpSpPr>
        <p:sp>
          <p:nvSpPr>
            <p:cNvPr id="67" name="Rectangle 67"/>
            <p:cNvSpPr/>
            <p:nvPr/>
          </p:nvSpPr>
          <p:spPr>
            <a:xfrm>
              <a:off x="9001125" y="1285875"/>
              <a:ext cx="2619375" cy="4762500"/>
            </a:xfrm>
            <a:prstGeom prst="roundRect">
              <a:avLst>
                <a:gd name="adj" fmla="val 3636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001125" y="1285875"/>
              <a:ext cx="2619375" cy="476250"/>
            </a:xfrm>
            <a:prstGeom prst="roundRect">
              <a:avLst>
                <a:gd name="adj" fmla="val 20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001125" y="1285875"/>
              <a:ext cx="38100" cy="47625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139238" y="1406366"/>
              <a:ext cx="21481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PHASE IV: VERIFICATION &amp; DEFENSE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139238" y="1560195"/>
              <a:ext cx="7846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Slides 17 – 22</a:t>
              </a:r>
            </a:p>
          </p:txBody>
        </p:sp>
        <p:grpSp>
          <p:nvGrpSpPr>
            <p:cNvPr id="90" name="agenda_items_4"/>
            <p:cNvGrpSpPr/>
            <p:nvPr/>
          </p:nvGrpSpPr>
          <p:grpSpPr>
            <a:xfrm>
              <a:off x="9115425" y="1952625"/>
              <a:ext cx="2390775" cy="2686050"/>
              <a:chOff x="9115425" y="1952625"/>
              <a:chExt cx="2390775" cy="268605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9115425" y="1952625"/>
                <a:ext cx="2390775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9205912" y="20350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17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205912" y="2168366"/>
                <a:ext cx="169473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SystemVerilog DPI-C Architecture</a:t>
                </a: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9115425" y="2409825"/>
                <a:ext cx="2390775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9205912" y="24922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18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9205912" y="2625566"/>
                <a:ext cx="172756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7-Phase Corner-Case Stress Suite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9115425" y="2867025"/>
                <a:ext cx="2390775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9205912" y="29494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19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9205912" y="3082766"/>
                <a:ext cx="149310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Cyclone II Synthesis &amp; Timing</a:t>
                </a:r>
              </a:p>
            </p:txBody>
          </p:sp>
          <p:sp>
            <p:nvSpPr>
              <p:cNvPr id="81" name="Rectangle 81"/>
              <p:cNvSpPr/>
              <p:nvPr/>
            </p:nvSpPr>
            <p:spPr>
              <a:xfrm>
                <a:off x="9115425" y="3324225"/>
                <a:ext cx="2390775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9205912" y="34066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20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205912" y="3539966"/>
                <a:ext cx="164600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HCMC 2-Year In-Silico Inference</a:t>
                </a:r>
              </a:p>
            </p:txBody>
          </p:sp>
          <p:sp>
            <p:nvSpPr>
              <p:cNvPr id="84" name="Rectangle 84"/>
              <p:cNvSpPr/>
              <p:nvPr/>
            </p:nvSpPr>
            <p:spPr>
              <a:xfrm>
                <a:off x="9115425" y="3781425"/>
                <a:ext cx="2390775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9205912" y="38638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21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9205912" y="3997166"/>
                <a:ext cx="150579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Conclusion &amp; Hardware Demo</a:t>
                </a:r>
              </a:p>
            </p:txBody>
          </p:sp>
          <p:sp>
            <p:nvSpPr>
              <p:cNvPr id="87" name="Rectangle 87"/>
              <p:cNvSpPr/>
              <p:nvPr/>
            </p:nvSpPr>
            <p:spPr>
              <a:xfrm>
                <a:off x="9115425" y="4238625"/>
                <a:ext cx="2390775" cy="400050"/>
              </a:xfrm>
              <a:prstGeom prst="roundRect">
                <a:avLst>
                  <a:gd name="adj" fmla="val 14286"/>
                </a:avLst>
              </a:prstGeom>
              <a:solidFill>
                <a:srgbClr val="0B132B"/>
              </a:solidFill>
              <a:ln w="9525">
                <a:solidFill>
                  <a:srgbClr val="2A3D66"/>
                </a:solidFill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9205912" y="4321016"/>
                <a:ext cx="43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b="1" dirty="0">
                    <a:solidFill>
                      <a:srgbClr val="48CAE4"/>
                    </a:solidFill>
                    <a:latin typeface="+mn-lt"/>
                    <a:ea typeface="+mn-ea"/>
                    <a:cs typeface="+mn-cs"/>
                  </a:rPr>
                  <a:t>Slide 22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9205912" y="4454366"/>
                <a:ext cx="130803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8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Technical Defense &amp; Q&amp;A</a:t>
                </a:r>
              </a:p>
            </p:txBody>
          </p:sp>
        </p:grpSp>
      </p:grpSp>
      <p:grpSp>
        <p:nvGrpSpPr>
          <p:cNvPr id="96" name="ftr_03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92" name="Rectangle 92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2090547" y="6362224"/>
              <a:ext cx="57602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22 Dense Technical Slides | 100% Aligned with CE436 Syllabus &amp; DE2 Hardware Implementation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4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9648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METEOROLOGICAL EDGE COMPUTING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0928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Edge Meteorological Forecasting: Constraints &amp; Dataset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348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Real-time 3-hour ahead surface temperature prediction for resource-constrained IoT weather stations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27" name="col_edge_context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3470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EDGE COMPUTING MOTIVATION &amp; TRADEOFFS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1878806"/>
              <a:ext cx="2418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Telemetry Energy Bottleneck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133124"/>
              <a:ext cx="39278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Remote edge weather stations operate on solar / battery budgets.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323624"/>
              <a:ext cx="43617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Wireless RF transmission (Cellular / LoRa) burns 10x–100x more energy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514124"/>
              <a:ext cx="24739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per bit than local on-chip digital arithmetic.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704624"/>
              <a:ext cx="41915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Cloud dependency introduces network latency, jitter, and outage risks.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285" y="3069431"/>
              <a:ext cx="2633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On-Chip FPGA Inference Advantage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323749"/>
              <a:ext cx="38677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Performs local predictive filtering at sub-milliwatt dynamic power.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514249"/>
              <a:ext cx="40510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Deterministic cycle-level latency: results ready within microseconds.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704749"/>
              <a:ext cx="3986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Transmit over RF only on severe micro-climate divergence / alerts.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191000"/>
              <a:ext cx="5000625" cy="1666875"/>
            </a:xfrm>
            <a:prstGeom prst="roundRect">
              <a:avLst>
                <a:gd name="adj" fmla="val 4571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7547" y="4352449"/>
              <a:ext cx="31849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TARGET FORECAST HORIZON SPECIFICATION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547" y="4609624"/>
              <a:ext cx="28196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Target: Predict temperature 3 hours in advance: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5166" y="4601528"/>
              <a:ext cx="69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T_hat(t+3)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738" y="4874895"/>
              <a:ext cx="3815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Horizon allows agricultural shade deployment and HVAC pre-cooling.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738" y="5084445"/>
              <a:ext cx="38804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System clock: 50.0 MHz | Processing latency: 5 clock cycles (100 ns!).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738" y="5293995"/>
              <a:ext cx="38605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Zero external DRAM requirement; internal logic registers store history.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738" y="5503545"/>
              <a:ext cx="3379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Achieves full edge autonomy with zero cloud dependency.</a:t>
              </a:r>
            </a:p>
          </p:txBody>
        </p:sp>
      </p:grpSp>
      <p:grpSp>
        <p:nvGrpSpPr>
          <p:cNvPr id="52" name="col_dataset_profile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28" name="Rectangle 28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24041" y="1429702"/>
              <a:ext cx="3669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DATASET PROFILE: NASA POWER SATELLITE API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3660" y="1878806"/>
              <a:ext cx="25068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Geographic &amp; Climatic Parameters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24422" y="2133124"/>
              <a:ext cx="39357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Target Location: Ho Chi Minh City, Vietnam (10.82°N, 106.63°E).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24422" y="2323624"/>
              <a:ext cx="43074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Climate Zone: Tropical Monsoon (pronounced dry &amp; wet rainy seasons).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4422" y="2514124"/>
              <a:ext cx="38950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Telemetry: Hourly Surface Temperature at 2 Meters (T2M) in °C.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3660" y="2878931"/>
              <a:ext cx="22791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Chronological Partition &amp; Scale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4422" y="3133249"/>
              <a:ext cx="42597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Total Dataset Span: 5 Full Years (2021 – 2025), 43,800+ hourly points.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4422" y="3323749"/>
              <a:ext cx="38857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Training Set: 2021–2023 (26,280 samples) for offline OLS fitting.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24422" y="3514249"/>
              <a:ext cx="43645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Held-Out Test Set: 2024–2025 (17,520 samples) for hardware validation.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29375" y="3952875"/>
              <a:ext cx="5000625" cy="1905000"/>
            </a:xfrm>
            <a:prstGeom prst="roundRect">
              <a:avLst>
                <a:gd name="adj" fmla="val 4000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4922" y="4114324"/>
              <a:ext cx="32933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STATISTICAL DATA DISTRIBUTION &amp; DYNAMICS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19875" y="4381500"/>
              <a:ext cx="2333625" cy="571500"/>
            </a:xfrm>
            <a:prstGeom prst="roundRect">
              <a:avLst>
                <a:gd name="adj" fmla="val 10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57988" y="4501991"/>
              <a:ext cx="10204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MIN / MAX RANGE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56654" y="4690110"/>
              <a:ext cx="1474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+16.4°C to +40.8°C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096375" y="4381500"/>
              <a:ext cx="2333625" cy="571500"/>
            </a:xfrm>
            <a:prstGeom prst="roundRect">
              <a:avLst>
                <a:gd name="adj" fmla="val 10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34488" y="4501991"/>
              <a:ext cx="9946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MEAN &amp; STD DEV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33154" y="4690110"/>
              <a:ext cx="15621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28.12°C | σ = 3.65°C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15112" y="5093970"/>
              <a:ext cx="10140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Diurnal Dynamic: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62862" y="5093970"/>
              <a:ext cx="24266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Peak solar heating ~13:00; minimum ~05:00.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15112" y="5313045"/>
              <a:ext cx="1135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Monsoon Dynamic: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58112" y="5313045"/>
              <a:ext cx="2941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Afternoon rain drops temperature by 4°C–6°C in 2 hrs.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15112" y="5570220"/>
              <a:ext cx="442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Rigorous testbed for testing both periodic and sudden thermal transients.</a:t>
              </a:r>
            </a:p>
          </p:txBody>
        </p:sp>
      </p:grpSp>
      <p:grpSp>
        <p:nvGrpSpPr>
          <p:cNvPr id="57" name="ftr_04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3" name="Rectangle 53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090547" y="6362224"/>
              <a:ext cx="68235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Forecast Horizon: 3 Hours Ahead | Latency: 5 Clock Cycles @ 50 MHz (100 ns) vs Multi-Second Cloud REST APIs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5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446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MATHEMATICAL FORMULATION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1501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Diurnal Residual Modeling: Mathematical Decomposition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8972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Physics-informed time-series equation isolating periodic diurnal heating, inter-day shifts, and short-term trends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12" name="box_equation"/>
          <p:cNvGrpSpPr/>
          <p:nvPr/>
        </p:nvGrpSpPr>
        <p:grpSpPr>
          <a:xfrm>
            <a:off x="571500" y="1238250"/>
            <a:ext cx="11049000" cy="1381125"/>
            <a:chOff x="571500" y="1238250"/>
            <a:chExt cx="11049000" cy="138112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11049000" cy="1381125"/>
            </a:xfrm>
            <a:prstGeom prst="roundRect">
              <a:avLst>
                <a:gd name="adj" fmla="val 6897"/>
              </a:avLst>
            </a:prstGeom>
            <a:solidFill>
              <a:srgbClr val="162238"/>
            </a:solidFill>
            <a:ln w="14288">
              <a:solidFill>
                <a:srgbClr val="48CAE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2297" y="1418749"/>
              <a:ext cx="4641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CORE LINEAR PREDICTION EQUATION (OLS FORMULATION)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1666875"/>
              <a:ext cx="10477500" cy="495300"/>
            </a:xfrm>
            <a:prstGeom prst="roundRect">
              <a:avLst>
                <a:gd name="adj" fmla="val 11538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9368" y="1822132"/>
              <a:ext cx="60730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T_hat(t+3) = </a:t>
              </a:r>
              <a:r>
                <a:rPr lang="en" sz="16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T(t-21)</a:t>
              </a:r>
              <a:r>
                <a:rPr lang="e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+ </a:t>
              </a:r>
              <a:r>
                <a:rPr lang="en" sz="165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a</a:t>
              </a:r>
              <a:r>
                <a:rPr lang="e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·[T(t) - T(t-24)] + </a:t>
              </a:r>
              <a:r>
                <a:rPr lang="en" sz="16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b</a:t>
              </a:r>
              <a:r>
                <a:rPr lang="e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·[T(t) - T(t-3)] + </a:t>
              </a:r>
              <a:r>
                <a:rPr lang="en" sz="1650" b="1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2488" y="2331720"/>
              <a:ext cx="67358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Trained offline via Ordinary Least Squares on 26,280 samples (2021–2023) to globally minimize Mean Squared Error (MSE).</a:t>
              </a:r>
            </a:p>
          </p:txBody>
        </p:sp>
      </p:grpSp>
      <p:grpSp>
        <p:nvGrpSpPr>
          <p:cNvPr id="27" name="term_anchor"/>
          <p:cNvGrpSpPr/>
          <p:nvPr/>
        </p:nvGrpSpPr>
        <p:grpSpPr>
          <a:xfrm>
            <a:off x="571500" y="2809875"/>
            <a:ext cx="3476625" cy="3286125"/>
            <a:chOff x="571500" y="2809875"/>
            <a:chExt cx="3476625" cy="3286125"/>
          </a:xfrm>
        </p:grpSpPr>
        <p:sp>
          <p:nvSpPr>
            <p:cNvPr id="13" name="Rectangle 13"/>
            <p:cNvSpPr/>
            <p:nvPr/>
          </p:nvSpPr>
          <p:spPr>
            <a:xfrm>
              <a:off x="571500" y="2809875"/>
              <a:ext cx="3476625" cy="3286125"/>
            </a:xfrm>
            <a:prstGeom prst="roundRect">
              <a:avLst>
                <a:gd name="adj" fmla="val 289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2809875"/>
              <a:ext cx="3476625" cy="3810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6666" y="2944178"/>
              <a:ext cx="25092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TERM 1: DIURNAL ANCHOR T(t-21)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3363278"/>
              <a:ext cx="184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Temporal Index Derivation: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580924"/>
              <a:ext cx="12341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Target hour: (t + 3).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771424"/>
              <a:ext cx="19254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Exactly 24 hours prior to target: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666" y="3953828"/>
              <a:ext cx="1165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(t + 3) - 24 = t - 21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666" y="4315778"/>
              <a:ext cx="1142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Physical Insight: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533424"/>
              <a:ext cx="2394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Captures identical solar elevation angle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4723924"/>
              <a:ext cx="1780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from yesterday's diurnal cycle.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4914424"/>
              <a:ext cx="23217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Serves as the base baseline pedestal.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5286375"/>
              <a:ext cx="3095625" cy="619125"/>
            </a:xfrm>
            <a:prstGeom prst="roundRect">
              <a:avLst>
                <a:gd name="adj" fmla="val 9231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0112" y="5427345"/>
              <a:ext cx="13542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Error Reduction Alone: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12" y="5617845"/>
              <a:ext cx="23509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Slashes MAE from 2.08°C down to 0.83°C!</a:t>
              </a:r>
            </a:p>
          </p:txBody>
        </p:sp>
      </p:grpSp>
      <p:grpSp>
        <p:nvGrpSpPr>
          <p:cNvPr id="42" name="term_trend"/>
          <p:cNvGrpSpPr/>
          <p:nvPr/>
        </p:nvGrpSpPr>
        <p:grpSpPr>
          <a:xfrm>
            <a:off x="4333875" y="2809875"/>
            <a:ext cx="3476625" cy="3286125"/>
            <a:chOff x="4333875" y="2809875"/>
            <a:chExt cx="3476625" cy="3286125"/>
          </a:xfrm>
        </p:grpSpPr>
        <p:sp>
          <p:nvSpPr>
            <p:cNvPr id="28" name="Rectangle 28"/>
            <p:cNvSpPr/>
            <p:nvPr/>
          </p:nvSpPr>
          <p:spPr>
            <a:xfrm>
              <a:off x="4333875" y="2809875"/>
              <a:ext cx="3476625" cy="3286125"/>
            </a:xfrm>
            <a:prstGeom prst="roundRect">
              <a:avLst>
                <a:gd name="adj" fmla="val 289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33875" y="2809875"/>
              <a:ext cx="3476625" cy="3810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19041" y="2944178"/>
              <a:ext cx="20186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TERM 2: INTER-DAY TREND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9041" y="3363278"/>
              <a:ext cx="1838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Difference Formulation: D1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19041" y="3572828"/>
              <a:ext cx="1175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D1 = T(t) - T(t-24)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19422" y="3799999"/>
              <a:ext cx="24792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Compares current observation T(t) to the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9422" y="3990499"/>
              <a:ext cx="20677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exact same hour yesterday T(t-24).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9041" y="4315778"/>
              <a:ext cx="1918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Physical Insight &amp; Weight a: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9422" y="4533424"/>
              <a:ext cx="2108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Captures multi-day weather fronts,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19422" y="4723924"/>
              <a:ext cx="21878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heatwaves, or persistent cloud cover.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524375" y="5095875"/>
              <a:ext cx="3095625" cy="809625"/>
            </a:xfrm>
            <a:prstGeom prst="roundRect">
              <a:avLst>
                <a:gd name="adj" fmla="val 7059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62488" y="5236845"/>
              <a:ext cx="19937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Optimal OLS Weight: a ≈ 0.745502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62488" y="5446395"/>
              <a:ext cx="22712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Strongest predictive parameter in model.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62488" y="5636895"/>
              <a:ext cx="22537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Hardware Q2.14: A = 12214 (0.745483)</a:t>
              </a:r>
            </a:p>
          </p:txBody>
        </p:sp>
      </p:grpSp>
      <p:grpSp>
        <p:nvGrpSpPr>
          <p:cNvPr id="57" name="term_gradient"/>
          <p:cNvGrpSpPr/>
          <p:nvPr/>
        </p:nvGrpSpPr>
        <p:grpSpPr>
          <a:xfrm>
            <a:off x="8096250" y="2809875"/>
            <a:ext cx="3524250" cy="3286125"/>
            <a:chOff x="8096250" y="2809875"/>
            <a:chExt cx="3524250" cy="3286125"/>
          </a:xfrm>
        </p:grpSpPr>
        <p:sp>
          <p:nvSpPr>
            <p:cNvPr id="43" name="Rectangle 43"/>
            <p:cNvSpPr/>
            <p:nvPr/>
          </p:nvSpPr>
          <p:spPr>
            <a:xfrm>
              <a:off x="8096250" y="2809875"/>
              <a:ext cx="3524250" cy="3286125"/>
            </a:xfrm>
            <a:prstGeom prst="roundRect">
              <a:avLst>
                <a:gd name="adj" fmla="val 289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96250" y="2809875"/>
              <a:ext cx="3524250" cy="3810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81416" y="2944178"/>
              <a:ext cx="2466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TERM 3: SHORT-TERM GRADIENT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81416" y="3363278"/>
              <a:ext cx="1838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Difference Formulation: D2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81416" y="3572828"/>
              <a:ext cx="10944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D2 = T(t) - T(t-3)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81797" y="3799999"/>
              <a:ext cx="22483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Rate of temperature change over the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81797" y="3990499"/>
              <a:ext cx="21366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immediate past 3 observation hours.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81416" y="4315778"/>
              <a:ext cx="20834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Physical Insight &amp; Weight b, c: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81797" y="4533424"/>
              <a:ext cx="2490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Captures sudden morning solar ramps or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81797" y="4723924"/>
              <a:ext cx="2305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afternoon rainstorm temperature drops.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286750" y="5095875"/>
              <a:ext cx="3143250" cy="809625"/>
            </a:xfrm>
            <a:prstGeom prst="roundRect">
              <a:avLst>
                <a:gd name="adj" fmla="val 7059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24862" y="5236845"/>
              <a:ext cx="20004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Optimal OLS Weight: b ≈ 0.009139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24862" y="5446395"/>
              <a:ext cx="19144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Fine short-term damping gradient.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24862" y="5636895"/>
              <a:ext cx="21166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Hardware Q2.14: B = 150 (0.009155)</a:t>
              </a:r>
            </a:p>
          </p:txBody>
        </p:sp>
      </p:grpSp>
      <p:grpSp>
        <p:nvGrpSpPr>
          <p:cNvPr id="62" name="ftr_05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8" name="Rectangle 58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090547" y="6362224"/>
              <a:ext cx="65795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Parameter Weights: a = 0.745502 (Day Trend) | b = 0.009139 (3-hr Gradient) | c = 0.001147 (DC Thermal Bias)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6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34363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ALGORITHM EXPLORATION &amp; BENCHMARKS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8206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Machine Learning Benchmark Suite: Held-Out Test Evaluation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9633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Comparison of 5 candidate architectures trained on 2021–2023 and evaluated on 2024–2025 unseen telemetry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64" name="table_benchmarks"/>
          <p:cNvGrpSpPr/>
          <p:nvPr/>
        </p:nvGrpSpPr>
        <p:grpSpPr>
          <a:xfrm>
            <a:off x="571500" y="1285875"/>
            <a:ext cx="7239000" cy="4762500"/>
            <a:chOff x="571500" y="1285875"/>
            <a:chExt cx="723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7239000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7239000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43675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BENCHMARK ON UNSEEN HELD-OUT DATASET (2024–2025)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6858000" cy="323850"/>
            </a:xfrm>
            <a:prstGeom prst="roundRect">
              <a:avLst>
                <a:gd name="adj" fmla="val 11765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0112" y="1969770"/>
              <a:ext cx="15172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MODEL ARCHITECTURE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3238" y="1969770"/>
              <a:ext cx="5642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PARAMS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00488" y="1969770"/>
              <a:ext cx="4503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MULTS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7738" y="1969770"/>
              <a:ext cx="6567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TEST MAE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05488" y="1969770"/>
              <a:ext cx="7421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TEST RMSE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57988" y="1969770"/>
              <a:ext cx="5714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REL ERR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6858000" cy="361950"/>
            </a:xfrm>
            <a:prstGeom prst="roundRect">
              <a:avLst>
                <a:gd name="adj" fmla="val 10526"/>
              </a:avLst>
            </a:prstGeom>
            <a:solidFill>
              <a:srgbClr val="1E2D4A">
                <a:alpha val="5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9922" y="2361724"/>
              <a:ext cx="14014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Naive Persistence T(t)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43047" y="2361724"/>
              <a:ext cx="8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00297" y="2361724"/>
              <a:ext cx="8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7547" y="2361724"/>
              <a:ext cx="515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2.080°C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05297" y="2361724"/>
              <a:ext cx="515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2.766°C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57797" y="2361724"/>
              <a:ext cx="4573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100.0%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2647950"/>
              <a:ext cx="6858000" cy="361950"/>
            </a:xfrm>
            <a:prstGeom prst="roundRect">
              <a:avLst>
                <a:gd name="adj" fmla="val 10526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9922" y="2771299"/>
              <a:ext cx="1329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Diurnal Anchor T(t-21)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43047" y="2771299"/>
              <a:ext cx="8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00297" y="2771299"/>
              <a:ext cx="8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57547" y="2771299"/>
              <a:ext cx="515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0.832°C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05297" y="2771299"/>
              <a:ext cx="515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1.156°C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7797" y="2771299"/>
              <a:ext cx="384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40.0%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3057525"/>
              <a:ext cx="6858000" cy="400050"/>
            </a:xfrm>
            <a:prstGeom prst="roundRect">
              <a:avLst>
                <a:gd name="adj" fmla="val 9524"/>
              </a:avLst>
            </a:prstGeom>
            <a:solidFill>
              <a:srgbClr val="48CAE4">
                <a:alpha val="15000"/>
              </a:srgbClr>
            </a:solidFill>
            <a:ln w="14288">
              <a:solidFill>
                <a:srgbClr val="48CAE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9541" y="3191828"/>
              <a:ext cx="2043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Linear OLS (Target Hardware)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43047" y="3199924"/>
              <a:ext cx="8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00297" y="3199924"/>
              <a:ext cx="8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57166" y="3191828"/>
              <a:ext cx="552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0.538°C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05297" y="3199924"/>
              <a:ext cx="515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0.786°C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7797" y="3199924"/>
              <a:ext cx="384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25.8%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" y="3505200"/>
              <a:ext cx="6858000" cy="361950"/>
            </a:xfrm>
            <a:prstGeom prst="roundRect">
              <a:avLst>
                <a:gd name="adj" fmla="val 10526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9922" y="3628549"/>
              <a:ext cx="1778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Ridge Regression (6 features)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43047" y="3628549"/>
              <a:ext cx="8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00297" y="3628549"/>
              <a:ext cx="8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57547" y="3628549"/>
              <a:ext cx="515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0.509°C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05297" y="3628549"/>
              <a:ext cx="515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0.736°C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7797" y="3628549"/>
              <a:ext cx="384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24.5%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3914775"/>
              <a:ext cx="6858000" cy="361950"/>
            </a:xfrm>
            <a:prstGeom prst="roundRect">
              <a:avLst>
                <a:gd name="adj" fmla="val 10526"/>
              </a:avLst>
            </a:prstGeom>
            <a:solidFill>
              <a:srgbClr val="1E2D4A">
                <a:alpha val="5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9922" y="4038124"/>
              <a:ext cx="1825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Deep MLP (12→16 ReLU→1)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43047" y="4038124"/>
              <a:ext cx="230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225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00297" y="4038124"/>
              <a:ext cx="230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220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57547" y="4038124"/>
              <a:ext cx="515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0.382°C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05297" y="4038124"/>
              <a:ext cx="515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0.555°C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57797" y="4038124"/>
              <a:ext cx="384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18.4%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2000" y="4324350"/>
              <a:ext cx="6858000" cy="361950"/>
            </a:xfrm>
            <a:prstGeom prst="roundRect">
              <a:avLst>
                <a:gd name="adj" fmla="val 10526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9922" y="4447699"/>
              <a:ext cx="15522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GBDT (32 Shallow Trees)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43047" y="4447699"/>
              <a:ext cx="230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900297" y="4447699"/>
              <a:ext cx="2422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N/A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757547" y="4447699"/>
              <a:ext cx="515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0.473°C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05297" y="4447699"/>
              <a:ext cx="515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0.692°C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57797" y="4447699"/>
              <a:ext cx="384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22.7%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2000" y="4810125"/>
              <a:ext cx="6858000" cy="1047750"/>
            </a:xfrm>
            <a:prstGeom prst="roundRect">
              <a:avLst>
                <a:gd name="adj" fmla="val 5455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7738" y="4951095"/>
              <a:ext cx="24486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CRITICAL ALGORITHMIC TAKEAWAYS: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7738" y="5160645"/>
              <a:ext cx="4712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Baseline Shift: Diurnal Anchor T(t-21) immediately captures 60% of baseline variance.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7738" y="5351145"/>
              <a:ext cx="45735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Linear OLS: Drops MAE to 0.538°C (74.1% error reduction) using just 2 multipliers!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7738" y="5570220"/>
              <a:ext cx="50097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77F00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Accuracy Ceiling: MLP achieves 0.382°C but requires 220 multipliers (110x hardware cost).</a:t>
              </a:r>
            </a:p>
          </p:txBody>
        </p:sp>
      </p:grpSp>
      <p:grpSp>
        <p:nvGrpSpPr>
          <p:cNvPr id="83" name="card_analysis_06"/>
          <p:cNvGrpSpPr/>
          <p:nvPr/>
        </p:nvGrpSpPr>
        <p:grpSpPr>
          <a:xfrm>
            <a:off x="8048625" y="1285875"/>
            <a:ext cx="3571875" cy="4762500"/>
            <a:chOff x="8048625" y="1285875"/>
            <a:chExt cx="3571875" cy="4762500"/>
          </a:xfrm>
        </p:grpSpPr>
        <p:sp>
          <p:nvSpPr>
            <p:cNvPr id="65" name="Rectangle 65"/>
            <p:cNvSpPr/>
            <p:nvPr/>
          </p:nvSpPr>
          <p:spPr>
            <a:xfrm>
              <a:off x="8048625" y="1285875"/>
              <a:ext cx="3571875" cy="4762500"/>
            </a:xfrm>
            <a:prstGeom prst="roundRect">
              <a:avLst>
                <a:gd name="adj" fmla="val 2667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48625" y="1285875"/>
              <a:ext cx="357187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233791" y="1429702"/>
              <a:ext cx="1819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ERROR DROP &amp; CEILING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39125" y="1857375"/>
              <a:ext cx="3190875" cy="1143000"/>
            </a:xfrm>
            <a:prstGeom prst="roundRect">
              <a:avLst>
                <a:gd name="adj" fmla="val 6667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377238" y="2025491"/>
              <a:ext cx="21158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PERSISTENCE TO OLS ERROR DROP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69808" y="2217420"/>
              <a:ext cx="10481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-74.1%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377238" y="2712720"/>
              <a:ext cx="20251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MAE drops from 2.080°C → 0.538°C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239125" y="3143250"/>
              <a:ext cx="3190875" cy="1143000"/>
            </a:xfrm>
            <a:prstGeom prst="roundRect">
              <a:avLst>
                <a:gd name="adj" fmla="val 6667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377238" y="3311366"/>
              <a:ext cx="21549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OLS ACCURACY VS. NEURAL CEILING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69808" y="3503295"/>
              <a:ext cx="9405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96.2%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377238" y="3998595"/>
              <a:ext cx="20538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Practical parity with Deep MLP ceiling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239125" y="4429125"/>
              <a:ext cx="3190875" cy="1428750"/>
            </a:xfrm>
            <a:prstGeom prst="roundRect">
              <a:avLst>
                <a:gd name="adj" fmla="val 5333"/>
              </a:avLst>
            </a:prstGeom>
            <a:solidFill>
              <a:srgbClr val="F77F00">
                <a:alpha val="10000"/>
              </a:srgbClr>
            </a:solidFill>
            <a:ln w="9525">
              <a:solidFill>
                <a:srgbClr val="F77F00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377238" y="4589145"/>
              <a:ext cx="1787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WHY STOP AT LINEAR OLS?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77238" y="4808220"/>
              <a:ext cx="19571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Extra gain of MLP is only 0.156°C.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77238" y="4998720"/>
              <a:ext cx="2264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Sensor uncertainty in field IoT is ±0.2°C.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377238" y="5189220"/>
              <a:ext cx="23314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Further algorithm complexity is swallowed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77238" y="5379720"/>
              <a:ext cx="19357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by transducer analog thermal noise.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77238" y="5598795"/>
              <a:ext cx="28132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Linear OLS is the optimal engineering choice.</a:t>
              </a:r>
            </a:p>
          </p:txBody>
        </p:sp>
      </p:grpSp>
      <p:grpSp>
        <p:nvGrpSpPr>
          <p:cNvPr id="88" name="ftr_06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84" name="Rectangle 84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090547" y="6362224"/>
              <a:ext cx="67938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Benchmark Verdict: Linear OLS captures 74.1% of predictable variance with only 2 multiplications (MAE = 0.538°C)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7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8455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HARDWARE-ALGORITHM CO-DESIGN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4940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Silicon Budget Reality: Why Linear OLS on Cyclone II?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399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Rigorous diminishing returns analysis against Altera Cyclone II EP2C35 physical multiplier constraints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25" name="card_diminishing_returns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4101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DIMINISHING RETURNS: ERROR DROP PER MULTIPLIER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1878806"/>
              <a:ext cx="24758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Step 1: Persistence → Linear OLS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143125"/>
              <a:ext cx="5000625" cy="619125"/>
            </a:xfrm>
            <a:prstGeom prst="roundRect">
              <a:avLst>
                <a:gd name="adj" fmla="val 9231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9922" y="2275999"/>
              <a:ext cx="39907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MAE Improvement: 1.542°C drop | Hardware Cost: 2 Multipliers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9541" y="2477452"/>
              <a:ext cx="3939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Efficiency Metric: 0.7710°C error drop per multiplier block!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285" y="2926556"/>
              <a:ext cx="23825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Step 2: Linear OLS → Deep MLP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190875"/>
              <a:ext cx="5000625" cy="619125"/>
            </a:xfrm>
            <a:prstGeom prst="roundRect">
              <a:avLst>
                <a:gd name="adj" fmla="val 9231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9922" y="3323749"/>
              <a:ext cx="4823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MAE Improvement: 0.156°C drop | Hardware Cost: 218 Additional Multipliers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9541" y="3525202"/>
              <a:ext cx="3939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Efficiency Metric: 0.0007°C error drop per multiplier block!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000500"/>
              <a:ext cx="5000625" cy="1857375"/>
            </a:xfrm>
            <a:prstGeom prst="roundRect">
              <a:avLst>
                <a:gd name="adj" fmla="val 4103"/>
              </a:avLst>
            </a:prstGeom>
            <a:solidFill>
              <a:srgbClr val="1E2D4A"/>
            </a:solidFill>
            <a:ln w="9525">
              <a:solidFill>
                <a:srgbClr val="2A3D6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7166" y="4153852"/>
              <a:ext cx="2309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EFFICIENCY COLLAPSE RATIO: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8784" y="4375785"/>
              <a:ext cx="48188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1,100× EFFICIENCY DROP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547" y="4895374"/>
              <a:ext cx="35228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Each multiplier in the OLS design is 1,100x more impactful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547" y="5085874"/>
              <a:ext cx="28153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 reducing error than multipliers inside an MLP.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738" y="5332095"/>
              <a:ext cx="3487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Spending silicon for an MLP represents gross over-engineering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738" y="5522595"/>
              <a:ext cx="29862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with zero practical benefit in meteorological forecasting.</a:t>
              </a:r>
            </a:p>
          </p:txBody>
        </p:sp>
      </p:grpSp>
      <p:grpSp>
        <p:nvGrpSpPr>
          <p:cNvPr id="47" name="card_cyclone_budget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26" name="Rectangle 26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24041" y="1429702"/>
              <a:ext cx="38276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ALTERA CYCLONE II (EP2C35) MULTIPLIER REALITY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3660" y="1878806"/>
              <a:ext cx="2843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Total Chip Multiplier Budget: 35 Blocks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4422" y="2133124"/>
              <a:ext cx="411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Cyclone II EP2C35 contains exactly 35 embedded 18x18 multipliers.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29375" y="2428875"/>
              <a:ext cx="5000625" cy="1428750"/>
            </a:xfrm>
            <a:prstGeom prst="roundRect">
              <a:avLst>
                <a:gd name="adj" fmla="val 5333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14922" y="2561749"/>
              <a:ext cx="35569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PARALLEL MLP ON DE2: PHYSICALLY IMPOSSIBLE!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5112" y="2807970"/>
              <a:ext cx="23833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Fully parallel MLP requires 220 multipliers.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4541" y="2982278"/>
              <a:ext cx="33298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220 / 35 = 628% of entire chip multiplier resource!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5112" y="3236595"/>
              <a:ext cx="39006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Time-multiplexed MLP requires complex multi-bank BRAM scheduling,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5112" y="3427095"/>
              <a:ext cx="30764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non-linear activation LUTs, and hundreds of FSM cycles.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15112" y="3617595"/>
              <a:ext cx="28104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Massive development cost and routing congestion.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29375" y="4000500"/>
              <a:ext cx="5000625" cy="1857375"/>
            </a:xfrm>
            <a:prstGeom prst="roundRect">
              <a:avLst>
                <a:gd name="adj" fmla="val 4103"/>
              </a:avLst>
            </a:prstGeom>
            <a:solidFill>
              <a:srgbClr val="10B981">
                <a:alpha val="10000"/>
              </a:srgbClr>
            </a:solidFill>
            <a:ln w="9525">
              <a:solidFill>
                <a:srgbClr val="10B98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14541" y="4153852"/>
              <a:ext cx="33212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THE LINEAR OLS ARCHITECTURAL VERDICT: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4922" y="4466749"/>
              <a:ext cx="16262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Speed Core: Uses exactly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86166" y="4458652"/>
              <a:ext cx="1799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2 Multipliers (5.7% of chip)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4922" y="4704874"/>
              <a:ext cx="18090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Resource Core: Uses exactly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6666" y="4696778"/>
              <a:ext cx="1720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1 Multiplier (2.8% of chip)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15112" y="4998720"/>
              <a:ext cx="36315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Leaves &gt;94% of DSP resources free for user applications, UART,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15112" y="5189220"/>
              <a:ext cx="15990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and signal conditioning filters.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4922" y="5466874"/>
              <a:ext cx="4483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Achieves 96% of neural accuracy while consuming &lt;1% FPGA logic.</a:t>
              </a:r>
            </a:p>
          </p:txBody>
        </p:sp>
      </p:grpSp>
      <p:grpSp>
        <p:nvGrpSpPr>
          <p:cNvPr id="52" name="ftr_07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48" name="Rectangle 48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090547" y="6362224"/>
              <a:ext cx="67772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Silicon Constraint: Cyclone II has 35 multipliers; parallel MLP requires 220 (628%); OLS uses only 1 to 2 multipliers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8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3078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NUMERICAL QUANTIZATION CONTRACT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68541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Fixed-Point Numerical Formats &amp; Quantization Budget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968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Strict contract defining bit allocations, scaling factors, and rounding methods across the entire compute pipeline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27" name="card_q88"/>
          <p:cNvGrpSpPr/>
          <p:nvPr/>
        </p:nvGrpSpPr>
        <p:grpSpPr>
          <a:xfrm>
            <a:off x="571500" y="1285875"/>
            <a:ext cx="3476625" cy="4762500"/>
            <a:chOff x="571500" y="1285875"/>
            <a:chExt cx="3476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3476625" cy="4762500"/>
            </a:xfrm>
            <a:prstGeom prst="roundRect">
              <a:avLst>
                <a:gd name="adj" fmla="val 274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3476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24918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INPUTS &amp; OUTPUTS: SIGNED Q8.8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1878806"/>
              <a:ext cx="1351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Bitfield Allocation: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143125"/>
              <a:ext cx="3095625" cy="476250"/>
            </a:xfrm>
            <a:prstGeom prst="roundRect">
              <a:avLst>
                <a:gd name="adj" fmla="val 12000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0112" y="2265045"/>
              <a:ext cx="2475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[15] Sign | [14:8] 7 Integer | [7:0] 8 Fraction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0112" y="2444591"/>
              <a:ext cx="16363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Total wordlength = 16 bits signed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666" y="2791778"/>
              <a:ext cx="18175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Scaling &amp; Dynamic Range: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018949"/>
              <a:ext cx="14953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Scale Factor: 2^8 = 256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209449"/>
              <a:ext cx="20063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Min Value: -128.000°C (0x8000)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399949"/>
              <a:ext cx="2117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Max Value: +127.996°C (0x7FFF)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590449"/>
              <a:ext cx="25198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8CAE4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LSB Resolution: 1/256 ≈ 0.00390625°C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000500"/>
              <a:ext cx="3095625" cy="1857375"/>
            </a:xfrm>
            <a:prstGeom prst="roundRect">
              <a:avLst>
                <a:gd name="adj" fmla="val 4103"/>
              </a:avLst>
            </a:prstGeom>
            <a:solidFill>
              <a:srgbClr val="1E2D4A"/>
            </a:solidFill>
            <a:ln w="9525">
              <a:solidFill>
                <a:srgbClr val="2A3D6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112" y="4141470"/>
              <a:ext cx="15028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METEOROLOGICAL FIT: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112" y="4379595"/>
              <a:ext cx="20759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Dynamic range comfortably spans all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0112" y="4570095"/>
              <a:ext cx="19580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terrestrial weather (-50°C to +60°C).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0112" y="4808220"/>
              <a:ext cx="21878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LSB resolution of 0.0039°C is 50x finer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0112" y="4998720"/>
              <a:ext cx="18328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than the standard ±0.2°C physical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0112" y="5189220"/>
              <a:ext cx="938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sensor tolerance.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12" y="5474970"/>
              <a:ext cx="2254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→ Zero quantization penalty on inputs!</a:t>
              </a:r>
            </a:p>
          </p:txBody>
        </p:sp>
      </p:grpSp>
      <p:grpSp>
        <p:nvGrpSpPr>
          <p:cNvPr id="48" name="card_q214"/>
          <p:cNvGrpSpPr/>
          <p:nvPr/>
        </p:nvGrpSpPr>
        <p:grpSpPr>
          <a:xfrm>
            <a:off x="4333875" y="1285875"/>
            <a:ext cx="3476625" cy="4762500"/>
            <a:chOff x="4333875" y="1285875"/>
            <a:chExt cx="3476625" cy="4762500"/>
          </a:xfrm>
        </p:grpSpPr>
        <p:sp>
          <p:nvSpPr>
            <p:cNvPr id="28" name="Rectangle 28"/>
            <p:cNvSpPr/>
            <p:nvPr/>
          </p:nvSpPr>
          <p:spPr>
            <a:xfrm>
              <a:off x="4333875" y="1285875"/>
              <a:ext cx="3476625" cy="4762500"/>
            </a:xfrm>
            <a:prstGeom prst="roundRect">
              <a:avLst>
                <a:gd name="adj" fmla="val 274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33875" y="1285875"/>
              <a:ext cx="3476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19041" y="1429702"/>
              <a:ext cx="22181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COEFFICIENTS: SIGNED Q2.14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8660" y="1878806"/>
              <a:ext cx="1351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Bitfield Allocation: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24375" y="2143125"/>
              <a:ext cx="3095625" cy="476250"/>
            </a:xfrm>
            <a:prstGeom prst="roundRect">
              <a:avLst>
                <a:gd name="adj" fmla="val 12000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62488" y="2265045"/>
              <a:ext cx="25029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[15] Sign | [14] 1 Integer | [13:0] 14 Fraction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62488" y="2444591"/>
              <a:ext cx="16363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Total wordlength = 16 bits signed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9041" y="2791778"/>
              <a:ext cx="1653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Parameter Quantization: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9422" y="3018949"/>
              <a:ext cx="17548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Scale Factor: 2^14 = 16,384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19422" y="3209449"/>
              <a:ext cx="23952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Weight a: 0.745502 × 16384 = 12214.3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19422" y="3399949"/>
              <a:ext cx="21642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→ Quantized A = 12214 (0.745483)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19422" y="3628549"/>
              <a:ext cx="2321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Weight b: 0.009139 × 16384 = 149.73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19422" y="3819049"/>
              <a:ext cx="20158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Quantized B = 150 (0.009155)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19422" y="4047649"/>
              <a:ext cx="1868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Bias c: 0.001147 × 256 = 0.29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19422" y="4238149"/>
              <a:ext cx="184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→ Quantized C = 0 (Q8.8 bias)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524375" y="4667250"/>
              <a:ext cx="3095625" cy="1190625"/>
            </a:xfrm>
            <a:prstGeom prst="roundRect">
              <a:avLst>
                <a:gd name="adj" fmla="val 6400"/>
              </a:avLst>
            </a:prstGeom>
            <a:solidFill>
              <a:srgbClr val="1E2D4A"/>
            </a:solidFill>
            <a:ln w="9525">
              <a:solidFill>
                <a:srgbClr val="2A3D6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62488" y="4808220"/>
              <a:ext cx="18016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ROUNDING METHODOLOGY: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62488" y="5046345"/>
              <a:ext cx="21565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Symmetric round-half-away-from-zero: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62488" y="5244941"/>
              <a:ext cx="21874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round(x) = (x &gt;= 0) ? floor(x+0.5) : ceil(x-0.5)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62488" y="5483066"/>
              <a:ext cx="19721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Eliminates directional DC thermal drift.</a:t>
              </a:r>
            </a:p>
          </p:txBody>
        </p:sp>
      </p:grpSp>
      <p:grpSp>
        <p:nvGrpSpPr>
          <p:cNvPr id="69" name="card_why_q214"/>
          <p:cNvGrpSpPr/>
          <p:nvPr/>
        </p:nvGrpSpPr>
        <p:grpSpPr>
          <a:xfrm>
            <a:off x="8096250" y="1285875"/>
            <a:ext cx="3524250" cy="4762500"/>
            <a:chOff x="8096250" y="1285875"/>
            <a:chExt cx="3524250" cy="4762500"/>
          </a:xfrm>
        </p:grpSpPr>
        <p:sp>
          <p:nvSpPr>
            <p:cNvPr id="49" name="Rectangle 49"/>
            <p:cNvSpPr/>
            <p:nvPr/>
          </p:nvSpPr>
          <p:spPr>
            <a:xfrm>
              <a:off x="8096250" y="1285875"/>
              <a:ext cx="3524250" cy="4762500"/>
            </a:xfrm>
            <a:prstGeom prst="roundRect">
              <a:avLst>
                <a:gd name="adj" fmla="val 2703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96250" y="1285875"/>
              <a:ext cx="3524250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81416" y="1429702"/>
              <a:ext cx="2392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WHY Q2.14 FOR COEFFICIENTS?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81035" y="1878806"/>
              <a:ext cx="2175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Small Coefficient Danger: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81797" y="2133124"/>
              <a:ext cx="20365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Weight b = 0.009139 is very small!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286750" y="2428875"/>
              <a:ext cx="3143250" cy="1000125"/>
            </a:xfrm>
            <a:prstGeom prst="roundRect">
              <a:avLst>
                <a:gd name="adj" fmla="val 5714"/>
              </a:avLst>
            </a:prstGeom>
            <a:solidFill>
              <a:srgbClr val="EF4444">
                <a:alpha val="10000"/>
              </a:srgbClr>
            </a:solidFill>
            <a:ln w="9525">
              <a:solidFill>
                <a:srgbClr val="EF444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24672" y="2561749"/>
              <a:ext cx="2162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CASE 1: If Coefficients Used Q8.8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24862" y="2779395"/>
              <a:ext cx="23437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= round(0.009139 × 256) = 2 (0.0078125)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24291" y="2982278"/>
              <a:ext cx="1959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Quantization Error = 14.5% !!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24862" y="3197066"/>
              <a:ext cx="23135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Severely degrades short-term thermal tracking!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286750" y="3571875"/>
              <a:ext cx="3143250" cy="1000125"/>
            </a:xfrm>
            <a:prstGeom prst="roundRect">
              <a:avLst>
                <a:gd name="adj" fmla="val 5714"/>
              </a:avLst>
            </a:prstGeom>
            <a:solidFill>
              <a:srgbClr val="10B981">
                <a:alpha val="10000"/>
              </a:srgbClr>
            </a:solidFill>
            <a:ln w="9525">
              <a:solidFill>
                <a:srgbClr val="10B981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424672" y="3704749"/>
              <a:ext cx="17664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CASE 2: Our Design: Q2.14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24862" y="3922395"/>
              <a:ext cx="2545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= round(0.009139 × 16384) = 150 (0.009155)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24291" y="4125278"/>
              <a:ext cx="1959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Quantization Error &lt; 0.06% !!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24862" y="4340066"/>
              <a:ext cx="21722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Maintains near-perfect mathematical fidelity!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286750" y="4714875"/>
              <a:ext cx="3143250" cy="1143000"/>
            </a:xfrm>
            <a:prstGeom prst="roundRect">
              <a:avLst>
                <a:gd name="adj" fmla="val 6667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424862" y="4855845"/>
              <a:ext cx="14887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SUMMARY TAKEAWAY: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24862" y="5065395"/>
              <a:ext cx="26007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Q2.14 provides 64x higher precision than Q8.8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24862" y="5255895"/>
              <a:ext cx="2258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without adding a single extra multiplier bit!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24862" y="5474970"/>
              <a:ext cx="24590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17x16 multiplier handles Q2.14 natively.</a:t>
              </a:r>
            </a:p>
          </p:txBody>
        </p:sp>
      </p:grpSp>
      <p:grpSp>
        <p:nvGrpSpPr>
          <p:cNvPr id="74" name="ftr_08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70" name="Rectangle 70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090547" y="6362224"/>
              <a:ext cx="66131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Precision Budget: Inputs/Outputs in Q8.8 | Coefficients in Q2.14 (A=12214, B=150) | Quantization Error &lt; 0.06%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9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563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DATAPATH SIZING &amp; ALIGNMENT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6648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Binary Point Alignment &amp; 35-Bit Overflow-Free Proof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5978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Radix point normalization across products, base shifts, and mathematical headroom verification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27" name="card_radix_alignment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37361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RADIX POINT ALIGNMENT ACROSS COMPUTATION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1878806"/>
              <a:ext cx="24990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Subtractor Differences: D1 &amp; D2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133124"/>
              <a:ext cx="27654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T(t) is Q8.8 (16 bits) | T(t-24) is Q8.8 (16 bits)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323624"/>
              <a:ext cx="41276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8CAE4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Difference: Signed 17-bit Q9.8 (1 sign bit added to prevent wrap)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285" y="2688431"/>
              <a:ext cx="21944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 DSP Multiplication: P1 &amp; P2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942749"/>
              <a:ext cx="33377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Coeff A/B is Signed 16-bit Q2.14 (scale 2^14 = 16,384)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133249"/>
              <a:ext cx="15526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Product: Q2.14 × Q9.8 =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6416" y="3125152"/>
              <a:ext cx="3058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Signed 33-bit Q11.22 (scale 2^22 = 4,194,304)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3498056"/>
              <a:ext cx="3235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Anchor &amp; Bias Left-Shift: Radix Alignment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752374"/>
              <a:ext cx="36304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Anchor T(t-21) and Offset C are natively in Q8.8 (scale 2^8).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3942874"/>
              <a:ext cx="3767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To add with Products (scale 2^22), they must be shifted left by: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666" y="4125278"/>
              <a:ext cx="1028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22 - 8 = 14 bits!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4476750"/>
              <a:ext cx="5000625" cy="1381125"/>
            </a:xfrm>
            <a:prstGeom prst="roundRect">
              <a:avLst>
                <a:gd name="adj" fmla="val 5517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7547" y="4609624"/>
              <a:ext cx="32856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HARDWARE RADIX EQUALIZATION IN VERILOG: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738" y="4874895"/>
              <a:ext cx="38872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wire signed [34:0] base_aligned = (T21_extended + C_extended) &lt;&lt; 14;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738" y="5093970"/>
              <a:ext cx="3530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Left-shift by 14 scales 2^8 → 2^22 seamlessly at zero gate cost.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738" y="5313045"/>
              <a:ext cx="35357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Now Products and Base share the identical Q22 fractional radix!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738" y="5570220"/>
              <a:ext cx="29762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All terms ready for bit-exact 35-bit accumulation.</a:t>
              </a:r>
            </a:p>
          </p:txBody>
        </p:sp>
      </p:grpSp>
      <p:grpSp>
        <p:nvGrpSpPr>
          <p:cNvPr id="49" name="card_overflow_proof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28" name="Rectangle 28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24041" y="1429702"/>
              <a:ext cx="32630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MATHEMATICAL PROOF: 35-BIT HEADROOM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3660" y="1878806"/>
              <a:ext cx="3086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Accumulator Format: Signed 35-bit Q13.22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24422" y="2133124"/>
              <a:ext cx="36769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Sign: [34] | Integer: [33:22] (12 bits) | Fraction: [21:0] (22 bits)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29375" y="2428875"/>
              <a:ext cx="5000625" cy="1428750"/>
            </a:xfrm>
            <a:prstGeom prst="roundRect">
              <a:avLst>
                <a:gd name="adj" fmla="val 5333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14922" y="2561749"/>
              <a:ext cx="3471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WORST-CASE THEORETICAL MAGNITUDE BOUND: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5112" y="2807970"/>
              <a:ext cx="37628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 |Diff| = 2^16 - 1 = 65,535 (extreme -128°C to +127.99°C swing)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5112" y="2998470"/>
              <a:ext cx="16280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 |Coeff| = 2^15 = 32,768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15112" y="3188970"/>
              <a:ext cx="24151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 |Base| = 32,768 &lt;&lt; 14 = 5.368 × 10^8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14922" y="3418999"/>
              <a:ext cx="37729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Max Sum S_max = 2 × (32,768 × 65,535) + 2 × (5.368 × 10^8)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14541" y="3620452"/>
              <a:ext cx="1481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S_max = 5.369 × 10^9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29375" y="4000500"/>
              <a:ext cx="5000625" cy="1857375"/>
            </a:xfrm>
            <a:prstGeom prst="roundRect">
              <a:avLst>
                <a:gd name="adj" fmla="val 4103"/>
              </a:avLst>
            </a:prstGeom>
            <a:solidFill>
              <a:srgbClr val="10B981">
                <a:alpha val="10000"/>
              </a:srgbClr>
            </a:solidFill>
            <a:ln w="9525">
              <a:solidFill>
                <a:srgbClr val="10B98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4541" y="4125278"/>
              <a:ext cx="3047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HEADROOM &amp; OVERFLOW CONCLUSION: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4922" y="4419124"/>
              <a:ext cx="1783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Capacity of Signed 35-bit int: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62416" y="4411028"/>
              <a:ext cx="1601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2^34 - 1 ≈ 1.718 × 10^10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14922" y="4704874"/>
              <a:ext cx="11598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Headroom Factor: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99654" y="4680585"/>
              <a:ext cx="25545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1.718×10^10 / 5.369×10^9 = 3.19×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5112" y="4998720"/>
              <a:ext cx="35249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The accumulator has over 3.19x headroom beyond the absolute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15112" y="5189220"/>
              <a:ext cx="30940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worst-case theoretical input possible in the 16-bit domain.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14922" y="5466874"/>
              <a:ext cx="46138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100% Mathematically Proven: Intermediate wrap-around is impossible!</a:t>
              </a:r>
            </a:p>
          </p:txBody>
        </p:sp>
      </p:grpSp>
      <p:grpSp>
        <p:nvGrpSpPr>
          <p:cNvPr id="54" name="ftr_09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0" name="Rectangle 50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090547" y="6362224"/>
              <a:ext cx="62934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Accumulator Sizing: 35-bit Q13.22 provides 3.19x safety headroom over maximum possible theoretical sum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0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100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DV PRECISION ALIGNMENT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9024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Hardware Floor-Scaling: Resolving C++ vs. Verilog Divergence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5636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How arithmetic right shift in hardware differs from C++ division and the bit-exact golden fix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25" name="card_scale_reduction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3644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SCALE REDUCTION MECHANISM IN VERILOG RTL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1878806"/>
              <a:ext cx="2284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Scale Reduction Objective: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133124"/>
              <a:ext cx="3474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Accumulator operates in Q13.22 (2^22 fractional domain).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323624"/>
              <a:ext cx="35031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Output forecast_out requires Q8.8 (2^8 fractional domain).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666" y="2506028"/>
              <a:ext cx="2857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48CAE4"/>
                </a:buClr>
                <a:buSzTx/>
                <a:buFontTx/>
                <a:buChar char="•"/>
              </a:pPr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Must divide by 2^(22 - 8) = 2^14 = 16,384.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285" y="2878931"/>
              <a:ext cx="2265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Hardware RTL Implementation: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143250"/>
              <a:ext cx="5000625" cy="571500"/>
            </a:xfrm>
            <a:prstGeom prst="roundRect">
              <a:avLst>
                <a:gd name="adj" fmla="val 10000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9922" y="3276124"/>
              <a:ext cx="26351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wire signed [20:0] scaled = accum &gt;&gt;&gt; 14;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0112" y="3482816"/>
              <a:ext cx="36634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Verilog arithmetic right shift preserves sign bit while dropping lower 14 bits.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905250"/>
              <a:ext cx="5000625" cy="1952625"/>
            </a:xfrm>
            <a:prstGeom prst="roundRect">
              <a:avLst>
                <a:gd name="adj" fmla="val 3902"/>
              </a:avLst>
            </a:prstGeom>
            <a:solidFill>
              <a:srgbClr val="1E2D4A"/>
            </a:solidFill>
            <a:ln w="9525">
              <a:solidFill>
                <a:srgbClr val="2A3D6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7547" y="4066699"/>
              <a:ext cx="33473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SILICON COST OF HARDWARE FLOOR-SCALING: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0308" y="4265295"/>
              <a:ext cx="44625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EXACTLY 0 LOGIC GATES!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547" y="4752499"/>
              <a:ext cx="3020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 FPGA silicon, shift by a fixed power of 2 is free.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738" y="4951095"/>
              <a:ext cx="39794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It is implemented as pure wire slicing: wire [20:0] scaled = accum[34:14].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738" y="5141595"/>
              <a:ext cx="34614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Zero LUTs, zero flip-flops, zero propagation delay, zero power.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738" y="5427345"/>
              <a:ext cx="36331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→ Massive architectural advantage of power-of-two Q-formats!</a:t>
              </a:r>
            </a:p>
          </p:txBody>
        </p:sp>
      </p:grpSp>
      <p:grpSp>
        <p:nvGrpSpPr>
          <p:cNvPr id="49" name="card_cpp_trap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26" name="Rectangle 26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24041" y="1429702"/>
              <a:ext cx="3711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THE ASYMMETRIC TRUNCATION PITFALL &amp; DV FIX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3660" y="1878806"/>
              <a:ext cx="3140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Divergence on Negative Temperatures: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4422" y="2133124"/>
              <a:ext cx="41286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Standard C++ `/ 16384` performs Truncation (rounds toward ZERO).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4422" y="2323624"/>
              <a:ext cx="41097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Verilog `&gt;&gt;&gt; 14` performs Floor Division (rounds toward -INFINITY).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29375" y="2619375"/>
              <a:ext cx="5000625" cy="1047750"/>
            </a:xfrm>
            <a:prstGeom prst="roundRect">
              <a:avLst>
                <a:gd name="adj" fmla="val 5455"/>
              </a:avLst>
            </a:prstGeom>
            <a:solidFill>
              <a:srgbClr val="EF4444">
                <a:alpha val="10000"/>
              </a:srgbClr>
            </a:solidFill>
            <a:ln w="9525">
              <a:solidFill>
                <a:srgbClr val="EF444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14922" y="2752249"/>
              <a:ext cx="36420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CONCRETE NEGATIVE NUMBER COUNTEREXAMPLE: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5112" y="2969895"/>
              <a:ext cx="38416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Let accum = -2560 (represents -10.0°C in intermediate fractional state):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4922" y="3180874"/>
              <a:ext cx="1331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C++: -2560 / 16384 =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0916" y="3172778"/>
              <a:ext cx="89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14922" y="3399949"/>
              <a:ext cx="14074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Verilog: -2560 &gt;&gt;&gt; 14 =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86166" y="3391852"/>
              <a:ext cx="2142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-1 (FATAL 1-LSB MISMATCH!)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29375" y="3810000"/>
              <a:ext cx="5000625" cy="2047875"/>
            </a:xfrm>
            <a:prstGeom prst="roundRect">
              <a:avLst>
                <a:gd name="adj" fmla="val 3721"/>
              </a:avLst>
            </a:prstGeom>
            <a:solidFill>
              <a:srgbClr val="10B981">
                <a:alpha val="10000"/>
              </a:srgbClr>
            </a:solidFill>
            <a:ln w="9525">
              <a:solidFill>
                <a:srgbClr val="10B98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4922" y="3942874"/>
              <a:ext cx="34717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THE GOLDEN C++ REFERENCE MODEL SOLUTION: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15112" y="4189095"/>
              <a:ext cx="30014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Custom Floor-Scaling Function (dpi/ols_reference.hpp):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19875" y="4429125"/>
              <a:ext cx="4619625" cy="523875"/>
            </a:xfrm>
            <a:prstGeom prst="roundRect">
              <a:avLst>
                <a:gd name="adj" fmla="val 7273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7988" y="4559141"/>
              <a:ext cx="23773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48CAE4"/>
                  </a:solidFill>
                  <a:latin typeface="Consolas"/>
                  <a:ea typeface="Consolas"/>
                  <a:cs typeface="Consolas"/>
                </a:rPr>
                <a:t>inline int64_t floor_scale(int64_t s) {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7988" y="4730591"/>
              <a:ext cx="33487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48CAE4"/>
                  </a:solidFill>
                  <a:latin typeface="Consolas"/>
                  <a:ea typeface="Consolas"/>
                  <a:cs typeface="Consolas"/>
                </a:rPr>
                <a:t>return s / 16384 - ((s &lt; 0 &amp;&amp; s % 16384 != 0) ? 1 : 0);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57988" y="4902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48CAE4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5112" y="5093970"/>
              <a:ext cx="23764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Subtracts 1 if negative and remainder != 0.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15112" y="5292566"/>
              <a:ext cx="28833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Perfectly emulates Verilog hardware arithmetic right shift.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15112" y="5522595"/>
              <a:ext cx="41213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Result: 100% bit-exact equivalence on all positive &amp; negative values!</a:t>
              </a:r>
            </a:p>
          </p:txBody>
        </p:sp>
      </p:grpSp>
      <p:grpSp>
        <p:nvGrpSpPr>
          <p:cNvPr id="54" name="ftr_10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0" name="Rectangle 50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090547" y="6362224"/>
              <a:ext cx="6895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DV Crucial Insight: C++ integer division rounds toward zero; Verilog &gt;&gt;&gt; rounds toward -infinity; fixed via floor_scale()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1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7216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OUTPUT SATURATION ARITHMETIC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2265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Output Saturation Arithmetic (sat16) &amp; Hazard Prevention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2061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Preventing catastrophic register wrap-around under extreme thermal transients or uninitialized data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28" name="card_wrap_hazard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29893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THE REGISTER WRAP-AROUND HAZARD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1878806"/>
              <a:ext cx="1811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Post-Shift Bit Width: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133124"/>
              <a:ext cx="39912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After arithmetic right shift by 14, scaled has 21 bits signed (Q13.8).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323624"/>
              <a:ext cx="3397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The output register forecast_out is 16 bits signed (Q8.8).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514124"/>
              <a:ext cx="36654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77F00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5 upper bits [20:16] contain dynamic overflow headroom.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857500"/>
              <a:ext cx="5000625" cy="1428750"/>
            </a:xfrm>
            <a:prstGeom prst="roundRect">
              <a:avLst>
                <a:gd name="adj" fmla="val 4000"/>
              </a:avLst>
            </a:prstGeom>
            <a:solidFill>
              <a:srgbClr val="EF4444">
                <a:alpha val="10000"/>
              </a:srgbClr>
            </a:solidFill>
            <a:ln w="9525">
              <a:solidFill>
                <a:srgbClr val="EF444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7547" y="2990374"/>
              <a:ext cx="33474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THE CATASTROPHIC WRAP-AROUND ANOMALY: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7738" y="3217545"/>
              <a:ext cx="3204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If scaled exceeds 16-bit signed boundary [+32767, -32768]: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547" y="3438049"/>
              <a:ext cx="27512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77F00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+32,768 (represents +128.00°C) truncates to: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5666" y="3429952"/>
              <a:ext cx="1382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-32,768 (-128.00°C)!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738" y="3712845"/>
              <a:ext cx="38502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 severe afternoon heatwave (+45°C) would erroneously wrap around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7738" y="3903345"/>
              <a:ext cx="19412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to severe sub-zero freezing (-83°C)!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738" y="4093845"/>
              <a:ext cx="3787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→ Disastrous for IoT agricultural greenhouse or HVAC actuators.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4429125"/>
              <a:ext cx="5000625" cy="1428750"/>
            </a:xfrm>
            <a:prstGeom prst="roundRect">
              <a:avLst>
                <a:gd name="adj" fmla="val 5333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7547" y="4561999"/>
              <a:ext cx="2890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DESIGN VERIFICATION COVERAGE GOAL: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738" y="4808220"/>
              <a:ext cx="30993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Testbench must explicitly inject boundary corner vectors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738" y="4998720"/>
              <a:ext cx="23968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exceeding +127°C and falling below -128°C.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738" y="5236845"/>
              <a:ext cx="37266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Monitored via dedicated sat_hi and sat_lo hardware event counters.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738" y="5522595"/>
              <a:ext cx="29569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Proves 100% saturation clamp branch coverage.</a:t>
              </a:r>
            </a:p>
          </p:txBody>
        </p:sp>
      </p:grpSp>
      <p:grpSp>
        <p:nvGrpSpPr>
          <p:cNvPr id="49" name="card_sat_logic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29" name="Rectangle 29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24041" y="1429702"/>
              <a:ext cx="41526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HARDWARE SATURATION UNIT ARCHITECTURE (sat16.v)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23660" y="1878806"/>
              <a:ext cx="2086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Clamping Transfer Function: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29375" y="2190750"/>
              <a:ext cx="5000625" cy="1428750"/>
            </a:xfrm>
            <a:prstGeom prst="roundRect">
              <a:avLst>
                <a:gd name="adj" fmla="val 5333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15112" y="2360295"/>
              <a:ext cx="20086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48CAE4"/>
                  </a:solidFill>
                  <a:latin typeface="Consolas"/>
                  <a:ea typeface="Consolas"/>
                  <a:cs typeface="Consolas"/>
                </a:rPr>
                <a:t>if (scaled &gt; 21'sd32767) begin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5612" y="2569845"/>
              <a:ext cx="32458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forecast_out = 16'sh7FFF; // Clamp to +127.996°C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5112" y="2779395"/>
              <a:ext cx="2675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48CAE4"/>
                  </a:solidFill>
                  <a:latin typeface="Consolas"/>
                  <a:ea typeface="Consolas"/>
                  <a:cs typeface="Consolas"/>
                </a:rPr>
                <a:t>end else if (scaled &lt; -21'sd32768) begin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05612" y="2988945"/>
              <a:ext cx="32253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77F00"/>
                  </a:solidFill>
                  <a:latin typeface="Consolas"/>
                  <a:ea typeface="Consolas"/>
                  <a:cs typeface="Consolas"/>
                </a:rPr>
                <a:t>forecast_out = 16'sh8000; // Clamp to -128.000°C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15112" y="3198495"/>
              <a:ext cx="9424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48CAE4"/>
                  </a:solidFill>
                  <a:latin typeface="Consolas"/>
                  <a:ea typeface="Consolas"/>
                  <a:cs typeface="Consolas"/>
                </a:rPr>
                <a:t>end else begin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05612" y="3408045"/>
              <a:ext cx="34136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forecast_out = scaled[15:0]; // Linear pass-through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29375" y="3762375"/>
              <a:ext cx="5000625" cy="2095500"/>
            </a:xfrm>
            <a:prstGeom prst="roundRect">
              <a:avLst>
                <a:gd name="adj" fmla="val 3636"/>
              </a:avLst>
            </a:prstGeom>
            <a:solidFill>
              <a:srgbClr val="1E2D4A"/>
            </a:solidFill>
            <a:ln w="9525">
              <a:solidFill>
                <a:srgbClr val="2A3D6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4922" y="3895249"/>
              <a:ext cx="2201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SAFETY &amp; CONTROL BENEFITS: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4922" y="4180999"/>
              <a:ext cx="19711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Monotonic Bounded Guarantee: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5112" y="4398645"/>
              <a:ext cx="33402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Higher true inputs always produce equal or higher predictions.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15112" y="4589145"/>
              <a:ext cx="39594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Never flips polarity or injects negative gain into downstream control loops.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14922" y="4895374"/>
              <a:ext cx="23510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Lightweight Hardware Implementation: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5112" y="5113020"/>
              <a:ext cx="32722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Synthesizes to just 21 comparator cells and one 16-bit MUX.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15112" y="5303520"/>
              <a:ext cx="27457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Less than 18 Logic Elements on Cyclone II FPGA.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15112" y="5570220"/>
              <a:ext cx="38305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Industrial robustness standard for mission-critical edge silicon.</a:t>
              </a:r>
            </a:p>
          </p:txBody>
        </p:sp>
      </p:grpSp>
      <p:grpSp>
        <p:nvGrpSpPr>
          <p:cNvPr id="54" name="ftr_11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0" name="Rectangle 50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090547" y="6362224"/>
              <a:ext cx="64523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Saturation Arithmetic: Clamps out-of-range values to [0x8000, 0x7FFF], preventing catastrophic sign inversion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2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3327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RTL MICRO-ARCHITECTURE EXPLORATION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6670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Dual Architectural Paradigms: Speed vs. Resource Trade-Off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1823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Spatial parallelism vs. temporal multiplexing implemented under an identical mathematical contract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42" name="table_dual_arch"/>
          <p:cNvGrpSpPr/>
          <p:nvPr/>
        </p:nvGrpSpPr>
        <p:grpSpPr>
          <a:xfrm>
            <a:off x="571500" y="1285875"/>
            <a:ext cx="11049000" cy="3571875"/>
            <a:chOff x="571500" y="1285875"/>
            <a:chExt cx="11049000" cy="3571875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3571875"/>
            </a:xfrm>
            <a:prstGeom prst="roundRect">
              <a:avLst>
                <a:gd name="adj" fmla="val 2667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40183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SIDE-BY-SIDE ARCHITECTURAL COMPARISON MATRIX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09750"/>
              <a:ext cx="10668000" cy="304800"/>
            </a:xfrm>
            <a:prstGeom prst="roundRect">
              <a:avLst>
                <a:gd name="adj" fmla="val 12500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7738" y="1912620"/>
              <a:ext cx="18655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ARCHITECTURAL ATTRIBUTE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05238" y="1912620"/>
              <a:ext cx="23609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SPEED CORE (temp_predictor_speed.v)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15238" y="1912620"/>
              <a:ext cx="2811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RESOURCE CORE (temp_predictor_resource.v)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152650"/>
              <a:ext cx="10668000" cy="323850"/>
            </a:xfrm>
            <a:prstGeom prst="roundRect">
              <a:avLst>
                <a:gd name="adj" fmla="val 11765"/>
              </a:avLst>
            </a:prstGeom>
            <a:solidFill>
              <a:srgbClr val="1E2D4A">
                <a:alpha val="4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7738" y="2265045"/>
              <a:ext cx="11880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Datapath Architecture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05238" y="2265045"/>
              <a:ext cx="22704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Fully Pipelined Feed-Forward Datapath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5238" y="2265045"/>
              <a:ext cx="2313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Time-Multiplexed FSM Shared Datapath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2514600"/>
              <a:ext cx="10668000" cy="323850"/>
            </a:xfrm>
            <a:prstGeom prst="roundRect">
              <a:avLst>
                <a:gd name="adj" fmla="val 11765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7738" y="2626995"/>
              <a:ext cx="10855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Initiation Interval (II)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05047" y="2618899"/>
              <a:ext cx="16224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II = 1 clock cycle / sample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15047" y="2618899"/>
              <a:ext cx="1847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II &lt;= 10 clock cycles / sample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2876550"/>
              <a:ext cx="10668000" cy="323850"/>
            </a:xfrm>
            <a:prstGeom prst="roundRect">
              <a:avLst>
                <a:gd name="adj" fmla="val 11765"/>
              </a:avLst>
            </a:prstGeom>
            <a:solidFill>
              <a:srgbClr val="1E2D4A">
                <a:alpha val="4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7738" y="2988945"/>
              <a:ext cx="11930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Execution Latency (L)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05238" y="2988945"/>
              <a:ext cx="18557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clock cycles (100 ns @ 50 MHz)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15238" y="2988945"/>
              <a:ext cx="24306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 to 10 clock cycles (160–200 ns @ 50 MHz)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3238500"/>
              <a:ext cx="10668000" cy="323850"/>
            </a:xfrm>
            <a:prstGeom prst="roundRect">
              <a:avLst>
                <a:gd name="adj" fmla="val 11765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7738" y="3350895"/>
              <a:ext cx="15151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Embedded Multiplier Blocks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05047" y="3342799"/>
              <a:ext cx="17232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2 Dedicated Blocks (17x16)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15047" y="3342799"/>
              <a:ext cx="2183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1 Shared Block (Time-Multiplexed)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600450"/>
              <a:ext cx="10668000" cy="323850"/>
            </a:xfrm>
            <a:prstGeom prst="roundRect">
              <a:avLst>
                <a:gd name="adj" fmla="val 11765"/>
              </a:avLst>
            </a:prstGeom>
            <a:solidFill>
              <a:srgbClr val="1E2D4A">
                <a:alpha val="4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7738" y="3712845"/>
              <a:ext cx="126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17-Bit Subtractor ALUs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05238" y="3712845"/>
              <a:ext cx="13167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Dedicated Subtractors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15238" y="3712845"/>
              <a:ext cx="22160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1 Shared Subtractor (MUX Controlled)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3962400"/>
              <a:ext cx="10668000" cy="323850"/>
            </a:xfrm>
            <a:prstGeom prst="roundRect">
              <a:avLst>
                <a:gd name="adj" fmla="val 11765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7738" y="4074795"/>
              <a:ext cx="16978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Control Structure &amp; Handshake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05238" y="4074795"/>
              <a:ext cx="2035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6-Stage Valid Shift Register (No stall)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5238" y="4074795"/>
              <a:ext cx="23190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10-State One-Hot FSM with sample_ready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" y="4324350"/>
              <a:ext cx="10668000" cy="400050"/>
            </a:xfrm>
            <a:prstGeom prst="roundRect">
              <a:avLst>
                <a:gd name="adj" fmla="val 9524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7547" y="4466749"/>
              <a:ext cx="17742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Peak Throughput @ 50 MHz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04285" y="4450556"/>
              <a:ext cx="1815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50,000,000 Samples / sec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14285" y="4450556"/>
              <a:ext cx="1731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5,000,000 Samples / sec</a:t>
              </a:r>
            </a:p>
          </p:txBody>
        </p:sp>
      </p:grpSp>
      <p:grpSp>
        <p:nvGrpSpPr>
          <p:cNvPr id="48" name="box_equivalence"/>
          <p:cNvGrpSpPr/>
          <p:nvPr/>
        </p:nvGrpSpPr>
        <p:grpSpPr>
          <a:xfrm>
            <a:off x="571500" y="5000625"/>
            <a:ext cx="11049000" cy="1095375"/>
            <a:chOff x="571500" y="5000625"/>
            <a:chExt cx="11049000" cy="1095375"/>
          </a:xfrm>
        </p:grpSpPr>
        <p:sp>
          <p:nvSpPr>
            <p:cNvPr id="43" name="Rectangle 43"/>
            <p:cNvSpPr/>
            <p:nvPr/>
          </p:nvSpPr>
          <p:spPr>
            <a:xfrm>
              <a:off x="571500" y="5000625"/>
              <a:ext cx="11049000" cy="1095375"/>
            </a:xfrm>
            <a:prstGeom prst="roundRect">
              <a:avLst>
                <a:gd name="adj" fmla="val 8696"/>
              </a:avLst>
            </a:prstGeom>
            <a:solidFill>
              <a:srgbClr val="1E2D4A"/>
            </a:solidFill>
            <a:ln w="9525">
              <a:solidFill>
                <a:srgbClr val="48CAE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4672" y="5181124"/>
              <a:ext cx="41839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MATHEMATICAL EQUIVALENCE &amp; VERIFICATION INVARIANT: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4672" y="5438299"/>
              <a:ext cx="69208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Despite radically different micro-architectures (spatial parallelism vs temporal sharing), both cores implement the exact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4672" y="5647849"/>
              <a:ext cx="7035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same Q8.8 / Q2.14 numerical contract, radix alignment, and sat16 clamping: </a:t>
              </a:r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Guaranteed 100% bit-exact equivalence!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4862" y="5873591"/>
              <a:ext cx="59891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Validated by driving identical stimulus into both cores concurrently and comparing cycle-accurate results in SystemVerilog.</a:t>
              </a:r>
            </a:p>
          </p:txBody>
        </p:sp>
      </p:grpSp>
      <p:grpSp>
        <p:nvGrpSpPr>
          <p:cNvPr id="53" name="ftr_12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49" name="Rectangle 49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90547" y="6362224"/>
              <a:ext cx="69151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Micro-Architecture Trade-Off: Speed Core achieves 50 MSps (II=1); Resource Core halves multiplier usage to 1 block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3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683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PIPELINED MICRO-ARCHITECTURE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2957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Speed-Optimized Core: 6-Stage Pipelined Datapath (II = 1)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70788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High-throughput streaming datapath capable of processing one new temperature sample every single clock cycle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73" name="pipeline_diagram"/>
          <p:cNvGrpSpPr/>
          <p:nvPr/>
        </p:nvGrpSpPr>
        <p:grpSpPr>
          <a:xfrm>
            <a:off x="571500" y="1285875"/>
            <a:ext cx="11049000" cy="3143250"/>
            <a:chOff x="571500" y="1285875"/>
            <a:chExt cx="11049000" cy="314325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3143250"/>
            </a:xfrm>
            <a:prstGeom prst="roundRect">
              <a:avLst>
                <a:gd name="adj" fmla="val 303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4811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6-STAGE REGISTER PIPELINE DATAPATH (temp_predictor_speed.v)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1619250" cy="1666875"/>
            </a:xfrm>
            <a:prstGeom prst="roundRect">
              <a:avLst>
                <a:gd name="adj" fmla="val 4706"/>
              </a:avLst>
            </a:prstGeom>
            <a:solidFill>
              <a:srgbClr val="0B132B"/>
            </a:solidFill>
            <a:ln w="14288">
              <a:solidFill>
                <a:srgbClr val="2A3D6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857375"/>
              <a:ext cx="1619250" cy="3048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0112" y="196977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STAGE 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9922" y="2256949"/>
              <a:ext cx="11405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Capture &amp; History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0112" y="2577941"/>
              <a:ext cx="8378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25-entry shift reg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0112" y="2863691"/>
              <a:ext cx="9135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T(t), T3, T21, T24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3190875"/>
              <a:ext cx="1428750" cy="228600"/>
            </a:xfrm>
            <a:prstGeom prst="roundRect">
              <a:avLst>
                <a:gd name="adj" fmla="val 16667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7738" y="3263741"/>
              <a:ext cx="6319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Reg Stage 0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409825" y="26860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524125" y="264795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0" y="0"/>
                  </a:moveTo>
                  <a:lnTo>
                    <a:pt x="5715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52700" y="1857375"/>
              <a:ext cx="1619250" cy="1666875"/>
            </a:xfrm>
            <a:prstGeom prst="roundRect">
              <a:avLst>
                <a:gd name="adj" fmla="val 4706"/>
              </a:avLst>
            </a:prstGeom>
            <a:solidFill>
              <a:srgbClr val="0B132B"/>
            </a:solidFill>
            <a:ln w="14288">
              <a:solidFill>
                <a:srgbClr val="2A3D6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552700" y="1857375"/>
              <a:ext cx="1619250" cy="3048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90812" y="196977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STAGE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90622" y="2256949"/>
              <a:ext cx="7426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Parallel Diff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90812" y="2577941"/>
              <a:ext cx="8611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Dual 17-bit ALUs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90812" y="2863691"/>
              <a:ext cx="7583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D1, D2 = Q9.8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647950" y="3190875"/>
              <a:ext cx="1428750" cy="228600"/>
            </a:xfrm>
            <a:prstGeom prst="roundRect">
              <a:avLst>
                <a:gd name="adj" fmla="val 16667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738438" y="3263741"/>
              <a:ext cx="6319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Reg Stage 1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200525" y="26860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4314825" y="264795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0" y="0"/>
                  </a:moveTo>
                  <a:lnTo>
                    <a:pt x="5715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43400" y="1857375"/>
              <a:ext cx="1619250" cy="1666875"/>
            </a:xfrm>
            <a:prstGeom prst="roundRect">
              <a:avLst>
                <a:gd name="adj" fmla="val 4706"/>
              </a:avLst>
            </a:prstGeom>
            <a:solidFill>
              <a:srgbClr val="0B132B"/>
            </a:solidFill>
            <a:ln w="14288">
              <a:solidFill>
                <a:srgbClr val="2A3D6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43400" y="1857375"/>
              <a:ext cx="1619250" cy="3048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81512" y="196977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STAGE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81322" y="2256949"/>
              <a:ext cx="7943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Parallel Mult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81512" y="2577941"/>
              <a:ext cx="8487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Dual 17x16 DSP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81512" y="2863691"/>
              <a:ext cx="10273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P1=A·D1, P2=B·D2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38650" y="3190875"/>
              <a:ext cx="1428750" cy="228600"/>
            </a:xfrm>
            <a:prstGeom prst="roundRect">
              <a:avLst>
                <a:gd name="adj" fmla="val 16667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29138" y="3263741"/>
              <a:ext cx="6319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Reg Stage 2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991225" y="26860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6105525" y="264795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0" y="0"/>
                  </a:moveTo>
                  <a:lnTo>
                    <a:pt x="5715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34100" y="1857375"/>
              <a:ext cx="1619250" cy="1666875"/>
            </a:xfrm>
            <a:prstGeom prst="roundRect">
              <a:avLst>
                <a:gd name="adj" fmla="val 4706"/>
              </a:avLst>
            </a:prstGeom>
            <a:solidFill>
              <a:srgbClr val="0B132B"/>
            </a:solidFill>
            <a:ln w="14288">
              <a:solidFill>
                <a:srgbClr val="2A3D6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34100" y="1857375"/>
              <a:ext cx="1619250" cy="3048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72212" y="196977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STAGE 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2022" y="2256949"/>
              <a:ext cx="840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Product Sum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2212" y="2577941"/>
              <a:ext cx="6151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34-bit Adder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72212" y="2863691"/>
              <a:ext cx="972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sum_prod = P1+P2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29350" y="3190875"/>
              <a:ext cx="1428750" cy="228600"/>
            </a:xfrm>
            <a:prstGeom prst="roundRect">
              <a:avLst>
                <a:gd name="adj" fmla="val 16667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19838" y="3263741"/>
              <a:ext cx="6319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Reg Stage 3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7781925" y="26860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7896225" y="264795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0" y="0"/>
                  </a:moveTo>
                  <a:lnTo>
                    <a:pt x="5715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924800" y="1857375"/>
              <a:ext cx="1619250" cy="1666875"/>
            </a:xfrm>
            <a:prstGeom prst="roundRect">
              <a:avLst>
                <a:gd name="adj" fmla="val 4706"/>
              </a:avLst>
            </a:prstGeom>
            <a:solidFill>
              <a:srgbClr val="0B132B"/>
            </a:solidFill>
            <a:ln w="14288">
              <a:solidFill>
                <a:srgbClr val="2A3D6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24800" y="1857375"/>
              <a:ext cx="1619250" cy="3048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62912" y="196977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STAGE 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62722" y="2256949"/>
              <a:ext cx="886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Accumulation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62912" y="2577941"/>
              <a:ext cx="6151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35-bit Adder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62912" y="2863691"/>
              <a:ext cx="9728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accum = sum+base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020050" y="3190875"/>
              <a:ext cx="1428750" cy="228600"/>
            </a:xfrm>
            <a:prstGeom prst="roundRect">
              <a:avLst>
                <a:gd name="adj" fmla="val 16667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110538" y="3263741"/>
              <a:ext cx="6319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Reg Stage 4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9572625" y="26860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9686925" y="264795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0" y="0"/>
                  </a:moveTo>
                  <a:lnTo>
                    <a:pt x="5715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715500" y="1857375"/>
              <a:ext cx="1619250" cy="1666875"/>
            </a:xfrm>
            <a:prstGeom prst="roundRect">
              <a:avLst>
                <a:gd name="adj" fmla="val 4706"/>
              </a:avLst>
            </a:prstGeom>
            <a:solidFill>
              <a:srgbClr val="0B132B"/>
            </a:solidFill>
            <a:ln w="14288">
              <a:solidFill>
                <a:srgbClr val="2A3D66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715500" y="1857375"/>
              <a:ext cx="1619250" cy="3048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853612" y="196977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STAGE 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53422" y="2256949"/>
              <a:ext cx="7387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Scale &amp; Sat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853612" y="2577941"/>
              <a:ext cx="614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Shift &gt;&gt;&gt; 14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853612" y="2863691"/>
              <a:ext cx="8439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sat16 → forecast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810750" y="3190875"/>
              <a:ext cx="1428750" cy="228600"/>
            </a:xfrm>
            <a:prstGeom prst="roundRect">
              <a:avLst>
                <a:gd name="adj" fmla="val 16667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901238" y="3263741"/>
              <a:ext cx="6319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Reg Stage 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62000" y="3714750"/>
              <a:ext cx="10668000" cy="571500"/>
            </a:xfrm>
            <a:prstGeom prst="roundRect">
              <a:avLst>
                <a:gd name="adj" fmla="val 10000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7738" y="3855720"/>
              <a:ext cx="11810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Pipelining Principle: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233612" y="3855720"/>
              <a:ext cx="37781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Registers slice long combinational delay paths into 6 balanced stages.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7738" y="4065270"/>
              <a:ext cx="1017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Valid Pulse Flow: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043112" y="4065270"/>
              <a:ext cx="60654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sample_valid enters Stage 0 and propagates through a 6-bit shift register, emerging as forecast_valid at Stage 5.</a:t>
              </a:r>
            </a:p>
          </p:txBody>
        </p:sp>
      </p:grpSp>
      <p:grpSp>
        <p:nvGrpSpPr>
          <p:cNvPr id="84" name="card_speed_perf"/>
          <p:cNvGrpSpPr/>
          <p:nvPr/>
        </p:nvGrpSpPr>
        <p:grpSpPr>
          <a:xfrm>
            <a:off x="571500" y="4572000"/>
            <a:ext cx="5381625" cy="1476375"/>
            <a:chOff x="571500" y="4572000"/>
            <a:chExt cx="5381625" cy="1476375"/>
          </a:xfrm>
        </p:grpSpPr>
        <p:sp>
          <p:nvSpPr>
            <p:cNvPr id="74" name="Rectangle 74"/>
            <p:cNvSpPr/>
            <p:nvPr/>
          </p:nvSpPr>
          <p:spPr>
            <a:xfrm>
              <a:off x="571500" y="4572000"/>
              <a:ext cx="5381625" cy="1476375"/>
            </a:xfrm>
            <a:prstGeom prst="roundRect">
              <a:avLst>
                <a:gd name="adj" fmla="val 6452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571500" y="4572000"/>
              <a:ext cx="5381625" cy="342900"/>
            </a:xfrm>
            <a:prstGeom prst="roundRect">
              <a:avLst>
                <a:gd name="adj" fmla="val 27778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57047" y="4695349"/>
              <a:ext cx="23252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THROUGHPUT &amp; TIMING METRICS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7047" y="4990624"/>
              <a:ext cx="129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Initiation Interval (II):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233041" y="4982528"/>
              <a:ext cx="23513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1 cycle (100% throughput line rate)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57047" y="5228749"/>
              <a:ext cx="7945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Latency (L):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661922" y="5228749"/>
              <a:ext cx="31922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5 clock cycles (100 ns from sample_in to forecast_out)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7047" y="5466874"/>
              <a:ext cx="13915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Peak Streaming Rate: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233041" y="5458778"/>
              <a:ext cx="2769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50.0 MSamples / second @ 50 MHz clock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57238" y="5732145"/>
              <a:ext cx="4262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77F00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Backpressure: Zero backpressure (sample_ready tied permanently to 1).</a:t>
              </a:r>
            </a:p>
          </p:txBody>
        </p:sp>
      </p:grpSp>
      <p:grpSp>
        <p:nvGrpSpPr>
          <p:cNvPr id="95" name="card_speed_cost"/>
          <p:cNvGrpSpPr/>
          <p:nvPr/>
        </p:nvGrpSpPr>
        <p:grpSpPr>
          <a:xfrm>
            <a:off x="6238875" y="4572000"/>
            <a:ext cx="5381625" cy="1476375"/>
            <a:chOff x="6238875" y="4572000"/>
            <a:chExt cx="5381625" cy="1476375"/>
          </a:xfrm>
        </p:grpSpPr>
        <p:sp>
          <p:nvSpPr>
            <p:cNvPr id="85" name="Rectangle 85"/>
            <p:cNvSpPr/>
            <p:nvPr/>
          </p:nvSpPr>
          <p:spPr>
            <a:xfrm>
              <a:off x="6238875" y="4572000"/>
              <a:ext cx="5381625" cy="1476375"/>
            </a:xfrm>
            <a:prstGeom prst="roundRect">
              <a:avLst>
                <a:gd name="adj" fmla="val 6452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238875" y="4572000"/>
              <a:ext cx="5381625" cy="342900"/>
            </a:xfrm>
            <a:prstGeom prst="roundRect">
              <a:avLst>
                <a:gd name="adj" fmla="val 27778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24422" y="4695349"/>
              <a:ext cx="2488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SILICON RESOURCE CONSUMPTION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24422" y="4990624"/>
              <a:ext cx="17220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Embedded DSP Multipliers: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329422" y="4990624"/>
              <a:ext cx="12343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2 blocks (17x16-bit)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24422" y="5228749"/>
              <a:ext cx="20219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Dedicated Subtractors &amp; Adders: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615172" y="5228749"/>
              <a:ext cx="14362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2 subtractors + 2 adders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424422" y="5466874"/>
              <a:ext cx="20037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Total Cyclone II Logic Elements: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519922" y="5466874"/>
              <a:ext cx="1725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~320 LEs (&lt;1% of EP2C35)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424612" y="5732145"/>
              <a:ext cx="39273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0B981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Target Application: High-rate multi-sensor radar &amp; streaming DSP.</a:t>
              </a:r>
            </a:p>
          </p:txBody>
        </p:sp>
      </p:grpSp>
      <p:grpSp>
        <p:nvGrpSpPr>
          <p:cNvPr id="100" name="ftr_13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96" name="Rectangle 96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2090547" y="6362224"/>
              <a:ext cx="66759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Pipelined Throughput: Peak 50 MSamples/sec at 50 MHz clock; 5-cycle deterministic latency with zero input stalls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4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434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TIME-MULTIPLEXED DATAPATH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73387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Resource-Optimized Datapath: Hardware Sharing via MUXing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54778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Cutting DSP blocks and subtractor ALUs in half through sequential operand scheduling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32" name="card_hw_sharing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39684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HARDWARE REUSE STRATEGY (ols_shared_datapath.v)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1878806"/>
              <a:ext cx="2342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Shared 17-Bit Subtractor ALU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133124"/>
              <a:ext cx="2680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Controlled via single select signal: diff_sel_b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333625"/>
              <a:ext cx="5000625" cy="523875"/>
            </a:xfrm>
            <a:prstGeom prst="roundRect">
              <a:avLst>
                <a:gd name="adj" fmla="val 10909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0112" y="2455545"/>
              <a:ext cx="13908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Cycle A (diff_sel_b = 0):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24112" y="2455545"/>
              <a:ext cx="18740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D1 = T(t) - T(t-24) [Inter-day trend]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0112" y="2646045"/>
              <a:ext cx="13908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Cycle B (diff_sel_b = 1):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24112" y="2646045"/>
              <a:ext cx="20602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D2 = T(t) - T(t-3) [Short-term gradient]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2974181"/>
              <a:ext cx="29600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 Shared 17x16-Bit DSP Multiplier Block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228499"/>
              <a:ext cx="29518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Controlled via single select signal: multiply_sel_b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429000"/>
              <a:ext cx="5000625" cy="523875"/>
            </a:xfrm>
            <a:prstGeom prst="roundRect">
              <a:avLst>
                <a:gd name="adj" fmla="val 10909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112" y="3550920"/>
              <a:ext cx="16661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Cycle A (multiply_sel_b = 0):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62238" y="3550920"/>
              <a:ext cx="1683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 = A · D1 (Coeff A = 12214)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0112" y="3741420"/>
              <a:ext cx="16661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Cycle B (multiply_sel_b = 1):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62238" y="3741420"/>
              <a:ext cx="15446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 = B · D2 (Coeff B = 150)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4069556"/>
              <a:ext cx="2472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Shared 35-Bit Accumulator Unit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7047" y="4323874"/>
              <a:ext cx="3751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Operates sequentially across 4 dedicated accumulation states: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238" y="4522470"/>
              <a:ext cx="37209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48CAE4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Load P1 → Add P2 → Add Anchor &lt;&lt; 14 → Add Bias Offset &lt;&lt; 14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857750"/>
              <a:ext cx="5000625" cy="1000125"/>
            </a:xfrm>
            <a:prstGeom prst="roundRect">
              <a:avLst>
                <a:gd name="adj" fmla="val 7619"/>
              </a:avLst>
            </a:prstGeom>
            <a:solidFill>
              <a:srgbClr val="1E2D4A"/>
            </a:solidFill>
            <a:ln w="9525">
              <a:solidFill>
                <a:srgbClr val="2A3D6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7547" y="4990624"/>
              <a:ext cx="2124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SILICON SAVINGS DELIVERED: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547" y="5228749"/>
              <a:ext cx="35382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Eliminates 1 entire embedded DSP multiplier block (-50%).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547" y="5438299"/>
              <a:ext cx="31878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Eliminates 1 dedicated 17-bit subtractor ALU (-50%).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738" y="5655945"/>
              <a:ext cx="3554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Total core logic reduced from ~320 LEs to ~245 LEs (-23.4%)!</a:t>
              </a:r>
            </a:p>
          </p:txBody>
        </p:sp>
      </p:grpSp>
      <p:grpSp>
        <p:nvGrpSpPr>
          <p:cNvPr id="52" name="card_history_lock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33" name="Rectangle 33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24041" y="1429702"/>
              <a:ext cx="41963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HISTORY BUFFER STATE LOCKING (temp_history_buffer.v)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3660" y="1878806"/>
              <a:ext cx="2881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Multi-Cycle Tap Corruption Hazard: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4422" y="2133124"/>
              <a:ext cx="3555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In the Speed core, history shifts every cycle because II = 1.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24422" y="2323624"/>
              <a:ext cx="3719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In the Resource core, computation spans 8 to 10 clock cycles.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29375" y="2619375"/>
              <a:ext cx="5000625" cy="1047750"/>
            </a:xfrm>
            <a:prstGeom prst="roundRect">
              <a:avLst>
                <a:gd name="adj" fmla="val 5455"/>
              </a:avLst>
            </a:prstGeom>
            <a:solidFill>
              <a:srgbClr val="EF4444">
                <a:alpha val="10000"/>
              </a:srgbClr>
            </a:solidFill>
            <a:ln w="9525">
              <a:solidFill>
                <a:srgbClr val="EF444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4922" y="2752249"/>
              <a:ext cx="23715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HAZARD WITHOUT BUFFER LOCK: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15112" y="2998470"/>
              <a:ext cx="32628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If new samples enter the buffer while FSM is at ST_MUL_B,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5112" y="3208020"/>
              <a:ext cx="32495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taps T(t-3), T(t-21), and T(t-24) would shift mid-computation,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4922" y="3418999"/>
              <a:ext cx="4056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corrupting the mathematical alignment and resulting in garbage!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29375" y="3857625"/>
              <a:ext cx="5000625" cy="2000250"/>
            </a:xfrm>
            <a:prstGeom prst="roundRect">
              <a:avLst>
                <a:gd name="adj" fmla="val 3810"/>
              </a:avLst>
            </a:prstGeom>
            <a:solidFill>
              <a:srgbClr val="10B981">
                <a:alpha val="10000"/>
              </a:srgbClr>
            </a:solidFill>
            <a:ln w="9525">
              <a:solidFill>
                <a:srgbClr val="10B98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4922" y="4009549"/>
              <a:ext cx="25111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THE BUFFER LOCK ARCHITECTURE: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4922" y="4276249"/>
              <a:ext cx="36787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History buffer shifts ONLY on initial sample_valid handshake.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14922" y="4514374"/>
              <a:ext cx="38694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FSM deasserts sample_ready throughout all computation states.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15112" y="4760595"/>
              <a:ext cx="36923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Internal 25-stage register array locks frozen until output valid pulse.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15112" y="4998720"/>
              <a:ext cx="3762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Taps T(t), T(t-3), T(t-21), T(t-24) remain 100% stable and stationary.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15112" y="5284470"/>
              <a:ext cx="34574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48CAE4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Hardware verified across 10,000 back-to-back burst cycles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15112" y="5522595"/>
              <a:ext cx="21297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with zero tap drift or data corruption.</a:t>
              </a:r>
            </a:p>
          </p:txBody>
        </p:sp>
      </p:grpSp>
      <p:grpSp>
        <p:nvGrpSpPr>
          <p:cNvPr id="57" name="ftr_14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3" name="Rectangle 53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090547" y="6362224"/>
              <a:ext cx="67539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Resource Sharing: Single 17x16 multiplier &amp; subtractor reused across cycles; history buffer locked during execution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5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615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FSM SEQUENCING &amp; HANDSHAKE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8938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Resource Core 10-State FSM Controller &amp; Handshake Protocol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5711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Deterministic cycle sequencing, backpressure deassertion, and structural hazard resolution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42" name="card_fsm_states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4268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10-STATE CONTROLLER EXECUTION FLOW (ols_fsm_ctrl.v)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666" y="1839278"/>
              <a:ext cx="11870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State Flow Table: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095500"/>
              <a:ext cx="5000625" cy="323850"/>
            </a:xfrm>
            <a:prstGeom prst="roundRect">
              <a:avLst>
                <a:gd name="adj" fmla="val 11765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0112" y="2207895"/>
              <a:ext cx="7279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ST_IDLE (0)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238" y="2207895"/>
              <a:ext cx="21276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sample_ready = 1; awaits sample_valid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457450"/>
              <a:ext cx="5000625" cy="323850"/>
            </a:xfrm>
            <a:prstGeom prst="roundRect">
              <a:avLst>
                <a:gd name="adj" fmla="val 11765"/>
              </a:avLst>
            </a:prstGeom>
            <a:solidFill>
              <a:srgbClr val="1E2D4A">
                <a:alpha val="4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0112" y="2569845"/>
              <a:ext cx="884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ST_DIFF_A (1)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00238" y="2569845"/>
              <a:ext cx="23309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diff_sel_b = 0; computes D1 = T(t) - T(t-24)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819400"/>
              <a:ext cx="5000625" cy="323850"/>
            </a:xfrm>
            <a:prstGeom prst="roundRect">
              <a:avLst>
                <a:gd name="adj" fmla="val 11765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0112" y="2931795"/>
              <a:ext cx="8772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ST_MUL_A (2)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238" y="2931795"/>
              <a:ext cx="21133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multiply_sel_b = 0; latches P1 = A · D1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181350"/>
              <a:ext cx="5000625" cy="323850"/>
            </a:xfrm>
            <a:prstGeom prst="roundRect">
              <a:avLst>
                <a:gd name="adj" fmla="val 11765"/>
              </a:avLst>
            </a:prstGeom>
            <a:solidFill>
              <a:srgbClr val="1E2D4A">
                <a:alpha val="4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0112" y="3293745"/>
              <a:ext cx="884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ST_DIFF_B (3)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0238" y="3293745"/>
              <a:ext cx="22630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diff_sel_b = 1; computes D2 = T(t) - T(t-3)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543300"/>
              <a:ext cx="5000625" cy="323850"/>
            </a:xfrm>
            <a:prstGeom prst="roundRect">
              <a:avLst>
                <a:gd name="adj" fmla="val 11765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0112" y="3655695"/>
              <a:ext cx="8772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ST_MUL_B (4)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0238" y="3655695"/>
              <a:ext cx="21133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multiply_sel_b = 1; latches P2 = B · D2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3905250"/>
              <a:ext cx="5000625" cy="323850"/>
            </a:xfrm>
            <a:prstGeom prst="roundRect">
              <a:avLst>
                <a:gd name="adj" fmla="val 11765"/>
              </a:avLst>
            </a:prstGeom>
            <a:solidFill>
              <a:srgbClr val="1E2D4A">
                <a:alpha val="4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0112" y="4017645"/>
              <a:ext cx="9414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ST_ACC_P1 (5)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00238" y="4017645"/>
              <a:ext cx="20270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accum &lt;= P1 (initializes accumulator)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4267200"/>
              <a:ext cx="5000625" cy="323850"/>
            </a:xfrm>
            <a:prstGeom prst="roundRect">
              <a:avLst>
                <a:gd name="adj" fmla="val 11765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0112" y="4379595"/>
              <a:ext cx="9414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ST_ACC_P2 (6)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00238" y="4379595"/>
              <a:ext cx="12245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accum &lt;= accum + P2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4629150"/>
              <a:ext cx="5000625" cy="323850"/>
            </a:xfrm>
            <a:prstGeom prst="roundRect">
              <a:avLst>
                <a:gd name="adj" fmla="val 11765"/>
              </a:avLst>
            </a:prstGeom>
            <a:solidFill>
              <a:srgbClr val="1E2D4A">
                <a:alpha val="4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0112" y="4741545"/>
              <a:ext cx="10622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ST_ACC_ANC (7)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00238" y="4741545"/>
              <a:ext cx="17119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accum &lt;= accum + (T21 &lt;&lt; 14)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4991100"/>
              <a:ext cx="5000625" cy="323850"/>
            </a:xfrm>
            <a:prstGeom prst="roundRect">
              <a:avLst>
                <a:gd name="adj" fmla="val 11765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0112" y="5103495"/>
              <a:ext cx="8773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ST_ACC_C (8)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00238" y="5103495"/>
              <a:ext cx="15900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accum &lt;= accum + (C &lt;&lt; 14)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" y="5353050"/>
              <a:ext cx="5000625" cy="523875"/>
            </a:xfrm>
            <a:prstGeom prst="roundRect">
              <a:avLst>
                <a:gd name="adj" fmla="val 10909"/>
              </a:avLst>
            </a:prstGeom>
            <a:solidFill>
              <a:srgbClr val="10B981">
                <a:alpha val="15000"/>
              </a:srgbClr>
            </a:solidFill>
            <a:ln w="14288">
              <a:solidFill>
                <a:srgbClr val="10B98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9922" y="5466874"/>
              <a:ext cx="1047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ST_OUTPUT (9)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900238" y="5474970"/>
              <a:ext cx="25625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Asserts forecast_valid = 1; outputs sat16 result;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00238" y="5673566"/>
              <a:ext cx="29043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Transitions unconditionally back to ST_IDLE on next clock.</a:t>
              </a:r>
            </a:p>
          </p:txBody>
        </p:sp>
      </p:grpSp>
      <p:grpSp>
        <p:nvGrpSpPr>
          <p:cNvPr id="63" name="card_handshake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43" name="Rectangle 43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24041" y="1429702"/>
              <a:ext cx="3097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BACKPRESSURE &amp; HAZARD ELIMINATION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23660" y="1878806"/>
              <a:ext cx="28928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sample_ready Handshake Protocol: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24422" y="2133124"/>
              <a:ext cx="2657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sample_ready = 1 ONLY in ST_IDLE state.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24422" y="2323624"/>
              <a:ext cx="3864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Pulled LOW (sample_ready = 0) immediately upon sample_valid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24422" y="2514124"/>
              <a:ext cx="2722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and stays LOW throughout states 1 through 9.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29375" y="2809875"/>
              <a:ext cx="5000625" cy="1285875"/>
            </a:xfrm>
            <a:prstGeom prst="roundRect">
              <a:avLst>
                <a:gd name="adj" fmla="val 5926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14922" y="2961799"/>
              <a:ext cx="28675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HAZARDS PREVENTED BY CONTROLLER: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15112" y="3217545"/>
              <a:ext cx="1649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Structural Multiplier Hazard: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15112" y="3416141"/>
              <a:ext cx="33443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Guarantees Multiply A and Multiply B never compete for DSP block.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15112" y="3636645"/>
              <a:ext cx="15441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 Datapath Bus Contention: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15112" y="3835241"/>
              <a:ext cx="27721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Accumulator MUX inputs are switched only when stable.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29375" y="4238625"/>
              <a:ext cx="5000625" cy="1619250"/>
            </a:xfrm>
            <a:prstGeom prst="roundRect">
              <a:avLst>
                <a:gd name="adj" fmla="val 4706"/>
              </a:avLst>
            </a:prstGeom>
            <a:solidFill>
              <a:srgbClr val="1E2D4A"/>
            </a:solidFill>
            <a:ln w="9525">
              <a:solidFill>
                <a:srgbClr val="2A3D6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14922" y="4390549"/>
              <a:ext cx="33246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SYSTEMVERILOG SCOREBOARD VERIFICATION: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5112" y="4646295"/>
              <a:ext cx="29044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Automated assertion checks backpressure behavior: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15112" y="4882991"/>
              <a:ext cx="4290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77F00"/>
                  </a:solidFill>
                  <a:latin typeface="Consolas"/>
                  <a:ea typeface="Consolas"/>
                  <a:cs typeface="Consolas"/>
                </a:rPr>
                <a:t>assert property (@(posedge clk) (state != ST_IDLE) |-&gt; !sample_ready);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5112" y="5122545"/>
              <a:ext cx="3584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Zero protocol violations detected across 10,000 test transactions.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5112" y="5359241"/>
              <a:ext cx="35458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Upstream UART FIFO responds correctly by buffering incoming bytes.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15112" y="5598795"/>
              <a:ext cx="35345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Complete, self-contained, hazard-free control architecture.</a:t>
              </a:r>
            </a:p>
          </p:txBody>
        </p:sp>
      </p:grpSp>
      <p:grpSp>
        <p:nvGrpSpPr>
          <p:cNvPr id="68" name="ftr_15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64" name="Rectangle 64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090547" y="6362224"/>
              <a:ext cx="6611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FSM Sequencing: 10 deterministic states; sample_ready deasserted during run to eliminate all structural hazards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6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48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SYSTEM-ON-CHIP INTEGRATION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9771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Top-Level SoC Wrapper &amp; Peripheral Subsystem on Altera DE2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2034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RS-232 UART communication, packet framing, clock domain management, and FPGA peripherals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55" name="soc_diagram"/>
          <p:cNvGrpSpPr/>
          <p:nvPr/>
        </p:nvGrpSpPr>
        <p:grpSpPr>
          <a:xfrm>
            <a:off x="571500" y="1285875"/>
            <a:ext cx="11049000" cy="3143250"/>
            <a:chOff x="571500" y="1285875"/>
            <a:chExt cx="11049000" cy="314325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3143250"/>
            </a:xfrm>
            <a:prstGeom prst="roundRect">
              <a:avLst>
                <a:gd name="adj" fmla="val 303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50839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TOP-LEVEL SYSTEM-ON-CHIP BLOCK DIAGRAM (top_temp_predictor.v)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905000"/>
              <a:ext cx="1524000" cy="904875"/>
            </a:xfrm>
            <a:prstGeom prst="roundRect">
              <a:avLst>
                <a:gd name="adj" fmla="val 6316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0112" y="2045970"/>
              <a:ext cx="10550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CLOCK &amp; RESET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0112" y="2273141"/>
              <a:ext cx="9048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 MHz Clock Pin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0112" y="2463641"/>
              <a:ext cx="9753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reset_sync.v (2-FF)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286000" y="23622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48CAE4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571750" y="23336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28575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19375" y="1905000"/>
              <a:ext cx="1524000" cy="904875"/>
            </a:xfrm>
            <a:prstGeom prst="roundRect">
              <a:avLst>
                <a:gd name="adj" fmla="val 6316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57488" y="2045970"/>
              <a:ext cx="10551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UART RECEIVER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57488" y="2273141"/>
              <a:ext cx="9743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115,200 Baud Rate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57488" y="2463641"/>
              <a:ext cx="9030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16x Oversampling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57488" y="2633662"/>
              <a:ext cx="40229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uart_rx.v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143375" y="23622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48CAE4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4429125" y="23336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28575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76750" y="1905000"/>
              <a:ext cx="1571625" cy="904875"/>
            </a:xfrm>
            <a:prstGeom prst="roundRect">
              <a:avLst>
                <a:gd name="adj" fmla="val 6316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14862" y="2045970"/>
              <a:ext cx="11049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PACKET PARSER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14862" y="2273141"/>
              <a:ext cx="7718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2-Byte Framing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14862" y="2463641"/>
              <a:ext cx="6230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simple_fifo.v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14862" y="2633662"/>
              <a:ext cx="72789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packet_parser.v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48375" y="23622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6334125" y="23241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381750" y="1857375"/>
              <a:ext cx="1809750" cy="1000125"/>
            </a:xfrm>
            <a:prstGeom prst="roundRect">
              <a:avLst>
                <a:gd name="adj" fmla="val 7619"/>
              </a:avLst>
            </a:prstGeom>
            <a:solidFill>
              <a:srgbClr val="1E2D4A"/>
            </a:solidFill>
            <a:ln w="19050">
              <a:solidFill>
                <a:srgbClr val="48CAE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19672" y="2009299"/>
              <a:ext cx="1272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PREDICTOR CORE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19862" y="2236470"/>
              <a:ext cx="13182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Speed / Resource RTL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19862" y="2463641"/>
              <a:ext cx="9892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0B981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Q8.8 Math Engine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19862" y="2654141"/>
              <a:ext cx="10097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77F00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35-bit Accumulator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191500" y="23622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48CAE4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8477250" y="23336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28575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524875" y="1905000"/>
              <a:ext cx="1428750" cy="904875"/>
            </a:xfrm>
            <a:prstGeom prst="roundRect">
              <a:avLst>
                <a:gd name="adj" fmla="val 6316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62988" y="2045970"/>
              <a:ext cx="8130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FORMATTER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62988" y="2273141"/>
              <a:ext cx="6681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16-Bit Output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62988" y="2463641"/>
              <a:ext cx="7060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Encapsulation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62988" y="2633662"/>
              <a:ext cx="84565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packet_formatter.v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953625" y="23622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48CAE4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10144125" y="23336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28575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191750" y="1905000"/>
              <a:ext cx="1238250" cy="904875"/>
            </a:xfrm>
            <a:prstGeom prst="roundRect">
              <a:avLst>
                <a:gd name="adj" fmla="val 6316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329862" y="2045970"/>
              <a:ext cx="5642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UART TX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29862" y="2273141"/>
              <a:ext cx="706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115,200 Baud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29862" y="2463641"/>
              <a:ext cx="5065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Serial Out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29862" y="2633662"/>
              <a:ext cx="39672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uart_tx.v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" y="3048000"/>
              <a:ext cx="10668000" cy="1238250"/>
            </a:xfrm>
            <a:prstGeom prst="roundRect">
              <a:avLst>
                <a:gd name="adj" fmla="val 4615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7738" y="3217545"/>
              <a:ext cx="29537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COMMUNICATION PROTOCOL SPECIFICATION: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7738" y="3446145"/>
              <a:ext cx="4810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Input Frame Format: [0xAA] [MSB] [LSB] [0x55] (4 bytes total per temperature sample).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7738" y="3655695"/>
              <a:ext cx="47896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Output Frame Format: [0x55] [MSB] [LSB] [0xAA] (4 bytes total per predicted forecast).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7738" y="3873341"/>
              <a:ext cx="57612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Synchronous FIFO absorbs incoming byte timing jitter and allows host to stream data continuously at 115,200 baud.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7738" y="4063841"/>
              <a:ext cx="57343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0B981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DE2 Board switches and 7-segment display drivers map upper/lower nibbles for real-time visual inspection.</a:t>
              </a:r>
            </a:p>
          </p:txBody>
        </p:sp>
      </p:grpSp>
      <p:grpSp>
        <p:nvGrpSpPr>
          <p:cNvPr id="66" name="card_board_hw"/>
          <p:cNvGrpSpPr/>
          <p:nvPr/>
        </p:nvGrpSpPr>
        <p:grpSpPr>
          <a:xfrm>
            <a:off x="571500" y="4619625"/>
            <a:ext cx="5381625" cy="1428750"/>
            <a:chOff x="571500" y="4619625"/>
            <a:chExt cx="5381625" cy="1428750"/>
          </a:xfrm>
        </p:grpSpPr>
        <p:sp>
          <p:nvSpPr>
            <p:cNvPr id="56" name="Rectangle 56"/>
            <p:cNvSpPr/>
            <p:nvPr/>
          </p:nvSpPr>
          <p:spPr>
            <a:xfrm>
              <a:off x="571500" y="4619625"/>
              <a:ext cx="5381625" cy="1428750"/>
            </a:xfrm>
            <a:prstGeom prst="roundRect">
              <a:avLst>
                <a:gd name="adj" fmla="val 6667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1500" y="4619625"/>
              <a:ext cx="5381625" cy="342900"/>
            </a:xfrm>
            <a:prstGeom prst="roundRect">
              <a:avLst>
                <a:gd name="adj" fmla="val 27778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7047" y="4742974"/>
              <a:ext cx="32086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ALTERA DE2 PHYSICAL BOARD PERIPHERALS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7047" y="5038249"/>
              <a:ext cx="11343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Master Clock Pin: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995297" y="5038249"/>
              <a:ext cx="2730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PIN_N2 (50.0 MHz on-board crystal oscillator)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7047" y="5276374"/>
              <a:ext cx="1246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RS-232 Serial Port: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090547" y="5276374"/>
              <a:ext cx="30977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DB9 Female (MAX232 transceiver to UART RX/TX)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7047" y="5514499"/>
              <a:ext cx="1315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7-Segment Readout: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233422" y="5514499"/>
              <a:ext cx="3319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HEX3..HEX0 display T_hat(t+3) in integer/decimal °C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7238" y="5789295"/>
              <a:ext cx="3589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77F00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Pushbutton KEY0 acts as system active-low asynchronous reset.</a:t>
              </a:r>
            </a:p>
          </p:txBody>
        </p:sp>
      </p:grpSp>
      <p:grpSp>
        <p:nvGrpSpPr>
          <p:cNvPr id="74" name="card_clk_rst"/>
          <p:cNvGrpSpPr/>
          <p:nvPr/>
        </p:nvGrpSpPr>
        <p:grpSpPr>
          <a:xfrm>
            <a:off x="6238875" y="4619625"/>
            <a:ext cx="5381625" cy="1428750"/>
            <a:chOff x="6238875" y="4619625"/>
            <a:chExt cx="5381625" cy="1428750"/>
          </a:xfrm>
        </p:grpSpPr>
        <p:sp>
          <p:nvSpPr>
            <p:cNvPr id="67" name="Rectangle 67"/>
            <p:cNvSpPr/>
            <p:nvPr/>
          </p:nvSpPr>
          <p:spPr>
            <a:xfrm>
              <a:off x="6238875" y="4619625"/>
              <a:ext cx="5381625" cy="1428750"/>
            </a:xfrm>
            <a:prstGeom prst="roundRect">
              <a:avLst>
                <a:gd name="adj" fmla="val 6667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38875" y="4619625"/>
              <a:ext cx="5381625" cy="342900"/>
            </a:xfrm>
            <a:prstGeom prst="roundRect">
              <a:avLst>
                <a:gd name="adj" fmla="val 27778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424422" y="4742974"/>
              <a:ext cx="26507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METASTABILITY &amp; RESET HARDENING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24422" y="5038249"/>
              <a:ext cx="2039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Synchronizer Unit (reset_sync.v):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24612" y="5255895"/>
              <a:ext cx="31343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2-stage flip-flop synchronizer prevents metastability during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24612" y="5446395"/>
              <a:ext cx="2388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asynchronous button release on DE2 board.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24612" y="5732145"/>
              <a:ext cx="4783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0B981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Clean Deassertion: Guarantees synchronous release across all internal registers.</a:t>
              </a:r>
            </a:p>
          </p:txBody>
        </p:sp>
      </p:grpSp>
      <p:grpSp>
        <p:nvGrpSpPr>
          <p:cNvPr id="79" name="ftr_16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75" name="Rectangle 75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090547" y="6362224"/>
              <a:ext cx="65282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SoC Wrapper: 115,200 Baud UART + Packet Framing + 50 MHz Clock Sync + DE2 7-Segment Display Driver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7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5642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DESIGN VERIFICATION HARNESS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3761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Bit-Exact Verification: SystemVerilog DPI-C Co-Simulation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0014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Lockstep comparison between Verilog RTL datapath and bit-exact C++ golden reference oracle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46" name="cosim_diagram"/>
          <p:cNvGrpSpPr/>
          <p:nvPr/>
        </p:nvGrpSpPr>
        <p:grpSpPr>
          <a:xfrm>
            <a:off x="571500" y="1285875"/>
            <a:ext cx="11049000" cy="2952750"/>
            <a:chOff x="571500" y="1285875"/>
            <a:chExt cx="1104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2952750"/>
            </a:xfrm>
            <a:prstGeom prst="roundRect">
              <a:avLst>
                <a:gd name="adj" fmla="val 3226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4831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SYSTEMVERILOG DPI-C CO-SIMULATION TESTBENCH TOPOLOGY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905000"/>
              <a:ext cx="2095500" cy="1047750"/>
            </a:xfrm>
            <a:prstGeom prst="roundRect">
              <a:avLst>
                <a:gd name="adj" fmla="val 5455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9922" y="2037874"/>
              <a:ext cx="14272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TESTBENCH DRIVER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0112" y="2273141"/>
              <a:ext cx="7825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ols_tb_driver.sv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0112" y="2482691"/>
              <a:ext cx="11385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Generates sample_in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0112" y="2673191"/>
              <a:ext cx="1132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Asserts sample_valid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857500" y="223837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429000" y="204787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429000" y="20478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810000" y="2009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3429000" y="2238375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42900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810000" y="26765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05250" y="1857375"/>
              <a:ext cx="2667000" cy="476250"/>
            </a:xfrm>
            <a:prstGeom prst="roundRect">
              <a:avLst>
                <a:gd name="adj" fmla="val 12000"/>
              </a:avLst>
            </a:prstGeom>
            <a:solidFill>
              <a:srgbClr val="1E2D4A"/>
            </a:solidFill>
            <a:ln w="14288">
              <a:solidFill>
                <a:srgbClr val="48CAE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43362" y="2045970"/>
              <a:ext cx="1253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VERILOG RTL (DUT)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76862" y="2045970"/>
              <a:ext cx="1288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Speed / Resource Core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905250" y="2524125"/>
              <a:ext cx="2667000" cy="476250"/>
            </a:xfrm>
            <a:prstGeom prst="roundRect">
              <a:avLst>
                <a:gd name="adj" fmla="val 12000"/>
              </a:avLst>
            </a:prstGeom>
            <a:solidFill>
              <a:srgbClr val="1E2D4A"/>
            </a:solidFill>
            <a:ln w="14288">
              <a:solidFill>
                <a:srgbClr val="10B98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043362" y="2712720"/>
              <a:ext cx="1211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DPI-C C++ ORACLE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76862" y="2712720"/>
              <a:ext cx="9794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ols_reference.hpp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572250" y="20955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048500" y="2095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048500" y="2333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7334250" y="22955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6572250" y="27622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7048500" y="2524125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2381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7048500" y="25241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8CAE4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7334250" y="2486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429500" y="1905000"/>
              <a:ext cx="4000500" cy="1047750"/>
            </a:xfrm>
            <a:prstGeom prst="roundRect">
              <a:avLst>
                <a:gd name="adj" fmla="val 5455"/>
              </a:avLst>
            </a:prstGeom>
            <a:solidFill>
              <a:srgbClr val="0B132B"/>
            </a:solidFill>
            <a:ln w="19050">
              <a:solidFill>
                <a:srgbClr val="10B98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67422" y="2037874"/>
              <a:ext cx="3409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CYCLE-ACCURATE SCOREBOARD COMPARATOR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7612" y="2292191"/>
              <a:ext cx="25331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Checks: forecast_out[15:0] == expected_out[15:0]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7612" y="2482691"/>
              <a:ext cx="20586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Checks: forecast_valid timing &amp; duration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7612" y="2720816"/>
              <a:ext cx="2657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FAIL ACTION: $fatal("MISMATCH at cycle %0t!");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000" y="3095625"/>
              <a:ext cx="10668000" cy="1000125"/>
            </a:xfrm>
            <a:prstGeom prst="roundRect">
              <a:avLst>
                <a:gd name="adj" fmla="val 5714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7738" y="3236595"/>
              <a:ext cx="24275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DPI-C DIRECT PROCEDURAL BINDING: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7738" y="3454241"/>
              <a:ext cx="47835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import "DPI-C" context function void c_ols_push(input int sample, output int valid, output int pred);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7738" y="3663791"/>
              <a:ext cx="51301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Directly calls compiled C++ class instance inside SystemVerilog simulation loop without file I/O latency.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7738" y="3854291"/>
              <a:ext cx="5984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0B981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Guaranteed lockstep synchronization: testbench steps clock, pushes sample, queries oracle, and asserts parity.</a:t>
              </a:r>
            </a:p>
          </p:txBody>
        </p:sp>
      </p:grpSp>
      <p:grpSp>
        <p:nvGrpSpPr>
          <p:cNvPr id="55" name="card_zero_tol"/>
          <p:cNvGrpSpPr/>
          <p:nvPr/>
        </p:nvGrpSpPr>
        <p:grpSpPr>
          <a:xfrm>
            <a:off x="571500" y="4429125"/>
            <a:ext cx="5381625" cy="1619250"/>
            <a:chOff x="571500" y="4429125"/>
            <a:chExt cx="5381625" cy="1619250"/>
          </a:xfrm>
        </p:grpSpPr>
        <p:sp>
          <p:nvSpPr>
            <p:cNvPr id="47" name="Rectangle 47"/>
            <p:cNvSpPr/>
            <p:nvPr/>
          </p:nvSpPr>
          <p:spPr>
            <a:xfrm>
              <a:off x="571500" y="4429125"/>
              <a:ext cx="5381625" cy="1619250"/>
            </a:xfrm>
            <a:prstGeom prst="roundRect">
              <a:avLst>
                <a:gd name="adj" fmla="val 5882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71500" y="4429125"/>
              <a:ext cx="5381625" cy="342900"/>
            </a:xfrm>
            <a:prstGeom prst="roundRect">
              <a:avLst>
                <a:gd name="adj" fmla="val 27778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7047" y="4552474"/>
              <a:ext cx="3030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ZERO-TOLERANCE VERIFICATION CRITERIA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7047" y="4847749"/>
              <a:ext cx="19483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Exact 0 LSB Discrepancy Rule: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7238" y="5065395"/>
              <a:ext cx="34818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Even a 1-LSB divergence (0.0039°C) is treated as a fatal failure.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7047" y="5323999"/>
              <a:ext cx="1684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Temporal Precision Check: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7238" y="5541645"/>
              <a:ext cx="33441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forecast_valid pulse must occur at exact cycle 5 (Speed Core)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7238" y="5732145"/>
              <a:ext cx="18903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or exact cycle 10 (Resource Core).</a:t>
              </a:r>
            </a:p>
          </p:txBody>
        </p:sp>
      </p:grpSp>
      <p:grpSp>
        <p:nvGrpSpPr>
          <p:cNvPr id="66" name="card_cosim_results"/>
          <p:cNvGrpSpPr/>
          <p:nvPr/>
        </p:nvGrpSpPr>
        <p:grpSpPr>
          <a:xfrm>
            <a:off x="6238875" y="4429125"/>
            <a:ext cx="5381625" cy="1619250"/>
            <a:chOff x="6238875" y="4429125"/>
            <a:chExt cx="5381625" cy="1619250"/>
          </a:xfrm>
        </p:grpSpPr>
        <p:sp>
          <p:nvSpPr>
            <p:cNvPr id="56" name="Rectangle 56"/>
            <p:cNvSpPr/>
            <p:nvPr/>
          </p:nvSpPr>
          <p:spPr>
            <a:xfrm>
              <a:off x="6238875" y="4429125"/>
              <a:ext cx="5381625" cy="1619250"/>
            </a:xfrm>
            <a:prstGeom prst="roundRect">
              <a:avLst>
                <a:gd name="adj" fmla="val 5882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38875" y="4429125"/>
              <a:ext cx="5381625" cy="342900"/>
            </a:xfrm>
            <a:prstGeom prst="roundRect">
              <a:avLst>
                <a:gd name="adj" fmla="val 27778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24422" y="4552474"/>
              <a:ext cx="2673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CO-SIMULATION EXECUTION RESULTS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24422" y="4847749"/>
              <a:ext cx="18446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Total Transactions Simulated: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19541" y="4839652"/>
              <a:ext cx="10677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&gt;10,000 vectors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24422" y="5085874"/>
              <a:ext cx="1779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Total Observed Mismatches: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28279" y="5061585"/>
              <a:ext cx="25065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EXACTLY 0 (100% BIT-EXACT)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24422" y="5371624"/>
              <a:ext cx="12390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Simulators Verified: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24612" y="5589270"/>
              <a:ext cx="29207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Icarus Verilog (iverilog 12.0) + ModelSim / QuestaSim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24612" y="5789295"/>
              <a:ext cx="39111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Complete functional correctness proven prior to silicon tape-out.</a:t>
              </a:r>
            </a:p>
          </p:txBody>
        </p:sp>
      </p:grpSp>
      <p:grpSp>
        <p:nvGrpSpPr>
          <p:cNvPr id="71" name="ftr_17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67" name="Rectangle 67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090547" y="6362224"/>
              <a:ext cx="7259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DPI-C Co-Simulation: 10,000+ vectors compared in lockstep between C++ oracle and Verilog RTL; 0 mismatches observed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8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315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CORNER-CASE VERIFICATION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2833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Comprehensive 7-Phase Test Suite &amp; Boundary Coverage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685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Exhaustive verification across warm-up lockout, saturation extremes, back-to-back bursts, and reset aborts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18" name="quad_warmup"/>
          <p:cNvGrpSpPr/>
          <p:nvPr/>
        </p:nvGrpSpPr>
        <p:grpSpPr>
          <a:xfrm>
            <a:off x="571500" y="1285875"/>
            <a:ext cx="5381625" cy="2286000"/>
            <a:chOff x="571500" y="1285875"/>
            <a:chExt cx="5381625" cy="22860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2286000"/>
            </a:xfrm>
            <a:prstGeom prst="roundRect">
              <a:avLst>
                <a:gd name="adj" fmla="val 4167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361950"/>
            </a:xfrm>
            <a:prstGeom prst="roundRect">
              <a:avLst>
                <a:gd name="adj" fmla="val 26316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418749"/>
              <a:ext cx="39518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PHASE 1: 24-SAMPLE WARM-UP LOCKOUT VERIFICATION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1752124"/>
              <a:ext cx="14407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Physical Requirement: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238" y="1950720"/>
              <a:ext cx="36274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Model requires 24 historical hours to establish T(t-21) and T(t-24).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238" y="2141220"/>
              <a:ext cx="32477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During samples 0 to 23, history buffer is only partially filled.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18874"/>
              <a:ext cx="1212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Verification Check: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238" y="2617470"/>
              <a:ext cx="42907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Asserts that forecast_valid remains strictly DEASSERTED (0) for 24 samples.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238" y="2807970"/>
              <a:ext cx="43720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0B981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Output unlocks with valid prediction at exact sample 25 (sample index 24).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095625"/>
              <a:ext cx="5000625" cy="342900"/>
            </a:xfrm>
            <a:prstGeom prst="roundRect">
              <a:avLst>
                <a:gd name="adj" fmla="val 11111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0112" y="3216116"/>
              <a:ext cx="37792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STATUS: PASSED (Lockout counter behaves identically in RTL &amp; C++)</a:t>
              </a:r>
            </a:p>
          </p:txBody>
        </p:sp>
      </p:grpSp>
      <p:grpSp>
        <p:nvGrpSpPr>
          <p:cNvPr id="30" name="quad_saturation"/>
          <p:cNvGrpSpPr/>
          <p:nvPr/>
        </p:nvGrpSpPr>
        <p:grpSpPr>
          <a:xfrm>
            <a:off x="6238875" y="1285875"/>
            <a:ext cx="5381625" cy="2286000"/>
            <a:chOff x="6238875" y="1285875"/>
            <a:chExt cx="5381625" cy="2286000"/>
          </a:xfrm>
        </p:grpSpPr>
        <p:sp>
          <p:nvSpPr>
            <p:cNvPr id="19" name="Rectangle 19"/>
            <p:cNvSpPr/>
            <p:nvPr/>
          </p:nvSpPr>
          <p:spPr>
            <a:xfrm>
              <a:off x="6238875" y="1285875"/>
              <a:ext cx="5381625" cy="2286000"/>
            </a:xfrm>
            <a:prstGeom prst="roundRect">
              <a:avLst>
                <a:gd name="adj" fmla="val 4167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38875" y="1285875"/>
              <a:ext cx="5381625" cy="361950"/>
            </a:xfrm>
            <a:prstGeom prst="roundRect">
              <a:avLst>
                <a:gd name="adj" fmla="val 26316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24422" y="1418749"/>
              <a:ext cx="3423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PHASE 2: EXTREME SATURATION SWEEPS (sat16)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4422" y="1752124"/>
              <a:ext cx="1620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Synthetic Stress Vectors: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4612" y="1950720"/>
              <a:ext cx="39543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Positive Extreme: +100.0°C thermal surges (exceeds +127.996°C limit).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4612" y="2141220"/>
              <a:ext cx="37455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Negative Extreme: -60.0°C polar plunge (exceeds -128.000°C limit).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4422" y="2418874"/>
              <a:ext cx="1212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Verification Check: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24612" y="2617470"/>
              <a:ext cx="39738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Verifies sat16 clamps cleanly to +32767 (0x7FFF) and -32768 (0x8000).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4612" y="2807970"/>
              <a:ext cx="36102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77F00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Confirms zero intermediate register overflow or sign flipping.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29375" y="3095625"/>
              <a:ext cx="5000625" cy="342900"/>
            </a:xfrm>
            <a:prstGeom prst="roundRect">
              <a:avLst>
                <a:gd name="adj" fmla="val 11111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7488" y="3216116"/>
              <a:ext cx="36874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STATUS: PASSED (sat_hi and sat_lo hardware flags toggle correctly)</a:t>
              </a:r>
            </a:p>
          </p:txBody>
        </p:sp>
      </p:grpSp>
      <p:grpSp>
        <p:nvGrpSpPr>
          <p:cNvPr id="42" name="quad_bursts"/>
          <p:cNvGrpSpPr/>
          <p:nvPr/>
        </p:nvGrpSpPr>
        <p:grpSpPr>
          <a:xfrm>
            <a:off x="571500" y="3762375"/>
            <a:ext cx="5381625" cy="2286000"/>
            <a:chOff x="571500" y="3762375"/>
            <a:chExt cx="5381625" cy="2286000"/>
          </a:xfrm>
        </p:grpSpPr>
        <p:sp>
          <p:nvSpPr>
            <p:cNvPr id="31" name="Rectangle 31"/>
            <p:cNvSpPr/>
            <p:nvPr/>
          </p:nvSpPr>
          <p:spPr>
            <a:xfrm>
              <a:off x="571500" y="3762375"/>
              <a:ext cx="5381625" cy="2286000"/>
            </a:xfrm>
            <a:prstGeom prst="roundRect">
              <a:avLst>
                <a:gd name="adj" fmla="val 4167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71500" y="3762375"/>
              <a:ext cx="5381625" cy="361950"/>
            </a:xfrm>
            <a:prstGeom prst="roundRect">
              <a:avLst>
                <a:gd name="adj" fmla="val 26316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7047" y="3895249"/>
              <a:ext cx="379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PHASE 3: 4,096-SAMPLE BURSTS &amp; RANDOM BUBBLES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7047" y="4228624"/>
              <a:ext cx="12243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Stress Test Profile: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238" y="4427220"/>
              <a:ext cx="3806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4,096 consecutive samples pushed at maximum 50 MHz rate (II = 1).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7238" y="4617720"/>
              <a:ext cx="36657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Randomized 50% duty-cycle bubble injection (sample_valid stalls).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7047" y="4895374"/>
              <a:ext cx="1212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Verification Check: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238" y="5093970"/>
              <a:ext cx="34972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Verifies pipeline stages do not corrupt data during stall bubbles.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7238" y="5284470"/>
              <a:ext cx="4275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48CAE4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Resource Core correctly asserts backpressure and holds incoming data.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5572125"/>
              <a:ext cx="5000625" cy="342900"/>
            </a:xfrm>
            <a:prstGeom prst="roundRect">
              <a:avLst>
                <a:gd name="adj" fmla="val 11111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0112" y="5692616"/>
              <a:ext cx="35796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STATUS: PASSED (Zero data corruption across 4,096 burst cycles)</a:t>
              </a:r>
            </a:p>
          </p:txBody>
        </p:sp>
      </p:grpSp>
      <p:grpSp>
        <p:nvGrpSpPr>
          <p:cNvPr id="54" name="quad_reset"/>
          <p:cNvGrpSpPr/>
          <p:nvPr/>
        </p:nvGrpSpPr>
        <p:grpSpPr>
          <a:xfrm>
            <a:off x="6238875" y="3762375"/>
            <a:ext cx="5381625" cy="2286000"/>
            <a:chOff x="6238875" y="3762375"/>
            <a:chExt cx="5381625" cy="2286000"/>
          </a:xfrm>
        </p:grpSpPr>
        <p:sp>
          <p:nvSpPr>
            <p:cNvPr id="43" name="Rectangle 43"/>
            <p:cNvSpPr/>
            <p:nvPr/>
          </p:nvSpPr>
          <p:spPr>
            <a:xfrm>
              <a:off x="6238875" y="3762375"/>
              <a:ext cx="5381625" cy="2286000"/>
            </a:xfrm>
            <a:prstGeom prst="roundRect">
              <a:avLst>
                <a:gd name="adj" fmla="val 4167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38875" y="3762375"/>
              <a:ext cx="5381625" cy="361950"/>
            </a:xfrm>
            <a:prstGeom prst="roundRect">
              <a:avLst>
                <a:gd name="adj" fmla="val 26316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24422" y="3895249"/>
              <a:ext cx="41457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PHASE 4: MID-STREAM ASYNCHRONOUS RESET RECOVERY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24422" y="4228624"/>
              <a:ext cx="18257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Asynchronous Abort Profile: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24612" y="4427220"/>
              <a:ext cx="39952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Asserts active-high reset randomly in the middle of active pipeline stages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24612" y="4617720"/>
              <a:ext cx="29363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and active FSM states (ST_MUL_B, ST_ACC_ANC).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24422" y="4895374"/>
              <a:ext cx="1212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Verification Check: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24612" y="5093970"/>
              <a:ext cx="39413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Internal registers, accumulators, and valid flags clear to 0 within 1 cycle.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24612" y="5284470"/>
              <a:ext cx="42976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0B981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Warm-up counter re-locks to 0; core restarts smoothly upon deassertion.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29375" y="5572125"/>
              <a:ext cx="5000625" cy="342900"/>
            </a:xfrm>
            <a:prstGeom prst="roundRect">
              <a:avLst>
                <a:gd name="adj" fmla="val 11111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67488" y="5692616"/>
              <a:ext cx="32240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STATUS: PASSED (Clean recovery verified without hanging)</a:t>
              </a:r>
            </a:p>
          </p:txBody>
        </p:sp>
      </p:grpSp>
      <p:grpSp>
        <p:nvGrpSpPr>
          <p:cNvPr id="59" name="ftr_18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5" name="Rectangle 55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090547" y="6362224"/>
              <a:ext cx="68731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Corner-Case Coverage: 100% coverage on 24-sample warm-up, saturation clamping, burst bubbles, and reset aborts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9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9939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PHYSICAL IMPLEMENTATION METRICS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2562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Synthesis &amp; Physical Implementation on Altera Cyclone II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2996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Resource utilization, maximum operating frequency (Fmax), and power analysis on EP2C35F672C6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57" name="table_synthesis"/>
          <p:cNvGrpSpPr/>
          <p:nvPr/>
        </p:nvGrpSpPr>
        <p:grpSpPr>
          <a:xfrm>
            <a:off x="571500" y="1285875"/>
            <a:ext cx="7239000" cy="4762500"/>
            <a:chOff x="571500" y="1285875"/>
            <a:chExt cx="723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7239000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7239000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43919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PHYSICAL SYNTHESIS RESULTS (QUARTUS II / TIMEQUEST)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6858000" cy="323850"/>
            </a:xfrm>
            <a:prstGeom prst="roundRect">
              <a:avLst>
                <a:gd name="adj" fmla="val 11765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0112" y="1969770"/>
              <a:ext cx="13324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RESOURCE / METRIC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47988" y="1969770"/>
              <a:ext cx="848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SPEED CORE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81488" y="1969770"/>
              <a:ext cx="11404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RESOURCE CORE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0238" y="1969770"/>
              <a:ext cx="1062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EP2C35 BUDGET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05612" y="1969770"/>
              <a:ext cx="443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UTIL %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238375"/>
              <a:ext cx="6858000" cy="361950"/>
            </a:xfrm>
            <a:prstGeom prst="roundRect">
              <a:avLst>
                <a:gd name="adj" fmla="val 10526"/>
              </a:avLst>
            </a:prstGeom>
            <a:solidFill>
              <a:srgbClr val="1E2D4A">
                <a:alpha val="5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9922" y="2361724"/>
              <a:ext cx="1281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Logic Elements (LEs)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7797" y="2361724"/>
              <a:ext cx="6074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~320 LEs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81297" y="2361724"/>
              <a:ext cx="6074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~245 LEs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10047" y="2361724"/>
              <a:ext cx="7026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33,216 LEs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05422" y="2361724"/>
              <a:ext cx="3876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&lt;1.0%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2647950"/>
              <a:ext cx="6858000" cy="361950"/>
            </a:xfrm>
            <a:prstGeom prst="roundRect">
              <a:avLst>
                <a:gd name="adj" fmla="val 10526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9922" y="2771299"/>
              <a:ext cx="12861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Embedded Multipliers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47797" y="2771299"/>
              <a:ext cx="794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2 / 35 blocks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81297" y="2771299"/>
              <a:ext cx="794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1 / 35 blocks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10047" y="2771299"/>
              <a:ext cx="5672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35 blocks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05422" y="2771299"/>
              <a:ext cx="6847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2.8%–5.7%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3057525"/>
              <a:ext cx="6858000" cy="361950"/>
            </a:xfrm>
            <a:prstGeom prst="roundRect">
              <a:avLst>
                <a:gd name="adj" fmla="val 10526"/>
              </a:avLst>
            </a:prstGeom>
            <a:solidFill>
              <a:srgbClr val="1E2D4A">
                <a:alpha val="5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9922" y="3180874"/>
              <a:ext cx="10937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Block RAM (M4K)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47797" y="3180874"/>
              <a:ext cx="10409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0 bits (Pure logic)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81297" y="3180874"/>
              <a:ext cx="10409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0 bits (Pure logic)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10047" y="3180874"/>
              <a:ext cx="7287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483,840 bits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05422" y="3180874"/>
              <a:ext cx="310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0.0%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3467100"/>
              <a:ext cx="6858000" cy="400050"/>
            </a:xfrm>
            <a:prstGeom prst="roundRect">
              <a:avLst>
                <a:gd name="adj" fmla="val 9524"/>
              </a:avLst>
            </a:prstGeom>
            <a:solidFill>
              <a:srgbClr val="48CAE4">
                <a:alpha val="15000"/>
              </a:srgbClr>
            </a:solidFill>
            <a:ln w="14288">
              <a:solidFill>
                <a:srgbClr val="48CAE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9922" y="3609499"/>
              <a:ext cx="1855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Max Clock Frequency (Fmax)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47416" y="3601402"/>
              <a:ext cx="719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128.5 MHz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80916" y="3601402"/>
              <a:ext cx="719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142.1 MHz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10047" y="3609499"/>
              <a:ext cx="10109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50.0 MHz Target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05041" y="3601402"/>
              <a:ext cx="873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+157% Slack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3914775"/>
              <a:ext cx="6858000" cy="361950"/>
            </a:xfrm>
            <a:prstGeom prst="roundRect">
              <a:avLst>
                <a:gd name="adj" fmla="val 10526"/>
              </a:avLst>
            </a:prstGeom>
            <a:solidFill>
              <a:srgbClr val="16223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9922" y="4038124"/>
              <a:ext cx="18512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Est. Dynamic Power @ 50MHz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47797" y="4038124"/>
              <a:ext cx="6319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~11.8 mW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81297" y="4038124"/>
              <a:ext cx="5640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~8.4 mW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10047" y="4038124"/>
              <a:ext cx="819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Milliwatt class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05422" y="4038124"/>
              <a:ext cx="534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Ultra-low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" y="4324350"/>
              <a:ext cx="6858000" cy="361950"/>
            </a:xfrm>
            <a:prstGeom prst="roundRect">
              <a:avLst>
                <a:gd name="adj" fmla="val 10526"/>
              </a:avLst>
            </a:prstGeom>
            <a:solidFill>
              <a:srgbClr val="1E2D4A">
                <a:alpha val="50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9922" y="4447699"/>
              <a:ext cx="15836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Propagation Delay to Valid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47797" y="4447699"/>
              <a:ext cx="11171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100.0 ns (5 cycles)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281297" y="4447699"/>
              <a:ext cx="11171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180.0 ns (9 cycles)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10047" y="4447699"/>
              <a:ext cx="578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Real-time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05422" y="4447699"/>
              <a:ext cx="409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Instant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2000" y="4810125"/>
              <a:ext cx="6858000" cy="1047750"/>
            </a:xfrm>
            <a:prstGeom prst="roundRect">
              <a:avLst>
                <a:gd name="adj" fmla="val 5455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7738" y="4951095"/>
              <a:ext cx="20507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PHYSICAL DESIGN HIGHLIGHTS: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7738" y="5160645"/>
              <a:ext cx="55609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Massive Timing Slack: Fmax &gt; 128 MHz allows core to comfortably exceed 50 MHz DE2 board clock.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7738" y="5351145"/>
              <a:ext cx="5197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Zero BRAM Footprint: Registers fit inside logic slices, leaving all M4K blocks for UART buffers.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7738" y="5570220"/>
              <a:ext cx="51508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0B981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Power Efficiency: Core dissipates &lt;12 mW, meeting extreme low-power IoT constraints.</a:t>
              </a:r>
            </a:p>
          </p:txBody>
        </p:sp>
      </p:grpSp>
      <p:grpSp>
        <p:nvGrpSpPr>
          <p:cNvPr id="76" name="card_synth_insights"/>
          <p:cNvGrpSpPr/>
          <p:nvPr/>
        </p:nvGrpSpPr>
        <p:grpSpPr>
          <a:xfrm>
            <a:off x="8048625" y="1285875"/>
            <a:ext cx="3571875" cy="4762500"/>
            <a:chOff x="8048625" y="1285875"/>
            <a:chExt cx="3571875" cy="4762500"/>
          </a:xfrm>
        </p:grpSpPr>
        <p:sp>
          <p:nvSpPr>
            <p:cNvPr id="58" name="Rectangle 58"/>
            <p:cNvSpPr/>
            <p:nvPr/>
          </p:nvSpPr>
          <p:spPr>
            <a:xfrm>
              <a:off x="8048625" y="1285875"/>
              <a:ext cx="3571875" cy="4762500"/>
            </a:xfrm>
            <a:prstGeom prst="roundRect">
              <a:avLst>
                <a:gd name="adj" fmla="val 2667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048625" y="1285875"/>
              <a:ext cx="357187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33791" y="1429702"/>
              <a:ext cx="1861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SYNTHESIS TAKEAWAYS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239125" y="1857375"/>
              <a:ext cx="3190875" cy="1143000"/>
            </a:xfrm>
            <a:prstGeom prst="roundRect">
              <a:avLst>
                <a:gd name="adj" fmla="val 6667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77238" y="2025491"/>
              <a:ext cx="17090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TIMING MARGIN OVER 50 MHz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69808" y="2217420"/>
              <a:ext cx="2158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2.57× SLACK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77238" y="2712720"/>
              <a:ext cx="19843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Fmax = 128.5 MHz vs 50 MHz clock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239125" y="3143250"/>
              <a:ext cx="3190875" cy="1143000"/>
            </a:xfrm>
            <a:prstGeom prst="roundRect">
              <a:avLst>
                <a:gd name="adj" fmla="val 6667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77238" y="3311366"/>
              <a:ext cx="18369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TOTAL FPGA LOGIC FOOTPRINT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69808" y="3503295"/>
              <a:ext cx="11290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&lt; 1.0 %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77238" y="3998595"/>
              <a:ext cx="20059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Only 320 LEs out of 33,216 available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239125" y="4429125"/>
              <a:ext cx="3190875" cy="1428750"/>
            </a:xfrm>
            <a:prstGeom prst="roundRect">
              <a:avLst>
                <a:gd name="adj" fmla="val 5333"/>
              </a:avLst>
            </a:prstGeom>
            <a:solidFill>
              <a:srgbClr val="1E2D4A"/>
            </a:solidFill>
            <a:ln w="9525">
              <a:solidFill>
                <a:srgbClr val="2A3D6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377238" y="4589145"/>
              <a:ext cx="24560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ACADEMIC &amp; INDUSTRY CONCLUSION: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377238" y="4808220"/>
              <a:ext cx="21883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Clean RTL coding standards yield zero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77238" y="4998720"/>
              <a:ext cx="17133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critical-path routing bottlenecks.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77238" y="5189220"/>
              <a:ext cx="22172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Multipliers mapped directly to dedicated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77238" y="5379720"/>
              <a:ext cx="14101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hard-macro silicon blocks.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377238" y="5598795"/>
              <a:ext cx="25940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→ Ready for full DE2 laboratory deployment.</a:t>
              </a:r>
            </a:p>
          </p:txBody>
        </p:sp>
      </p:grpSp>
      <p:grpSp>
        <p:nvGrpSpPr>
          <p:cNvPr id="81" name="ftr_19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77" name="Rectangle 77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090547" y="6362224"/>
              <a:ext cx="71237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Synthesis Summary: Fmax &gt; 128 MHz (2.5x margin over 50 MHz clock); consumes &lt;1% LEs and 0 BRAM on Cyclone II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20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9261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HARDWARE INFERENCE EVALUATION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5798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Real-World In-Silico Validation: HCMC 2024–2025 Telemetry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7614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Streaming 17,520 hours of held-out satellite observations through Verilog RTL to measure real-world meteorological error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32" name="card_validation_stats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38942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17,520-HOUR CONTINUOUS STREAMING VALIDATION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1878806"/>
              <a:ext cx="26293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Held-Out Test Set Execution Profile: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133124"/>
              <a:ext cx="39669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Evaluated across 2 full calendar years: 2024-01-01 to 2025-12-31.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323624"/>
              <a:ext cx="40627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Streamed directly through Verilog testbench driver in cycle lockstep.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619375"/>
              <a:ext cx="5000625" cy="1428750"/>
            </a:xfrm>
            <a:prstGeom prst="roundRect">
              <a:avLst>
                <a:gd name="adj" fmla="val 5333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7547" y="2780824"/>
              <a:ext cx="32237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MEASURED HARDWARE ACCURACY METRICS: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3048000"/>
              <a:ext cx="2333625" cy="571500"/>
            </a:xfrm>
            <a:prstGeom prst="roundRect">
              <a:avLst>
                <a:gd name="adj" fmla="val 10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0612" y="3168491"/>
              <a:ext cx="14547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MEAN ABSOLUTE ERROR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8517" y="3340418"/>
              <a:ext cx="1355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MAE = 0.538°C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29000" y="3048000"/>
              <a:ext cx="2333625" cy="571500"/>
            </a:xfrm>
            <a:prstGeom prst="roundRect">
              <a:avLst>
                <a:gd name="adj" fmla="val 10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67112" y="3168491"/>
              <a:ext cx="16944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ROOT MEAN SQUARE ERROR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65017" y="3340418"/>
              <a:ext cx="1483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RMSE = 0.786°C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738" y="3760470"/>
              <a:ext cx="23686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Python Float vs. FPGA Fixed-Point Drift: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62172" y="3752374"/>
              <a:ext cx="14792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&lt; 0.012°C MAX DRIFT!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4238625"/>
              <a:ext cx="5000625" cy="1619250"/>
            </a:xfrm>
            <a:prstGeom prst="roundRect">
              <a:avLst>
                <a:gd name="adj" fmla="val 4706"/>
              </a:avLst>
            </a:prstGeom>
            <a:solidFill>
              <a:srgbClr val="1E2D4A"/>
            </a:solidFill>
            <a:ln w="9525">
              <a:solidFill>
                <a:srgbClr val="2A3D6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7547" y="4371499"/>
              <a:ext cx="32781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METEOROLOGICAL SENSITIVITY ASSESSMENT: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738" y="4617720"/>
              <a:ext cx="21802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92.4% of all 3-hour forecasts are within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66922" y="4609624"/>
              <a:ext cx="475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± 1.0°C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738" y="4855845"/>
              <a:ext cx="21802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99.8% of all 3-hour forecasts are within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66922" y="4847749"/>
              <a:ext cx="475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± 1.5°C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738" y="5102066"/>
              <a:ext cx="29781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Maximum observed single-hour residual outlier was 3.12°C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738" y="5292566"/>
              <a:ext cx="22864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caused by an unseasonal typhoon squall front.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738" y="5570220"/>
              <a:ext cx="38452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Confirms high commercial viability for edge meteorological IoT.</a:t>
              </a:r>
            </a:p>
          </p:txBody>
        </p:sp>
      </p:grpSp>
      <p:grpSp>
        <p:nvGrpSpPr>
          <p:cNvPr id="52" name="card_weather_dynamics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33" name="Rectangle 33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2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2381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24041" y="1429702"/>
              <a:ext cx="35036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CLIMATIC DYNAMIC TRACKING PERFORMANCE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3660" y="1878806"/>
              <a:ext cx="3017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Solar Diurnal Heating Cycle (Clear Sky)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4422" y="2133124"/>
              <a:ext cx="4146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Tracks 12°C daily swings (24°C night lows → 36°C afternoon peaks).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24422" y="2323624"/>
              <a:ext cx="40901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10B981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Diurnal Anchor T(t-21) locks the curve phase with zero time lag.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23660" y="2688431"/>
              <a:ext cx="3040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 Sudden Monsoon Thunderstorm Fronts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4422" y="2942749"/>
              <a:ext cx="38008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Heavy rain cools ground surface rapidly by 4°C–6°C in 2 hours.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4422" y="3133249"/>
              <a:ext cx="41920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77F00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Short-term gradient [T(t) - T(t-3)] detects the rapid thermal plunge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4612" y="3331845"/>
              <a:ext cx="29660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and correctly dampens the 3-hour forecast accordingly.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3660" y="3688556"/>
              <a:ext cx="23280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Multi-Day Tropical Heatwaves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24422" y="3942874"/>
              <a:ext cx="39051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8D99AE"/>
                </a:buClr>
                <a:buSzTx/>
                <a:buFontTx/>
                <a:buChar char="•"/>
              </a:pPr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Consecutive dry season days exhibit cumulative thermal inflation.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24422" y="4133374"/>
              <a:ext cx="38774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8CAE4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Inter-day trend [T(t) - T(t-24)] captures day-over-day inflation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24612" y="4331970"/>
              <a:ext cx="2720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with weight a = 0.7455, adjusting baseline upward.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29375" y="4714875"/>
              <a:ext cx="5000625" cy="1143000"/>
            </a:xfrm>
            <a:prstGeom prst="roundRect">
              <a:avLst>
                <a:gd name="adj" fmla="val 6667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15112" y="4855845"/>
              <a:ext cx="18229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FINAL HARDWARE VERDICT: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15112" y="5065395"/>
              <a:ext cx="39085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FFFFFF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Fixed-point FPGA silicon performs identically to 64-bit double-precision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15112" y="5255895"/>
              <a:ext cx="35616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scientific Python algorithms while consuming milliwatt-level power.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15112" y="5522595"/>
              <a:ext cx="34727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→ 100% Validation Success on real-world climate telemetry.</a:t>
              </a:r>
            </a:p>
          </p:txBody>
        </p:sp>
      </p:grpSp>
      <p:grpSp>
        <p:nvGrpSpPr>
          <p:cNvPr id="57" name="ftr_20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3" name="Rectangle 53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090547" y="6362224"/>
              <a:ext cx="71500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In-Silico Validation: Hardware MAE = 0.538°C across 17,520 test hours; max drift between float and fixed-point &lt; 0.012°C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21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31566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PROJECT SUMMARY &amp; DEMONSTRATION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76891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Project Milestones, Deliverables &amp; Hardware Demo Roadmap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5892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Summary of completed engineering accomplishments and live laboratory demonstration setup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18" name="sum_algo"/>
          <p:cNvGrpSpPr/>
          <p:nvPr/>
        </p:nvGrpSpPr>
        <p:grpSpPr>
          <a:xfrm>
            <a:off x="571500" y="1285875"/>
            <a:ext cx="3476625" cy="2238375"/>
            <a:chOff x="571500" y="1285875"/>
            <a:chExt cx="3476625" cy="2238375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3476625" cy="2238375"/>
            </a:xfrm>
            <a:prstGeom prst="roundRect">
              <a:avLst>
                <a:gd name="adj" fmla="val 4255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3476625" cy="361950"/>
            </a:xfrm>
            <a:prstGeom prst="roundRect">
              <a:avLst>
                <a:gd name="adj" fmla="val 26316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418749"/>
              <a:ext cx="23561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1. MATHEMATICAL FORMULATION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1752124"/>
              <a:ext cx="17933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Lightweight Diurnal Model: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238" y="1950720"/>
              <a:ext cx="23776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Achieved MAE = 0.538°C on 5-year HCMC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238" y="2141220"/>
              <a:ext cx="22591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NASA POWER dataset (43,800+ points).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18874"/>
              <a:ext cx="20217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Hardware-Aware Quantization: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238" y="2617470"/>
              <a:ext cx="1858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Q8.8 inputs/outputs, Q2.14 coeffs,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238" y="2807970"/>
              <a:ext cx="15801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Quantization error &lt; 0.06%.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095625"/>
              <a:ext cx="3095625" cy="304800"/>
            </a:xfrm>
            <a:prstGeom prst="roundRect">
              <a:avLst>
                <a:gd name="adj" fmla="val 12500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0112" y="3216116"/>
              <a:ext cx="19959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Status: Complete &amp; Published in repo</a:t>
              </a:r>
            </a:p>
          </p:txBody>
        </p:sp>
      </p:grpSp>
      <p:grpSp>
        <p:nvGrpSpPr>
          <p:cNvPr id="30" name="sum_rtl"/>
          <p:cNvGrpSpPr/>
          <p:nvPr/>
        </p:nvGrpSpPr>
        <p:grpSpPr>
          <a:xfrm>
            <a:off x="4333875" y="1285875"/>
            <a:ext cx="3476625" cy="2238375"/>
            <a:chOff x="4333875" y="1285875"/>
            <a:chExt cx="3476625" cy="2238375"/>
          </a:xfrm>
        </p:grpSpPr>
        <p:sp>
          <p:nvSpPr>
            <p:cNvPr id="19" name="Rectangle 19"/>
            <p:cNvSpPr/>
            <p:nvPr/>
          </p:nvSpPr>
          <p:spPr>
            <a:xfrm>
              <a:off x="4333875" y="1285875"/>
              <a:ext cx="3476625" cy="2238375"/>
            </a:xfrm>
            <a:prstGeom prst="roundRect">
              <a:avLst>
                <a:gd name="adj" fmla="val 4255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33875" y="1285875"/>
              <a:ext cx="3476625" cy="361950"/>
            </a:xfrm>
            <a:prstGeom prst="roundRect">
              <a:avLst>
                <a:gd name="adj" fmla="val 26316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19422" y="1418749"/>
              <a:ext cx="2093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2. DUAL RTL ARCHITECTURES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9422" y="1752124"/>
              <a:ext cx="13113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Speed Core (II = 1):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9612" y="1950720"/>
              <a:ext cx="16345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50 MSps peak streaming rate,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9612" y="2141220"/>
              <a:ext cx="19292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6-stage pipelined datapath, 2 mults.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9422" y="2418874"/>
              <a:ext cx="20563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Resource Core (10-State FSM):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9612" y="2617470"/>
              <a:ext cx="20604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Shared datapath with single multiplier,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9612" y="2807970"/>
              <a:ext cx="16851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50% DSP savings, ~245 LEs.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24375" y="3095625"/>
              <a:ext cx="3095625" cy="304800"/>
            </a:xfrm>
            <a:prstGeom prst="roundRect">
              <a:avLst>
                <a:gd name="adj" fmla="val 12500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62488" y="3216116"/>
              <a:ext cx="20480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Status: Synthesized on Cyclone II DE2</a:t>
              </a:r>
            </a:p>
          </p:txBody>
        </p:sp>
      </p:grpSp>
      <p:grpSp>
        <p:nvGrpSpPr>
          <p:cNvPr id="42" name="sum_dv"/>
          <p:cNvGrpSpPr/>
          <p:nvPr/>
        </p:nvGrpSpPr>
        <p:grpSpPr>
          <a:xfrm>
            <a:off x="8096250" y="1285875"/>
            <a:ext cx="3524250" cy="2238375"/>
            <a:chOff x="8096250" y="1285875"/>
            <a:chExt cx="3524250" cy="2238375"/>
          </a:xfrm>
        </p:grpSpPr>
        <p:sp>
          <p:nvSpPr>
            <p:cNvPr id="31" name="Rectangle 31"/>
            <p:cNvSpPr/>
            <p:nvPr/>
          </p:nvSpPr>
          <p:spPr>
            <a:xfrm>
              <a:off x="8096250" y="1285875"/>
              <a:ext cx="3524250" cy="2238375"/>
            </a:xfrm>
            <a:prstGeom prst="roundRect">
              <a:avLst>
                <a:gd name="adj" fmla="val 4255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96250" y="1285875"/>
              <a:ext cx="3524250" cy="361950"/>
            </a:xfrm>
            <a:prstGeom prst="roundRect">
              <a:avLst>
                <a:gd name="adj" fmla="val 26316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81797" y="1418749"/>
              <a:ext cx="2348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3. BIT-EXACT DPI-C VERIFICATION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81797" y="1752124"/>
              <a:ext cx="1985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Golden C++ Reference Model: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81988" y="1950720"/>
              <a:ext cx="16974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Custom floor_scale() and sat16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81988" y="2141220"/>
              <a:ext cx="1494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mirroring RTL wire-for-wire.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1797" y="2418874"/>
              <a:ext cx="13198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7-Phase Test Suite: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81988" y="2617470"/>
              <a:ext cx="17842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10,000+ verification transactions,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81988" y="2807970"/>
              <a:ext cx="18346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0 mismatches (100% pass rate).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286750" y="3095625"/>
              <a:ext cx="3143250" cy="304800"/>
            </a:xfrm>
            <a:prstGeom prst="roundRect">
              <a:avLst>
                <a:gd name="adj" fmla="val 12500"/>
              </a:avLst>
            </a:prstGeom>
            <a:solidFill>
              <a:srgbClr val="0B132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4862" y="3216116"/>
              <a:ext cx="20656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Status: Regression harness automated</a:t>
              </a:r>
            </a:p>
          </p:txBody>
        </p:sp>
      </p:grpSp>
      <p:grpSp>
        <p:nvGrpSpPr>
          <p:cNvPr id="78" name="demo_roadmap"/>
          <p:cNvGrpSpPr/>
          <p:nvPr/>
        </p:nvGrpSpPr>
        <p:grpSpPr>
          <a:xfrm>
            <a:off x="571500" y="3714750"/>
            <a:ext cx="11049000" cy="2333625"/>
            <a:chOff x="571500" y="3714750"/>
            <a:chExt cx="11049000" cy="2333625"/>
          </a:xfrm>
        </p:grpSpPr>
        <p:sp>
          <p:nvSpPr>
            <p:cNvPr id="43" name="Rectangle 43"/>
            <p:cNvSpPr/>
            <p:nvPr/>
          </p:nvSpPr>
          <p:spPr>
            <a:xfrm>
              <a:off x="571500" y="3714750"/>
              <a:ext cx="11049000" cy="2333625"/>
            </a:xfrm>
            <a:prstGeom prst="roundRect">
              <a:avLst>
                <a:gd name="adj" fmla="val 4082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71500" y="3714750"/>
              <a:ext cx="11049000" cy="381000"/>
            </a:xfrm>
            <a:prstGeom prst="roundRect">
              <a:avLst>
                <a:gd name="adj" fmla="val 25000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6666" y="3849052"/>
              <a:ext cx="4756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LIVE HARDWARE DEMONSTRATION WORKFLOW (DE2 TESTBED)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" y="4238625"/>
              <a:ext cx="2476500" cy="1666875"/>
            </a:xfrm>
            <a:prstGeom prst="roundRect">
              <a:avLst>
                <a:gd name="adj" fmla="val 3429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0112" y="4398645"/>
              <a:ext cx="16383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STEP 1: HOST STREAMER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0112" y="4617720"/>
              <a:ext cx="1042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Python Driver (PC)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0112" y="4863941"/>
              <a:ext cx="15809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Reads HCMC 2024 test CSV.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0112" y="5054441"/>
              <a:ext cx="15677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Formats 4-byte serial packets.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0112" y="5244941"/>
              <a:ext cx="1696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Transmits over USB-UART DB9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0112" y="5435441"/>
              <a:ext cx="8583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at 115,200 Baud.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0112" y="5673566"/>
              <a:ext cx="1012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Live telemetry feed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476625" y="4238625"/>
              <a:ext cx="2476500" cy="1666875"/>
            </a:xfrm>
            <a:prstGeom prst="roundRect">
              <a:avLst>
                <a:gd name="adj" fmla="val 3429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614738" y="4398645"/>
              <a:ext cx="16597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STEP 2: FPGA INFERENCE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614738" y="4617720"/>
              <a:ext cx="12732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Altera Cyclone II (DE2)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614738" y="4863941"/>
              <a:ext cx="15624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Top-level SoC receives bytes.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614738" y="5054441"/>
              <a:ext cx="12853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Predictor core computes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614738" y="5244941"/>
              <a:ext cx="11032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T_hat(t+3) in 5 cycles.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614738" y="5435441"/>
              <a:ext cx="15990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Clamps out-of-range via sat16.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614738" y="5673566"/>
              <a:ext cx="13260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Real-time hardware math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191250" y="4238625"/>
              <a:ext cx="2476500" cy="1666875"/>
            </a:xfrm>
            <a:prstGeom prst="roundRect">
              <a:avLst>
                <a:gd name="adj" fmla="val 3429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29362" y="4398645"/>
              <a:ext cx="16667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STEP 3: BOARD READOUT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29362" y="4617720"/>
              <a:ext cx="11019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7-Segment Displays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29362" y="4863941"/>
              <a:ext cx="16036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HEX7..4: Displays current T(t).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29362" y="5054441"/>
              <a:ext cx="15748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HEX3..0: Displays T_hat(t+3).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29362" y="5244941"/>
              <a:ext cx="16515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LEDR switches show saturation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29362" y="5435441"/>
              <a:ext cx="14145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clamp status (sat_hi, sat_lo).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29362" y="5673566"/>
              <a:ext cx="14177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Visual temperature display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905875" y="4238625"/>
              <a:ext cx="2571750" cy="1666875"/>
            </a:xfrm>
            <a:prstGeom prst="roundRect">
              <a:avLst>
                <a:gd name="adj" fmla="val 3429"/>
              </a:avLst>
            </a:prstGeom>
            <a:solidFill>
              <a:srgbClr val="0B132B"/>
            </a:solidFill>
            <a:ln w="9525">
              <a:solidFill>
                <a:srgbClr val="2A3D6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043988" y="4398645"/>
              <a:ext cx="1545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STEP 4: OSCILLOSCOPE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43988" y="4617720"/>
              <a:ext cx="10123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Timing Verification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43988" y="4863941"/>
              <a:ext cx="16640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GPIO pin probes forecast_valid.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43988" y="5054441"/>
              <a:ext cx="15371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Measures latency pulse width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43988" y="5244941"/>
              <a:ext cx="11141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on digital oscilloscope.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43988" y="5435441"/>
              <a:ext cx="17341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8D99AE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Validates exact 100 ns execution.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43988" y="5673566"/>
              <a:ext cx="12951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Hardware signal capture</a:t>
              </a:r>
            </a:p>
          </p:txBody>
        </p:sp>
      </p:grpSp>
      <p:grpSp>
        <p:nvGrpSpPr>
          <p:cNvPr id="83" name="ftr_21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79" name="Rectangle 79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81607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090547" y="6362224"/>
              <a:ext cx="70657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Capstone Milestone: 100% RTL, Testbenches, and C++ Models Completed; Prepared for Live Hardware Demonstration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22"/>
          <p:cNvGrpSpPr/>
          <p:nvPr/>
        </p:nvGrpSpPr>
        <p:grpSpPr>
          <a:xfrm>
            <a:off x="561594" y="390049"/>
            <a:ext cx="11058906" cy="730662"/>
            <a:chOff x="561594" y="390049"/>
            <a:chExt cx="11058906" cy="730662"/>
          </a:xfrm>
        </p:grpSpPr>
        <p:sp>
          <p:nvSpPr>
            <p:cNvPr id="2" name="TextBox 2"/>
            <p:cNvSpPr txBox="1"/>
            <p:nvPr/>
          </p:nvSpPr>
          <p:spPr>
            <a:xfrm>
              <a:off x="566547" y="390049"/>
              <a:ext cx="2818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spc="75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PROJECT DEFENSE &amp; EXAMINATION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1594" y="608648"/>
              <a:ext cx="68284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Technical Defense &amp; Q&amp;A: Quick-Reference Summary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6166" y="915352"/>
              <a:ext cx="63676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Summary anchors for technical defense covering numerical contracts, RTL trade-offs, and verification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A3D66"/>
              </a:solidFill>
            </a:ln>
          </p:spPr>
        </p:sp>
      </p:grpSp>
      <p:grpSp>
        <p:nvGrpSpPr>
          <p:cNvPr id="16" name="anchor_qformats"/>
          <p:cNvGrpSpPr/>
          <p:nvPr/>
        </p:nvGrpSpPr>
        <p:grpSpPr>
          <a:xfrm>
            <a:off x="571500" y="1285875"/>
            <a:ext cx="5381625" cy="1905000"/>
            <a:chOff x="571500" y="1285875"/>
            <a:chExt cx="5381625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1905000"/>
            </a:xfrm>
            <a:prstGeom prst="roundRect">
              <a:avLst>
                <a:gd name="adj" fmla="val 5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342900"/>
            </a:xfrm>
            <a:prstGeom prst="roundRect">
              <a:avLst>
                <a:gd name="adj" fmla="val 27778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409224"/>
              <a:ext cx="31075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ANCHOR 1: FIXED-POINT ARITHMETIC SIZING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1752124"/>
              <a:ext cx="18189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Temperatures: Signed Q8.8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238" y="1950720"/>
              <a:ext cx="38222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Scale = 256; Range = [-128°C, +127.99°C]; LSB = 1/256 ≈ 0.0039°C.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228374"/>
              <a:ext cx="17744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Coefficients: Signed Q2.14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238" y="2426970"/>
              <a:ext cx="37016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Scale = 16,384; A = 12214 (0.7455); B = 150 (0.0091); C = 0 (bias).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704624"/>
              <a:ext cx="2311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Accumulator: Signed 35-Bit Q13.22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238" y="2903220"/>
              <a:ext cx="37518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Scale = 2^22; 3.19x headroom mathematically prevents overflow.</a:t>
              </a:r>
            </a:p>
          </p:txBody>
        </p:sp>
      </p:grpSp>
      <p:grpSp>
        <p:nvGrpSpPr>
          <p:cNvPr id="26" name="anchor_precision"/>
          <p:cNvGrpSpPr/>
          <p:nvPr/>
        </p:nvGrpSpPr>
        <p:grpSpPr>
          <a:xfrm>
            <a:off x="6238875" y="1285875"/>
            <a:ext cx="5381625" cy="1905000"/>
            <a:chOff x="6238875" y="1285875"/>
            <a:chExt cx="5381625" cy="1905000"/>
          </a:xfrm>
        </p:grpSpPr>
        <p:sp>
          <p:nvSpPr>
            <p:cNvPr id="17" name="Rectangle 17"/>
            <p:cNvSpPr/>
            <p:nvPr/>
          </p:nvSpPr>
          <p:spPr>
            <a:xfrm>
              <a:off x="6238875" y="1285875"/>
              <a:ext cx="5381625" cy="1905000"/>
            </a:xfrm>
            <a:prstGeom prst="roundRect">
              <a:avLst>
                <a:gd name="adj" fmla="val 5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38875" y="1285875"/>
              <a:ext cx="5381625" cy="342900"/>
            </a:xfrm>
            <a:prstGeom prst="roundRect">
              <a:avLst>
                <a:gd name="adj" fmla="val 27778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24422" y="1409224"/>
              <a:ext cx="35461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ANCHOR 2: FLOOR-SCALING &amp; SATURATION (sat16)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24422" y="1752124"/>
              <a:ext cx="25971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Hardware Arithmetic Right Shift: &gt;&gt;&gt; 14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24612" y="1950720"/>
              <a:ext cx="30601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Scales Q22 → Q8 at 0 logic gate cost (pure wire slicing).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4422" y="2228374"/>
              <a:ext cx="23560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C++ vs. Verilog Divergence Fix: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4612" y="2426970"/>
              <a:ext cx="30683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C++ division rounds toward 0; Verilog rounds toward -inf.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4612" y="2617470"/>
              <a:ext cx="35225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77F00"/>
                  </a:solidFill>
                  <a:latin typeface="+mn-lt"/>
                  <a:ea typeface="+mn-ea"/>
                  <a:cs typeface="+mn-cs"/>
                </a:rPr>
                <a:t>floor_scale(s) in C++ guarantees 100% bit-exact equivalence.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4612" y="2903220"/>
              <a:ext cx="34760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0B981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sat16 clamps cleanly to [+32767, -32768] without wrapping.</a:t>
              </a:r>
            </a:p>
          </p:txBody>
        </p:sp>
      </p:grpSp>
      <p:grpSp>
        <p:nvGrpSpPr>
          <p:cNvPr id="36" name="anchor_arch"/>
          <p:cNvGrpSpPr/>
          <p:nvPr/>
        </p:nvGrpSpPr>
        <p:grpSpPr>
          <a:xfrm>
            <a:off x="571500" y="3333750"/>
            <a:ext cx="5381625" cy="1905000"/>
            <a:chOff x="571500" y="3333750"/>
            <a:chExt cx="5381625" cy="1905000"/>
          </a:xfrm>
        </p:grpSpPr>
        <p:sp>
          <p:nvSpPr>
            <p:cNvPr id="27" name="Rectangle 27"/>
            <p:cNvSpPr/>
            <p:nvPr/>
          </p:nvSpPr>
          <p:spPr>
            <a:xfrm>
              <a:off x="571500" y="3333750"/>
              <a:ext cx="5381625" cy="1905000"/>
            </a:xfrm>
            <a:prstGeom prst="roundRect">
              <a:avLst>
                <a:gd name="adj" fmla="val 5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1500" y="3333750"/>
              <a:ext cx="5381625" cy="342900"/>
            </a:xfrm>
            <a:prstGeom prst="roundRect">
              <a:avLst>
                <a:gd name="adj" fmla="val 27778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7047" y="3457099"/>
              <a:ext cx="24105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ANCHOR 3: DUAL RTL PARADIGMS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047" y="3799999"/>
              <a:ext cx="2524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Speed Core (temp_predictor_speed.v):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238" y="3998595"/>
              <a:ext cx="35576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II = 1 cycle; Latency = 5 cycles; 2 DSP blocks; 50 MSamples/sec.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7047" y="4276249"/>
              <a:ext cx="29055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Resource Core (temp_predictor_resource.v):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7238" y="4474845"/>
              <a:ext cx="40742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II &lt;= 10 cycles; Latency = 8–10 cycles; 1 shared DSP block; 10-state FSM.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7047" y="4752499"/>
              <a:ext cx="15231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Bit-Exact Equivalence: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238" y="4951095"/>
              <a:ext cx="314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Both cores output identical values for identical inputs.</a:t>
              </a:r>
            </a:p>
          </p:txBody>
        </p:sp>
      </p:grpSp>
      <p:grpSp>
        <p:nvGrpSpPr>
          <p:cNvPr id="46" name="anchor_dv_hw"/>
          <p:cNvGrpSpPr/>
          <p:nvPr/>
        </p:nvGrpSpPr>
        <p:grpSpPr>
          <a:xfrm>
            <a:off x="6238875" y="3333750"/>
            <a:ext cx="5381625" cy="1905000"/>
            <a:chOff x="6238875" y="3333750"/>
            <a:chExt cx="5381625" cy="1905000"/>
          </a:xfrm>
        </p:grpSpPr>
        <p:sp>
          <p:nvSpPr>
            <p:cNvPr id="37" name="Rectangle 37"/>
            <p:cNvSpPr/>
            <p:nvPr/>
          </p:nvSpPr>
          <p:spPr>
            <a:xfrm>
              <a:off x="6238875" y="3333750"/>
              <a:ext cx="5381625" cy="1905000"/>
            </a:xfrm>
            <a:prstGeom prst="roundRect">
              <a:avLst>
                <a:gd name="adj" fmla="val 5000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38875" y="3333750"/>
              <a:ext cx="5381625" cy="342900"/>
            </a:xfrm>
            <a:prstGeom prst="roundRect">
              <a:avLst>
                <a:gd name="adj" fmla="val 27778"/>
              </a:avLst>
            </a:prstGeom>
            <a:solidFill>
              <a:srgbClr val="1E2D4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24422" y="3457099"/>
              <a:ext cx="31617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ANCHOR 4: VERIFICATION &amp; SILICON TARGET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4422" y="3799999"/>
              <a:ext cx="15457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Target Silicon &amp; Clock: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4612" y="3998595"/>
              <a:ext cx="3434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Altera Cyclone II EP2C35F672C6 on DE2 Board @ 50.0 MHz.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4422" y="4276249"/>
              <a:ext cx="1262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Synthesis Metrics: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4612" y="4474845"/>
              <a:ext cx="34060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Fmax &gt; 128 MHz (2.5x timing slack); &lt;1% LEs; 0 BRAM used.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24422" y="4752499"/>
              <a:ext cx="1555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FFFFFF"/>
                </a:buClr>
                <a:buSzTx/>
                <a:buFontTx/>
                <a:buChar char="•"/>
              </a:pPr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Testbench Regression: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24612" y="4951095"/>
              <a:ext cx="30430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10,000+ DPI-C vectors simulated with 0 mismatches.</a:t>
              </a:r>
            </a:p>
          </p:txBody>
        </p:sp>
      </p:grpSp>
      <p:grpSp>
        <p:nvGrpSpPr>
          <p:cNvPr id="51" name="box_defense_footer"/>
          <p:cNvGrpSpPr/>
          <p:nvPr/>
        </p:nvGrpSpPr>
        <p:grpSpPr>
          <a:xfrm>
            <a:off x="571500" y="5381625"/>
            <a:ext cx="11049000" cy="714375"/>
            <a:chOff x="571500" y="5381625"/>
            <a:chExt cx="11049000" cy="714375"/>
          </a:xfrm>
        </p:grpSpPr>
        <p:sp>
          <p:nvSpPr>
            <p:cNvPr id="47" name="Rectangle 47"/>
            <p:cNvSpPr/>
            <p:nvPr/>
          </p:nvSpPr>
          <p:spPr>
            <a:xfrm>
              <a:off x="571500" y="5381625"/>
              <a:ext cx="11049000" cy="714375"/>
            </a:xfrm>
            <a:prstGeom prst="roundRect">
              <a:avLst>
                <a:gd name="adj" fmla="val 10667"/>
              </a:avLst>
            </a:prstGeom>
            <a:solidFill>
              <a:srgbClr val="1E2D4A"/>
            </a:solidFill>
            <a:ln w="9525">
              <a:solidFill>
                <a:srgbClr val="48CAE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4672" y="5562124"/>
              <a:ext cx="39983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CODEBASE REPOSITORY READY FOR COMMITTEE AUDIT: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4862" y="5789295"/>
              <a:ext cx="74602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Repository: </a:t>
              </a:r>
              <a:r>
                <a:rPr lang="en" sz="90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CE436_Discrete-Time_Signal_Processing/fpga-temp-predictor</a:t>
              </a:r>
              <a:r>
                <a:rPr lang="e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| Includes clean RTL, DPI-C testbenches &amp; Python scripts.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25304" y="5781199"/>
              <a:ext cx="11620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980" dirty="0">
                  <a:solidFill>
                    <a:srgbClr val="8D99AE"/>
                  </a:solidFill>
                  <a:latin typeface="+mn-lt"/>
                  <a:ea typeface="+mn-ea"/>
                  <a:cs typeface="+mn-cs"/>
                </a:rPr>
                <a:t>Open for Questions</a:t>
              </a:r>
            </a:p>
          </p:txBody>
        </p:sp>
      </p:grpSp>
      <p:grpSp>
        <p:nvGrpSpPr>
          <p:cNvPr id="56" name="ftr_22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2" name="Rectangle 52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162238"/>
            </a:solidFill>
            <a:ln w="9525">
              <a:solidFill>
                <a:srgbClr val="2A3D66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5800" y="6315075"/>
              <a:ext cx="1238250" cy="209550"/>
            </a:xfrm>
            <a:prstGeom prst="roundRect">
              <a:avLst>
                <a:gd name="adj" fmla="val 18182"/>
              </a:avLst>
            </a:pr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4363" y="6368891"/>
              <a:ext cx="10011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48CAE4"/>
                  </a:solidFill>
                  <a:latin typeface="+mn-lt"/>
                  <a:ea typeface="+mn-ea"/>
                  <a:cs typeface="+mn-cs"/>
                </a:rPr>
                <a:t>DEFENSE READY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090547" y="6362224"/>
              <a:ext cx="62165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Final Capstone Defense: Open for Technical Questions from Professor and Evaluation Committee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pga_temp_predictor">
  <a:themeElements>
    <a:clrScheme name="fpga_temp_predic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pga_temp_predicto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pga_temp_predic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2026-10-07T11:44:41Z</dcterms:created>
  <dcterms:modified xsi:type="dcterms:W3CDTF">2026-10-07T11:44:41Z</dcterms:modified>
  <cp:category/>
  <cp:contentStatus/>
</cp:coreProperties>
</file>