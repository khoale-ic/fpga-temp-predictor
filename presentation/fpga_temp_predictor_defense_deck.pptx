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pga_temp_predicto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pga_temp_predicto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hero_header"/>
          <p:cNvGrpSpPr/>
          <p:nvPr/>
        </p:nvGrpSpPr>
        <p:grpSpPr>
          <a:xfrm>
            <a:off x="571500" y="381000"/>
            <a:ext cx="11049000" cy="2381250"/>
            <a:chOff x="571500" y="381000"/>
            <a:chExt cx="11049000" cy="2381250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81000"/>
              <a:ext cx="95250" cy="2381250"/>
            </a:xfrm>
            <a:prstGeom prst="roundRect">
              <a:avLst>
                <a:gd name="adj" fmla="val 4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57250" y="619125"/>
              <a:ext cx="4381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738" y="693420"/>
              <a:ext cx="4554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CE436: DISCRETE-TIME SIGNAL PROCESSING &amp; APPLICATIONS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4296" y="1058228"/>
              <a:ext cx="57715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FPGA Edge Temperature Predictor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9630" y="1533525"/>
              <a:ext cx="5143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Dual-Core RTL Design &amp; Bit-Exact DPI-C Verification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1916" y="1886902"/>
              <a:ext cx="4866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Altera Cyclone II (DE2) | Signed Q8.8 / Q2.14 | 50 MHz Real-Time Inference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2238375"/>
              <a:ext cx="2952750" cy="247650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7738" y="2312670"/>
              <a:ext cx="27945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100% BIT-EXACT MATCH (10,000+ VECTORS)</a:t>
              </a:r>
            </a:p>
          </p:txBody>
        </p:sp>
      </p:grpSp>
      <p:grpSp>
        <p:nvGrpSpPr>
          <p:cNvPr id="24" name="card_platform"/>
          <p:cNvGrpSpPr/>
          <p:nvPr/>
        </p:nvGrpSpPr>
        <p:grpSpPr>
          <a:xfrm>
            <a:off x="571500" y="3000375"/>
            <a:ext cx="3476625" cy="3000375"/>
            <a:chOff x="571500" y="3000375"/>
            <a:chExt cx="3476625" cy="3000375"/>
          </a:xfrm>
        </p:grpSpPr>
        <p:sp>
          <p:nvSpPr>
            <p:cNvPr id="12" name="Rectangle 12"/>
            <p:cNvSpPr/>
            <p:nvPr/>
          </p:nvSpPr>
          <p:spPr>
            <a:xfrm>
              <a:off x="571500" y="3000375"/>
              <a:ext cx="3476625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3000375"/>
              <a:ext cx="3476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7047" y="3152299"/>
              <a:ext cx="1395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TARGET PLATFORM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3569970"/>
              <a:ext cx="8334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FPGA Device: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3760470"/>
              <a:ext cx="19346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Cyclone II EP2C35F672C6 (90nm)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238" y="4046220"/>
              <a:ext cx="1202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Development Board: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112" y="4236720"/>
              <a:ext cx="18504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Terasic DE2 @ 50 MHz Oscillator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238" y="4522470"/>
              <a:ext cx="9255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Serial Interface: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112" y="4712970"/>
              <a:ext cx="1796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RS-232 UART @ 115,200 Baud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5191125"/>
              <a:ext cx="3095625" cy="523875"/>
            </a:xfrm>
            <a:prstGeom prst="roundRect">
              <a:avLst>
                <a:gd name="adj" fmla="val 10909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0112" y="5332095"/>
              <a:ext cx="18527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DSP Multiplier Budget: 35 Units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5511641"/>
              <a:ext cx="19115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Predictor uses &lt;6% chip DSP capacity</a:t>
              </a:r>
            </a:p>
          </p:txBody>
        </p:sp>
      </p:grpSp>
      <p:grpSp>
        <p:nvGrpSpPr>
          <p:cNvPr id="37" name="card_scope"/>
          <p:cNvGrpSpPr/>
          <p:nvPr/>
        </p:nvGrpSpPr>
        <p:grpSpPr>
          <a:xfrm>
            <a:off x="4333875" y="3000375"/>
            <a:ext cx="3476625" cy="3000375"/>
            <a:chOff x="4333875" y="3000375"/>
            <a:chExt cx="3476625" cy="3000375"/>
          </a:xfrm>
        </p:grpSpPr>
        <p:sp>
          <p:nvSpPr>
            <p:cNvPr id="25" name="Rectangle 25"/>
            <p:cNvSpPr/>
            <p:nvPr/>
          </p:nvSpPr>
          <p:spPr>
            <a:xfrm>
              <a:off x="4333875" y="3000375"/>
              <a:ext cx="3476625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33875" y="3000375"/>
              <a:ext cx="3476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19422" y="3152299"/>
              <a:ext cx="138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RTL DESIGN SCOPE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9612" y="3569970"/>
              <a:ext cx="1026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Signal Algorithm: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2488" y="3760470"/>
              <a:ext cx="15492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3-Tap Diurnal Residual OLS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9612" y="4046220"/>
              <a:ext cx="732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Speed Core: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62488" y="4236720"/>
              <a:ext cx="2047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Stages | II = 1 (50 MSps) | 412 LEs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9612" y="4522470"/>
              <a:ext cx="920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Resource Core: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62488" y="4712970"/>
              <a:ext cx="1946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 States | 1 Shared Mult | 236 LEs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24375" y="5191125"/>
              <a:ext cx="3095625" cy="523875"/>
            </a:xfrm>
            <a:prstGeom prst="roundRect">
              <a:avLst>
                <a:gd name="adj" fmla="val 109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2488" y="5332095"/>
              <a:ext cx="19036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Signed Fixed-Point: Q8.8 / Q2.14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62488" y="5511641"/>
              <a:ext cx="16816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LSB = 0.0039°C with sat16 clamp</a:t>
              </a:r>
            </a:p>
          </p:txBody>
        </p:sp>
      </p:grpSp>
      <p:grpSp>
        <p:nvGrpSpPr>
          <p:cNvPr id="50" name="card_defense"/>
          <p:cNvGrpSpPr/>
          <p:nvPr/>
        </p:nvGrpSpPr>
        <p:grpSpPr>
          <a:xfrm>
            <a:off x="8096250" y="3000375"/>
            <a:ext cx="3524250" cy="3000375"/>
            <a:chOff x="8096250" y="3000375"/>
            <a:chExt cx="3524250" cy="3000375"/>
          </a:xfrm>
        </p:grpSpPr>
        <p:sp>
          <p:nvSpPr>
            <p:cNvPr id="38" name="Rectangle 38"/>
            <p:cNvSpPr/>
            <p:nvPr/>
          </p:nvSpPr>
          <p:spPr>
            <a:xfrm>
              <a:off x="8096250" y="3000375"/>
              <a:ext cx="3524250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96250" y="3000375"/>
              <a:ext cx="3524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81797" y="3152299"/>
              <a:ext cx="14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DEFENSE METADATA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1988" y="3569970"/>
              <a:ext cx="11280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Student Engineers: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4862" y="3764518"/>
              <a:ext cx="217646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Le Dang Khoa (24520816) — Lead / RTL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4862" y="3955018"/>
              <a:ext cx="219009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Nguyen Nghia Khoa (24520832) — Model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4862" y="4145518"/>
              <a:ext cx="225233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Nguyen Minh Khoa (24520831) — DV / TB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81988" y="4427220"/>
              <a:ext cx="11153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Academic Advisor: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4862" y="4617720"/>
              <a:ext cx="17080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Dr. Tran Xuan Phuoc (CE-UIT)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86750" y="5191125"/>
              <a:ext cx="3143250" cy="523875"/>
            </a:xfrm>
            <a:prstGeom prst="roundRect">
              <a:avLst>
                <a:gd name="adj" fmla="val 10909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24862" y="5332095"/>
              <a:ext cx="17264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Status: 100% Bit-Exact Match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4862" y="5511641"/>
              <a:ext cx="18700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 Mismatches across 10,000+ vectors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2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17127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FULL-STACK IC DESIGN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0923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Project Overview: Three Engineering Pillars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4279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Signal theory, synthesizable RTL micro-architecture, and closed-loop DV</a:t>
              </a:r>
            </a:p>
          </p:txBody>
        </p:sp>
      </p:grpSp>
      <p:grpSp>
        <p:nvGrpSpPr>
          <p:cNvPr id="26" name="pillar_dsp"/>
          <p:cNvGrpSpPr/>
          <p:nvPr/>
        </p:nvGrpSpPr>
        <p:grpSpPr>
          <a:xfrm>
            <a:off x="571500" y="1285875"/>
            <a:ext cx="3524250" cy="4762500"/>
            <a:chOff x="571500" y="1285875"/>
            <a:chExt cx="352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28274"/>
              <a:ext cx="2209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PILLAR 1: SIGNAL PROCESSING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8097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1921192"/>
              <a:ext cx="7311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43,800 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2488" y="2168366"/>
              <a:ext cx="10947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NASA 5-Yr Telemetry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47650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392" y="2587942"/>
              <a:ext cx="956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3-Tap OLS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488" y="2835116"/>
              <a:ext cx="1160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Diurnal Residual Model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4375" y="31432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392" y="3254692"/>
              <a:ext cx="529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74.1%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488" y="3501866"/>
              <a:ext cx="997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Gain vs Persistence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3857625"/>
              <a:ext cx="32385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862" y="4027170"/>
              <a:ext cx="9594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862" y="4340066"/>
              <a:ext cx="16576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Anchor captures &gt;85% variance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862" y="4721066"/>
              <a:ext cx="1811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0.538°C MAE on held-out test data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862" y="5102066"/>
              <a:ext cx="15122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Zero on-chip matrix inversion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9625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862" y="5578316"/>
              <a:ext cx="127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  <p:grpSp>
        <p:nvGrpSpPr>
          <p:cNvPr id="46" name="pillar_rtl"/>
          <p:cNvGrpSpPr/>
          <p:nvPr/>
        </p:nvGrpSpPr>
        <p:grpSpPr>
          <a:xfrm>
            <a:off x="4333875" y="1285875"/>
            <a:ext cx="3524250" cy="4762500"/>
            <a:chOff x="4333875" y="1285875"/>
            <a:chExt cx="3524250" cy="4762500"/>
          </a:xfrm>
        </p:grpSpPr>
        <p:sp>
          <p:nvSpPr>
            <p:cNvPr id="27" name="Rectangle 27"/>
            <p:cNvSpPr/>
            <p:nvPr/>
          </p:nvSpPr>
          <p:spPr>
            <a:xfrm>
              <a:off x="4333875" y="1285875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33875" y="1285875"/>
              <a:ext cx="3524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19422" y="1428274"/>
              <a:ext cx="1558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PILLAR 2: RTL DESIGN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76750" y="18097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12767" y="1921192"/>
              <a:ext cx="1036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Speed Core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4862" y="2168366"/>
              <a:ext cx="13546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Stages | II = 1 (50 MSps)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247650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12767" y="2587942"/>
              <a:ext cx="847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Resource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14862" y="2835116"/>
              <a:ext cx="13704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 States | -42.7% LE Area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31432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2767" y="3254692"/>
              <a:ext cx="925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142.3 MHz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14862" y="3501866"/>
              <a:ext cx="1037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F_max on Cyclone II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76750" y="3857625"/>
              <a:ext cx="32385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67238" y="4027170"/>
              <a:ext cx="9594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7238" y="4340066"/>
              <a:ext cx="16821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Synthesizable Verilog (EP2C35)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7238" y="4721066"/>
              <a:ext cx="1677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 Shared Mult in Resource Core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7238" y="5102066"/>
              <a:ext cx="1869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Signed Q8.8 / Q2.14 sat16 datapath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72000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67238" y="5578316"/>
              <a:ext cx="127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  <p:grpSp>
        <p:nvGrpSpPr>
          <p:cNvPr id="66" name="pillar_dv"/>
          <p:cNvGrpSpPr/>
          <p:nvPr/>
        </p:nvGrpSpPr>
        <p:grpSpPr>
          <a:xfrm>
            <a:off x="8096250" y="1285875"/>
            <a:ext cx="3524250" cy="4762500"/>
            <a:chOff x="8096250" y="1285875"/>
            <a:chExt cx="3524250" cy="4762500"/>
          </a:xfrm>
        </p:grpSpPr>
        <p:sp>
          <p:nvSpPr>
            <p:cNvPr id="47" name="Rectangle 47"/>
            <p:cNvSpPr/>
            <p:nvPr/>
          </p:nvSpPr>
          <p:spPr>
            <a:xfrm>
              <a:off x="8096250" y="1285875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96250" y="1285875"/>
              <a:ext cx="3524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81797" y="1428274"/>
              <a:ext cx="2271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PILLAR 3: DESIGN VERIFICATION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39125" y="18097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75142" y="1921192"/>
              <a:ext cx="1239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DPI-C Co-Sim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7238" y="2168366"/>
              <a:ext cx="12095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Live C++ Golden Oracle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39125" y="247650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75142" y="2587942"/>
              <a:ext cx="675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10,000+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77238" y="2835116"/>
              <a:ext cx="11361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Test Vectors Replayed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39125" y="3143250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75142" y="3254692"/>
              <a:ext cx="717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0 Errors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7238" y="3501866"/>
              <a:ext cx="11096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100% Bit-Exact Match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239125" y="3857625"/>
              <a:ext cx="32385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29612" y="4027170"/>
              <a:ext cx="9594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29612" y="4340066"/>
              <a:ext cx="1647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Lockstep cycle-exact assertions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9612" y="4721066"/>
              <a:ext cx="16318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6-corner stress regression suite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9612" y="5102066"/>
              <a:ext cx="1797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17,520h continuous telemetry pass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8334375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329612" y="5578316"/>
              <a:ext cx="127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  <p:grpSp>
        <p:nvGrpSpPr>
          <p:cNvPr id="71" name="ftr_02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7" name="Rectangle 6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185797" y="6362224"/>
              <a:ext cx="5110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End-to-end flow: diurnal signal model, dual RTL cores, and bit-exact DPI-C verification.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3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13608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DEFENSE OUTLINE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3113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Capstone Defense Agenda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770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Structured overview of signal modeling, fixed-point math, dual architectures, and silicon verification</a:t>
              </a:r>
            </a:p>
          </p:txBody>
        </p:sp>
      </p:grpSp>
      <p:grpSp>
        <p:nvGrpSpPr>
          <p:cNvPr id="13" name="mod_01"/>
          <p:cNvGrpSpPr/>
          <p:nvPr/>
        </p:nvGrpSpPr>
        <p:grpSpPr>
          <a:xfrm>
            <a:off x="571500" y="1285875"/>
            <a:ext cx="5429250" cy="1409700"/>
            <a:chOff x="571500" y="1285875"/>
            <a:chExt cx="5429250" cy="14097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14375" y="1362075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0614" y="1415891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8047" y="1418749"/>
              <a:ext cx="1925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Signal Formulation &amp; Prior Art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1907143"/>
              <a:ext cx="263800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NASA 5-yr data, diurnal equation, and benchmarks</a:t>
              </a:r>
            </a:p>
          </p:txBody>
        </p:sp>
      </p:grpSp>
      <p:grpSp>
        <p:nvGrpSpPr>
          <p:cNvPr id="20" name="mod_02"/>
          <p:cNvGrpSpPr/>
          <p:nvPr/>
        </p:nvGrpSpPr>
        <p:grpSpPr>
          <a:xfrm>
            <a:off x="6238875" y="1285875"/>
            <a:ext cx="5429250" cy="1409700"/>
            <a:chOff x="6238875" y="1285875"/>
            <a:chExt cx="5429250" cy="1409700"/>
          </a:xfrm>
        </p:grpSpPr>
        <p:sp>
          <p:nvSpPr>
            <p:cNvPr id="14" name="Rectangle 14"/>
            <p:cNvSpPr/>
            <p:nvPr/>
          </p:nvSpPr>
          <p:spPr>
            <a:xfrm>
              <a:off x="6238875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38875" y="128587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381750" y="1362075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7989" y="1415891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5422" y="1418749"/>
              <a:ext cx="1953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Fixed-Point Precision Contract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4612" y="1907143"/>
              <a:ext cx="264980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Signed Q8.8/Q2.14, bit growth, and sat16 clamping</a:t>
              </a:r>
            </a:p>
          </p:txBody>
        </p:sp>
      </p:grpSp>
      <p:grpSp>
        <p:nvGrpSpPr>
          <p:cNvPr id="27" name="mod_03"/>
          <p:cNvGrpSpPr/>
          <p:nvPr/>
        </p:nvGrpSpPr>
        <p:grpSpPr>
          <a:xfrm>
            <a:off x="571500" y="2857500"/>
            <a:ext cx="5429250" cy="1409700"/>
            <a:chOff x="571500" y="2857500"/>
            <a:chExt cx="5429250" cy="1409700"/>
          </a:xfrm>
        </p:grpSpPr>
        <p:sp>
          <p:nvSpPr>
            <p:cNvPr id="21" name="Rectangle 21"/>
            <p:cNvSpPr/>
            <p:nvPr/>
          </p:nvSpPr>
          <p:spPr>
            <a:xfrm>
              <a:off x="571500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2857500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4375" y="2933700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0614" y="2987516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2990374"/>
              <a:ext cx="1897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Dual RTL Micro-Architectures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238" y="3478768"/>
              <a:ext cx="272858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Speed Core (II=1) vs Resource Core (1 shared mult)</a:t>
              </a:r>
            </a:p>
          </p:txBody>
        </p:sp>
      </p:grpSp>
      <p:grpSp>
        <p:nvGrpSpPr>
          <p:cNvPr id="34" name="mod_04"/>
          <p:cNvGrpSpPr/>
          <p:nvPr/>
        </p:nvGrpSpPr>
        <p:grpSpPr>
          <a:xfrm>
            <a:off x="6238875" y="2857500"/>
            <a:ext cx="5429250" cy="1409700"/>
            <a:chOff x="6238875" y="2857500"/>
            <a:chExt cx="5429250" cy="1409700"/>
          </a:xfrm>
        </p:grpSpPr>
        <p:sp>
          <p:nvSpPr>
            <p:cNvPr id="28" name="Rectangle 28"/>
            <p:cNvSpPr/>
            <p:nvPr/>
          </p:nvSpPr>
          <p:spPr>
            <a:xfrm>
              <a:off x="6238875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38875" y="2857500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81750" y="2933700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67989" y="2987516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5422" y="2990374"/>
              <a:ext cx="1681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Top-Level Integration &amp; IO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4612" y="3478768"/>
              <a:ext cx="328095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Cyclone II DE2 mapping, RS-232 UART, and 7-segment LEDs</a:t>
              </a:r>
            </a:p>
          </p:txBody>
        </p:sp>
      </p:grpSp>
      <p:grpSp>
        <p:nvGrpSpPr>
          <p:cNvPr id="41" name="mod_05"/>
          <p:cNvGrpSpPr/>
          <p:nvPr/>
        </p:nvGrpSpPr>
        <p:grpSpPr>
          <a:xfrm>
            <a:off x="571500" y="4429125"/>
            <a:ext cx="5429250" cy="1409700"/>
            <a:chOff x="571500" y="4429125"/>
            <a:chExt cx="5429250" cy="1409700"/>
          </a:xfrm>
        </p:grpSpPr>
        <p:sp>
          <p:nvSpPr>
            <p:cNvPr id="35" name="Rectangle 35"/>
            <p:cNvSpPr/>
            <p:nvPr/>
          </p:nvSpPr>
          <p:spPr>
            <a:xfrm>
              <a:off x="571500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42912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4375" y="4505325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0614" y="4559141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4561999"/>
              <a:ext cx="1761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Bit-Exact DPI-C Verification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238" y="5050393"/>
              <a:ext cx="281997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SystemVerilog testbench, C++ oracle, and regressions</a:t>
              </a:r>
            </a:p>
          </p:txBody>
        </p:sp>
      </p:grpSp>
      <p:grpSp>
        <p:nvGrpSpPr>
          <p:cNvPr id="48" name="mod_06"/>
          <p:cNvGrpSpPr/>
          <p:nvPr/>
        </p:nvGrpSpPr>
        <p:grpSpPr>
          <a:xfrm>
            <a:off x="6238875" y="4429125"/>
            <a:ext cx="5429250" cy="1409700"/>
            <a:chOff x="6238875" y="4429125"/>
            <a:chExt cx="5429250" cy="1409700"/>
          </a:xfrm>
        </p:grpSpPr>
        <p:sp>
          <p:nvSpPr>
            <p:cNvPr id="42" name="Rectangle 42"/>
            <p:cNvSpPr/>
            <p:nvPr/>
          </p:nvSpPr>
          <p:spPr>
            <a:xfrm>
              <a:off x="6238875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38875" y="442912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81750" y="4505325"/>
              <a:ext cx="3048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67989" y="4559141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5422" y="4561999"/>
              <a:ext cx="19135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Synthesis &amp; Validation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24612" y="5050393"/>
              <a:ext cx="262331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Quartus II EP2C35 results and 17,520h test replay</a:t>
              </a:r>
            </a:p>
          </p:txBody>
        </p:sp>
      </p:grpSp>
      <p:grpSp>
        <p:nvGrpSpPr>
          <p:cNvPr id="53" name="ftr_03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9" name="Rectangle 4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85797" y="6362224"/>
              <a:ext cx="4501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Six sections covering theory, arithmetic, micro-architecture, and silicon proof.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4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9956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SIGNAL CHARACTERISTICS &amp; PROBLEM FORMULATION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4804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Meteorological Signal &amp; Diurnal Temperature Waveform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60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Exploiting 24-hour solar cyclicity from NASA POWER satellite observations in Ho Chi Minh City</a:t>
              </a:r>
            </a:p>
          </p:txBody>
        </p:sp>
      </p:grpSp>
      <p:grpSp>
        <p:nvGrpSpPr>
          <p:cNvPr id="27" name="data_context"/>
          <p:cNvGrpSpPr/>
          <p:nvPr/>
        </p:nvGrpSpPr>
        <p:grpSpPr>
          <a:xfrm>
            <a:off x="571500" y="1285875"/>
            <a:ext cx="4286250" cy="4762500"/>
            <a:chOff x="571500" y="1285875"/>
            <a:chExt cx="428625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4286250" cy="4762500"/>
            </a:xfrm>
            <a:prstGeom prst="roundRect">
              <a:avLst>
                <a:gd name="adj" fmla="val 177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4286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37799"/>
              <a:ext cx="2588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DATASET &amp; PROBLEM CONSTRAINTS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390525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9770"/>
              <a:ext cx="20389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NASA POWER Telemetry (HCMC):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112" y="2149316"/>
              <a:ext cx="24193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43,800 records (2021–2025) | 5 continuous years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447925"/>
              <a:ext cx="390525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0112" y="2560320"/>
              <a:ext cx="1279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Causal Data Partition: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0112" y="2739866"/>
              <a:ext cx="22292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Train: 26,280 h | Test: 17,520 h (No leakage)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038475"/>
              <a:ext cx="390525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0112" y="3150870"/>
              <a:ext cx="15635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Forecast Horizon &amp; Buffer: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112" y="3330416"/>
              <a:ext cx="16913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t+3 Forecast via 25-tap shift buffer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667125"/>
              <a:ext cx="3905250" cy="2143125"/>
            </a:xfrm>
            <a:prstGeom prst="roundRect">
              <a:avLst>
                <a:gd name="adj" fmla="val 2667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922" y="3847624"/>
              <a:ext cx="2020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Signal Processing Insight: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116943"/>
              <a:ext cx="22548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Solar cyclicity: &gt;85% of total signal energy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4364593"/>
              <a:ext cx="24879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Anchor T(t-21): primary 24h harmonic baseline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4612243"/>
              <a:ext cx="222332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Linear OLS: learns only the residual delta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04875" y="4905375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762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0112" y="5093970"/>
              <a:ext cx="2430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Bypasses complex multi-layer neural nets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12" y="5332095"/>
              <a:ext cx="24102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Requires only 3 arithmetic taps in silicon!</a:t>
              </a:r>
            </a:p>
          </p:txBody>
        </p:sp>
      </p:grpSp>
      <p:grpSp>
        <p:nvGrpSpPr>
          <p:cNvPr id="65" name="waveform_chart"/>
          <p:cNvGrpSpPr/>
          <p:nvPr/>
        </p:nvGrpSpPr>
        <p:grpSpPr>
          <a:xfrm>
            <a:off x="5048250" y="1285875"/>
            <a:ext cx="6572250" cy="4762500"/>
            <a:chOff x="5048250" y="1285875"/>
            <a:chExt cx="6572250" cy="4762500"/>
          </a:xfrm>
        </p:grpSpPr>
        <p:sp>
          <p:nvSpPr>
            <p:cNvPr id="28" name="Rectangle 28"/>
            <p:cNvSpPr/>
            <p:nvPr/>
          </p:nvSpPr>
          <p:spPr>
            <a:xfrm>
              <a:off x="5048250" y="1285875"/>
              <a:ext cx="657225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48250" y="1285875"/>
              <a:ext cx="6572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33797" y="1437799"/>
              <a:ext cx="4052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DIURNAL WAVEFORM &amp; PHYSICAL TAPS (48-HOUR CYCLE)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0" y="1857375"/>
              <a:ext cx="6000750" cy="2476500"/>
            </a:xfrm>
            <a:prstGeom prst="roundRect">
              <a:avLst>
                <a:gd name="adj" fmla="val 230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715000" y="214312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2112" y="2100262"/>
              <a:ext cx="2479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34°C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0" y="26193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72112" y="2576512"/>
              <a:ext cx="2479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29°C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0" y="309562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2112" y="3052762"/>
              <a:ext cx="2479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24°C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0" y="35718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72112" y="3529012"/>
              <a:ext cx="2479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20°C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0" y="3810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95988" y="3919538"/>
              <a:ext cx="6327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Day 1 (00:00)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4238" y="3919538"/>
              <a:ext cx="6327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Day 1 (12:00)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72488" y="3919538"/>
              <a:ext cx="6327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Day 2 (00:00)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05988" y="3919538"/>
              <a:ext cx="6327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Day 2 (12:00)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58488" y="3919538"/>
              <a:ext cx="15826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t+3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810250" y="2143125"/>
              <a:ext cx="5191125" cy="1524000"/>
            </a:xfrm>
            <a:custGeom>
              <a:avLst/>
              <a:gdLst/>
              <a:ahLst/>
              <a:cxnLst/>
              <a:rect l="l" t="t" r="r" b="b"/>
              <a:pathLst>
                <a:path w="5191125" h="1524000">
                  <a:moveTo>
                    <a:pt x="0" y="1285875"/>
                  </a:moveTo>
                  <a:cubicBezTo>
                    <a:pt x="285750" y="1476375"/>
                    <a:pt x="666750" y="1381125"/>
                    <a:pt x="952500" y="809625"/>
                  </a:cubicBezTo>
                  <a:cubicBezTo>
                    <a:pt x="1238250" y="142875"/>
                    <a:pt x="1524000" y="0"/>
                    <a:pt x="1809750" y="47625"/>
                  </a:cubicBezTo>
                  <a:cubicBezTo>
                    <a:pt x="2095500" y="190500"/>
                    <a:pt x="2381250" y="952500"/>
                    <a:pt x="2667000" y="1333500"/>
                  </a:cubicBezTo>
                  <a:cubicBezTo>
                    <a:pt x="2952750" y="1524000"/>
                    <a:pt x="3238500" y="1428750"/>
                    <a:pt x="3524250" y="857250"/>
                  </a:cubicBezTo>
                  <a:cubicBezTo>
                    <a:pt x="3810000" y="190500"/>
                    <a:pt x="4095750" y="28575"/>
                    <a:pt x="4381500" y="66675"/>
                  </a:cubicBezTo>
                  <a:cubicBezTo>
                    <a:pt x="4667250" y="238125"/>
                    <a:pt x="4953000" y="904875"/>
                    <a:pt x="5191125" y="1190625"/>
                  </a:cubicBezTo>
                </a:path>
              </a:pathLst>
            </a:custGeom>
            <a:noFill/>
            <a:ln w="23812">
              <a:solidFill>
                <a:srgbClr val="2563EB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286625" y="21240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43738" y="1966912"/>
              <a:ext cx="32672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T(t-24)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10475" y="2152650"/>
              <a:ext cx="114300" cy="1143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72362" y="2395538"/>
              <a:ext cx="77737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T(t-21) [Anchor]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72625" y="231457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29738" y="2538412"/>
              <a:ext cx="2689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T(t-3)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896475" y="2133600"/>
              <a:ext cx="114300" cy="114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05988" y="1966912"/>
              <a:ext cx="49112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T(t) [Now]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0229850" y="2181225"/>
              <a:ext cx="114300" cy="114300"/>
            </a:xfrm>
            <a:prstGeom prst="ellipse">
              <a:avLst/>
            </a:prstGeom>
            <a:solidFill>
              <a:srgbClr val="DC2626"/>
            </a:solidFill>
            <a:ln w="19050">
              <a:solidFill>
                <a:srgbClr val="DC262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29862" y="1824038"/>
              <a:ext cx="50027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T_hat(t+3)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0" y="4476750"/>
              <a:ext cx="6000750" cy="1381125"/>
            </a:xfrm>
            <a:prstGeom prst="roundRect">
              <a:avLst>
                <a:gd name="adj" fmla="val 4138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72112" y="4617720"/>
              <a:ext cx="31886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TAP MAPPING &amp; PHYSICAL MEANING: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472112" y="4911566"/>
              <a:ext cx="13756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T(t-21) [Diurnal Anchor]: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1362" y="4911566"/>
              <a:ext cx="20988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24h baseline cycle at target hour ((t+3)-24)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72112" y="5197316"/>
              <a:ext cx="13414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4F46E5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T(t) - T(t-24) [Inter-Day]: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1362" y="5197316"/>
              <a:ext cx="2163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24h weather front delta (today vs yesterday)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72112" y="5483066"/>
              <a:ext cx="1248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D97706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T(t) - T(t-3) [Gradient]: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1362" y="5483066"/>
              <a:ext cx="17434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Short-term 3h heating / cooling rate</a:t>
              </a:r>
            </a:p>
          </p:txBody>
        </p:sp>
      </p:grpSp>
      <p:grpSp>
        <p:nvGrpSpPr>
          <p:cNvPr id="70" name="ftr_04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6" name="Rectangle 66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185797" y="6362224"/>
              <a:ext cx="5950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Diurnal anchor T(t-21) captures 24h baseline; 2 delta taps fit residual dynamics with only 2 multipliers.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5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053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MATHEMATICAL RESIDUAL FORMULATION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545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Diurnal Residual Ordinary Least Squares Model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484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Decomposing temperature dynamics into diurnal baseline, inter-day trend, and rate-of-change</a:t>
              </a:r>
            </a:p>
          </p:txBody>
        </p:sp>
      </p:grpSp>
      <p:grpSp>
        <p:nvGrpSpPr>
          <p:cNvPr id="11" name="eq_hero"/>
          <p:cNvGrpSpPr/>
          <p:nvPr/>
        </p:nvGrpSpPr>
        <p:grpSpPr>
          <a:xfrm>
            <a:off x="571500" y="1285875"/>
            <a:ext cx="11049000" cy="1047750"/>
            <a:chOff x="571500" y="1285875"/>
            <a:chExt cx="11049000" cy="104775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1047750"/>
            </a:xfrm>
            <a:prstGeom prst="roundRect">
              <a:avLst>
                <a:gd name="adj" fmla="val 7273"/>
              </a:avLst>
            </a:prstGeom>
            <a:solidFill>
              <a:srgbClr val="EFF6FF"/>
            </a:solidFill>
            <a:ln w="14288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238" y="1445895"/>
              <a:ext cx="37256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PREDICTION EQUATION (OLS FIT IN C++ / PYTHON):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618" y="1745932"/>
              <a:ext cx="6309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T_hat(t+3) = T(t-21) + a · [T(t) - T(t-24)] + b · [T(t) - T(t-3)] + 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238" y="2074545"/>
              <a:ext cx="5024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Coefficients: a = 0.7455 (16'sh2FB6) | b = 0.0091 (16'sh0096) | c = 0.0011 °C (16'sh0000)</a:t>
              </a:r>
            </a:p>
          </p:txBody>
        </p:sp>
      </p:grpSp>
      <p:grpSp>
        <p:nvGrpSpPr>
          <p:cNvPr id="25" name="term_anchor"/>
          <p:cNvGrpSpPr/>
          <p:nvPr/>
        </p:nvGrpSpPr>
        <p:grpSpPr>
          <a:xfrm>
            <a:off x="571500" y="2524125"/>
            <a:ext cx="2667000" cy="3524250"/>
            <a:chOff x="571500" y="2524125"/>
            <a:chExt cx="2667000" cy="3524250"/>
          </a:xfrm>
        </p:grpSpPr>
        <p:sp>
          <p:nvSpPr>
            <p:cNvPr id="12" name="Rectangle 12"/>
            <p:cNvSpPr/>
            <p:nvPr/>
          </p:nvSpPr>
          <p:spPr>
            <a:xfrm>
              <a:off x="571500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524125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9612" y="2654141"/>
              <a:ext cx="10786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DIURNAL ANCHOR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3000375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92811" y="3142774"/>
              <a:ext cx="4243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T(t-21)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612" y="3569970"/>
              <a:ext cx="1094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612" y="3816191"/>
              <a:ext cx="10552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24-hr solar baseline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612" y="4054316"/>
              <a:ext cx="9237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Target: (t+3) - 24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612" y="4292441"/>
              <a:ext cx="12348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Energy: &gt;85% variance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" y="4810125"/>
              <a:ext cx="2381250" cy="1047750"/>
            </a:xfrm>
            <a:prstGeom prst="roundRect">
              <a:avLst>
                <a:gd name="adj" fmla="val 54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862" y="4987766"/>
              <a:ext cx="967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862" y="5236845"/>
              <a:ext cx="1003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0 Mults (wire tap)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4862" y="5510212"/>
              <a:ext cx="12415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39" name="term_trend"/>
          <p:cNvGrpSpPr/>
          <p:nvPr/>
        </p:nvGrpSpPr>
        <p:grpSpPr>
          <a:xfrm>
            <a:off x="3381375" y="2524125"/>
            <a:ext cx="2667000" cy="3524250"/>
            <a:chOff x="3381375" y="2524125"/>
            <a:chExt cx="2667000" cy="3524250"/>
          </a:xfrm>
        </p:grpSpPr>
        <p:sp>
          <p:nvSpPr>
            <p:cNvPr id="26" name="Rectangle 26"/>
            <p:cNvSpPr/>
            <p:nvPr/>
          </p:nvSpPr>
          <p:spPr>
            <a:xfrm>
              <a:off x="3381375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81375" y="2524125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19488" y="2654141"/>
              <a:ext cx="10786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INTER-DAY TREND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24250" y="3000375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92902" y="3142774"/>
              <a:ext cx="1043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 · [T(t) - T(t-24)]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19488" y="3569970"/>
              <a:ext cx="1094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19488" y="3816191"/>
              <a:ext cx="12884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24-hr weather front delta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19488" y="4054316"/>
              <a:ext cx="10704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Shift from yesterday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19488" y="4292441"/>
              <a:ext cx="1023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Weight: a = 0.7455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24250" y="4810125"/>
              <a:ext cx="2381250" cy="1047750"/>
            </a:xfrm>
            <a:prstGeom prst="roundRect">
              <a:avLst>
                <a:gd name="adj" fmla="val 54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14738" y="4987766"/>
              <a:ext cx="967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4738" y="5236845"/>
              <a:ext cx="8406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 Sub + 1 Mult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14738" y="5510212"/>
              <a:ext cx="12415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53" name="term_gradient"/>
          <p:cNvGrpSpPr/>
          <p:nvPr/>
        </p:nvGrpSpPr>
        <p:grpSpPr>
          <a:xfrm>
            <a:off x="6191250" y="2524125"/>
            <a:ext cx="2667000" cy="3524250"/>
            <a:chOff x="6191250" y="2524125"/>
            <a:chExt cx="2667000" cy="3524250"/>
          </a:xfrm>
        </p:grpSpPr>
        <p:sp>
          <p:nvSpPr>
            <p:cNvPr id="40" name="Rectangle 40"/>
            <p:cNvSpPr/>
            <p:nvPr/>
          </p:nvSpPr>
          <p:spPr>
            <a:xfrm>
              <a:off x="6191250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2524125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29362" y="2654141"/>
              <a:ext cx="14285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SHORT-TERM GRADIENT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34125" y="3000375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36614" y="3142774"/>
              <a:ext cx="976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b · [T(t) - T(t-3)]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29362" y="3569970"/>
              <a:ext cx="1094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29362" y="3816191"/>
              <a:ext cx="11898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3-hr micro-climate rate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29362" y="4054316"/>
              <a:ext cx="11322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Heating / cooling rate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29362" y="4292441"/>
              <a:ext cx="1023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Weight: b = 0.0091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34125" y="4810125"/>
              <a:ext cx="2381250" cy="1047750"/>
            </a:xfrm>
            <a:prstGeom prst="roundRect">
              <a:avLst>
                <a:gd name="adj" fmla="val 54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4612" y="4987766"/>
              <a:ext cx="967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4612" y="5236845"/>
              <a:ext cx="8406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 Sub + 1 Mult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4612" y="5510212"/>
              <a:ext cx="12415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67" name="term_bias"/>
          <p:cNvGrpSpPr/>
          <p:nvPr/>
        </p:nvGrpSpPr>
        <p:grpSpPr>
          <a:xfrm>
            <a:off x="9001125" y="2524125"/>
            <a:ext cx="2667000" cy="3524250"/>
            <a:chOff x="9001125" y="2524125"/>
            <a:chExt cx="2667000" cy="3524250"/>
          </a:xfrm>
        </p:grpSpPr>
        <p:sp>
          <p:nvSpPr>
            <p:cNvPr id="54" name="Rectangle 54"/>
            <p:cNvSpPr/>
            <p:nvPr/>
          </p:nvSpPr>
          <p:spPr>
            <a:xfrm>
              <a:off x="9001125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001125" y="2524125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39238" y="2654141"/>
              <a:ext cx="10722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SYSTEMATIC BIAS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000375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292983" y="3142774"/>
              <a:ext cx="8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9238" y="3569970"/>
              <a:ext cx="1094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39238" y="3816191"/>
              <a:ext cx="10456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Micro-climate offset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39238" y="4054316"/>
              <a:ext cx="12243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Seasonal baseline bias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9238" y="4292441"/>
              <a:ext cx="11292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Offset: c = 0.0011 °C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144000" y="4810125"/>
              <a:ext cx="2381250" cy="1047750"/>
            </a:xfrm>
            <a:prstGeom prst="roundRect">
              <a:avLst>
                <a:gd name="adj" fmla="val 545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34488" y="4987766"/>
              <a:ext cx="967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34488" y="5236845"/>
              <a:ext cx="901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Adder constant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34488" y="5510212"/>
              <a:ext cx="12415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72" name="ftr_05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8" name="Rectangle 6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185797" y="6362224"/>
              <a:ext cx="5808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OLS formulation isolates 3 simple operations: 2 subtractions, 2 multiplications, and a base addition.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6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675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ALGORITHMIC BENCHMARKS &amp; PARETO FRONTIER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8070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Model Comparison: Accuracy vs Silicon Footprint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227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Held-out test dataset (17,520 hours) evaluating predictive accuracy against DSP demand</a:t>
              </a:r>
            </a:p>
          </p:txBody>
        </p:sp>
      </p:grpSp>
      <p:grpSp>
        <p:nvGrpSpPr>
          <p:cNvPr id="61" name="tbl_benchmarks"/>
          <p:cNvGrpSpPr/>
          <p:nvPr/>
        </p:nvGrpSpPr>
        <p:grpSpPr>
          <a:xfrm>
            <a:off x="571500" y="1285875"/>
            <a:ext cx="7239000" cy="4762500"/>
            <a:chOff x="571500" y="1285875"/>
            <a:chExt cx="723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794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HELD-OUT TEST SET ACCURACY (17,520 SAMPLES)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6858000" cy="3048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0245"/>
              <a:ext cx="726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Architecture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66988" y="1960245"/>
              <a:ext cx="5584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MAE (°C)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4738" y="1960245"/>
              <a:ext cx="6438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RMSE (°C)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10112" y="1960245"/>
              <a:ext cx="611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DSP Units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91238" y="1960245"/>
              <a:ext cx="4711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Latency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238375"/>
              <a:ext cx="6858000" cy="438150"/>
            </a:xfrm>
            <a:prstGeom prst="roundRect">
              <a:avLst>
                <a:gd name="adj" fmla="val 8696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9922" y="2409349"/>
              <a:ext cx="14036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Linear OLS (Selected)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66797" y="2409349"/>
              <a:ext cx="553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0.538 °C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4547" y="2409349"/>
              <a:ext cx="553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0.786 °C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9922" y="2409349"/>
              <a:ext cx="617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1–2 Mults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1047" y="2409349"/>
              <a:ext cx="7058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5–9 Clocks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75272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0112" y="2912745"/>
              <a:ext cx="1021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Ridge-6 (Multi-var)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66988" y="291274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0.509 °C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4738" y="291274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0.736 °C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10112" y="2912745"/>
              <a:ext cx="404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Mults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91238" y="2912745"/>
              <a:ext cx="546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14 Clocks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22897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0112" y="3388995"/>
              <a:ext cx="1436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MLP Neural Net (12-16-1)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6988" y="338899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0.382 °C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4738" y="338899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0.555 °C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0112" y="3388995"/>
              <a:ext cx="472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32 Mults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91238" y="3388995"/>
              <a:ext cx="546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48 Clocks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70522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0112" y="3865245"/>
              <a:ext cx="11486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Diurnal Base: T(t-21)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66988" y="386524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0.832 °C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4738" y="386524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1.187 °C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10112" y="3865245"/>
              <a:ext cx="404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 Mults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91238" y="3865245"/>
              <a:ext cx="4785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 Clocks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18147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112" y="4341495"/>
              <a:ext cx="9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Persistence: T(t)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66988" y="434149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2.080 °C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14738" y="4341495"/>
              <a:ext cx="509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2.733 °C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10112" y="4341495"/>
              <a:ext cx="404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 Mults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91238" y="4341495"/>
              <a:ext cx="4785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 Clocks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2190750" cy="1190625"/>
            </a:xfrm>
            <a:prstGeom prst="roundRect">
              <a:avLst>
                <a:gd name="adj" fmla="val 4800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04675" y="4834890"/>
              <a:ext cx="7053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74.1%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9133" y="5168741"/>
              <a:ext cx="11564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ERROR REDUCTION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3090" y="5386388"/>
              <a:ext cx="10685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vs 2.080°C Persistence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61731" y="5576888"/>
              <a:ext cx="119128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35.3% over Diurnal Base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095625" y="4714875"/>
              <a:ext cx="2190750" cy="1190625"/>
            </a:xfrm>
            <a:prstGeom prst="roundRect">
              <a:avLst>
                <a:gd name="adj" fmla="val 48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82274" y="4834890"/>
              <a:ext cx="10174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0.156 °C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90130" y="5168741"/>
              <a:ext cx="12017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MARGINAL MLP GAP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34409" y="5386388"/>
              <a:ext cx="11131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MLP demands 32 DSPs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14496" y="5576888"/>
              <a:ext cx="11530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94% DSP Silicon Saved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429250" y="4714875"/>
              <a:ext cx="2190750" cy="1190625"/>
            </a:xfrm>
            <a:prstGeom prst="roundRect">
              <a:avLst>
                <a:gd name="adj" fmla="val 4800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08903" y="4834890"/>
              <a:ext cx="6314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11.6×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20454" y="5168741"/>
              <a:ext cx="1208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SILICON EFFICIENCY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62062" y="5386388"/>
              <a:ext cx="11251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Metric: 1 / (MAE × DSP)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78724" y="5576888"/>
              <a:ext cx="10918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OLS 0.93 vs MLP 0.08</a:t>
              </a:r>
            </a:p>
          </p:txBody>
        </p:sp>
      </p:grpSp>
      <p:grpSp>
        <p:nvGrpSpPr>
          <p:cNvPr id="81" name="pareto_callout"/>
          <p:cNvGrpSpPr/>
          <p:nvPr/>
        </p:nvGrpSpPr>
        <p:grpSpPr>
          <a:xfrm>
            <a:off x="8001000" y="1285875"/>
            <a:ext cx="3619500" cy="4762500"/>
            <a:chOff x="8001000" y="1285875"/>
            <a:chExt cx="3619500" cy="4762500"/>
          </a:xfrm>
        </p:grpSpPr>
        <p:sp>
          <p:nvSpPr>
            <p:cNvPr id="62" name="Rectangle 62"/>
            <p:cNvSpPr/>
            <p:nvPr/>
          </p:nvSpPr>
          <p:spPr>
            <a:xfrm>
              <a:off x="8001000" y="1285875"/>
              <a:ext cx="3619500" cy="4762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01000" y="1285875"/>
              <a:ext cx="36195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6166" y="1429702"/>
              <a:ext cx="1985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DSP ALLOCATION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91500" y="1857375"/>
              <a:ext cx="3238500" cy="904875"/>
            </a:xfrm>
            <a:prstGeom prst="roundRect">
              <a:avLst>
                <a:gd name="adj" fmla="val 631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29612" y="2017395"/>
              <a:ext cx="18175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Cyclone II Multipliers (EP2C35)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29612" y="2254091"/>
              <a:ext cx="21081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Total Embedded DSP: 35 9×9 Multipliers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29612" y="2463641"/>
              <a:ext cx="2246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D97706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MLP Demands 32 DSPs (91.4% capacity)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191500" y="2905125"/>
              <a:ext cx="3238500" cy="904875"/>
            </a:xfrm>
            <a:prstGeom prst="roundRect">
              <a:avLst>
                <a:gd name="adj" fmla="val 6316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29612" y="3065145"/>
              <a:ext cx="17076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Linear OLS Allocation Profile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29612" y="3301841"/>
              <a:ext cx="20673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Speed Core: 2 DSP units (5.7% budget)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29612" y="3511391"/>
              <a:ext cx="24460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Resource Core: 1 Shared DSP (2.8% budget)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91500" y="3952875"/>
              <a:ext cx="3238500" cy="1952625"/>
            </a:xfrm>
            <a:prstGeom prst="roundRect">
              <a:avLst>
                <a:gd name="adj" fmla="val 2927"/>
              </a:avLst>
            </a:pr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329422" y="4133374"/>
              <a:ext cx="15914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Pareto Optimal Decision: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29612" y="4431268"/>
              <a:ext cx="18829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Linear OLS captures diurnal physics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29612" y="4621768"/>
              <a:ext cx="19658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without exhausting on-chip multipliers.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334375" y="4905375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16A34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42407" y="5059680"/>
              <a:ext cx="7366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11.6×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18846" y="5427345"/>
              <a:ext cx="1983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Higher Accuracy-per-DSP vs MLP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37034" y="5653088"/>
              <a:ext cx="154743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 SRAM Blocks (Pure Shift Logic)</a:t>
              </a:r>
            </a:p>
          </p:txBody>
        </p:sp>
      </p:grpSp>
      <p:grpSp>
        <p:nvGrpSpPr>
          <p:cNvPr id="86" name="ftr_06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82" name="Rectangle 82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185797" y="6362224"/>
              <a:ext cx="48381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Linear OLS achieves 0.538°C MAE with 94% fewer multipliers than deep learning.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7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946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PRIOR ART &amp; LITERATURE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758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Hardware Benchmarks vs Published FPGA Linear Solvers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4279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Silicon area, DSP multiplier count, and streaming throughput comparison</a:t>
              </a:r>
            </a:p>
          </p:txBody>
        </p:sp>
      </p:grpSp>
      <p:grpSp>
        <p:nvGrpSpPr>
          <p:cNvPr id="58" name="prior_art_matrix"/>
          <p:cNvGrpSpPr/>
          <p:nvPr/>
        </p:nvGrpSpPr>
        <p:grpSpPr>
          <a:xfrm>
            <a:off x="571500" y="1285875"/>
            <a:ext cx="11049000" cy="2428875"/>
            <a:chOff x="571500" y="1285875"/>
            <a:chExt cx="11049000" cy="2428875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2428875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18749"/>
              <a:ext cx="5376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QUANTITATIVE COMPARISON WITH PUBLISHED FPGA REGRESSION SOLVERS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714500"/>
              <a:ext cx="10763250" cy="2286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862" y="1777841"/>
              <a:ext cx="9192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Reference / Work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66988" y="1777841"/>
              <a:ext cx="7403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Target Device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5738" y="1777841"/>
              <a:ext cx="9669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Arithmetic Format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76862" y="1777841"/>
              <a:ext cx="8253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Logic Footprint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738" y="1777841"/>
              <a:ext cx="8322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DSP Multipliers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96238" y="1777841"/>
              <a:ext cx="9375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Timing &amp; Latency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20238" y="1777841"/>
              <a:ext cx="93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Partition Strategy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4375" y="198120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862" y="2092166"/>
              <a:ext cx="1038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SBCCI '19 (Ferreira)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6988" y="2092166"/>
              <a:ext cx="11540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Cyclone IV EP4CE115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95738" y="2092166"/>
              <a:ext cx="10489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Q16.16 (32b)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76862" y="2092166"/>
              <a:ext cx="5254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9,158 LEs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2738" y="2092166"/>
              <a:ext cx="8471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473 Mults (89%)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96238" y="2092166"/>
              <a:ext cx="8912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 cycle (no Fmax)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20238" y="2092166"/>
              <a:ext cx="10252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On-chip batch solver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2314575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862" y="2425541"/>
              <a:ext cx="10265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Sensors '22 (Tactile)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66988" y="2425541"/>
              <a:ext cx="1020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Virtex-6 (xc6vlx240t)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5738" y="2425541"/>
              <a:ext cx="8486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IEEE Float (32b)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76862" y="2425541"/>
              <a:ext cx="10883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3,440 LUTs, 198 FFs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2738" y="2425541"/>
              <a:ext cx="6952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9 DSP Slices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6238" y="2425541"/>
              <a:ext cx="10848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40.25 ns (24.8 MSps)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20238" y="2425541"/>
              <a:ext cx="11761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Rolling OLS covariance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375" y="264795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862" y="2758916"/>
              <a:ext cx="8727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DCIS '11 (Royer)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66988" y="2758916"/>
              <a:ext cx="9454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Virtex-5 (XC5VLX)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95738" y="2758916"/>
              <a:ext cx="989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Custom Fixed-Point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76862" y="2758916"/>
              <a:ext cx="6476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66–89 Slices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738" y="2758916"/>
              <a:ext cx="66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5 DSP Slices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6238" y="2758916"/>
              <a:ext cx="7760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439 MHz Fmax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20238" y="2758916"/>
              <a:ext cx="837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Block OLS fitting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4375" y="2981325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EFF6FF"/>
            </a:solidFill>
            <a:ln w="11430">
              <a:solidFill>
                <a:srgbClr val="2563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4862" y="3092291"/>
              <a:ext cx="12401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This Work: Speed Core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6988" y="3092291"/>
              <a:ext cx="10000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Cyclone II EP2C35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95738" y="3092291"/>
              <a:ext cx="10620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Signed Q8.8 / Q2.14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76862" y="3092291"/>
              <a:ext cx="8118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412 LEs (1.2%)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2738" y="3092291"/>
              <a:ext cx="753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2 Mults (5.7%)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6238" y="3092291"/>
              <a:ext cx="11106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5 clk (II=1) | 142 MHz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0238" y="3092291"/>
              <a:ext cx="12714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Diurnal Edge Streaming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4375" y="331470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0FDF4"/>
            </a:solidFill>
            <a:ln w="11430">
              <a:solidFill>
                <a:srgbClr val="16A34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4862" y="3425666"/>
              <a:ext cx="14114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This Work: Resource Core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66988" y="3425666"/>
              <a:ext cx="968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Cyclone II EP2C35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95738" y="3425666"/>
              <a:ext cx="10373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Q8.8 / Q2.14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76862" y="3425666"/>
              <a:ext cx="8118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236 LEs (0.7%)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2738" y="3425666"/>
              <a:ext cx="11013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 Shared Mult (2.8%)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96238" y="3425666"/>
              <a:ext cx="1152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9 clk (II=10) | 118 MHz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20238" y="3425666"/>
              <a:ext cx="11208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Time-Muxed Edge IoT</a:t>
              </a:r>
            </a:p>
          </p:txBody>
        </p:sp>
      </p:grpSp>
      <p:grpSp>
        <p:nvGrpSpPr>
          <p:cNvPr id="66" name="card_superiority"/>
          <p:cNvGrpSpPr/>
          <p:nvPr/>
        </p:nvGrpSpPr>
        <p:grpSpPr>
          <a:xfrm>
            <a:off x="571500" y="3857625"/>
            <a:ext cx="5381625" cy="2190750"/>
            <a:chOff x="571500" y="3857625"/>
            <a:chExt cx="5381625" cy="2190750"/>
          </a:xfrm>
        </p:grpSpPr>
        <p:sp>
          <p:nvSpPr>
            <p:cNvPr id="59" name="Rectangle 59"/>
            <p:cNvSpPr/>
            <p:nvPr/>
          </p:nvSpPr>
          <p:spPr>
            <a:xfrm>
              <a:off x="571500" y="3857625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4288">
              <a:solidFill>
                <a:srgbClr val="16A34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71500" y="3857625"/>
              <a:ext cx="5381625" cy="323850"/>
            </a:xfrm>
            <a:prstGeom prst="roundRect">
              <a:avLst>
                <a:gd name="adj" fmla="val 23529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7238" y="3970020"/>
              <a:ext cx="34590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ENGINEERING ADVANTAGES (KEY DIFFERENTIATORS)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7238" y="4292441"/>
              <a:ext cx="3043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99.5% DSP Savings: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Uses 1–2 mults vs 473 in SBCCI '19.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7238" y="4673441"/>
              <a:ext cx="33662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II = 1 Streaming: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50 MSps @ 142.3 MHz F_max (0 bubble stalls).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7238" y="5054441"/>
              <a:ext cx="3041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Diurnal Anchor: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&gt;85% variance captured at zero logic cost.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7238" y="5435441"/>
              <a:ext cx="28441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DPI-C Verified: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100% bit-exact across 10,000+ vectors.</a:t>
              </a:r>
            </a:p>
          </p:txBody>
        </p:sp>
      </p:grpSp>
      <p:grpSp>
        <p:nvGrpSpPr>
          <p:cNvPr id="74" name="card_inferiority"/>
          <p:cNvGrpSpPr/>
          <p:nvPr/>
        </p:nvGrpSpPr>
        <p:grpSpPr>
          <a:xfrm>
            <a:off x="6238875" y="3857625"/>
            <a:ext cx="5381625" cy="2190750"/>
            <a:chOff x="6238875" y="3857625"/>
            <a:chExt cx="5381625" cy="2190750"/>
          </a:xfrm>
        </p:grpSpPr>
        <p:sp>
          <p:nvSpPr>
            <p:cNvPr id="67" name="Rectangle 67"/>
            <p:cNvSpPr/>
            <p:nvPr/>
          </p:nvSpPr>
          <p:spPr>
            <a:xfrm>
              <a:off x="6238875" y="3857625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4288">
              <a:solidFill>
                <a:srgbClr val="D9770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38875" y="3857625"/>
              <a:ext cx="5381625" cy="323850"/>
            </a:xfrm>
            <a:prstGeom prst="roundRect">
              <a:avLst>
                <a:gd name="adj" fmla="val 23529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24612" y="3970020"/>
              <a:ext cx="3395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ARCHITECTURAL BOUNDARIES &amp; DESIGN DECISIONS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4612" y="4292441"/>
              <a:ext cx="31445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Offline Partition: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Weights fitted in C++, reloadable via UART.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4612" y="4673441"/>
              <a:ext cx="31352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Bounded Range: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Q8.8 [-128°C, +128°C] tailored for sensors.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24612" y="5054441"/>
              <a:ext cx="30440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3-Tap Scope: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Local edge predictor vs generic matrix solver.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24612" y="5435441"/>
              <a:ext cx="30215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 xml:space="preserve">Target Silicon: </a:t>
              </a: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90nm Cyclone II; portable to modern ASIC.</a:t>
              </a:r>
            </a:p>
          </p:txBody>
        </p:sp>
      </p:grpSp>
      <p:grpSp>
        <p:nvGrpSpPr>
          <p:cNvPr id="79" name="ftr_07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75" name="Rectangle 75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185797" y="6362224"/>
              <a:ext cx="5032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Offline weight fitting reduces DSP footprint by 99.5% while sustaining II=1 throughput.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8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2524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FIXED-POINT QUANTIZATION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771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Precision Contract: Signed Q8.8 &amp; Q2.14 Bitfields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4783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Eliminating floating-point silicon overhead via two's complement integer arithmetic</a:t>
              </a:r>
            </a:p>
          </p:txBody>
        </p:sp>
      </p:grpSp>
      <p:grpSp>
        <p:nvGrpSpPr>
          <p:cNvPr id="43" name="bitfield_visual"/>
          <p:cNvGrpSpPr/>
          <p:nvPr/>
        </p:nvGrpSpPr>
        <p:grpSpPr>
          <a:xfrm>
            <a:off x="571500" y="1285875"/>
            <a:ext cx="7239000" cy="4762500"/>
            <a:chOff x="571500" y="1285875"/>
            <a:chExt cx="723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2450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REGISTER BITFIELD STRUCTURE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847374"/>
              <a:ext cx="3043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Temperature Telemetry: Signed Q8.8 (16 Bits)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0112" y="2090738"/>
              <a:ext cx="2725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Bit 15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8738" y="2090738"/>
              <a:ext cx="1218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67112" y="2090738"/>
              <a:ext cx="656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6238" y="2090738"/>
              <a:ext cx="656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96112" y="2090738"/>
              <a:ext cx="656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266950"/>
              <a:ext cx="428625" cy="400050"/>
            </a:xfrm>
            <a:prstGeom prst="rect">
              <a:avLst/>
            </a:prstGeom>
            <a:solidFill>
              <a:srgbClr val="FFFBEB"/>
            </a:solidFill>
            <a:ln w="14288">
              <a:solidFill>
                <a:srgbClr val="D9770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4094" y="2417445"/>
              <a:ext cx="94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90625" y="2266950"/>
              <a:ext cx="2714625" cy="400050"/>
            </a:xfrm>
            <a:prstGeom prst="rect">
              <a:avLst/>
            </a:prstGeom>
            <a:solidFill>
              <a:srgbClr val="EFF6FF"/>
            </a:solidFill>
            <a:ln w="14288">
              <a:solidFill>
                <a:srgbClr val="1E3A8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50049" y="2417445"/>
              <a:ext cx="1186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Integer: 7 Bits [14:8]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2219325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23812">
              <a:solidFill>
                <a:srgbClr val="DC2626"/>
              </a:solidFill>
              <a:custDash>
                <a:ds d="120000" sp="8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19670" y="2776538"/>
              <a:ext cx="5711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Radix Point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05250" y="2266950"/>
              <a:ext cx="3333750" cy="400050"/>
            </a:xfrm>
            <a:prstGeom prst="rect">
              <a:avLst/>
            </a:prstGeom>
            <a:solidFill>
              <a:srgbClr val="F8FAFC"/>
            </a:solidFill>
            <a:ln w="14288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26017" y="2417445"/>
              <a:ext cx="12922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Fractional: 8 Bits [7:0]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238" y="3035141"/>
              <a:ext cx="44683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Range: [-128.000 °C, +127.996 °C] | LSB = 2^-8 = 0.0039 °C (25.6x below sensor noise)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3466624"/>
              <a:ext cx="2592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Model Weights: Signed Q2.14 (16 Bits)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12" y="3709988"/>
              <a:ext cx="2725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Bit 15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8738" y="3709988"/>
              <a:ext cx="1218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9738" y="3709988"/>
              <a:ext cx="1218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6112" y="3709988"/>
              <a:ext cx="656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886200"/>
              <a:ext cx="428625" cy="400050"/>
            </a:xfrm>
            <a:prstGeom prst="rect">
              <a:avLst/>
            </a:prstGeom>
            <a:solidFill>
              <a:srgbClr val="FFFBEB"/>
            </a:solidFill>
            <a:ln w="14288">
              <a:solidFill>
                <a:srgbClr val="D9770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4094" y="4036695"/>
              <a:ext cx="94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90625" y="3886200"/>
              <a:ext cx="428625" cy="400050"/>
            </a:xfrm>
            <a:prstGeom prst="rect">
              <a:avLst/>
            </a:prstGeom>
            <a:solidFill>
              <a:srgbClr val="EFF6FF"/>
            </a:solidFill>
            <a:ln w="14288">
              <a:solidFill>
                <a:srgbClr val="1E3A8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46775" y="4044791"/>
              <a:ext cx="1068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I0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619250" y="3838575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23812">
              <a:solidFill>
                <a:srgbClr val="DC2626"/>
              </a:solidFill>
              <a:custDash>
                <a:ds d="120000" sp="80000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33670" y="4395788"/>
              <a:ext cx="5711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Radix Point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619250" y="3886200"/>
              <a:ext cx="5619750" cy="400050"/>
            </a:xfrm>
            <a:prstGeom prst="rect">
              <a:avLst/>
            </a:prstGeom>
            <a:solidFill>
              <a:srgbClr val="F8FAFC"/>
            </a:solidFill>
            <a:ln w="14288">
              <a:solidFill>
                <a:srgbClr val="4F46E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15084" y="4036695"/>
              <a:ext cx="14280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Fractional: 14 Bits [13:0]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238" y="4654391"/>
              <a:ext cx="32564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Range: [-2.0000, +1.9999] | Resolution LSB = 2^-14 = 0.000061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5000625"/>
              <a:ext cx="6477000" cy="809625"/>
            </a:xfrm>
            <a:prstGeom prst="roundRect">
              <a:avLst>
                <a:gd name="adj" fmla="val 705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0112" y="5149691"/>
              <a:ext cx="29882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Quantized Weight Constants (Verilog / DPI-C):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112" y="5359241"/>
              <a:ext cx="3175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COEF_A = 16'sh2FB6; // a = 0.7455 × 16384 = 12214 (Q2.14)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112" y="5568791"/>
              <a:ext cx="46302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COEF_B = 16'sh0096; // b = 0.0091 × 16384 = 150 (Q2.14) | COEF_C = 16'sh0000; (Q8.8)</a:t>
              </a:r>
            </a:p>
          </p:txBody>
        </p:sp>
      </p:grpSp>
      <p:grpSp>
        <p:nvGrpSpPr>
          <p:cNvPr id="68" name="quant_table"/>
          <p:cNvGrpSpPr/>
          <p:nvPr/>
        </p:nvGrpSpPr>
        <p:grpSpPr>
          <a:xfrm>
            <a:off x="8001000" y="1285875"/>
            <a:ext cx="3619500" cy="4762500"/>
            <a:chOff x="8001000" y="1285875"/>
            <a:chExt cx="3619500" cy="4762500"/>
          </a:xfrm>
        </p:grpSpPr>
        <p:sp>
          <p:nvSpPr>
            <p:cNvPr id="44" name="Rectangle 44"/>
            <p:cNvSpPr/>
            <p:nvPr/>
          </p:nvSpPr>
          <p:spPr>
            <a:xfrm>
              <a:off x="8001000" y="1285875"/>
              <a:ext cx="3619500" cy="4762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01000" y="1285875"/>
              <a:ext cx="36195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86166" y="1429702"/>
              <a:ext cx="18442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FORMAT SPECIFICATION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86547" y="1847374"/>
              <a:ext cx="1037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Signal Mapping: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2095500"/>
              <a:ext cx="3238500" cy="419100"/>
            </a:xfrm>
            <a:prstGeom prst="roundRect">
              <a:avLst>
                <a:gd name="adj" fmla="val 1363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29612" y="2187416"/>
              <a:ext cx="13965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T(t), T(t-24), T(t-21), T(t-3):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29612" y="2343864"/>
              <a:ext cx="160094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9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Q8.8 (16b) | Radix at bit 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191500" y="2571750"/>
              <a:ext cx="3238500" cy="419100"/>
            </a:xfrm>
            <a:prstGeom prst="roundRect">
              <a:avLst>
                <a:gd name="adj" fmla="val 1363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29612" y="2663666"/>
              <a:ext cx="9024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Coefficients a, b: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9612" y="2820114"/>
              <a:ext cx="172036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9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Q2.14 (16b) | Radix at bit 14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91500" y="3048000"/>
              <a:ext cx="3238500" cy="419100"/>
            </a:xfrm>
            <a:prstGeom prst="roundRect">
              <a:avLst>
                <a:gd name="adj" fmla="val 1363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329612" y="3139916"/>
              <a:ext cx="9727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Multipliers P1, P2: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29612" y="3296364"/>
              <a:ext cx="17800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9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Q11.22 (33b) | Radix at bit 22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191500" y="3524250"/>
              <a:ext cx="3238500" cy="419100"/>
            </a:xfrm>
            <a:prstGeom prst="roundRect">
              <a:avLst>
                <a:gd name="adj" fmla="val 1363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29612" y="3616166"/>
              <a:ext cx="967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Accumulator Bus: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612" y="3772614"/>
              <a:ext cx="187544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9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Signed Q13.22 (35b) | Shifted to Q13.8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191500" y="4048125"/>
              <a:ext cx="3238500" cy="1809750"/>
            </a:xfrm>
            <a:prstGeom prst="roundRect">
              <a:avLst>
                <a:gd name="adj" fmla="val 3158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29612" y="4208145"/>
              <a:ext cx="1454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Quantization Loss Audit: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9612" y="4459843"/>
              <a:ext cx="169515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Floating-Point MAE: 0.5378 °C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9612" y="4688443"/>
              <a:ext cx="186376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Fixed-Point Q8.8 MAE: 0.5381 °C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29612" y="4917043"/>
              <a:ext cx="22788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Precision Loss: 0.0003 °C (0.05% relative)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334375" y="51816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16A34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29612" y="5340191"/>
              <a:ext cx="13628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Negligible Precision Loss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29612" y="5557838"/>
              <a:ext cx="17467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Masked by physical sensor noise floor.</a:t>
              </a:r>
            </a:p>
          </p:txBody>
        </p:sp>
      </p:grpSp>
      <p:grpSp>
        <p:nvGrpSpPr>
          <p:cNvPr id="73" name="ftr_08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9" name="Rectangle 6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185797" y="6362224"/>
              <a:ext cx="6203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Strict Q8.8 and Q2.14 precision contracts eliminate floating-point logic while incurring only 0.0003°C error.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09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7617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DATAPATH WORDLENGTH EVOLUTION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613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Binary Radix Alignment &amp; Arithmetic Bit Growth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602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Tracking wordlength expansion through subtraction, multiplication, accumulation, and saturation</a:t>
              </a:r>
            </a:p>
          </p:txBody>
        </p:sp>
      </p:grpSp>
      <p:grpSp>
        <p:nvGrpSpPr>
          <p:cNvPr id="15" name="growth_s0"/>
          <p:cNvGrpSpPr/>
          <p:nvPr/>
        </p:nvGrpSpPr>
        <p:grpSpPr>
          <a:xfrm>
            <a:off x="571500" y="1285875"/>
            <a:ext cx="5429250" cy="1409700"/>
            <a:chOff x="571500" y="1285875"/>
            <a:chExt cx="5429250" cy="14097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418749"/>
              <a:ext cx="1358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Step 1: Input Capture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76750" y="136207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97190" y="1415891"/>
              <a:ext cx="11307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Q8.8 (16 Bits)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76212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0112" y="1874520"/>
              <a:ext cx="14903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T(t), T(t-24), T(t-3), T(t-21)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2244566"/>
              <a:ext cx="30197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Raw 16-bit signed telemetry samples latched into input stage.</a:t>
              </a:r>
            </a:p>
          </p:txBody>
        </p:sp>
      </p:grpSp>
      <p:grpSp>
        <p:nvGrpSpPr>
          <p:cNvPr id="24" name="growth_s1"/>
          <p:cNvGrpSpPr/>
          <p:nvPr/>
        </p:nvGrpSpPr>
        <p:grpSpPr>
          <a:xfrm>
            <a:off x="6238875" y="1285875"/>
            <a:ext cx="5429250" cy="1409700"/>
            <a:chOff x="6238875" y="1285875"/>
            <a:chExt cx="5429250" cy="1409700"/>
          </a:xfrm>
        </p:grpSpPr>
        <p:sp>
          <p:nvSpPr>
            <p:cNvPr id="16" name="Rectangle 16"/>
            <p:cNvSpPr/>
            <p:nvPr/>
          </p:nvSpPr>
          <p:spPr>
            <a:xfrm>
              <a:off x="6238875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38875" y="128587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4422" y="1418749"/>
              <a:ext cx="122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Step 2: Subtraction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144125" y="136207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64565" y="1415891"/>
              <a:ext cx="11307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Q9.8 (17 Bits)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29375" y="176212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7488" y="1874520"/>
              <a:ext cx="18674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D1 = T(t)-T(t-24), D2 = T(t)-T(t-3)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612" y="2244566"/>
              <a:ext cx="31174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+1 sign bit headroom prevents subtractor wrap on large swings.</a:t>
              </a:r>
            </a:p>
          </p:txBody>
        </p:sp>
      </p:grpSp>
      <p:grpSp>
        <p:nvGrpSpPr>
          <p:cNvPr id="33" name="growth_s2"/>
          <p:cNvGrpSpPr/>
          <p:nvPr/>
        </p:nvGrpSpPr>
        <p:grpSpPr>
          <a:xfrm>
            <a:off x="571500" y="2857500"/>
            <a:ext cx="5429250" cy="1409700"/>
            <a:chOff x="571500" y="2857500"/>
            <a:chExt cx="5429250" cy="1409700"/>
          </a:xfrm>
        </p:grpSpPr>
        <p:sp>
          <p:nvSpPr>
            <p:cNvPr id="25" name="Rectangle 25"/>
            <p:cNvSpPr/>
            <p:nvPr/>
          </p:nvSpPr>
          <p:spPr>
            <a:xfrm>
              <a:off x="571500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2857500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7047" y="2990374"/>
              <a:ext cx="1344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Step 3: Multiplication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6750" y="2933700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34845" y="2987516"/>
              <a:ext cx="12554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Q11.22 (33 Bits)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333750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0112" y="3446145"/>
              <a:ext cx="13651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P1 = a · D1, P2 = b · D2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238" y="3816191"/>
              <a:ext cx="2872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16b coeff × 17b diff generates 33-bit signed product terms.</a:t>
              </a:r>
            </a:p>
          </p:txBody>
        </p:sp>
      </p:grpSp>
      <p:grpSp>
        <p:nvGrpSpPr>
          <p:cNvPr id="42" name="growth_s3"/>
          <p:cNvGrpSpPr/>
          <p:nvPr/>
        </p:nvGrpSpPr>
        <p:grpSpPr>
          <a:xfrm>
            <a:off x="6238875" y="2857500"/>
            <a:ext cx="5429250" cy="1409700"/>
            <a:chOff x="6238875" y="2857500"/>
            <a:chExt cx="5429250" cy="1409700"/>
          </a:xfrm>
        </p:grpSpPr>
        <p:sp>
          <p:nvSpPr>
            <p:cNvPr id="34" name="Rectangle 34"/>
            <p:cNvSpPr/>
            <p:nvPr/>
          </p:nvSpPr>
          <p:spPr>
            <a:xfrm>
              <a:off x="6238875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38875" y="2857500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24422" y="2990374"/>
              <a:ext cx="1688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Step 4: Adder Tree &amp; Base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44125" y="2933700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02220" y="2987516"/>
              <a:ext cx="12554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Q13.22 (35 Bits)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29375" y="3333750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7488" y="3446145"/>
              <a:ext cx="2039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 = P1 + P2; base = (T21 + c) &lt;&lt; 14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4612" y="3816191"/>
              <a:ext cx="27379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Aligns diurnal anchor to radix 22; expands to 35-bit bus.</a:t>
              </a:r>
            </a:p>
          </p:txBody>
        </p:sp>
      </p:grpSp>
      <p:grpSp>
        <p:nvGrpSpPr>
          <p:cNvPr id="51" name="growth_s4"/>
          <p:cNvGrpSpPr/>
          <p:nvPr/>
        </p:nvGrpSpPr>
        <p:grpSpPr>
          <a:xfrm>
            <a:off x="571500" y="4429125"/>
            <a:ext cx="5429250" cy="1409700"/>
            <a:chOff x="571500" y="4429125"/>
            <a:chExt cx="5429250" cy="1409700"/>
          </a:xfrm>
        </p:grpSpPr>
        <p:sp>
          <p:nvSpPr>
            <p:cNvPr id="43" name="Rectangle 43"/>
            <p:cNvSpPr/>
            <p:nvPr/>
          </p:nvSpPr>
          <p:spPr>
            <a:xfrm>
              <a:off x="571500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1500" y="442912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7047" y="4561999"/>
              <a:ext cx="1643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Step 5: Full Accumulation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476750" y="450532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6018" y="4559141"/>
              <a:ext cx="11930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Q13.8 (35 Bits)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490537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0112" y="5017770"/>
              <a:ext cx="17590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 = P + base; S_sh = S &gt;&gt;&gt; 14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238" y="5387816"/>
              <a:ext cx="30192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Summation followed by arithmetic right shift 14 (floor scaling).</a:t>
              </a:r>
            </a:p>
          </p:txBody>
        </p:sp>
      </p:grpSp>
      <p:grpSp>
        <p:nvGrpSpPr>
          <p:cNvPr id="60" name="growth_s5"/>
          <p:cNvGrpSpPr/>
          <p:nvPr/>
        </p:nvGrpSpPr>
        <p:grpSpPr>
          <a:xfrm>
            <a:off x="6238875" y="4429125"/>
            <a:ext cx="5429250" cy="1409700"/>
            <a:chOff x="6238875" y="4429125"/>
            <a:chExt cx="5429250" cy="1409700"/>
          </a:xfrm>
        </p:grpSpPr>
        <p:sp>
          <p:nvSpPr>
            <p:cNvPr id="52" name="Rectangle 52"/>
            <p:cNvSpPr/>
            <p:nvPr/>
          </p:nvSpPr>
          <p:spPr>
            <a:xfrm>
              <a:off x="6238875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38875" y="4429125"/>
              <a:ext cx="542925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24422" y="4561999"/>
              <a:ext cx="1542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Step 6: Sat16 Saturation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144125" y="450532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264565" y="4559141"/>
              <a:ext cx="11307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Signed Q8.8 (16 Bits)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29375" y="490537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7488" y="5017770"/>
              <a:ext cx="19478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out = sat16(S_sh, -32768, +32767)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4612" y="5387816"/>
              <a:ext cx="26275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Clamps to [-128°C, +127.996°C]; prevents sign wrap.</a:t>
              </a:r>
            </a:p>
          </p:txBody>
        </p:sp>
      </p:grpSp>
      <p:grpSp>
        <p:nvGrpSpPr>
          <p:cNvPr id="65" name="ftr_09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1" name="Rectangle 61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185797" y="6362224"/>
              <a:ext cx="6232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Explicit bit-growth tracking guarantees zero unhandled arithmetic overflow before final saturation clamping.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0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181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ROUNDING ARCHITECTURE &amp; NOISE BOUND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867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Truncation Analysis: Floor Scaling vs Silicon Cost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3841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Bounded truncation error and silicon cost vs rounding alternatives</a:t>
              </a:r>
            </a:p>
          </p:txBody>
        </p:sp>
      </p:grpSp>
      <p:grpSp>
        <p:nvGrpSpPr>
          <p:cNvPr id="25" name="box_trunc_proof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287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ARITHMETIC RIGHT SHIFT (FLOOR SCALING)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847374"/>
              <a:ext cx="2894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Hardware Implementation (0 Logic Elements):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5000625" cy="40005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0112" y="2245995"/>
              <a:ext cx="34097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wire signed [34:0] s4_sh = s4_s &gt;&gt;&gt; 14; // Pure wire routing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656999"/>
              <a:ext cx="21016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Mathematical Error Bound Proof: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2903220"/>
              <a:ext cx="12507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Truncation Inequality: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547" y="3152299"/>
              <a:ext cx="2576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(x / 2^14) - 1 &lt; floor(x / 2^14) &lt;= (x / 2^14)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3474720"/>
              <a:ext cx="2582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Max Truncation Error in Temperature Domain: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3715702"/>
              <a:ext cx="2228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|ε_trunc| &lt; 2^-8 °C = 0.003906 °C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143375"/>
              <a:ext cx="5000625" cy="1666875"/>
            </a:xfrm>
            <a:prstGeom prst="roundRect">
              <a:avLst>
                <a:gd name="adj" fmla="val 3429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922" y="4323874"/>
              <a:ext cx="20876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Sensor Noise Floor Comparison: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112" y="4617720"/>
              <a:ext cx="22613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Hardware Thermistor Noise: ±0.1000 °C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874895"/>
              <a:ext cx="27929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Max Truncation Error: &lt; 0.0039 °C (25.6x smaller)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04875" y="51625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7620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0112" y="5332095"/>
              <a:ext cx="24459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Noise Floor Masks Truncation Completely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112" y="5549741"/>
              <a:ext cx="3196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Rounding adders add silicon cost with zero observable gain.</a:t>
              </a:r>
            </a:p>
          </p:txBody>
        </p:sp>
      </p:grpSp>
      <p:grpSp>
        <p:nvGrpSpPr>
          <p:cNvPr id="47" name="box_rounding_tradeoff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6" name="Rectangle 26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24041" y="1429702"/>
              <a:ext cx="304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COST OF ROUNDING MODES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422" y="1847374"/>
              <a:ext cx="2799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Synthesis Comparison (Cyclone II EP2C35):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29375" y="2114550"/>
              <a:ext cx="5000625" cy="495300"/>
            </a:xfrm>
            <a:prstGeom prst="roundRect">
              <a:avLst>
                <a:gd name="adj" fmla="val 11538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7488" y="2226945"/>
              <a:ext cx="2155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1. Floor Truncation (Selected in RTL)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7488" y="2406491"/>
              <a:ext cx="26893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 LEs | 0 Latency | Bias: -0.002°C (masked by sensor)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29375" y="2686050"/>
              <a:ext cx="5000625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7488" y="2798445"/>
              <a:ext cx="2214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Round-to-Nearest (+0.5 LSB Adder)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7488" y="2977991"/>
              <a:ext cx="24973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+35 LEs (35-bit adder) | +1 Cycle | Bias: ~0.000°C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29375" y="3257550"/>
              <a:ext cx="5000625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7488" y="3369945"/>
              <a:ext cx="17330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Convergent Round-to-Even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7488" y="3549491"/>
              <a:ext cx="2621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+48 LEs (adder + tie logic) | +1 Cycle | Bias: 0.000°C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29375" y="3905250"/>
              <a:ext cx="5000625" cy="1905000"/>
            </a:xfrm>
            <a:prstGeom prst="roundRect">
              <a:avLst>
                <a:gd name="adj" fmla="val 3000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7488" y="4074795"/>
              <a:ext cx="1649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Optimization Impact: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4340066"/>
              <a:ext cx="28325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Silicon: Saves 14.8% of Resource Core logic (no adder)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578191"/>
              <a:ext cx="23859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Timing: Saves 2.2 ns critical path (+15% slack)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488" y="4816316"/>
              <a:ext cx="2587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E3A8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DPI-C C++ Oracle Formula (ols_reference.hpp):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72250" y="5048250"/>
              <a:ext cx="4714875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0362" y="5159216"/>
              <a:ext cx="2322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 / 16384 - ((s &lt; 0 &amp;&amp; s % 16384 != 0) ? 1 : 0);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7488" y="5530691"/>
              <a:ext cx="2759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Bit-exact match verified across 10,000+ test vectors.</a:t>
              </a:r>
            </a:p>
          </p:txBody>
        </p:sp>
      </p:grpSp>
      <p:grpSp>
        <p:nvGrpSpPr>
          <p:cNvPr id="52" name="ftr_10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8" name="Rectangle 4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85797" y="6362224"/>
              <a:ext cx="6791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Floor truncation costs 0 LEs with error bounded under 0.0039°C, saving 14.8% silicon area without forecast penalty.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1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0578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DYNAMIC RANGE INTEGRITY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442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Saturation Arithmetic: Sat16 Transfer Function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6184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Preventing destructive two's complement sign-inversion wrap-around via signed 16-bit hardware clamping</a:t>
              </a:r>
            </a:p>
          </p:txBody>
        </p:sp>
      </p:grpSp>
      <p:grpSp>
        <p:nvGrpSpPr>
          <p:cNvPr id="44" name="sat_curve_graph"/>
          <p:cNvGrpSpPr/>
          <p:nvPr/>
        </p:nvGrpSpPr>
        <p:grpSpPr>
          <a:xfrm>
            <a:off x="571500" y="1285875"/>
            <a:ext cx="5715000" cy="4762500"/>
            <a:chOff x="571500" y="1285875"/>
            <a:chExt cx="5715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715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790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SAT16 TRANSFER FUNCTION: RESULT_OUT VS SHIFTED_ACCUM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5334000" cy="2809875"/>
            </a:xfrm>
            <a:prstGeom prst="roundRect">
              <a:avLst>
                <a:gd name="adj" fmla="val 203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" y="32861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72112" y="3367088"/>
              <a:ext cx="66662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Shifted Accum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42900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71862" y="2033588"/>
              <a:ext cx="5684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Output Q8.8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7750" y="2381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71738" y="2262188"/>
              <a:ext cx="11799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+127.996°C (16'sh7FFF)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47750" y="4191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71738" y="4252912"/>
              <a:ext cx="11159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-128.000°C (16'sh8000)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00025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62112" y="4575334"/>
              <a:ext cx="29458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-32768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85775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10112" y="4575334"/>
              <a:ext cx="3175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+32767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4191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000250" y="2381250"/>
              <a:ext cx="2857500" cy="1809750"/>
            </a:xfrm>
            <a:custGeom>
              <a:avLst/>
              <a:gdLst/>
              <a:ahLst/>
              <a:cxnLst/>
              <a:rect l="l" t="t" r="r" b="b"/>
              <a:pathLst>
                <a:path w="2857500" h="1809750">
                  <a:moveTo>
                    <a:pt x="0" y="1809750"/>
                  </a:move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857750" y="2381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952625" y="414337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810125" y="233362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390900" y="3248025"/>
              <a:ext cx="76200" cy="762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19488" y="3165634"/>
              <a:ext cx="2231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43000" y="3714750"/>
              <a:ext cx="809625" cy="323850"/>
            </a:xfrm>
            <a:prstGeom prst="roundRect">
              <a:avLst>
                <a:gd name="adj" fmla="val 11765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64271" y="3784759"/>
              <a:ext cx="55755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MIN CLAMP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460" y="3908584"/>
              <a:ext cx="42917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16'sh8000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00375" y="2619375"/>
              <a:ext cx="904875" cy="323850"/>
            </a:xfrm>
            <a:prstGeom prst="roundRect">
              <a:avLst>
                <a:gd name="adj" fmla="val 11765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18143" y="2689384"/>
              <a:ext cx="6598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LINEAR PASS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18910" y="2813209"/>
              <a:ext cx="65828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y = accum[15:0]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2571750"/>
              <a:ext cx="809625" cy="323850"/>
            </a:xfrm>
            <a:prstGeom prst="roundRect">
              <a:avLst>
                <a:gd name="adj" fmla="val 11765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07823" y="2641759"/>
              <a:ext cx="595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MAX CLAMP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75957" y="2765584"/>
              <a:ext cx="45893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16'sh7FFF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4810125"/>
              <a:ext cx="5334000" cy="1047750"/>
            </a:xfrm>
            <a:prstGeom prst="roundRect">
              <a:avLst>
                <a:gd name="adj" fmla="val 5455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0112" y="4940141"/>
              <a:ext cx="27536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Why Saturation is Mandatory in Two's Complement: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112" y="5149691"/>
              <a:ext cx="30697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Unclamped wrap: +128.01°C flips to -127.99°C sign overflow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112" y="5359241"/>
              <a:ext cx="25767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Actuator risk: Sign flip triggers false heating alarms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112" y="5578316"/>
              <a:ext cx="30752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Sat16 clamp: Bounds extreme spikes to max signed rails</a:t>
              </a:r>
            </a:p>
          </p:txBody>
        </p:sp>
      </p:grpSp>
      <p:grpSp>
        <p:nvGrpSpPr>
          <p:cNvPr id="67" name="sat_rtl_code"/>
          <p:cNvGrpSpPr/>
          <p:nvPr/>
        </p:nvGrpSpPr>
        <p:grpSpPr>
          <a:xfrm>
            <a:off x="6477000" y="1285875"/>
            <a:ext cx="5143500" cy="4762500"/>
            <a:chOff x="6477000" y="1285875"/>
            <a:chExt cx="5143500" cy="4762500"/>
          </a:xfrm>
        </p:grpSpPr>
        <p:sp>
          <p:nvSpPr>
            <p:cNvPr id="45" name="Rectangle 45"/>
            <p:cNvSpPr/>
            <p:nvPr/>
          </p:nvSpPr>
          <p:spPr>
            <a:xfrm>
              <a:off x="6477000" y="1285875"/>
              <a:ext cx="51435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285875"/>
              <a:ext cx="51435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62166" y="1429702"/>
              <a:ext cx="3503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SYNTHESIZABLE VERILOG SATURATION LOGIC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2547" y="1847374"/>
              <a:ext cx="3378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Production RTL Implementation (Speed &amp; Resource):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14550"/>
              <a:ext cx="4762500" cy="2190750"/>
            </a:xfrm>
            <a:prstGeom prst="roundRect">
              <a:avLst>
                <a:gd name="adj" fmla="val 26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5612" y="2235041"/>
              <a:ext cx="18104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// Arithmetic shift by 14 fractional bits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5612" y="2425541"/>
              <a:ext cx="20713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wire signed [34:0] s4_sh = s4_s &gt;&gt;&gt; 14;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05612" y="2673191"/>
              <a:ext cx="15722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// Sat16 signed 16-bit saturation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05612" y="2863691"/>
              <a:ext cx="1453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always @(posedge clk) begin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96112" y="3054191"/>
              <a:ext cx="12048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if (s4_sh &gt; 35'sd32767)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86612" y="3225641"/>
              <a:ext cx="21842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s5_out &lt;= 16'sh7FFF; // +127.996 °C clamp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96112" y="3416141"/>
              <a:ext cx="14870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else if (s4_sh &lt; -35'sd32768)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86612" y="3587591"/>
              <a:ext cx="2115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s5_out &lt;= 16'sh8000; // -128.000 °C clamp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96112" y="3778091"/>
              <a:ext cx="2243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else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86612" y="3949541"/>
              <a:ext cx="18811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s5_out &lt;= s4_sh[15:0]; // Normal pass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05612" y="4120991"/>
              <a:ext cx="1937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67500" y="4457700"/>
              <a:ext cx="4762500" cy="1400175"/>
            </a:xfrm>
            <a:prstGeom prst="roundRect">
              <a:avLst>
                <a:gd name="adj" fmla="val 4082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05612" y="4617720"/>
              <a:ext cx="2470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DPI-C Golden Model Verification Contract: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05612" y="4863941"/>
              <a:ext cx="3231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C++ oracle executes identical signed check (ols_reference.hpp):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48488" y="5073491"/>
              <a:ext cx="24637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q &gt; 32767 ? 32767 : q &lt; -32768 ? -32768 : int(q);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05612" y="5321141"/>
              <a:ext cx="3122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Stress tests inject extreme inputs (-50°C and +120°C swings).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05612" y="5578316"/>
              <a:ext cx="3332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mismatches: 100% bit-exact across all saturation corners!</a:t>
              </a:r>
            </a:p>
          </p:txBody>
        </p:sp>
      </p:grpSp>
      <p:grpSp>
        <p:nvGrpSpPr>
          <p:cNvPr id="72" name="ftr_11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8" name="Rectangle 6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185797" y="6362224"/>
              <a:ext cx="58582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Hardware sat16 saturation eliminates destructive sign-inversion wrap-around across extreme inputs.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2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0319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RTL MICRO-ARCHITECTURE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20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Implementations: Speed Core vs Resource Core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3958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Pipelined streaming parallelism vs time-multiplexed hardware reuse</a:t>
              </a:r>
            </a:p>
          </p:txBody>
        </p:sp>
      </p:grpSp>
      <p:grpSp>
        <p:nvGrpSpPr>
          <p:cNvPr id="26" name="arch_speed_card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711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A: SPEED-OPTIMIZED STREAMING PIPELINE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847374"/>
              <a:ext cx="1840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Datapath Micro-Architecture: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2074545"/>
              <a:ext cx="2647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Register Stages (S0 capture to S5 saturation)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2284095"/>
              <a:ext cx="2830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Multipliers: 2 parallel 17×16 signed DSP units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238" y="2493645"/>
              <a:ext cx="28267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History Buffer: 25-stage shift register with wire taps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847499"/>
              <a:ext cx="1907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Throughput &amp; Timing Metrics: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3074670"/>
              <a:ext cx="25680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Throughput: II = 1 (1 sample/clock, 0 bubbles)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3284220"/>
              <a:ext cx="2427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Latency: 5 clock cycles (100 ns @ 50 MHz)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238" y="3493770"/>
              <a:ext cx="26597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Max Frequency: 142.3 MHz F_max (2.8x slack)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905250"/>
              <a:ext cx="5000625" cy="1905000"/>
            </a:xfrm>
            <a:prstGeom prst="roundRect">
              <a:avLst>
                <a:gd name="adj" fmla="val 30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922" y="4066699"/>
              <a:ext cx="1776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Cyclone II Profile (EP2C35):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112" y="4331970"/>
              <a:ext cx="25766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Logic Elements: 412 LEs (1.2% total capacity)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570095"/>
              <a:ext cx="21831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Multipliers: 2 DSP units (4 9-bit blocks)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4808220"/>
              <a:ext cx="24723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Throughput: 50.0 MSamples/sec @ 50 MHz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04875" y="50958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0112" y="5255895"/>
              <a:ext cx="21507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Target Domain: High-Rate Streaming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112" y="5474970"/>
              <a:ext cx="2781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Multi-channel streams, radar, and lidar edge nodes.</a:t>
              </a:r>
            </a:p>
          </p:txBody>
        </p:sp>
      </p:grpSp>
      <p:grpSp>
        <p:nvGrpSpPr>
          <p:cNvPr id="46" name="arch_res_card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7" name="Rectangle 27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24041" y="1429702"/>
              <a:ext cx="37361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B: RESOURCE-OPTIMIZED TIME-MUXED FSM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422" y="1847374"/>
              <a:ext cx="1942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Sequential Micro-Architecture: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612" y="2074545"/>
              <a:ext cx="1990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10-State Sequential FSM controller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612" y="2284095"/>
              <a:ext cx="26695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Single Multiplier: 1 17×16 DSP time-multiplexed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4612" y="2493645"/>
              <a:ext cx="23543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Reused ALU: Serial differences and sums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4422" y="2847499"/>
              <a:ext cx="1907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Throughput &amp; Timing Metrics: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4612" y="3074670"/>
              <a:ext cx="24383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Throughput: II = 10 clock cycles per sample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612" y="3284220"/>
              <a:ext cx="2427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Latency: 9 clock cycles (180 ns @ 50 MHz)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4612" y="3493770"/>
              <a:ext cx="26597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Max Frequency: 118.5 MHz F_max (2.4x slack)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29375" y="3905250"/>
              <a:ext cx="5000625" cy="1905000"/>
            </a:xfrm>
            <a:prstGeom prst="roundRect">
              <a:avLst>
                <a:gd name="adj" fmla="val 3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7297" y="4066699"/>
              <a:ext cx="1776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Cyclone II Profile (EP2C35):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7488" y="4331970"/>
              <a:ext cx="29424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Logic Elements: 236 LEs (-42.7% area reduction!)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4570095"/>
              <a:ext cx="2735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Multipliers: 1 DSP unit (-50% silicon footprint)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808220"/>
              <a:ext cx="2404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Throughput: 5.0 MSamples/sec @ 50 MHz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572250" y="50958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7488" y="5255895"/>
              <a:ext cx="2154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Target Domain: Low-Power Edge IoT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7488" y="5474970"/>
              <a:ext cx="31048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Battery-powered weather pods and remote sensor nodes.</a:t>
              </a:r>
            </a:p>
          </p:txBody>
        </p:sp>
      </p:grpSp>
      <p:grpSp>
        <p:nvGrpSpPr>
          <p:cNvPr id="51" name="ftr_12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7" name="Rectangle 4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85797" y="6362224"/>
              <a:ext cx="6552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architectures expose Pareto trade-offs: Speed maximizes throughput (II=1), Resource cuts area by 42.7%.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3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488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PIPELINED MICRO-ARCHITECTURE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76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Speed Core: 6-Stage Pipelined Datapath Schematic (II = 1)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37515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Dedicated registers, dual DSP units, and zero-bubble streaming</a:t>
              </a:r>
            </a:p>
          </p:txBody>
        </p:sp>
      </p:grpSp>
      <p:grpSp>
        <p:nvGrpSpPr>
          <p:cNvPr id="81" name="rtl_schematic_box"/>
          <p:cNvGrpSpPr/>
          <p:nvPr/>
        </p:nvGrpSpPr>
        <p:grpSpPr>
          <a:xfrm>
            <a:off x="571500" y="1285875"/>
            <a:ext cx="11049000" cy="4762500"/>
            <a:chOff x="571500" y="1285875"/>
            <a:chExt cx="1104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811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6-STAGE REGISTER PIPELINE DATAPATH (temp_predictor_speed.v)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011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922" y="2228374"/>
              <a:ext cx="788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Tap Capture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0112" y="2501741"/>
              <a:ext cx="876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25-Sample Buffer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0112" y="2720816"/>
              <a:ext cx="9135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T(t), T24, T3, T21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2958941"/>
              <a:ext cx="837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Bus: 16b (Q8.8)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3138" y="3863816"/>
              <a:ext cx="819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[D | Q] REG S0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15049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717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717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0986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9672" y="2228374"/>
              <a:ext cx="869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ALUs [-]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09862" y="2501741"/>
              <a:ext cx="7672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D1 = T(t) - T24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09862" y="2720816"/>
              <a:ext cx="7032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D2 = T(t) - T3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09862" y="2958941"/>
              <a:ext cx="837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Bus: 17b (Q9.8)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670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42888" y="3863816"/>
              <a:ext cx="819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[D | Q] REG S1</a:t>
              </a:r>
            </a:p>
          </p:txBody>
        </p:sp>
        <p:sp>
          <p:nvSpPr>
            <p:cNvPr id="29" name="Polygon 29"/>
            <p:cNvSpPr/>
            <p:nvPr/>
          </p:nvSpPr>
          <p:spPr>
            <a:xfrm>
              <a:off x="33147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1961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422" y="2228374"/>
              <a:ext cx="903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DSPs [×]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612" y="2501741"/>
              <a:ext cx="5921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P1 = a · D1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612" y="2720816"/>
              <a:ext cx="5921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P2 = b · D2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612" y="2958941"/>
              <a:ext cx="963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Bus: 33b (Q11.22)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767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2638" y="3863816"/>
              <a:ext cx="819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[D | Q] REG S2</a:t>
              </a:r>
            </a:p>
          </p:txBody>
        </p:sp>
        <p:sp>
          <p:nvSpPr>
            <p:cNvPr id="39" name="Polygon 39"/>
            <p:cNvSpPr/>
            <p:nvPr/>
          </p:nvSpPr>
          <p:spPr>
            <a:xfrm>
              <a:off x="51244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2936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29172" y="2228374"/>
              <a:ext cx="919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Adder Tree [+]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29362" y="2501741"/>
              <a:ext cx="6385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 = P1 + P2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29362" y="2720816"/>
              <a:ext cx="782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Pass Base Reg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29362" y="2958941"/>
              <a:ext cx="963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Bus: 34b (Q12.22)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2388" y="3863816"/>
              <a:ext cx="819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[D | Q] REG S3</a:t>
              </a:r>
            </a:p>
          </p:txBody>
        </p:sp>
        <p:sp>
          <p:nvSpPr>
            <p:cNvPr id="49" name="Polygon 49"/>
            <p:cNvSpPr/>
            <p:nvPr/>
          </p:nvSpPr>
          <p:spPr>
            <a:xfrm>
              <a:off x="69342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010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3911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38922" y="2228374"/>
              <a:ext cx="10230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Accumulator [+]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39112" y="2501741"/>
              <a:ext cx="678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 = P + Base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39112" y="2720816"/>
              <a:ext cx="9746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Aligned to Radix 22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39112" y="2958941"/>
              <a:ext cx="963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Bus: 35b (Q13.22)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0962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72138" y="3863816"/>
              <a:ext cx="819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[D | Q] REG S4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87439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8107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107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48862" y="1950720"/>
              <a:ext cx="5572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STAGE 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48672" y="2228374"/>
              <a:ext cx="835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Shift &amp; Sat16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48862" y="2501741"/>
              <a:ext cx="8615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S_sh = S &gt;&gt;&gt; 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48862" y="2720816"/>
              <a:ext cx="10407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sat16 [-128..+128°C]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48862" y="2958941"/>
              <a:ext cx="837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Bus: 16b (Q8.8)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9060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130124" y="3863816"/>
              <a:ext cx="923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[D | Q] OUT REG</a:t>
              </a:r>
            </a:p>
          </p:txBody>
        </p:sp>
        <p:sp>
          <p:nvSpPr>
            <p:cNvPr id="69" name="Polygon 69"/>
            <p:cNvSpPr/>
            <p:nvPr/>
          </p:nvSpPr>
          <p:spPr>
            <a:xfrm>
              <a:off x="105537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23336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414337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59531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776287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95726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62000" y="4524375"/>
              <a:ext cx="10620375" cy="1333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7738" y="4684395"/>
              <a:ext cx="2306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Pipeline Timing &amp; Throughput Integrity: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7738" y="4940141"/>
              <a:ext cx="34206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Throughput: II = 1 (1 sample/clock, 50 MSps @ 50 MHz, 0 bubbles)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7738" y="5159216"/>
              <a:ext cx="33098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Timing: Stage 2 multiplier critical path (6.4 ns, 142.3 MHz F_max)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7738" y="5378291"/>
              <a:ext cx="30125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Latency: L = 5 cycles (100 ns @ 50 MHz from accept edge)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7738" y="5606891"/>
              <a:ext cx="36185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Saturation: Stage 5 clamps shifted accumulator to [-128°C, +128°C]</a:t>
              </a:r>
            </a:p>
          </p:txBody>
        </p:sp>
      </p:grpSp>
      <p:grpSp>
        <p:nvGrpSpPr>
          <p:cNvPr id="86" name="ftr_13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82" name="Rectangle 82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185797" y="6362224"/>
              <a:ext cx="6459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6-stage pipelining isolates arithmetic operations to achieve 142.3 MHz F_max and sustained II = 1 throughput.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4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847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DIGITAL SIGNAL TIMING &amp; HANDSHAKE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7176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Speed Core: Cycle-Accurate Timing Waveforms &amp; Handshake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4516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Cycle-by-cycle register pipeline propagation and deterministic 5-cycle latency</a:t>
              </a:r>
            </a:p>
          </p:txBody>
        </p:sp>
      </p:grpSp>
      <p:grpSp>
        <p:nvGrpSpPr>
          <p:cNvPr id="58" name="timing_waveform_box"/>
          <p:cNvGrpSpPr/>
          <p:nvPr/>
        </p:nvGrpSpPr>
        <p:grpSpPr>
          <a:xfrm>
            <a:off x="571500" y="1285875"/>
            <a:ext cx="11049000" cy="4762500"/>
            <a:chOff x="571500" y="1285875"/>
            <a:chExt cx="1104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034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DIGITAL SIGNAL TIMING WAVEFORM (CYCLE T0 TO T7)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10668000" cy="2857500"/>
            </a:xfrm>
            <a:prstGeom prst="roundRect">
              <a:avLst>
                <a:gd name="adj" fmla="val 2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05112" y="1958816"/>
              <a:ext cx="6970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T0 [IN]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00488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95862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1238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6612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81988" y="1958816"/>
              <a:ext cx="825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Cycle T5 [OUT]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77362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72738" y="1958816"/>
              <a:ext cx="4721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Cycle T7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28600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0" name="Line 20"/>
            <p:cNvSpPr/>
            <p:nvPr/>
          </p:nvSpPr>
          <p:spPr>
            <a:xfrm>
              <a:off x="338137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1" name="Line 21"/>
            <p:cNvSpPr/>
            <p:nvPr/>
          </p:nvSpPr>
          <p:spPr>
            <a:xfrm>
              <a:off x="447675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2" name="Line 22"/>
            <p:cNvSpPr/>
            <p:nvPr/>
          </p:nvSpPr>
          <p:spPr>
            <a:xfrm>
              <a:off x="557212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3" name="Line 23"/>
            <p:cNvSpPr/>
            <p:nvPr/>
          </p:nvSpPr>
          <p:spPr>
            <a:xfrm>
              <a:off x="666750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4" name="Line 24"/>
            <p:cNvSpPr/>
            <p:nvPr/>
          </p:nvSpPr>
          <p:spPr>
            <a:xfrm>
              <a:off x="776287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4288">
              <a:solidFill>
                <a:srgbClr val="16A34A"/>
              </a:solidFill>
              <a:prstDash val="sysDot"/>
            </a:ln>
          </p:spPr>
        </p:sp>
        <p:sp>
          <p:nvSpPr>
            <p:cNvPr id="25" name="Line 25"/>
            <p:cNvSpPr/>
            <p:nvPr/>
          </p:nvSpPr>
          <p:spPr>
            <a:xfrm>
              <a:off x="885825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6" name="Line 26"/>
            <p:cNvSpPr/>
            <p:nvPr/>
          </p:nvSpPr>
          <p:spPr>
            <a:xfrm>
              <a:off x="995362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7738" y="2284095"/>
              <a:ext cx="6886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clk (50MHz)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286000" y="2238375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542925" y="190500"/>
                  </a:lnTo>
                  <a:lnTo>
                    <a:pt x="542925" y="0"/>
                  </a:lnTo>
                  <a:lnTo>
                    <a:pt x="1095375" y="0"/>
                  </a:lnTo>
                  <a:lnTo>
                    <a:pt x="1095375" y="190500"/>
                  </a:lnTo>
                  <a:lnTo>
                    <a:pt x="1638300" y="190500"/>
                  </a:lnTo>
                  <a:lnTo>
                    <a:pt x="1638300" y="0"/>
                  </a:lnTo>
                  <a:lnTo>
                    <a:pt x="2190750" y="0"/>
                  </a:lnTo>
                  <a:lnTo>
                    <a:pt x="2190750" y="190500"/>
                  </a:lnTo>
                  <a:lnTo>
                    <a:pt x="2733675" y="190500"/>
                  </a:lnTo>
                  <a:lnTo>
                    <a:pt x="2733675" y="0"/>
                  </a:lnTo>
                  <a:lnTo>
                    <a:pt x="3286125" y="0"/>
                  </a:lnTo>
                  <a:lnTo>
                    <a:pt x="3286125" y="190500"/>
                  </a:lnTo>
                  <a:lnTo>
                    <a:pt x="3829050" y="190500"/>
                  </a:lnTo>
                  <a:lnTo>
                    <a:pt x="3829050" y="0"/>
                  </a:lnTo>
                  <a:lnTo>
                    <a:pt x="4381500" y="0"/>
                  </a:lnTo>
                  <a:lnTo>
                    <a:pt x="4381500" y="190500"/>
                  </a:lnTo>
                  <a:lnTo>
                    <a:pt x="4924425" y="190500"/>
                  </a:lnTo>
                  <a:lnTo>
                    <a:pt x="4924425" y="0"/>
                  </a:lnTo>
                  <a:lnTo>
                    <a:pt x="5476875" y="0"/>
                  </a:lnTo>
                  <a:lnTo>
                    <a:pt x="5476875" y="190500"/>
                  </a:lnTo>
                  <a:lnTo>
                    <a:pt x="6019800" y="190500"/>
                  </a:lnTo>
                  <a:lnTo>
                    <a:pt x="6019800" y="0"/>
                  </a:lnTo>
                  <a:lnTo>
                    <a:pt x="6572250" y="0"/>
                  </a:lnTo>
                  <a:lnTo>
                    <a:pt x="6572250" y="190500"/>
                  </a:lnTo>
                  <a:lnTo>
                    <a:pt x="7115175" y="190500"/>
                  </a:lnTo>
                  <a:lnTo>
                    <a:pt x="7115175" y="0"/>
                  </a:lnTo>
                  <a:lnTo>
                    <a:pt x="7667625" y="0"/>
                  </a:lnTo>
                  <a:lnTo>
                    <a:pt x="7667625" y="190500"/>
                  </a:lnTo>
                  <a:lnTo>
                    <a:pt x="8210550" y="190500"/>
                  </a:lnTo>
                  <a:lnTo>
                    <a:pt x="8210550" y="0"/>
                  </a:ln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1E3A8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7738" y="2712720"/>
              <a:ext cx="770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sample_valid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2286000" y="2667000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95250" y="190500"/>
                  </a:lnTo>
                  <a:lnTo>
                    <a:pt x="142875" y="0"/>
                  </a:lnTo>
                  <a:lnTo>
                    <a:pt x="1047750" y="0"/>
                  </a:lnTo>
                  <a:lnTo>
                    <a:pt x="1095375" y="190500"/>
                  </a:lnTo>
                  <a:lnTo>
                    <a:pt x="8763000" y="19050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7738" y="3141345"/>
              <a:ext cx="7972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temp_in[15:0]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2333625" y="3190875"/>
              <a:ext cx="1047750" cy="190500"/>
            </a:xfrm>
            <a:custGeom>
              <a:avLst/>
              <a:gdLst/>
              <a:ahLst/>
              <a:cxnLst/>
              <a:rect l="l" t="t" r="r" b="b"/>
              <a:pathLst>
                <a:path w="1047750" h="190500">
                  <a:moveTo>
                    <a:pt x="95250" y="0"/>
                  </a:moveTo>
                  <a:lnTo>
                    <a:pt x="952500" y="0"/>
                  </a:lnTo>
                  <a:lnTo>
                    <a:pt x="1047750" y="95250"/>
                  </a:lnTo>
                  <a:lnTo>
                    <a:pt x="952500" y="19050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82298" y="3225641"/>
              <a:ext cx="5504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T(t) [Q8.8]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381375" y="3286125"/>
              <a:ext cx="7667625" cy="9525"/>
            </a:xfrm>
            <a:custGeom>
              <a:avLst/>
              <a:gdLst/>
              <a:ahLst/>
              <a:cxnLst/>
              <a:rect l="l" t="t" r="r" b="b"/>
              <a:pathLst>
                <a:path w="7667625" h="9525">
                  <a:moveTo>
                    <a:pt x="0" y="0"/>
                  </a:moveTo>
                  <a:lnTo>
                    <a:pt x="7667625" y="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7738" y="3617595"/>
              <a:ext cx="7909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Pipeline Flow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42887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59462" y="3643312"/>
              <a:ext cx="3960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S0: Cap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52425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67423" y="3643312"/>
              <a:ext cx="3709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S1: Diff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1962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42737" y="3643312"/>
              <a:ext cx="41102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S2: Mult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31166" y="3643312"/>
              <a:ext cx="42491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S3: Sum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1037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43796" y="3643312"/>
              <a:ext cx="3904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S4: Acc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0575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53623" y="3643312"/>
              <a:ext cx="3615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S5: Sat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738" y="4046220"/>
              <a:ext cx="8244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forecast_valid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2286000" y="4000500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5572125" y="190500"/>
                  </a:lnTo>
                  <a:lnTo>
                    <a:pt x="5619750" y="0"/>
                  </a:lnTo>
                  <a:lnTo>
                    <a:pt x="6477000" y="0"/>
                  </a:lnTo>
                  <a:lnTo>
                    <a:pt x="6524625" y="190500"/>
                  </a:lnTo>
                  <a:lnTo>
                    <a:pt x="8763000" y="19050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7738" y="4427220"/>
              <a:ext cx="10598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forecast_out[15:0]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7810500" y="4429125"/>
              <a:ext cx="1000125" cy="190500"/>
            </a:xfrm>
            <a:custGeom>
              <a:avLst/>
              <a:gdLst/>
              <a:ahLst/>
              <a:cxnLst/>
              <a:rect l="l" t="t" r="r" b="b"/>
              <a:pathLst>
                <a:path w="1000125" h="190500">
                  <a:moveTo>
                    <a:pt x="95250" y="0"/>
                  </a:moveTo>
                  <a:lnTo>
                    <a:pt x="904875" y="0"/>
                  </a:lnTo>
                  <a:lnTo>
                    <a:pt x="1000125" y="95250"/>
                  </a:lnTo>
                  <a:lnTo>
                    <a:pt x="904875" y="19050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32760" y="4463891"/>
              <a:ext cx="5460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T_hat(t+3)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4857750"/>
              <a:ext cx="10668000" cy="1000125"/>
            </a:xfrm>
            <a:prstGeom prst="roundRect">
              <a:avLst>
                <a:gd name="adj" fmla="val 5714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7738" y="4998720"/>
              <a:ext cx="235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Pipeline Latency &amp; Handshake Contract: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738" y="5217795"/>
              <a:ext cx="44303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Deterministic Latency: Exactly 5 clock cycles (100 ns at 50.0 MHz system clock).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738" y="5427345"/>
              <a:ext cx="4889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Streaming Throughput: II = 1 (1 sample/clock, 50 MSps) with zero backpressure bubbles.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738" y="5636895"/>
              <a:ext cx="4673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Formal Verification: SV assertion `assert (##5 forecast_valid)` verified bit-exact.</a:t>
              </a:r>
            </a:p>
          </p:txBody>
        </p:sp>
      </p:grpSp>
      <p:grpSp>
        <p:nvGrpSpPr>
          <p:cNvPr id="63" name="ftr_14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9" name="Rectangle 5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185797" y="6362224"/>
              <a:ext cx="6363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Cycle-accurate timing waveform proves deterministic 5-cycle latency with zero bubble or backpressure stalls.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5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3208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SEQUENTIAL FSM CONTROLLER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7001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Resource Core: 10-State FSM &amp; Multiplier Time-Multiplexing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306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Time-multiplexing a single 17x16 multiplier across two operations to save 50% DSP silicon</a:t>
              </a:r>
            </a:p>
          </p:txBody>
        </p:sp>
      </p:grpSp>
      <p:grpSp>
        <p:nvGrpSpPr>
          <p:cNvPr id="48" name="fsm_bubble_diagram"/>
          <p:cNvGrpSpPr/>
          <p:nvPr/>
        </p:nvGrpSpPr>
        <p:grpSpPr>
          <a:xfrm>
            <a:off x="571500" y="1285875"/>
            <a:ext cx="6667500" cy="4762500"/>
            <a:chOff x="571500" y="1285875"/>
            <a:chExt cx="6667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66675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66675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578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10-STATE TIME-MULTIPLEXED SEQUENTIAL FSM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1490" y="2243138"/>
              <a:ext cx="2525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IDLE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952625" y="2000250"/>
              <a:ext cx="571500" cy="57150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23165" y="2243138"/>
              <a:ext cx="430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S0: CAP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14325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84122" y="2243138"/>
              <a:ext cx="4897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S1: SUB1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333875" y="2000250"/>
              <a:ext cx="571500" cy="571500"/>
            </a:xfrm>
            <a:prstGeom prst="ellipse">
              <a:avLst/>
            </a:prstGeom>
            <a:solidFill>
              <a:srgbClr val="FFFBEB"/>
            </a:solidFill>
            <a:ln w="19050">
              <a:solidFill>
                <a:srgbClr val="D9770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9255" y="2243138"/>
              <a:ext cx="5607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S2: MULT1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52450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65372" y="2243138"/>
              <a:ext cx="4897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S3: SUB2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333500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524125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714750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905375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810250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524500" y="3143250"/>
              <a:ext cx="571500" cy="571500"/>
            </a:xfrm>
            <a:prstGeom prst="ellipse">
              <a:avLst/>
            </a:prstGeom>
            <a:solidFill>
              <a:srgbClr val="FFFBEB"/>
            </a:solidFill>
            <a:ln w="19050">
              <a:solidFill>
                <a:srgbClr val="D9770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29880" y="3386138"/>
              <a:ext cx="5607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S4: MULT2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333875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98505" y="3386138"/>
              <a:ext cx="442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S5: SUM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143250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10845" y="3386138"/>
              <a:ext cx="43630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S6: ACC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952625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69772" y="3386138"/>
              <a:ext cx="5372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S7: SAT16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3143250"/>
              <a:ext cx="571500" cy="571500"/>
            </a:xfrm>
            <a:prstGeom prst="ellipse">
              <a:avLst/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1052" y="3386138"/>
              <a:ext cx="5133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S8: DONE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905375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714750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2524125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333500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47750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6A34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7238" y="2803684"/>
              <a:ext cx="41135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valid_out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4000500"/>
              <a:ext cx="6286500" cy="1857375"/>
            </a:xfrm>
            <a:prstGeom prst="roundRect">
              <a:avLst>
                <a:gd name="adj" fmla="val 307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0112" y="4141470"/>
              <a:ext cx="154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FSM Sequential Schedule: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112" y="4387691"/>
              <a:ext cx="25845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S0: Latch sample; push into 25-stage history buffer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0112" y="4625816"/>
              <a:ext cx="2862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S1–S2: D1 = T(t)-T24; shared mult computes P1 = a·D1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0112" y="4863941"/>
              <a:ext cx="2800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S3–S4: D2 = T(t)-T3; shared mult computes P2 = b·D2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0112" y="5102066"/>
              <a:ext cx="33733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S5–S6: Reused ALU sums P1+P2, adds anchor T(t-21) and bias 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0112" y="5340191"/>
              <a:ext cx="28207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S7–S8: Shift &gt;&gt;&gt; 14, clamp sat16, assert forecast_valid</a:t>
              </a:r>
            </a:p>
          </p:txBody>
        </p:sp>
      </p:grpSp>
      <p:grpSp>
        <p:nvGrpSpPr>
          <p:cNvPr id="68" name="shared_mult_mux"/>
          <p:cNvGrpSpPr/>
          <p:nvPr/>
        </p:nvGrpSpPr>
        <p:grpSpPr>
          <a:xfrm>
            <a:off x="7429500" y="1285875"/>
            <a:ext cx="4191000" cy="4762500"/>
            <a:chOff x="7429500" y="1285875"/>
            <a:chExt cx="4191000" cy="4762500"/>
          </a:xfrm>
        </p:grpSpPr>
        <p:sp>
          <p:nvSpPr>
            <p:cNvPr id="49" name="Rectangle 49"/>
            <p:cNvSpPr/>
            <p:nvPr/>
          </p:nvSpPr>
          <p:spPr>
            <a:xfrm>
              <a:off x="7429500" y="1285875"/>
              <a:ext cx="4191000" cy="4762500"/>
            </a:xfrm>
            <a:prstGeom prst="roundRect">
              <a:avLst>
                <a:gd name="adj" fmla="val 181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429500" y="1285875"/>
              <a:ext cx="4191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14666" y="1429702"/>
              <a:ext cx="2856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MULTIPLIER SHARING ARCHITECTURE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15047" y="1847374"/>
              <a:ext cx="1876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Operand Multiplexer Routing: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0" y="2143125"/>
              <a:ext cx="3810000" cy="142875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58112" y="2284095"/>
              <a:ext cx="28313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2:1 Operand Mux Logic (ols_shared_datapath.v):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762875" y="2552700"/>
              <a:ext cx="3524250" cy="400050"/>
            </a:xfrm>
            <a:prstGeom prst="roundRect">
              <a:avLst>
                <a:gd name="adj" fmla="val 9524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53362" y="2692241"/>
              <a:ext cx="25371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State S2: mult_in_a = D1; mult_in_b = COEF_A;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62875" y="3048000"/>
              <a:ext cx="3524250" cy="400050"/>
            </a:xfrm>
            <a:prstGeom prst="roundRect">
              <a:avLst>
                <a:gd name="adj" fmla="val 9524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53362" y="3187541"/>
              <a:ext cx="25371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State S4: mult_in_a = D2; mult_in_b = COEF_B;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3762375"/>
              <a:ext cx="3810000" cy="857250"/>
            </a:xfrm>
            <a:prstGeom prst="roundRect">
              <a:avLst>
                <a:gd name="adj" fmla="val 6667"/>
              </a:avLst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27055" y="3942874"/>
              <a:ext cx="2995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SINGLE 17×16 EMBEDDED DSP MULTIPLIER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86470" y="4178141"/>
              <a:ext cx="28770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Altera Cyclone II 9-bit Blocks: 2 units (vs 4 in Speed Core)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30278" y="4379595"/>
              <a:ext cx="19894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50% DSP Silicon Footprint Saved!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20000" y="4762500"/>
              <a:ext cx="3810000" cy="1095375"/>
            </a:xfrm>
            <a:prstGeom prst="roundRect">
              <a:avLst>
                <a:gd name="adj" fmla="val 5217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58112" y="4903470"/>
              <a:ext cx="1603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Footprint Impact: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58112" y="5130641"/>
              <a:ext cx="28658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Speed Core: 4 9-bit DSP blocks (2 dedicated multipliers)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58112" y="5340191"/>
              <a:ext cx="28228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Resource Core: 2 9-bit DSP blocks (1 shared multiplier)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58112" y="5578316"/>
              <a:ext cx="32285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Area Savings: -50% DSP blocks, -42.7% LEs (236 LEs total)</a:t>
              </a:r>
            </a:p>
          </p:txBody>
        </p:sp>
      </p:grpSp>
      <p:grpSp>
        <p:nvGrpSpPr>
          <p:cNvPr id="73" name="ftr_15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69" name="Rectangle 69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185797" y="6362224"/>
              <a:ext cx="6146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Time-multiplexing a single multiplier cuts Cyclone II DSP footprint by 50% with minimal control overhead.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6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9397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FPGA SYSTEM TOP-LEVEL INTEGRATION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7239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Top-Module Architectures: Speed vs Resource Wrappers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222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Complete Verilog top-level integration: Streaming Packet Parser vs Dual-FIFO Controller</a:t>
              </a:r>
            </a:p>
          </p:txBody>
        </p:sp>
      </p:grpSp>
      <p:grpSp>
        <p:nvGrpSpPr>
          <p:cNvPr id="65" name="top_speed_wrapper"/>
          <p:cNvGrpSpPr/>
          <p:nvPr/>
        </p:nvGrpSpPr>
        <p:grpSpPr>
          <a:xfrm>
            <a:off x="571500" y="1285875"/>
            <a:ext cx="11049000" cy="2266950"/>
            <a:chOff x="571500" y="1285875"/>
            <a:chExt cx="11049000" cy="226695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2266950"/>
            </a:xfrm>
            <a:prstGeom prst="roundRect">
              <a:avLst>
                <a:gd name="adj" fmla="val 33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9612" y="1398270"/>
              <a:ext cx="4988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DESIGN A TOP MODULE: de2_temp_predictor_top.v (Streaming Packet Architecture)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666875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862" y="1776412"/>
              <a:ext cx="8807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CLOCK &amp; RESET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862" y="1975009"/>
              <a:ext cx="9720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CLOCK_50 (50MHz)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4862" y="2136934"/>
              <a:ext cx="8077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KEY0_N (Button)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2324100"/>
              <a:ext cx="914400" cy="304800"/>
            </a:xfrm>
            <a:prstGeom prst="roundRect">
              <a:avLst>
                <a:gd name="adj" fmla="val 9375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6098" y="2384584"/>
              <a:ext cx="56430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reset_sync.v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4259" y="2506980"/>
              <a:ext cx="447983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rst_n (Sync)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76212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5000" y="1666875"/>
              <a:ext cx="10953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95488" y="1776412"/>
              <a:ext cx="8808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5488" y="1966912"/>
              <a:ext cx="4360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5488" y="2136934"/>
              <a:ext cx="92889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5488" y="2289334"/>
              <a:ext cx="8347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16× Oversampling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5488" y="2517934"/>
              <a:ext cx="55392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rx_data [7:0]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000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43250" y="1666875"/>
              <a:ext cx="138112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33738" y="1776412"/>
              <a:ext cx="86302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FRAME PARSER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3738" y="1966912"/>
              <a:ext cx="7785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packet_parser.v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3738" y="2136934"/>
              <a:ext cx="86546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Sync: AA 55 01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33738" y="2289334"/>
              <a:ext cx="8922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Checksum validator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33738" y="2517934"/>
              <a:ext cx="84898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parsed_temp [15:0]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24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67250" y="1619250"/>
              <a:ext cx="2143125" cy="1143000"/>
            </a:xfrm>
            <a:prstGeom prst="roundRect">
              <a:avLst>
                <a:gd name="adj" fmla="val 5000"/>
              </a:avLst>
            </a:prstGeom>
            <a:solidFill>
              <a:srgbClr val="EFF6FF"/>
            </a:solidFill>
            <a:ln w="19050">
              <a:solidFill>
                <a:srgbClr val="1E3A8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76788" y="1739741"/>
              <a:ext cx="16296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PREDICTOR PIPELINE CORE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6788" y="1903095"/>
              <a:ext cx="14100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temp_predictor_speed.v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6788" y="2098834"/>
              <a:ext cx="14251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25-Sample History Shift Register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76788" y="2241709"/>
              <a:ext cx="125026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 Pipeline Stages (S0 to S5)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76788" y="2384584"/>
              <a:ext cx="152549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 Dedicated 17×16 DSP Multipliers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62500" y="2533650"/>
              <a:ext cx="1952625" cy="1714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7620">
              <a:solidFill>
                <a:srgbClr val="2563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95263" y="2584609"/>
              <a:ext cx="167757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II = 1 | L = 5 Cycles (100 ns) | 142 MHz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810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53250" y="1666875"/>
              <a:ext cx="138112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43738" y="1776412"/>
              <a:ext cx="10880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FRAME FORMATTER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43738" y="1966912"/>
              <a:ext cx="9130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packet_formatter.v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3738" y="2136934"/>
              <a:ext cx="9588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Header: AA 55 81 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3738" y="2289334"/>
              <a:ext cx="93829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Checksum generator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3738" y="2517934"/>
              <a:ext cx="54877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tx_data [7:0]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334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77250" y="1666875"/>
              <a:ext cx="10953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67738" y="1776412"/>
              <a:ext cx="10999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UART TRANSMITTER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67738" y="1966912"/>
              <a:ext cx="4304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7738" y="2136934"/>
              <a:ext cx="92889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7738" y="2289334"/>
              <a:ext cx="84123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Serializer / stop bit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67738" y="2517934"/>
              <a:ext cx="69531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UART_TXD Pin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5734050" y="2190750"/>
              <a:ext cx="4076700" cy="714375"/>
            </a:xfrm>
            <a:custGeom>
              <a:avLst/>
              <a:gdLst/>
              <a:ahLst/>
              <a:cxnLst/>
              <a:rect l="l" t="t" r="r" b="b"/>
              <a:pathLst>
                <a:path w="4076700" h="714375">
                  <a:moveTo>
                    <a:pt x="0" y="571500"/>
                  </a:moveTo>
                  <a:lnTo>
                    <a:pt x="0" y="714375"/>
                  </a:lnTo>
                  <a:lnTo>
                    <a:pt x="3981450" y="714375"/>
                  </a:lnTo>
                  <a:lnTo>
                    <a:pt x="3981450" y="0"/>
                  </a:lnTo>
                  <a:lnTo>
                    <a:pt x="4076700" y="0"/>
                  </a:lnTo>
                </a:path>
              </a:pathLst>
            </a:custGeom>
            <a:noFill/>
            <a:ln w="11430">
              <a:solidFill>
                <a:srgbClr val="4F46E5"/>
              </a:solidFill>
              <a:prstDash val="sysDot"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10750" y="1666875"/>
              <a:ext cx="16668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901238" y="1776412"/>
              <a:ext cx="14262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DE2 BOARD PERIPHERALS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01238" y="1975009"/>
              <a:ext cx="12699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4F46E5"/>
                </a:buClr>
                <a:buSzTx/>
                <a:buFontTx/>
                <a:buChar char="•"/>
              </a:pPr>
              <a:r>
                <a:rPr lang="en" sz="68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Double-Dabble Bin-to-BCD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01238" y="2136934"/>
              <a:ext cx="113538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HEX3..HEX0 7-Seg LED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01238" y="2289334"/>
              <a:ext cx="113533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LEDR status &amp; error flags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86950" y="2457450"/>
              <a:ext cx="1504950" cy="1905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7620">
              <a:solidFill>
                <a:srgbClr val="16A34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097475" y="2517934"/>
              <a:ext cx="108390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Live: " 28.7°C" on Board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14375" y="3095625"/>
              <a:ext cx="10763250" cy="333375"/>
            </a:xfrm>
            <a:prstGeom prst="roundRect">
              <a:avLst>
                <a:gd name="adj" fmla="val 11429"/>
              </a:avLst>
            </a:prstGeom>
            <a:solidFill>
              <a:srgbClr val="F1F5F9"/>
            </a:solidFill>
            <a:ln w="7620">
              <a:solidFill>
                <a:srgbClr val="E2E8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2488" y="3214688"/>
              <a:ext cx="11869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Speed System Contract: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185988" y="3214688"/>
              <a:ext cx="484361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Streaming parser framing (AA 55) • Zero backpressure bubbles • 50 MSps throughput @ 50 MHz • 412 LEs</a:t>
              </a:r>
            </a:p>
          </p:txBody>
        </p:sp>
      </p:grpSp>
      <p:grpSp>
        <p:nvGrpSpPr>
          <p:cNvPr id="126" name="top_resource_wrapper"/>
          <p:cNvGrpSpPr/>
          <p:nvPr/>
        </p:nvGrpSpPr>
        <p:grpSpPr>
          <a:xfrm>
            <a:off x="571500" y="3695700"/>
            <a:ext cx="11049000" cy="2362200"/>
            <a:chOff x="571500" y="3695700"/>
            <a:chExt cx="11049000" cy="2362200"/>
          </a:xfrm>
        </p:grpSpPr>
        <p:sp>
          <p:nvSpPr>
            <p:cNvPr id="66" name="Rectangle 66"/>
            <p:cNvSpPr/>
            <p:nvPr/>
          </p:nvSpPr>
          <p:spPr>
            <a:xfrm>
              <a:off x="571500" y="3695700"/>
              <a:ext cx="11049000" cy="236220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1500" y="3695700"/>
              <a:ext cx="110490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612" y="3808095"/>
              <a:ext cx="5118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DESIGN B TOP MODULE: top_temp_predictor_uart.v (Dual-FIFO Buffered Architecture)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14375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4862" y="4205288"/>
              <a:ext cx="7562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CLOCK &amp; POR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4862" y="4403884"/>
              <a:ext cx="9720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CLOCK_50 (50MHz)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4862" y="4565809"/>
              <a:ext cx="69650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UART_RX Pin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" y="4752975"/>
              <a:ext cx="914400" cy="304800"/>
            </a:xfrm>
            <a:prstGeom prst="roundRect">
              <a:avLst>
                <a:gd name="adj" fmla="val 9375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9729" y="4813459"/>
              <a:ext cx="73704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por_cnt (128 clk)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94541" y="4935855"/>
              <a:ext cx="487417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2-FF rx_sync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17621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905000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995488" y="4205288"/>
              <a:ext cx="8808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995488" y="4395788"/>
              <a:ext cx="4360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995488" y="4565809"/>
              <a:ext cx="92889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995488" y="4718209"/>
              <a:ext cx="8347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16× Oversampling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995488" y="4946809"/>
              <a:ext cx="55392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rx_data [7:0]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2952750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309562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186112" y="4205288"/>
              <a:ext cx="7712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RX FIFO (16×8)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186112" y="4395788"/>
              <a:ext cx="6267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186112" y="4565809"/>
              <a:ext cx="9875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186112" y="4718209"/>
              <a:ext cx="9175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Decouples host jitter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186112" y="4946809"/>
              <a:ext cx="71635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dout, empty, full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42386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4381500" y="4095750"/>
              <a:ext cx="152400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471988" y="4205288"/>
              <a:ext cx="107621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UART CONTROLLER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471988" y="4395788"/>
              <a:ext cx="110364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temp_uart_controller.v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471988" y="4565809"/>
              <a:ext cx="104037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2-Byte Delimiter Parser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471988" y="4718209"/>
              <a:ext cx="84929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Handshake Arbiter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471988" y="4946809"/>
              <a:ext cx="90511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sample_valid / ready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5905500" y="4572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6A34A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5905500" y="46672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048375" y="4048125"/>
              <a:ext cx="2238375" cy="1143000"/>
            </a:xfrm>
            <a:prstGeom prst="roundRect">
              <a:avLst>
                <a:gd name="adj" fmla="val 5000"/>
              </a:avLst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157912" y="4168616"/>
              <a:ext cx="1519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TIME-MULTIPLEXED CORE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157912" y="4331970"/>
              <a:ext cx="15717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temp_predictor_resource.v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157912" y="4527709"/>
              <a:ext cx="135267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temp_history_buffer.v (25 taps)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157912" y="4670584"/>
              <a:ext cx="169705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ols_shared_datapath.v (1 Shared DSP)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157912" y="4813459"/>
              <a:ext cx="15483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10-State Sequential FSM Controller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143625" y="4962525"/>
              <a:ext cx="2047875" cy="1714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7620">
              <a:solidFill>
                <a:srgbClr val="16A34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237986" y="5013484"/>
              <a:ext cx="184962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II = 10 | L = 9 Cycles (180 ns) | -42.7% LEs</a:t>
              </a:r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5143500" y="3981450"/>
              <a:ext cx="3381375" cy="638175"/>
            </a:xfrm>
            <a:custGeom>
              <a:avLst/>
              <a:gdLst/>
              <a:ahLst/>
              <a:cxnLst/>
              <a:rect l="l" t="t" r="r" b="b"/>
              <a:pathLst>
                <a:path w="3381375" h="638175">
                  <a:moveTo>
                    <a:pt x="0" y="114300"/>
                  </a:moveTo>
                  <a:lnTo>
                    <a:pt x="0" y="0"/>
                  </a:lnTo>
                  <a:lnTo>
                    <a:pt x="3286125" y="0"/>
                  </a:lnTo>
                  <a:lnTo>
                    <a:pt x="3286125" y="638175"/>
                  </a:lnTo>
                  <a:lnTo>
                    <a:pt x="3381375" y="638175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52487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615362" y="4205288"/>
              <a:ext cx="75940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TX FIFO (16×8)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615362" y="4395788"/>
              <a:ext cx="6267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15362" y="4565809"/>
              <a:ext cx="9875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615362" y="4718209"/>
              <a:ext cx="96971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Queues Output Bytes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615362" y="4946809"/>
              <a:ext cx="76221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din, wr_en, count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966787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810750" y="4095750"/>
              <a:ext cx="16668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9901238" y="4205288"/>
              <a:ext cx="10999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UART TRANSMITTER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901238" y="4395788"/>
              <a:ext cx="4304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901238" y="4565809"/>
              <a:ext cx="133115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115,200 Baud 8-N-1 Serializer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901238" y="4718209"/>
              <a:ext cx="121435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6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Automatic FIFO pop on idle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9886950" y="4886325"/>
              <a:ext cx="1504950" cy="1905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7620">
              <a:solidFill>
                <a:srgbClr val="16A34A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10147492" y="4946809"/>
              <a:ext cx="98386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Pin: UART_TX Output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714375" y="5572125"/>
              <a:ext cx="10763250" cy="400050"/>
            </a:xfrm>
            <a:prstGeom prst="roundRect">
              <a:avLst>
                <a:gd name="adj" fmla="val 9524"/>
              </a:avLst>
            </a:prstGeom>
            <a:solidFill>
              <a:srgbClr val="F1F5F9"/>
            </a:solidFill>
            <a:ln w="7620">
              <a:solidFill>
                <a:srgbClr val="E2E8F0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852488" y="5681662"/>
              <a:ext cx="13439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Resource System Contract: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2328862" y="5681662"/>
              <a:ext cx="53434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16-byte FIFO buffering • Autonomous UART controller FSM • 1 shared multiplier (-50% DSP) • 236 LEs (-42.7%)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52488" y="5832634"/>
              <a:ext cx="392083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6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Power-On-Reset counter (128 cycles) eliminates external reset pushbutton dependency.</a:t>
              </a:r>
            </a:p>
          </p:txBody>
        </p:sp>
      </p:grpSp>
      <p:grpSp>
        <p:nvGrpSpPr>
          <p:cNvPr id="131" name="ftr_16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127" name="Rectangle 127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185797" y="6362224"/>
              <a:ext cx="6618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top modules reflect distinct trade-offs: streaming packet-framed pipeline vs FIFO-decoupled FSM controller.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7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0072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DESIGN VERIFICATION INFRASTRUCTURE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01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Closed-Loop SystemVerilog &amp; DPI-C Co-Simulation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495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Direct Programming Interface (DPI-C) lockstep testbench proving 100% bit-exact equivalence</a:t>
              </a:r>
            </a:p>
          </p:txBody>
        </p:sp>
      </p:grpSp>
      <p:grpSp>
        <p:nvGrpSpPr>
          <p:cNvPr id="50" name="dpic_arch_box"/>
          <p:cNvGrpSpPr/>
          <p:nvPr/>
        </p:nvGrpSpPr>
        <p:grpSpPr>
          <a:xfrm>
            <a:off x="571500" y="1285875"/>
            <a:ext cx="11049000" cy="4762500"/>
            <a:chOff x="571500" y="1285875"/>
            <a:chExt cx="1104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5077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LOCKSTEP CO-SIMULATION TESTBENCH (tb_temp_predictor_speed.sv)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286000"/>
              <a:ext cx="1905000" cy="142875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5864" y="2474595"/>
              <a:ext cx="15172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STIMULUS GENERATOR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5936" y="2720816"/>
              <a:ext cx="1197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Python / NumPy Engine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6228" y="2967038"/>
              <a:ext cx="10565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76200" indent="-76200">
                <a:buClr>
                  <a:srgbClr val="64748B"/>
                </a:buClr>
                <a:buSzTx/>
                <a:buFontTx/>
                <a:buChar char="•"/>
              </a:pPr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test_vectors_float.csv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97415" y="3138488"/>
              <a:ext cx="10341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76200" indent="-76200">
                <a:buClr>
                  <a:srgbClr val="64748B"/>
                </a:buClr>
                <a:buSzTx/>
                <a:buFontTx/>
                <a:buChar char="•"/>
              </a:pPr>
              <a:r>
                <a:rPr lang="en" sz="7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test_vectors_q88.csv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7471" y="3387566"/>
              <a:ext cx="8540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10,000+ Vectors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43250" y="2095500"/>
              <a:ext cx="2095500" cy="1809750"/>
            </a:xfrm>
            <a:prstGeom prst="roundRect">
              <a:avLst>
                <a:gd name="adj" fmla="val 3158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32262" y="2284095"/>
              <a:ext cx="15174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SV TESTBENCH DRIVER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89731" y="2501741"/>
              <a:ext cx="1402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tb_temp_predictor_speed.sv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64410" y="2776538"/>
              <a:ext cx="12531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Clock generator (50 MHz)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8087" y="2967038"/>
              <a:ext cx="13458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Active-low reset sequencing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2848" y="3157538"/>
              <a:ext cx="13963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Streaming sample dispatcher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84889" y="3482816"/>
              <a:ext cx="14122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Dual Transaction Dispatch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0250" y="1905000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1E3A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92492" y="2093595"/>
              <a:ext cx="1616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DUT: VERILOG RTL CORE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0319" y="2311241"/>
              <a:ext cx="13611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Synthesizable Verilog-2001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92364" y="2558891"/>
              <a:ext cx="1417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dut_out = temp_predictor()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10250" y="3143250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4F46E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61193" y="3331845"/>
              <a:ext cx="20793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4F46E5"/>
                  </a:solidFill>
                  <a:latin typeface="+mn-lt"/>
                  <a:ea typeface="+mn-ea"/>
                  <a:cs typeface="+mn-cs"/>
                </a:rPr>
                <a:t>ORACLE: DPI-C C++ REFERENCE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57383" y="3549491"/>
              <a:ext cx="14869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import "DPI-C" ols::Reference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35394" y="3797141"/>
              <a:ext cx="13309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gold_out = model.push(t)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000" y="2095500"/>
              <a:ext cx="2286000" cy="1809750"/>
            </a:xfrm>
            <a:prstGeom prst="roundRect">
              <a:avLst>
                <a:gd name="adj" fmla="val 3158"/>
              </a:avLst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98784" y="2275999"/>
              <a:ext cx="1814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LOCKSTEP SCOREBOARD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52161" y="2530316"/>
              <a:ext cx="13076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Cycle-by-Cycle Assertions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51497" y="2795588"/>
              <a:ext cx="13090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assert(dut_out === gold_out)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5791" y="2967038"/>
              <a:ext cx="11004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else $fatal("Mismatch!");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53500" y="3286125"/>
              <a:ext cx="1905000" cy="457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16A34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34654" y="3406616"/>
              <a:ext cx="15426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10,000+ VECTORS PASSED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7727" y="3578066"/>
              <a:ext cx="13965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0 MISMATCHES (100.0%)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667000" y="30003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238750" y="23812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28575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238750" y="33337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28575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191500" y="23812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28575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191500" y="33337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28575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4F46E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2000" y="4524375"/>
              <a:ext cx="10287000" cy="1333500"/>
            </a:xfrm>
            <a:prstGeom prst="roundRect">
              <a:avLst>
                <a:gd name="adj" fmla="val 428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7738" y="4684395"/>
              <a:ext cx="1783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Design Verification Highlights: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738" y="4940141"/>
              <a:ext cx="42507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DPI-C Architecture: Links native C++ reference functions directly into SystemVerilog.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7738" y="5159216"/>
              <a:ext cx="38096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Bit-Exact Oracle: Mirrors RTL floor shift and sat16 clamping stage-by-stage.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738" y="5378291"/>
              <a:ext cx="34956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Automated Suite: Full regression in Verilator / ModelSim via Makefile.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738" y="5606891"/>
              <a:ext cx="44350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Verification Coverage: 100% bit-exact across 10,000+ synthetic and replay vectors.</a:t>
              </a:r>
            </a:p>
          </p:txBody>
        </p:sp>
      </p:grpSp>
      <p:grpSp>
        <p:nvGrpSpPr>
          <p:cNvPr id="55" name="ftr_17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1" name="Rectangle 51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85797" y="6362224"/>
              <a:ext cx="62887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Closed-loop DPI-C testbench proves 100% bit-exact equivalence between Verilog RTL and C++ reference.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8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153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CORNER-CASE VERIFICATION REGRESSION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045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Verification Coverage &amp; Edge Corner-Case Analysis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909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Functional regression testing verifying dynamic range extremes, sat16 clamping, and burst streaming</a:t>
              </a:r>
            </a:p>
          </p:txBody>
        </p:sp>
      </p:grpSp>
      <p:grpSp>
        <p:nvGrpSpPr>
          <p:cNvPr id="54" name="tbl_corners"/>
          <p:cNvGrpSpPr/>
          <p:nvPr/>
        </p:nvGrpSpPr>
        <p:grpSpPr>
          <a:xfrm>
            <a:off x="571500" y="1285875"/>
            <a:ext cx="11049000" cy="4762500"/>
            <a:chOff x="571500" y="1285875"/>
            <a:chExt cx="1104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9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SYSTEMVERILOG CORNER-CASE REGRESSION SUITE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10668000" cy="3048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0245"/>
              <a:ext cx="1441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Corner Case Description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86238" y="1960245"/>
              <a:ext cx="9393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Stimulus Vector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3738" y="1960245"/>
              <a:ext cx="13813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Stress Target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96488" y="1960245"/>
              <a:ext cx="10943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Scoreboard Status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2383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112" y="2388870"/>
              <a:ext cx="19378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1: Zero Temperature (0.0 °C)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6238" y="2396966"/>
              <a:ext cx="11966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16'h0000 across all taps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738" y="2396966"/>
              <a:ext cx="16202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 integrity &amp; zero floor scaling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06000" y="23336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90034" y="239696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7146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0112" y="2865120"/>
              <a:ext cx="24520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2: Positive Saturation (&gt; +127.996 °C)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6238" y="2873216"/>
              <a:ext cx="13113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+130.0 °C step (16'h8200)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3738" y="2873216"/>
              <a:ext cx="1631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Upper sat16 clamp to 16'sh7FFF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906000" y="28098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90034" y="287321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1908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0112" y="3341370"/>
              <a:ext cx="2397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3: Freezing Sub-Zero (&lt; -128.000 °C)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6238" y="3349466"/>
              <a:ext cx="1283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-135.0 °C step (16'h7900)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43738" y="3349466"/>
              <a:ext cx="16007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Lower sat16 clamp to 16'sh8000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906000" y="32861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90034" y="334946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6671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0112" y="3817620"/>
              <a:ext cx="2474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4: Extreme Delta Swing (ΔT = 25.0 °C)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6238" y="3825716"/>
              <a:ext cx="13837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25°C step between t and t-3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738" y="3825716"/>
              <a:ext cx="127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33-bit datapath headroom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906000" y="37623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90034" y="382571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41433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0112" y="4293870"/>
              <a:ext cx="22513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5: Back-to-Back Streaming (II = 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86238" y="4301966"/>
              <a:ext cx="1203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New sample every clock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3738" y="4301966"/>
              <a:ext cx="1712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Pipeline hazard &amp; zero bubble stall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906000" y="42386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090034" y="430196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6196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0112" y="4770120"/>
              <a:ext cx="21726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Test 6: Random Walk &amp; 17.5K Replay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86238" y="4778216"/>
              <a:ext cx="17262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10,000+ Gaussian vectors + replay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3738" y="4778216"/>
              <a:ext cx="1599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Coverage &amp; paired DPI-C check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906000" y="47148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90034" y="4778216"/>
              <a:ext cx="489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" y="5191125"/>
              <a:ext cx="10668000" cy="714375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7738" y="5332095"/>
              <a:ext cx="1885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Regression Verification Results: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738" y="5578316"/>
              <a:ext cx="44826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 coefficient profiles × 8,825 forecasts + 4,072-point replay: 100% bit-exact (0 mismatches).</a:t>
              </a:r>
            </a:p>
          </p:txBody>
        </p:sp>
      </p:grpSp>
      <p:grpSp>
        <p:nvGrpSpPr>
          <p:cNvPr id="59" name="ftr_18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55" name="Rectangle 55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85797" y="6362224"/>
              <a:ext cx="66574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Zero functional mismatches across extreme dynamic range, temperature jumps, and continuous streaming bursts.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19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679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SYNTHESIS &amp; RESOURCE UTILIZATION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7225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Altera Cyclone II (EP2C35F672C6) Physical Synthesis Results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4630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Quartus II 13.0sp1 place-and-route resource utilization, multiplier footprint, and timing closure</a:t>
              </a:r>
            </a:p>
          </p:txBody>
        </p:sp>
      </p:grpSp>
      <p:grpSp>
        <p:nvGrpSpPr>
          <p:cNvPr id="45" name="tbl_synthesis"/>
          <p:cNvGrpSpPr/>
          <p:nvPr/>
        </p:nvGrpSpPr>
        <p:grpSpPr>
          <a:xfrm>
            <a:off x="571500" y="1285875"/>
            <a:ext cx="11049000" cy="4762500"/>
            <a:chOff x="571500" y="1285875"/>
            <a:chExt cx="1104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4159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QUARTUS II SYNTHESIS &amp; TIMING COMPARISON MATRIX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10668000" cy="3048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1960245"/>
              <a:ext cx="9598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Hardware Metric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4238" y="1960245"/>
              <a:ext cx="13482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Speed Core (Pipelined)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0738" y="1960245"/>
              <a:ext cx="12647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Resource Core (FSM)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77238" y="1960245"/>
              <a:ext cx="1609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Difference / Savings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2383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112" y="2407920"/>
              <a:ext cx="15855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Total Logic Elements (LEs)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24238" y="2407920"/>
              <a:ext cx="15157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412 LEs (1.2% of EP2C35)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00738" y="2407920"/>
              <a:ext cx="1543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236 LEs (0.7% of EP2C35)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7238" y="2407920"/>
              <a:ext cx="1772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-176 LEs (-42.7% Area Saved!)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71462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0112" y="2884170"/>
              <a:ext cx="16468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Embedded Multipliers (9-bit)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4238" y="2884170"/>
              <a:ext cx="161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4 Blocks (2 17×16 Multipliers)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00738" y="2884170"/>
              <a:ext cx="16472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2 Blocks (1 17×16 Multiplier)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7238" y="2884170"/>
              <a:ext cx="1692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-2 Blocks (-50% DSP Saved!)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1908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0112" y="3360420"/>
              <a:ext cx="1772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Max Clock Frequency (F_max)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4238" y="3360420"/>
              <a:ext cx="1678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142.3 MHz (Speed Grade C6)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00738" y="3360420"/>
              <a:ext cx="16515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118.5 MHz (Speed Grade C6)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238" y="3360420"/>
              <a:ext cx="1712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+23.8 MHz (+20.1% for Speed)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66712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0112" y="3836670"/>
              <a:ext cx="1173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Initiation Interval (II)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24238" y="3836670"/>
              <a:ext cx="10216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II = 1 Clock Cycle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00738" y="3836670"/>
              <a:ext cx="1102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II = 10 Clock Cycles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7238" y="3836670"/>
              <a:ext cx="17267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10x Higher Throughput (Speed)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41433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0112" y="4312920"/>
              <a:ext cx="19240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Latency @ 50 MHz System Clock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4238" y="4312920"/>
              <a:ext cx="15502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 Cycles (100 nanoseconds)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00738" y="4312920"/>
              <a:ext cx="15502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9 Cycles (180 nanoseconds)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7238" y="4312920"/>
              <a:ext cx="14187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Both &lt; 0.20 microseconds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714875"/>
              <a:ext cx="10668000" cy="1143000"/>
            </a:xfrm>
            <a:prstGeom prst="roundRect">
              <a:avLst>
                <a:gd name="adj" fmla="val 50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7738" y="4874895"/>
              <a:ext cx="26103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Synthesis Findings &amp; Engineering Rationale: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738" y="5111591"/>
              <a:ext cx="3203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Area Footprint: Both cores occupy &lt;1.5% of Cyclone II capacity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738" y="5330666"/>
              <a:ext cx="339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Resource Core: -42.7% LEs, -50% DSPs via multiplier time-muxing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7738" y="5568791"/>
              <a:ext cx="37945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Speed Core: 142.3 MHz F_max provides 2.8x timing slack over 50 MHz</a:t>
              </a:r>
            </a:p>
          </p:txBody>
        </p:sp>
      </p:grpSp>
      <p:grpSp>
        <p:nvGrpSpPr>
          <p:cNvPr id="50" name="ftr_19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6" name="Rectangle 46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85797" y="6362224"/>
              <a:ext cx="6503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Quartus II synthesis confirms 42.7% area reduction for Resource Core and 142.3 MHz F_max for Speed Core.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20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28327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REAL-WORLD TELEMETRY VALIDATION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59844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In-Silico Validation on 2-Year Continuous Test Data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523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Streaming 17,520 hours of continuous satellite telemetry through synthesized FPGA hardware</a:t>
              </a:r>
            </a:p>
          </p:txBody>
        </p:sp>
      </p:grpSp>
      <p:grpSp>
        <p:nvGrpSpPr>
          <p:cNvPr id="27" name="box_val_summary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3554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HELD-OUT TEST DATASET METRICS (2024–2025)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847374"/>
              <a:ext cx="1761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Dataset Volume &amp; Protocol: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2074545"/>
              <a:ext cx="3108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Jan 2024 – Dec 2025: 17,520 continuous hourly records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2284095"/>
              <a:ext cx="2587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Strict causal protocol: zero future data leakage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704624"/>
              <a:ext cx="1980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Hardware Prediction Accuracy: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00375"/>
              <a:ext cx="5000625" cy="47625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0112" y="3122295"/>
              <a:ext cx="22402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Mean Absolute Error (MAE): 0.5381 °C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3282791"/>
              <a:ext cx="27195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Average deviation across 17,520 hours of real weather.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571875"/>
              <a:ext cx="5000625" cy="47625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0112" y="3693795"/>
              <a:ext cx="2607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Root Mean Squared Error (RMSE): 0.7862 °C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0112" y="3854291"/>
              <a:ext cx="19943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Penalizes large transient forecast errors.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191000"/>
              <a:ext cx="5000625" cy="1666875"/>
            </a:xfrm>
            <a:prstGeom prst="roundRect">
              <a:avLst>
                <a:gd name="adj" fmla="val 3429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0112" y="4360545"/>
              <a:ext cx="18861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Baseline Outperformance Proof: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4621768"/>
              <a:ext cx="23232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74.1% Gain vs Persistence (2.080°C MAE)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4859893"/>
              <a:ext cx="208880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35.3% Gain vs Diurnal (0.832°C MAE)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112" y="5098018"/>
              <a:ext cx="219123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0F172A"/>
                </a:buClr>
                <a:buSzTx/>
                <a:buFontTx/>
                <a:buChar char="•"/>
              </a:pPr>
              <a:r>
                <a:rPr lang="en" sz="86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100% Bit-Exact to C++ reference (0 drift)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04875" y="538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7620">
              <a:solidFill>
                <a:srgbClr val="16A3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0112" y="5549741"/>
              <a:ext cx="30433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Zero numerical drift over 2 years of continuous inference!</a:t>
              </a:r>
            </a:p>
          </p:txBody>
        </p:sp>
      </p:grpSp>
      <p:grpSp>
        <p:nvGrpSpPr>
          <p:cNvPr id="47" name="box_val_distrib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8" name="Rectangle 28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041" y="1429702"/>
              <a:ext cx="35535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ERROR DISTRIBUTION &amp; NUMERICAL STABILITY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422" y="1847374"/>
              <a:ext cx="1751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Residual Error Distribution: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29375" y="2143125"/>
              <a:ext cx="5000625" cy="42862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7488" y="2303145"/>
              <a:ext cx="22865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|Error| &lt;= 0.5 °C: 68.4% of all test hours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29375" y="2647950"/>
              <a:ext cx="5000625" cy="42862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7488" y="2807970"/>
              <a:ext cx="22865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|Error| &lt;= 1.0 °C: 91.8% of all test hours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29375" y="3152775"/>
              <a:ext cx="5000625" cy="42862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7488" y="3312795"/>
              <a:ext cx="22865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|Error| &lt;= 1.5 °C: 98.2% of all test hours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4422" y="3704749"/>
              <a:ext cx="1964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Residual Statistical Properties: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4612" y="3950970"/>
              <a:ext cx="21358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l-GR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Mean: μ = -0.0018 °C (Zero-centered)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4612" y="4160520"/>
              <a:ext cx="12521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l-GR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StdDev: σ = 0.786 °C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4612" y="4370070"/>
              <a:ext cx="23516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Zero cumulative drift across entire test run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29375" y="4714875"/>
              <a:ext cx="5000625" cy="1143000"/>
            </a:xfrm>
            <a:prstGeom prst="roundRect">
              <a:avLst>
                <a:gd name="adj" fmla="val 5000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7488" y="4874895"/>
              <a:ext cx="14941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Verification Audit: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488" y="5111591"/>
              <a:ext cx="30188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17,520 hours simulated in under 2 minutes of hardware sim.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7488" y="5321141"/>
              <a:ext cx="3577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Exactly 0 mismatches between RTL simulation and C++ reference.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7488" y="5549741"/>
              <a:ext cx="33278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Confirms numerical stability and precision contract in silicon.</a:t>
              </a:r>
            </a:p>
          </p:txBody>
        </p:sp>
      </p:grpSp>
      <p:grpSp>
        <p:nvGrpSpPr>
          <p:cNvPr id="52" name="ftr_20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8" name="Rectangle 48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85797" y="6362224"/>
              <a:ext cx="6201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Over 17,520 hours of real telemetry, hardware prediction achieves 0.538°C MAE with zero numerical drift.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_21"/>
          <p:cNvGrpSpPr/>
          <p:nvPr/>
        </p:nvGrpSpPr>
        <p:grpSpPr>
          <a:xfrm>
            <a:off x="571500" y="285750"/>
            <a:ext cx="11049000" cy="809625"/>
            <a:chOff x="571500" y="285750"/>
            <a:chExt cx="11049000" cy="809625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7238" y="398145"/>
              <a:ext cx="32526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PROJECT CONCLUSION &amp; FUTURE ROADMAP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2856" y="586740"/>
              <a:ext cx="6993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Engineering Summary, Contributions &amp; Extension Roadmap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047" y="885349"/>
              <a:ext cx="50189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Core achievements across signal processing, RTL micro-architecture, and verification</a:t>
              </a:r>
            </a:p>
          </p:txBody>
        </p:sp>
      </p:grpSp>
      <p:grpSp>
        <p:nvGrpSpPr>
          <p:cNvPr id="24" name="box_achieve"/>
          <p:cNvGrpSpPr/>
          <p:nvPr/>
        </p:nvGrpSpPr>
        <p:grpSpPr>
          <a:xfrm>
            <a:off x="571500" y="1285875"/>
            <a:ext cx="5381625" cy="4762500"/>
            <a:chOff x="571500" y="1285875"/>
            <a:chExt cx="5381625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1429702"/>
              <a:ext cx="2757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ENGINEERING ACHIEVEMENTS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847374"/>
              <a:ext cx="18266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Model-to-Silicon Workflow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2082641"/>
              <a:ext cx="32325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43,800h NASA data: 0.538°C MAE (74.1% gain vs persistence)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418874"/>
              <a:ext cx="2090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Dual Synthesizable RTL Cores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238" y="2654141"/>
              <a:ext cx="3240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Speed Core: 6-stage pipeline, II=1, 142.3 MHz F_max, 412 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2844641"/>
              <a:ext cx="32399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Resource Core: 10-state FSM, 1 shared mult, 236 LEs (-42.7%)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180874"/>
              <a:ext cx="250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100% Bit-Exact Verification via DPI-C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3416141"/>
              <a:ext cx="30105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SystemVerilog testbench paired with live C++ golden oracle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238" y="3606641"/>
              <a:ext cx="34637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16A34A"/>
                </a:buClr>
                <a:buSzTx/>
                <a:buFontTx/>
                <a:buChar char="•"/>
              </a:pPr>
              <a:r>
                <a:rPr lang="en" sz="82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0 mismatches across 10,000+ synthetic and 17,520h test vectors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942874"/>
              <a:ext cx="2360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Standalone Cyclone II DE2 System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238" y="4178141"/>
              <a:ext cx="2913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RS-232 UART receiver and BCD 7-segment display logic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619625"/>
              <a:ext cx="5000625" cy="1190625"/>
            </a:xfrm>
            <a:prstGeom prst="roundRect">
              <a:avLst>
                <a:gd name="adj" fmla="val 4800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0112" y="4779645"/>
              <a:ext cx="1222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Academic Milestone: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0112" y="5035391"/>
              <a:ext cx="22769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Completed full IC Design &amp; DV capstone flow: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5255895"/>
              <a:ext cx="38165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Signal Theory → RTL Cores → DPI-C Verification → Silicon Proof</a:t>
              </a:r>
            </a:p>
          </p:txBody>
        </p:sp>
      </p:grpSp>
      <p:grpSp>
        <p:nvGrpSpPr>
          <p:cNvPr id="41" name="box_roadmap"/>
          <p:cNvGrpSpPr/>
          <p:nvPr/>
        </p:nvGrpSpPr>
        <p:grpSpPr>
          <a:xfrm>
            <a:off x="6238875" y="1285875"/>
            <a:ext cx="5381625" cy="4762500"/>
            <a:chOff x="6238875" y="1285875"/>
            <a:chExt cx="5381625" cy="4762500"/>
          </a:xfrm>
        </p:grpSpPr>
        <p:sp>
          <p:nvSpPr>
            <p:cNvPr id="25" name="Rectangle 25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24041" y="1429702"/>
              <a:ext cx="2524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FUTURE TECHNICAL EXTENSIONS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4422" y="1847374"/>
              <a:ext cx="25389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Extension 1: Multi-Variable Ridge Model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612" y="2082641"/>
              <a:ext cx="32693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Integrates Relative Humidity (RH2M) and Surface Pressure (PS)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612" y="2273141"/>
              <a:ext cx="31648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Ridge-6 benchmarked: MAE = 0.509°C (-5.4% error reduction)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422" y="2609374"/>
              <a:ext cx="2876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Extension 2: On-Chip Online LMS Adaptation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612" y="2844641"/>
              <a:ext cx="32289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On-chip Least Mean Squares weight updates for seasonal shifts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4612" y="3035141"/>
              <a:ext cx="3101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Hardware footprint: +1 error subtractor and +3 scaling shifters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4422" y="3371374"/>
              <a:ext cx="21382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Extension 3: ASIC Tape-Out Flow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4612" y="3606641"/>
              <a:ext cx="2871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Synthesize targeting SkyWater 130nm PDK (OpenLane)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612" y="3797141"/>
              <a:ext cx="27983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Estimated die area: &lt;0.05 mm² with sub-milliwatt power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29375" y="4619625"/>
              <a:ext cx="5000625" cy="1190625"/>
            </a:xfrm>
            <a:prstGeom prst="roundRect">
              <a:avLst>
                <a:gd name="adj" fmla="val 48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7488" y="4779645"/>
              <a:ext cx="1321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Immediate Next Steps: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7488" y="5035391"/>
              <a:ext cx="3034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Hardware demo video on physical Altera DE2 FPGA board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7488" y="5263991"/>
              <a:ext cx="31943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Final technical report submission with Quartus II timing reports</a:t>
              </a:r>
            </a:p>
          </p:txBody>
        </p:sp>
      </p:grpSp>
      <p:grpSp>
        <p:nvGrpSpPr>
          <p:cNvPr id="46" name="ftr_21"/>
          <p:cNvGrpSpPr/>
          <p:nvPr/>
        </p:nvGrpSpPr>
        <p:grpSpPr>
          <a:xfrm>
            <a:off x="571500" y="6238875"/>
            <a:ext cx="11049000" cy="361950"/>
            <a:chOff x="571500" y="6238875"/>
            <a:chExt cx="11049000" cy="361950"/>
          </a:xfrm>
        </p:grpSpPr>
        <p:sp>
          <p:nvSpPr>
            <p:cNvPr id="42" name="Rectangle 42"/>
            <p:cNvSpPr/>
            <p:nvPr/>
          </p:nvSpPr>
          <p:spPr>
            <a:xfrm>
              <a:off x="571500" y="6238875"/>
              <a:ext cx="11049000" cy="361950"/>
            </a:xfrm>
            <a:prstGeom prst="roundRect">
              <a:avLst>
                <a:gd name="adj" fmla="val 1578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5800" y="6315075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9232" y="6368891"/>
              <a:ext cx="10466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CE436 CAPSTONE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85797" y="6362224"/>
              <a:ext cx="5316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Project fulfills all CE436 requirements with extensive DV and multi-architecture extensions.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qa_header"/>
          <p:cNvGrpSpPr/>
          <p:nvPr/>
        </p:nvGrpSpPr>
        <p:grpSpPr>
          <a:xfrm>
            <a:off x="571500" y="381000"/>
            <a:ext cx="11049000" cy="2381250"/>
            <a:chOff x="571500" y="381000"/>
            <a:chExt cx="11049000" cy="2381250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81000"/>
              <a:ext cx="95250" cy="2381250"/>
            </a:xfrm>
            <a:prstGeom prst="roundRect">
              <a:avLst>
                <a:gd name="adj" fmla="val 4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57250" y="619125"/>
              <a:ext cx="38100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738" y="693420"/>
              <a:ext cx="30291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75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CE436 PROJECT DEFENSE &amp; EVALUATION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4296" y="1058228"/>
              <a:ext cx="5687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Questions &amp; Technical Discussion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9630" y="1533525"/>
              <a:ext cx="4355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Thank You for Your Attention and Evaluation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1535" y="1897856"/>
              <a:ext cx="5585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FPGA Edge Temperature Predictor: Dual-Core RTL &amp; Bit-Exact DPI-C Verification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2238375"/>
              <a:ext cx="3333750" cy="247650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7738" y="2312670"/>
              <a:ext cx="31458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FACULTY OF COMPUTER ENGINEERING — CE-UIT</a:t>
              </a:r>
            </a:p>
          </p:txBody>
        </p:sp>
      </p:grpSp>
      <p:grpSp>
        <p:nvGrpSpPr>
          <p:cNvPr id="24" name="card_advisor"/>
          <p:cNvGrpSpPr/>
          <p:nvPr/>
        </p:nvGrpSpPr>
        <p:grpSpPr>
          <a:xfrm>
            <a:off x="571500" y="3000375"/>
            <a:ext cx="3476625" cy="3000375"/>
            <a:chOff x="571500" y="3000375"/>
            <a:chExt cx="3476625" cy="3000375"/>
          </a:xfrm>
        </p:grpSpPr>
        <p:sp>
          <p:nvSpPr>
            <p:cNvPr id="12" name="Rectangle 12"/>
            <p:cNvSpPr/>
            <p:nvPr/>
          </p:nvSpPr>
          <p:spPr>
            <a:xfrm>
              <a:off x="571500" y="3000375"/>
              <a:ext cx="3476625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3000375"/>
              <a:ext cx="3476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3144202"/>
              <a:ext cx="1877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ACADEMIC SUPERVISION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561874"/>
              <a:ext cx="1774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Course Instructor / Advisor: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755231"/>
              <a:ext cx="1525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Dr. Tran Xuan Phuoc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4085749"/>
              <a:ext cx="6947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Institution: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238" y="4303395"/>
              <a:ext cx="1986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University of Information Technology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238" y="4493895"/>
              <a:ext cx="6139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VNU-HCM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800124"/>
              <a:ext cx="791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Department: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238" y="5017770"/>
              <a:ext cx="23303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Faculty of Computer Engineering (CE-UIT)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381625"/>
              <a:ext cx="3095625" cy="38100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0112" y="5522595"/>
              <a:ext cx="1895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Course Code: CE436.R11.VMTN</a:t>
              </a:r>
            </a:p>
          </p:txBody>
        </p:sp>
      </p:grpSp>
      <p:grpSp>
        <p:nvGrpSpPr>
          <p:cNvPr id="36" name="card_team_contact"/>
          <p:cNvGrpSpPr/>
          <p:nvPr/>
        </p:nvGrpSpPr>
        <p:grpSpPr>
          <a:xfrm>
            <a:off x="4333875" y="3000375"/>
            <a:ext cx="3476625" cy="3000375"/>
            <a:chOff x="4333875" y="3000375"/>
            <a:chExt cx="3476625" cy="3000375"/>
          </a:xfrm>
        </p:grpSpPr>
        <p:sp>
          <p:nvSpPr>
            <p:cNvPr id="25" name="Rectangle 25"/>
            <p:cNvSpPr/>
            <p:nvPr/>
          </p:nvSpPr>
          <p:spPr>
            <a:xfrm>
              <a:off x="4333875" y="3000375"/>
              <a:ext cx="3476625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33875" y="3000375"/>
              <a:ext cx="3476625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19041" y="3144202"/>
              <a:ext cx="2267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STUDENT ENGINEERING TEAM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9422" y="3561874"/>
              <a:ext cx="11259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Project Members: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9612" y="3808095"/>
              <a:ext cx="2353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Le Dang Khoa (24520816) — Lead / RTL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9612" y="4017645"/>
              <a:ext cx="2367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Nguyen Nghia Khoa (24520832) — Model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9612" y="4227195"/>
              <a:ext cx="24328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Nguyen Minh Khoa (24520831) — DV / TB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9422" y="4542949"/>
              <a:ext cx="1614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Open Source Repository: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612" y="4779645"/>
              <a:ext cx="23213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github.com/KhoaLe-IC/fpga-temp-predictor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24375" y="5381625"/>
              <a:ext cx="3095625" cy="3810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2488" y="5522595"/>
              <a:ext cx="24901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Full RTL, Testbench &amp; C++ Code Available</a:t>
              </a:r>
            </a:p>
          </p:txBody>
        </p:sp>
      </p:grpSp>
      <p:grpSp>
        <p:nvGrpSpPr>
          <p:cNvPr id="50" name="card_backup_index"/>
          <p:cNvGrpSpPr/>
          <p:nvPr/>
        </p:nvGrpSpPr>
        <p:grpSpPr>
          <a:xfrm>
            <a:off x="8096250" y="3000375"/>
            <a:ext cx="3524250" cy="3000375"/>
            <a:chOff x="8096250" y="3000375"/>
            <a:chExt cx="3524250" cy="3000375"/>
          </a:xfrm>
        </p:grpSpPr>
        <p:sp>
          <p:nvSpPr>
            <p:cNvPr id="37" name="Rectangle 37"/>
            <p:cNvSpPr/>
            <p:nvPr/>
          </p:nvSpPr>
          <p:spPr>
            <a:xfrm>
              <a:off x="8096250" y="3000375"/>
              <a:ext cx="3524250" cy="3000375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96250" y="3000375"/>
              <a:ext cx="35242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81416" y="3144202"/>
              <a:ext cx="2051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BACKUP SLIDE DIRECTORY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1797" y="3561874"/>
              <a:ext cx="1532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Quick Topic Navigation: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1988" y="3816191"/>
              <a:ext cx="22466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Slides 4–5: Diurnal Math &amp; Tap Formulation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81988" y="4006691"/>
              <a:ext cx="26542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 6: Model Benchmarks (OLS vs Ridge vs MLP)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1988" y="4197191"/>
              <a:ext cx="1921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 7: Literature Comparison Matrix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1988" y="4387691"/>
              <a:ext cx="23322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Slides 8–11: Q8.8/Q2.14, Bit Growth &amp; Sat16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81988" y="4578191"/>
              <a:ext cx="23560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Slides 13–15: Pipelined Datapath &amp; FSM Mux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81988" y="4768691"/>
              <a:ext cx="24825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Slides 17–18: DPI-C Architecture &amp; Regressions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1988" y="4959191"/>
              <a:ext cx="2442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en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Slide 19: Quartus II Synthesis &amp; Timing Closure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86750" y="5381625"/>
              <a:ext cx="3143250" cy="38100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24862" y="5522595"/>
              <a:ext cx="214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Ready for Committee Technical Q&amp;A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pga_temp_predictor">
  <a:themeElements>
    <a:clrScheme name="fpga_temp_predic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pga_temp_predict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pga_temp_predic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2026-10-08T14:45:39Z</dcterms:created>
  <dcterms:modified xsi:type="dcterms:W3CDTF">2026-10-08T14:45:39Z</dcterms:modified>
  <cp:category/>
  <cp:contentStatus/>
</cp:coreProperties>
</file>